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[00:00 / 0:30] TITLE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200"/>
              <a:t>【読み方】</a:t>
            </a:r>
          </a:p>
          <a:p>
            <a:r>
              <a:rPr b="0" sz="1200"/>
              <a:t>・英文1行＝1息。行末で必ず一度切る。</a:t>
            </a:r>
          </a:p>
          <a:p>
            <a:r>
              <a:rPr b="0" sz="1200"/>
              <a:t>・カタカナの太字＝その文で一番強く言う語。そこだけ高く長く言えば通じる。英語は一音ずつの正確さではなく強弱で伝わるので、この1語だけ意識すればよい。</a:t>
            </a:r>
          </a:p>
          <a:p>
            <a:r>
              <a:rPr b="0" sz="1200"/>
              <a:t>・カタカナは普段のカタカナ語のまま。無理に英語風に崩していない。</a:t>
            </a:r>
          </a:p>
          <a:p>
            <a:r>
              <a:rPr b="0" sz="1200"/>
              <a:t>・ゥ付き（ゥロング／ゥライト／コゥレクト）は3語だけ。そのまま読むと long／light／collect に聞こえるため。</a:t>
            </a:r>
          </a:p>
          <a:p>
            <a:r>
              <a:rPr b="0" sz="1200"/>
              <a:t>・ヴ＝V（ヴォルト=vault。ボルト=bolt と区別）。 ス・ズ＝th。</a:t>
            </a:r>
          </a:p>
          <a:p>
            <a:r>
              <a:rPr b="0" sz="1700"/>
              <a:t/>
            </a:r>
          </a:p>
          <a:p>
            <a:r>
              <a:rPr b="0" sz="1700"/>
              <a:t>“Hi. Thank you for coming.</a:t>
            </a:r>
          </a:p>
          <a:p>
            <a:r>
              <a:rPr b="0" sz="1700"/>
              <a:t>  </a:t>
            </a:r>
            <a:r>
              <a:rPr b="1" sz="1700"/>
              <a:t>ハイ</a:t>
            </a:r>
            <a:r>
              <a:rPr b="0" sz="1700"/>
              <a:t>。 サンキュー フォー </a:t>
            </a:r>
            <a:r>
              <a:rPr b="1" sz="1700"/>
              <a:t>カミング</a:t>
            </a:r>
            <a:r>
              <a:rPr b="0" sz="1700"/>
              <a:t>。</a:t>
            </a:r>
          </a:p>
          <a:p>
            <a:r>
              <a:rPr b="0" sz="1700"/>
              <a:t>This is Phasmid.</a:t>
            </a:r>
          </a:p>
          <a:p>
            <a:r>
              <a:rPr b="0" sz="1700"/>
              <a:t>  ディス イズ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It’s the reference build of the Janus Eidolon System.</a:t>
            </a:r>
          </a:p>
          <a:p>
            <a:r>
              <a:rPr b="0" sz="1700"/>
              <a:t>  イッツ ザ レファレンス ビルド オブ ザ </a:t>
            </a:r>
            <a:r>
              <a:rPr b="1" sz="1700"/>
              <a:t>ジェイナス アイドウロン システム</a:t>
            </a:r>
            <a:r>
              <a:rPr b="0" sz="1700"/>
              <a:t>。</a:t>
            </a:r>
          </a:p>
          <a:p>
            <a:r>
              <a:rPr b="0" sz="1700"/>
              <a:t>Storage that stays local — and expects coercion.</a:t>
            </a:r>
          </a:p>
          <a:p>
            <a:r>
              <a:rPr b="0" sz="1700"/>
              <a:t>  ストレージ ザット ステイズ </a:t>
            </a:r>
            <a:r>
              <a:rPr b="1" sz="1700"/>
              <a:t>ローカル</a:t>
            </a:r>
            <a:r>
              <a:rPr b="0" sz="1700"/>
              <a:t> — アンド イクスペクツ コアージョン。</a:t>
            </a:r>
          </a:p>
          <a:p>
            <a:r>
              <a:rPr b="0" sz="1700"/>
              <a:t>It’s built for one moment.</a:t>
            </a:r>
          </a:p>
          <a:p>
            <a:r>
              <a:rPr b="0" sz="1700"/>
              <a:t>  イッツ ビルト フォー </a:t>
            </a:r>
            <a:r>
              <a:rPr b="1" sz="1700"/>
              <a:t>ワン モウメント</a:t>
            </a:r>
            <a:r>
              <a:rPr b="0" sz="1700"/>
              <a:t>。</a:t>
            </a:r>
          </a:p>
          <a:p>
            <a:r>
              <a:rPr b="0" sz="1700"/>
              <a:t>Someone has your device… and they have you.</a:t>
            </a:r>
          </a:p>
          <a:p>
            <a:r>
              <a:rPr b="0" sz="1700"/>
              <a:t>  サムワン ハズ ユア </a:t>
            </a:r>
            <a:r>
              <a:rPr b="1" sz="1700"/>
              <a:t>デバイス</a:t>
            </a:r>
            <a:r>
              <a:rPr b="0" sz="1700"/>
              <a:t>… アンド ゼイ ハブ </a:t>
            </a:r>
            <a:r>
              <a:rPr b="1" sz="1700"/>
              <a:t>ユー</a:t>
            </a:r>
            <a:r>
              <a:rPr b="0" sz="1700"/>
              <a:t>。</a:t>
            </a:r>
          </a:p>
          <a:p>
            <a:r>
              <a:rPr b="0" sz="1700"/>
              <a:t>I’m Makoto Sugita, from GMO Cybersecurity by Ierae, in Tokyo.</a:t>
            </a:r>
          </a:p>
          <a:p>
            <a:r>
              <a:rPr b="0" sz="1700"/>
              <a:t>  アイム </a:t>
            </a:r>
            <a:r>
              <a:rPr b="1" sz="1700"/>
              <a:t>マコト スギタ</a:t>
            </a:r>
            <a:r>
              <a:rPr b="0" sz="1700"/>
              <a:t>、 フロム ジーエムオー サイバーセキュリティ バイ </a:t>
            </a:r>
            <a:r>
              <a:rPr b="1" sz="1700"/>
              <a:t>イエラエ</a:t>
            </a:r>
            <a:r>
              <a:rPr b="0" sz="1700"/>
              <a:t>、 イン トウキョウ。</a:t>
            </a:r>
          </a:p>
          <a:p>
            <a:r>
              <a:rPr b="0" sz="1700"/>
              <a:t>Online — Mr. Rabbit.”</a:t>
            </a:r>
          </a:p>
          <a:p>
            <a:r>
              <a:rPr b="0" sz="1700"/>
              <a:t>  オンライン — </a:t>
            </a:r>
            <a:r>
              <a:rPr b="1" sz="1700"/>
              <a:t>ミスター ラビット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掴みは短く。バナーを一度指す。時計スタート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[00:30 / 1:00] WHOAMI — 発話 0:45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“Quick background.</a:t>
            </a:r>
          </a:p>
          <a:p>
            <a:r>
              <a:rPr b="0" sz="1700"/>
              <a:t>  クイック </a:t>
            </a:r>
            <a:r>
              <a:rPr b="1" sz="1700"/>
              <a:t>バックグラウンド</a:t>
            </a:r>
            <a:r>
              <a:rPr b="0" sz="1700"/>
              <a:t>。</a:t>
            </a:r>
          </a:p>
          <a:p>
            <a:r>
              <a:rPr b="0" sz="1700"/>
              <a:t>I’m a senior engineer at GMO Cybersecurity by Ierae.</a:t>
            </a:r>
          </a:p>
          <a:p>
            <a:r>
              <a:rPr b="0" sz="1700"/>
              <a:t>  アイム ア </a:t>
            </a:r>
            <a:r>
              <a:rPr b="1" sz="1700"/>
              <a:t>シニア エンジニア</a:t>
            </a:r>
            <a:r>
              <a:rPr b="0" sz="1700"/>
              <a:t> アット ジーエムオー サイバーセキュリティ バイ </a:t>
            </a:r>
            <a:r>
              <a:rPr b="1" sz="1700"/>
              <a:t>イエラエ</a:t>
            </a:r>
            <a:r>
              <a:rPr b="0" sz="1700"/>
              <a:t>。</a:t>
            </a:r>
          </a:p>
          <a:p>
            <a:r>
              <a:rPr b="0" sz="1700"/>
              <a:t>I work in the SOC. Defense, every day.</a:t>
            </a:r>
          </a:p>
          <a:p>
            <a:r>
              <a:rPr b="0" sz="1700"/>
              <a:t>  アイ ワーク イン ザ </a:t>
            </a:r>
            <a:r>
              <a:rPr b="1" sz="1700"/>
              <a:t>エス オー シー</a:t>
            </a:r>
            <a:r>
              <a:rPr b="0" sz="1700"/>
              <a:t>。 </a:t>
            </a:r>
            <a:r>
              <a:rPr b="1" sz="1700"/>
              <a:t>ディフェンス</a:t>
            </a:r>
            <a:r>
              <a:rPr b="0" sz="1700"/>
              <a:t>、 エブリ デイ。</a:t>
            </a:r>
          </a:p>
          <a:p>
            <a:r>
              <a:rPr b="0" sz="1700"/>
              <a:t>Before that — a penetration tester. CISSP.</a:t>
            </a:r>
          </a:p>
          <a:p>
            <a:r>
              <a:rPr b="0" sz="1700"/>
              <a:t>  ビフォー ザット — ア </a:t>
            </a:r>
            <a:r>
              <a:rPr b="1" sz="1700"/>
              <a:t>ペネトレイション テスター</a:t>
            </a:r>
            <a:r>
              <a:rPr b="0" sz="1700"/>
              <a:t>。 シー アイ エス エス ピー。</a:t>
            </a:r>
          </a:p>
          <a:p>
            <a:r>
              <a:rPr b="0" sz="1700"/>
              <a:t>And before that, in uniform — a Japan Ground Self-Defense Force officer, in a cyber unit.</a:t>
            </a:r>
          </a:p>
          <a:p>
            <a:r>
              <a:rPr b="0" sz="1700"/>
              <a:t>  アンド ビフォー ザット、 イン </a:t>
            </a:r>
            <a:r>
              <a:rPr b="1" sz="1700"/>
              <a:t>ユニフォーム</a:t>
            </a:r>
            <a:r>
              <a:rPr b="0" sz="1700"/>
              <a:t> — ア ジャパン グラウンド セルフディフェンス フォース </a:t>
            </a:r>
            <a:r>
              <a:rPr b="1" sz="1700"/>
              <a:t>オフィサー</a:t>
            </a:r>
            <a:r>
              <a:rPr b="0" sz="1700"/>
              <a:t>、 イン ア サイバー ユニット。</a:t>
            </a:r>
          </a:p>
          <a:p>
            <a:r>
              <a:rPr b="0" sz="1700"/>
              <a:t>Offensive work taught me the weak link is the person, not the algorithm.</a:t>
            </a:r>
          </a:p>
          <a:p>
            <a:r>
              <a:rPr b="0" sz="1700"/>
              <a:t>  オフェンシブ ワーク トート ミー ザ ウィーク リンク イズ ザ </a:t>
            </a:r>
            <a:r>
              <a:rPr b="1" sz="1700"/>
              <a:t>パーソン</a:t>
            </a:r>
            <a:r>
              <a:rPr b="0" sz="1700"/>
              <a:t>、 ナット ジ アルゴリズム。</a:t>
            </a:r>
          </a:p>
          <a:p>
            <a:r>
              <a:rPr b="0" sz="1700"/>
              <a:t>So I turn offensive experience into defensive tools.</a:t>
            </a:r>
          </a:p>
          <a:p>
            <a:r>
              <a:rPr b="0" sz="1700"/>
              <a:t>  ソウ アイ ターン オフェンシブ エクスピアリエンス イントゥ </a:t>
            </a:r>
            <a:r>
              <a:rPr b="1" sz="1700"/>
              <a:t>ディフェンシブ ツールズ</a:t>
            </a:r>
            <a:r>
              <a:rPr b="0" sz="1700"/>
              <a:t>。</a:t>
            </a:r>
          </a:p>
          <a:p>
            <a:r>
              <a:rPr b="0" sz="1700"/>
              <a:t>Deception. Delay. Coercion-aware design.</a:t>
            </a:r>
          </a:p>
          <a:p>
            <a:r>
              <a:rPr b="0" sz="1700"/>
              <a:t>  ディセプション。 ディレイ。 </a:t>
            </a:r>
            <a:r>
              <a:rPr b="1" sz="1700"/>
              <a:t>コアージョン アウェア デザイン</a:t>
            </a:r>
            <a:r>
              <a:rPr b="0" sz="1700"/>
              <a:t>。</a:t>
            </a:r>
          </a:p>
          <a:p>
            <a:r>
              <a:rPr b="0" sz="1700"/>
              <a:t>Alongside that — security research, and open-source tools.</a:t>
            </a:r>
          </a:p>
          <a:p>
            <a:r>
              <a:rPr b="0" sz="1700"/>
              <a:t>  アロングサイド ザット — セキュリティ </a:t>
            </a:r>
            <a:r>
              <a:rPr b="1" sz="1700"/>
              <a:t>リサーチ</a:t>
            </a:r>
            <a:r>
              <a:rPr b="0" sz="1700"/>
              <a:t>、 アンド </a:t>
            </a:r>
            <a:r>
              <a:rPr b="1" sz="1700"/>
              <a:t>オープンソース ツールズ</a:t>
            </a:r>
            <a:r>
              <a:rPr b="0" sz="1700"/>
              <a:t>。</a:t>
            </a:r>
          </a:p>
          <a:p>
            <a:r>
              <a:rPr b="0" sz="1700"/>
              <a:t>Black Hat Arsenal. BSides. SecTor. CODE BLUE.</a:t>
            </a:r>
          </a:p>
          <a:p>
            <a:r>
              <a:rPr b="0" sz="1700"/>
              <a:t>  ブラック ハット アーサナル。 ビーサイズ。 セクター。 コウド ブルー。</a:t>
            </a:r>
          </a:p>
          <a:p>
            <a:r>
              <a:rPr b="0" sz="1700"/>
              <a:t>I’m 01rabbit on GitHub.”</a:t>
            </a:r>
          </a:p>
          <a:p>
            <a:r>
              <a:rPr b="0" sz="1700"/>
              <a:t>  アイム </a:t>
            </a:r>
            <a:r>
              <a:rPr b="1" sz="1700"/>
              <a:t>ゼロワン ラビット</a:t>
            </a:r>
            <a:r>
              <a:rPr b="0" sz="1700"/>
              <a:t> オン ギットハブ。</a:t>
            </a:r>
          </a:p>
          <a:p>
            <a:r>
              <a:rPr b="0" sz="1700"/>
              <a:t/>
            </a:r>
          </a:p>
          <a:p>
            <a:r>
              <a:rPr b="0" sz="1200"/>
              <a:t>JA: 経歴は流す。ハンドルを指す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[01:10 / 0:30] AGENDA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the plan for the next half hour.</a:t>
            </a:r>
          </a:p>
          <a:p>
            <a:r>
              <a:rPr b="0" sz="1700"/>
              <a:t>  ヒアズ ザ </a:t>
            </a:r>
            <a:r>
              <a:rPr b="1" sz="1700"/>
              <a:t>プラン</a:t>
            </a:r>
            <a:r>
              <a:rPr b="0" sz="1700"/>
              <a:t> フォー ザ ネクスト ハーフ アウア。</a:t>
            </a:r>
          </a:p>
          <a:p>
            <a:r>
              <a:rPr b="0" sz="1700"/>
              <a:t>First, the problem: compelled access.</a:t>
            </a:r>
          </a:p>
          <a:p>
            <a:r>
              <a:rPr b="0" sz="1700"/>
              <a:t>  ファースト、 ザ プロブレム: </a:t>
            </a:r>
            <a:r>
              <a:rPr b="1" sz="1700"/>
              <a:t>コンペルド アクセス</a:t>
            </a:r>
            <a:r>
              <a:rPr b="0" sz="1700"/>
              <a:t>。</a:t>
            </a:r>
          </a:p>
          <a:p>
            <a:r>
              <a:rPr b="0" sz="1700"/>
              <a:t>Then the core idea — Janus.</a:t>
            </a:r>
          </a:p>
          <a:p>
            <a:r>
              <a:rPr b="0" sz="1700"/>
              <a:t>  ゼン ザ コア アイディア — </a:t>
            </a:r>
            <a:r>
              <a:rPr b="1" sz="1700"/>
              <a:t>ジェイナス</a:t>
            </a:r>
            <a:r>
              <a:rPr b="0" sz="1700"/>
              <a:t>。</a:t>
            </a:r>
          </a:p>
          <a:p>
            <a:r>
              <a:rPr b="0" sz="1700"/>
              <a:t>Then how it works: the object cue, and coercion-safe delay.</a:t>
            </a:r>
          </a:p>
          <a:p>
            <a:r>
              <a:rPr b="0" sz="1700"/>
              <a:t>  ゼン ハウ イット ワークス: ジ </a:t>
            </a:r>
            <a:r>
              <a:rPr b="1" sz="1700"/>
              <a:t>オブジェクト キュー</a:t>
            </a:r>
            <a:r>
              <a:rPr b="0" sz="1700"/>
              <a:t>、 アンド コアージョンセイフ ディレイ。</a:t>
            </a:r>
          </a:p>
          <a:p>
            <a:r>
              <a:rPr b="0" sz="1700"/>
              <a:t>Then under the hood — crypto, guards, and the hardware itself.</a:t>
            </a:r>
          </a:p>
          <a:p>
            <a:r>
              <a:rPr b="0" sz="1700"/>
              <a:t>  ゼン アンダー ザ </a:t>
            </a:r>
            <a:r>
              <a:rPr b="1" sz="1700"/>
              <a:t>フッド</a:t>
            </a:r>
            <a:r>
              <a:rPr b="0" sz="1700"/>
              <a:t> — クリプト、 ガーズ、 アンド ザ ハードウェア イットセルフ。</a:t>
            </a:r>
          </a:p>
          <a:p>
            <a:r>
              <a:rPr b="0" sz="1700"/>
              <a:t>Then the honest limits. Ethics, and scope.</a:t>
            </a:r>
          </a:p>
          <a:p>
            <a:r>
              <a:rPr b="0" sz="1700"/>
              <a:t>  ゼン ジ </a:t>
            </a:r>
            <a:r>
              <a:rPr b="1" sz="1700"/>
              <a:t>オネスト</a:t>
            </a:r>
            <a:r>
              <a:rPr b="0" sz="1700"/>
              <a:t> リミッツ。 エシックス、 アンド スコープ。</a:t>
            </a:r>
          </a:p>
          <a:p>
            <a:r>
              <a:rPr b="0" sz="1700"/>
              <a:t>I finish with a live demo, and how to run it yourself.</a:t>
            </a:r>
          </a:p>
          <a:p>
            <a:r>
              <a:rPr b="0" sz="1700"/>
              <a:t>  アイ フィニッシュ ウィズ ア </a:t>
            </a:r>
            <a:r>
              <a:rPr b="1" sz="1700"/>
              <a:t>ライブ デモ</a:t>
            </a:r>
            <a:r>
              <a:rPr b="0" sz="1700"/>
              <a:t>、 アンド ハウ トゥ ラン イット ユアセルフ。</a:t>
            </a:r>
          </a:p>
          <a:p>
            <a:r>
              <a:rPr b="0" sz="1700"/>
              <a:t>And I’ll keep time for questions at the end.”</a:t>
            </a:r>
          </a:p>
          <a:p>
            <a:r>
              <a:rPr b="0" sz="1700"/>
              <a:t>  アンド アイル キープ </a:t>
            </a:r>
            <a:r>
              <a:rPr b="1" sz="1700"/>
              <a:t>タイム</a:t>
            </a:r>
            <a:r>
              <a:rPr b="0" sz="1700"/>
              <a:t> フォー クエスチョンズ アット ジ エンド。</a:t>
            </a:r>
          </a:p>
          <a:p>
            <a:r>
              <a:rPr b="0" sz="1700"/>
              <a:t/>
            </a:r>
          </a:p>
          <a:p>
            <a:r>
              <a:rPr b="0" sz="1200"/>
              <a:t>JA: 6項目を指でなぞる。期待値を固定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[01:40 / 1:00] THE PROBLEM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“Here’s what Phasmid is built for.</a:t>
            </a:r>
          </a:p>
          <a:p>
            <a:r>
              <a:rPr b="0" sz="1700"/>
              <a:t>  ヒアズ ワット </a:t>
            </a:r>
            <a:r>
              <a:rPr b="1" sz="1700"/>
              <a:t>ファズミッド</a:t>
            </a:r>
            <a:r>
              <a:rPr b="0" sz="1700"/>
              <a:t> イズ ビルト フォー。</a:t>
            </a:r>
          </a:p>
          <a:p>
            <a:r>
              <a:rPr b="0" sz="1700"/>
              <a:t>Attackers today don’t break your crypto.</a:t>
            </a:r>
          </a:p>
          <a:p>
            <a:r>
              <a:rPr b="0" sz="1700"/>
              <a:t>  アタッカーズ トゥデイ ドウント ブレイク ユア </a:t>
            </a:r>
            <a:r>
              <a:rPr b="1" sz="1700"/>
              <a:t>クリプト</a:t>
            </a:r>
            <a:r>
              <a:rPr b="0" sz="1700"/>
              <a:t>。</a:t>
            </a:r>
          </a:p>
          <a:p>
            <a:r>
              <a:rPr b="0" sz="1700"/>
              <a:t>They take the device.</a:t>
            </a:r>
          </a:p>
          <a:p>
            <a:r>
              <a:rPr b="0" sz="1700"/>
              <a:t>  ゼイ テイク ザ </a:t>
            </a:r>
            <a:r>
              <a:rPr b="1" sz="1700"/>
              <a:t>デバイス</a:t>
            </a:r>
            <a:r>
              <a:rPr b="0" sz="1700"/>
              <a:t>。</a:t>
            </a:r>
          </a:p>
          <a:p>
            <a:r>
              <a:rPr b="0" sz="1700"/>
              <a:t>At a border. At a checkpoint. At an arrest.</a:t>
            </a:r>
          </a:p>
          <a:p>
            <a:r>
              <a:rPr b="0" sz="1700"/>
              <a:t>  アッタ </a:t>
            </a:r>
            <a:r>
              <a:rPr b="1" sz="1700"/>
              <a:t>ボーダー</a:t>
            </a:r>
            <a:r>
              <a:rPr b="0" sz="1700"/>
              <a:t>。 アッタ </a:t>
            </a:r>
            <a:r>
              <a:rPr b="1" sz="1700"/>
              <a:t>チェックポイント</a:t>
            </a:r>
            <a:r>
              <a:rPr b="0" sz="1700"/>
              <a:t>。 アッタン </a:t>
            </a:r>
            <a:r>
              <a:rPr b="1" sz="1700"/>
              <a:t>アレスト</a:t>
            </a:r>
            <a:r>
              <a:rPr b="0" sz="1700"/>
              <a:t>。</a:t>
            </a:r>
          </a:p>
          <a:p>
            <a:r>
              <a:rPr b="0" sz="1700"/>
              <a:t>And then they ask you to unlock it.</a:t>
            </a:r>
          </a:p>
          <a:p>
            <a:r>
              <a:rPr b="0" sz="1700"/>
              <a:t>  アンド ゼン ゼイ アスク ユー トゥ </a:t>
            </a:r>
            <a:r>
              <a:rPr b="1" sz="1700"/>
              <a:t>アンロック</a:t>
            </a:r>
            <a:r>
              <a:rPr b="0" sz="1700"/>
              <a:t> イット。</a:t>
            </a:r>
          </a:p>
          <a:p>
            <a:r>
              <a:rPr b="0" sz="1700"/>
              <a:t>Full-disk encryption is all or nothing.</a:t>
            </a:r>
          </a:p>
          <a:p>
            <a:r>
              <a:rPr b="0" sz="1700"/>
              <a:t>  フルディスク インクリプション イズ </a:t>
            </a:r>
            <a:r>
              <a:rPr b="1" sz="1700"/>
              <a:t>オール オア ナッシング</a:t>
            </a:r>
            <a:r>
              <a:rPr b="0" sz="1700"/>
              <a:t>。</a:t>
            </a:r>
          </a:p>
          <a:p>
            <a:r>
              <a:rPr b="0" sz="1700"/>
              <a:t>You open it once, under pressure — and everything is exposed.</a:t>
            </a:r>
          </a:p>
          <a:p>
            <a:r>
              <a:rPr b="0" sz="1700"/>
              <a:t>  ユー オープン イット </a:t>
            </a:r>
            <a:r>
              <a:rPr b="1" sz="1700"/>
              <a:t>ワンス</a:t>
            </a:r>
            <a:r>
              <a:rPr b="0" sz="1700"/>
              <a:t>、 アンダー プレッシャー — アンド </a:t>
            </a:r>
            <a:r>
              <a:rPr b="1" sz="1700"/>
              <a:t>エブリシング</a:t>
            </a:r>
            <a:r>
              <a:rPr b="0" sz="1700"/>
              <a:t> イズ エクスポウズド。</a:t>
            </a:r>
          </a:p>
          <a:p>
            <a:r>
              <a:rPr b="0" sz="1700"/>
              <a:t>That’s over-disclosure.”</a:t>
            </a:r>
          </a:p>
          <a:p>
            <a:r>
              <a:rPr b="0" sz="1700"/>
              <a:t>  ザッツ </a:t>
            </a:r>
            <a:r>
              <a:rPr b="1" sz="1700"/>
              <a:t>オーバー ディスクロージャー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3枚を左→右で指す。淡々と、しかし重く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[02:40 / 0:30] MEME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“So you get three bad options.</a:t>
            </a:r>
          </a:p>
          <a:p>
            <a:r>
              <a:rPr b="0" sz="1700"/>
              <a:t>  ソウ ユー ゲット </a:t>
            </a:r>
            <a:r>
              <a:rPr b="1" sz="1700"/>
              <a:t>スリー バッド オプションズ</a:t>
            </a:r>
            <a:r>
              <a:rPr b="0" sz="1700"/>
              <a:t>。</a:t>
            </a:r>
          </a:p>
          <a:p>
            <a:r>
              <a:rPr b="0" sz="1700"/>
              <a:t>Refuse — and you escalate.</a:t>
            </a:r>
          </a:p>
          <a:p>
            <a:r>
              <a:rPr b="0" sz="1700"/>
              <a:t>  </a:t>
            </a:r>
            <a:r>
              <a:rPr b="1" sz="1700"/>
              <a:t>リフューズ</a:t>
            </a:r>
            <a:r>
              <a:rPr b="0" sz="1700"/>
              <a:t> — アンド ユー </a:t>
            </a:r>
            <a:r>
              <a:rPr b="1" sz="1700"/>
              <a:t>エスカレイト</a:t>
            </a:r>
            <a:r>
              <a:rPr b="0" sz="1700"/>
              <a:t>。</a:t>
            </a:r>
          </a:p>
          <a:p>
            <a:r>
              <a:rPr b="0" sz="1700"/>
              <a:t>Comply, with full-disk encryption — and you hand over everything.</a:t>
            </a:r>
          </a:p>
          <a:p>
            <a:r>
              <a:rPr b="0" sz="1700"/>
              <a:t>  </a:t>
            </a:r>
            <a:r>
              <a:rPr b="1" sz="1700"/>
              <a:t>コンプライ</a:t>
            </a:r>
            <a:r>
              <a:rPr b="0" sz="1700"/>
              <a:t>、 ウィズ フルディスク インクリプション — アンド ユー ハンド オーバー </a:t>
            </a:r>
            <a:r>
              <a:rPr b="1" sz="1700"/>
              <a:t>エブリシング</a:t>
            </a:r>
            <a:r>
              <a:rPr b="0" sz="1700"/>
              <a:t>。</a:t>
            </a:r>
          </a:p>
          <a:p>
            <a:r>
              <a:rPr b="0" sz="1700"/>
              <a:t>Or… controlled disclosure.</a:t>
            </a:r>
          </a:p>
          <a:p>
            <a:r>
              <a:rPr b="0" sz="1700"/>
              <a:t>  オア… </a:t>
            </a:r>
            <a:r>
              <a:rPr b="1" sz="1700"/>
              <a:t>コントロールド ディスクロージャー</a:t>
            </a:r>
            <a:r>
              <a:rPr b="0" sz="1700"/>
              <a:t>。</a:t>
            </a:r>
          </a:p>
          <a:p>
            <a:r>
              <a:rPr b="0" sz="1700"/>
              <a:t>Show what’s visible. Protect the rest.</a:t>
            </a:r>
          </a:p>
          <a:p>
            <a:r>
              <a:rPr b="0" sz="1700"/>
              <a:t>  ショウ ワッツ </a:t>
            </a:r>
            <a:r>
              <a:rPr b="1" sz="1700"/>
              <a:t>ビジブル</a:t>
            </a:r>
            <a:r>
              <a:rPr b="0" sz="1700"/>
              <a:t>。 プロテクト ザ </a:t>
            </a:r>
            <a:r>
              <a:rPr b="1" sz="1700"/>
              <a:t>レスト</a:t>
            </a:r>
            <a:r>
              <a:rPr b="0" sz="1700"/>
              <a:t>。</a:t>
            </a:r>
          </a:p>
          <a:p>
            <a:r>
              <a:rPr b="0" sz="1700"/>
              <a:t>Same demand. Very different blast radius.”</a:t>
            </a:r>
          </a:p>
          <a:p>
            <a:r>
              <a:rPr b="0" sz="1700"/>
              <a:t>  セイム </a:t>
            </a:r>
            <a:r>
              <a:rPr b="1" sz="1700"/>
              <a:t>ディマンド</a:t>
            </a:r>
            <a:r>
              <a:rPr b="0" sz="1700"/>
              <a:t>。 ベリー ディファレント </a:t>
            </a:r>
            <a:r>
              <a:rPr b="1" sz="1700"/>
              <a:t>ブラスト レイディアス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軽く笑いを取る。緊張を一度ほぐす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[03:10 / 0:50] WHAT IT IS / ISN'T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“Let me be precise.</a:t>
            </a:r>
          </a:p>
          <a:p>
            <a:r>
              <a:rPr b="0" sz="1700"/>
              <a:t>  レット ミー ビー </a:t>
            </a:r>
            <a:r>
              <a:rPr b="1" sz="1700"/>
              <a:t>プリサイス</a:t>
            </a:r>
            <a:r>
              <a:rPr b="0" sz="1700"/>
              <a:t>。</a:t>
            </a:r>
          </a:p>
          <a:p>
            <a:r>
              <a:rPr b="0" sz="1700"/>
              <a:t>Phasmid is a field-evaluation research prototype for disclosure control.</a:t>
            </a:r>
          </a:p>
          <a:p>
            <a:r>
              <a:rPr b="0" sz="1700"/>
              <a:t>  ファズミッド イズ ア フィールド イバリュエイション リサーチ </a:t>
            </a:r>
            <a:r>
              <a:rPr b="1" sz="1700"/>
              <a:t>プロウトタイプ</a:t>
            </a:r>
            <a:r>
              <a:rPr b="0" sz="1700"/>
              <a:t> フォー ディスクロージャー コントロール。</a:t>
            </a:r>
          </a:p>
          <a:p>
            <a:r>
              <a:rPr b="0" sz="1700"/>
              <a:t>Local-only by default. Not casual file encryption.</a:t>
            </a:r>
          </a:p>
          <a:p>
            <a:r>
              <a:rPr b="0" sz="1700"/>
              <a:t>  </a:t>
            </a:r>
            <a:r>
              <a:rPr b="1" sz="1700"/>
              <a:t>ローカル オンリー</a:t>
            </a:r>
            <a:r>
              <a:rPr b="0" sz="1700"/>
              <a:t> バイ ディフォルト。 </a:t>
            </a:r>
            <a:r>
              <a:rPr b="1" sz="1700"/>
              <a:t>ナット</a:t>
            </a:r>
            <a:r>
              <a:rPr b="0" sz="1700"/>
              <a:t> キャジュアル ファイル インクリプション。</a:t>
            </a:r>
          </a:p>
          <a:p>
            <a:r>
              <a:rPr b="0" sz="1700"/>
              <a:t>And it is not a replacement for audited full-disk encryption.</a:t>
            </a:r>
          </a:p>
          <a:p>
            <a:r>
              <a:rPr b="0" sz="1700"/>
              <a:t>  アンド イット イズ </a:t>
            </a:r>
            <a:r>
              <a:rPr b="1" sz="1700"/>
              <a:t>ナット</a:t>
            </a:r>
            <a:r>
              <a:rPr b="0" sz="1700"/>
              <a:t> ア リプレイスメント フォー オーディティッド フルディスク インクリプション。</a:t>
            </a:r>
          </a:p>
          <a:p>
            <a:r>
              <a:rPr b="0" sz="1700"/>
              <a:t>Not hardware-backed keys.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ハードウェアバックト キーズ。</a:t>
            </a:r>
          </a:p>
          <a:p>
            <a:r>
              <a:rPr b="0" sz="1700"/>
              <a:t>Not a magic delete button.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マジック ディリート バトゥン。</a:t>
            </a:r>
          </a:p>
          <a:p>
            <a:r>
              <a:rPr b="0" sz="1700"/>
              <a:t>Not a complete answer to compelled disclosure.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 コンプリート アンサー トゥ コンペルド ディスクロージャー。</a:t>
            </a:r>
          </a:p>
          <a:p>
            <a:r>
              <a:rPr b="0" sz="1700"/>
              <a:t>I’ll keep drawing that line, the whole way through.”</a:t>
            </a:r>
          </a:p>
          <a:p>
            <a:r>
              <a:rPr b="0" sz="1700"/>
              <a:t>  アイル キープ ドローイング </a:t>
            </a:r>
            <a:r>
              <a:rPr b="1" sz="1700"/>
              <a:t>ザット ライン</a:t>
            </a:r>
            <a:r>
              <a:rPr b="0" sz="1700"/>
              <a:t>、 ザ ホウル ウェイ スルー。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誠実さを最初に宣言。IS / NOT を左右で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[04:00 / 1:10] CORE IDEA — JANUS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core idea is Janus. Two faces.</a:t>
            </a:r>
          </a:p>
          <a:p>
            <a:r>
              <a:rPr b="0" sz="1700"/>
              <a:t>  ザ コア アイディア イズ </a:t>
            </a:r>
            <a:r>
              <a:rPr b="1" sz="1700"/>
              <a:t>ジェイナス</a:t>
            </a:r>
            <a:r>
              <a:rPr b="0" sz="1700"/>
              <a:t>。 </a:t>
            </a:r>
            <a:r>
              <a:rPr b="1" sz="1700"/>
              <a:t>トゥー フェイシズ</a:t>
            </a:r>
            <a:r>
              <a:rPr b="0" sz="1700"/>
              <a:t>。</a:t>
            </a:r>
          </a:p>
          <a:p>
            <a:r>
              <a:rPr b="0" sz="1700"/>
              <a:t>A two-slot model.</a:t>
            </a:r>
          </a:p>
          <a:p>
            <a:r>
              <a:rPr b="0" sz="1700"/>
              <a:t>  ア </a:t>
            </a:r>
            <a:r>
              <a:rPr b="1" sz="1700"/>
              <a:t>トゥースロット</a:t>
            </a:r>
            <a:r>
              <a:rPr b="0" sz="1700"/>
              <a:t> モデル。</a:t>
            </a:r>
          </a:p>
          <a:p>
            <a:r>
              <a:rPr b="0" sz="1700"/>
              <a:t>Slot A is what the visible surface shows.</a:t>
            </a:r>
          </a:p>
          <a:p>
            <a:r>
              <a:rPr b="0" sz="1700"/>
              <a:t>  スロット </a:t>
            </a:r>
            <a:r>
              <a:rPr b="1" sz="1700"/>
              <a:t>エイ</a:t>
            </a:r>
            <a:r>
              <a:rPr b="0" sz="1700"/>
              <a:t> イズ ワット ザ ビジブル サーフィス ショウズ。</a:t>
            </a:r>
          </a:p>
          <a:p>
            <a:r>
              <a:rPr b="0" sz="1700"/>
              <a:t>Plausible. Ordinary. Disclosed under pressure.</a:t>
            </a:r>
          </a:p>
          <a:p>
            <a:r>
              <a:rPr b="0" sz="1700"/>
              <a:t>  </a:t>
            </a:r>
            <a:r>
              <a:rPr b="1" sz="1700"/>
              <a:t>プローザブル</a:t>
            </a:r>
            <a:r>
              <a:rPr b="0" sz="1700"/>
              <a:t>。 </a:t>
            </a:r>
            <a:r>
              <a:rPr b="1" sz="1700"/>
              <a:t>オーディナリー</a:t>
            </a:r>
            <a:r>
              <a:rPr b="0" sz="1700"/>
              <a:t>。 ディスクロウズド アンダー プレッシャー。</a:t>
            </a:r>
          </a:p>
          <a:p>
            <a:r>
              <a:rPr b="0" sz="1700"/>
              <a:t>Slot B is protected local state. It stays off the visible path.</a:t>
            </a:r>
          </a:p>
          <a:p>
            <a:r>
              <a:rPr b="0" sz="1700"/>
              <a:t>  スロット </a:t>
            </a:r>
            <a:r>
              <a:rPr b="1" sz="1700"/>
              <a:t>ビー</a:t>
            </a:r>
            <a:r>
              <a:rPr b="0" sz="1700"/>
              <a:t> イズ プロテクティッド ローカル ステイト。 イット ステイズ </a:t>
            </a:r>
            <a:r>
              <a:rPr b="1" sz="1700"/>
              <a:t>オフ</a:t>
            </a:r>
            <a:r>
              <a:rPr b="0" sz="1700"/>
              <a:t> ザ ビジブル パス。</a:t>
            </a:r>
          </a:p>
          <a:p>
            <a:r>
              <a:rPr b="0" sz="1700"/>
              <a:t>And it’s bound to local conditions — not to a password alone.</a:t>
            </a:r>
          </a:p>
          <a:p>
            <a:r>
              <a:rPr b="0" sz="1700"/>
              <a:t>  アンド イッツ バウンド トゥ </a:t>
            </a:r>
            <a:r>
              <a:rPr b="1" sz="1700"/>
              <a:t>ローカル コンディションズ</a:t>
            </a:r>
            <a:r>
              <a:rPr b="0" sz="1700"/>
              <a:t> — ナット トゥ ア パスワード アロウン。</a:t>
            </a:r>
          </a:p>
          <a:p>
            <a:r>
              <a:rPr b="0" sz="1700"/>
              <a:t>What you show is not all there is.”</a:t>
            </a:r>
          </a:p>
          <a:p>
            <a:r>
              <a:rPr b="0" sz="1700"/>
              <a:t>  ワット ユー ショウ イズ </a:t>
            </a:r>
            <a:r>
              <a:rPr b="1" sz="1700"/>
              <a:t>ナット オール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“Slot A is what you show. Slot B is not on the visible path.”</a:t>
            </a:r>
          </a:p>
          <a:p>
            <a:r>
              <a:rPr b="0" sz="1700"/>
              <a:t>  スロット エイ イズ ワット ユー </a:t>
            </a:r>
            <a:r>
              <a:rPr b="1" sz="1700"/>
              <a:t>ショウ</a:t>
            </a:r>
            <a:r>
              <a:rPr b="0" sz="1700"/>
              <a:t>。 スロット ビー イズ </a:t>
            </a:r>
            <a:r>
              <a:rPr b="1" sz="1700"/>
              <a:t>ナット</a:t>
            </a:r>
            <a:r>
              <a:rPr b="0" sz="1700"/>
              <a:t> オン ザ ビジブル パス。</a:t>
            </a:r>
          </a:p>
          <a:p>
            <a:r>
              <a:rPr b="0" sz="1700"/>
              <a:t/>
            </a:r>
          </a:p>
          <a:p>
            <a:r>
              <a:rPr b="0" sz="1200"/>
              <a:t>JA: 概念の核。左右のスロットを指す。ゆっくり。必ず持ち帰らせる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[05:10 / 1:15] ADVERSARY MODEL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“Who does it defend against?</a:t>
            </a:r>
          </a:p>
          <a:p>
            <a:r>
              <a:rPr b="0" sz="1700"/>
              <a:t>  フー ダズ イット </a:t>
            </a:r>
            <a:r>
              <a:rPr b="1" sz="1700"/>
              <a:t>ディフェンド</a:t>
            </a:r>
            <a:r>
              <a:rPr b="0" sz="1700"/>
              <a:t> アゲンスト?</a:t>
            </a:r>
          </a:p>
          <a:p>
            <a:r>
              <a:rPr b="0" sz="1700"/>
              <a:t>Five adversaries in scope.</a:t>
            </a:r>
          </a:p>
          <a:p>
            <a:r>
              <a:rPr b="0" sz="1700"/>
              <a:t>  </a:t>
            </a:r>
            <a:r>
              <a:rPr b="1" sz="1700"/>
              <a:t>ファイブ</a:t>
            </a:r>
            <a:r>
              <a:rPr b="0" sz="1700"/>
              <a:t> アドバサリーズ イン スコープ。</a:t>
            </a:r>
          </a:p>
          <a:p>
            <a:r>
              <a:rPr b="0" sz="1700"/>
              <a:t>A physical captor. A passive observer. A local active attacker.</a:t>
            </a:r>
          </a:p>
          <a:p>
            <a:r>
              <a:rPr b="0" sz="1700"/>
              <a:t>  ア フィジカル キャプター。 ア パッシブ オブザーバー。 ア ローカル アクティブ アタッカー。</a:t>
            </a:r>
          </a:p>
          <a:p>
            <a:r>
              <a:rPr b="0" sz="1700"/>
              <a:t>A local-network attacker. And a coercing authority.</a:t>
            </a:r>
          </a:p>
          <a:p>
            <a:r>
              <a:rPr b="0" sz="1700"/>
              <a:t>  ア ローカルネットワーク アタッカー。 アンド ア </a:t>
            </a:r>
            <a:r>
              <a:rPr b="1" sz="1700"/>
              <a:t>コアーシング オーソリティ</a:t>
            </a:r>
            <a:r>
              <a:rPr b="0" sz="1700"/>
              <a:t>。</a:t>
            </a:r>
          </a:p>
          <a:p>
            <a:r>
              <a:rPr b="0" sz="1700"/>
              <a:t>And five explicitly out of scope.</a:t>
            </a:r>
          </a:p>
          <a:p>
            <a:r>
              <a:rPr b="0" sz="1700"/>
              <a:t>  アンド ファイブ エクスプリシットリー </a:t>
            </a:r>
            <a:r>
              <a:rPr b="1" sz="1700"/>
              <a:t>アウト オブ スコープ</a:t>
            </a:r>
            <a:r>
              <a:rPr b="0" sz="1700"/>
              <a:t>。</a:t>
            </a:r>
          </a:p>
          <a:p>
            <a:r>
              <a:rPr b="0" sz="1700"/>
              <a:t>A compromised kernel. Hardware implants. Remote attackers.</a:t>
            </a:r>
          </a:p>
          <a:p>
            <a:r>
              <a:rPr b="0" sz="1700"/>
              <a:t>  ア コンプロマイズド カーネル。 ハードウェア インプランツ。 リモウト アタッカーズ。</a:t>
            </a:r>
          </a:p>
          <a:p>
            <a:r>
              <a:rPr b="0" sz="1700"/>
              <a:t>Supply chain. And breaking the crypto itself.</a:t>
            </a:r>
          </a:p>
          <a:p>
            <a:r>
              <a:rPr b="0" sz="1700"/>
              <a:t>  サプライ チェイン。 アンド ブレイキング ザ </a:t>
            </a:r>
            <a:r>
              <a:rPr b="1" sz="1700"/>
              <a:t>クリプト イットセルフ</a:t>
            </a:r>
            <a:r>
              <a:rPr b="0" sz="1700"/>
              <a:t>。</a:t>
            </a:r>
          </a:p>
          <a:p>
            <a:r>
              <a:rPr b="0" sz="1700"/>
              <a:t>If the host is owned, no user-space tool saves you.</a:t>
            </a:r>
          </a:p>
          <a:p>
            <a:r>
              <a:rPr b="0" sz="1700"/>
              <a:t>  イフ ザ ホウスト イズ </a:t>
            </a:r>
            <a:r>
              <a:rPr b="1" sz="1700"/>
              <a:t>オーンド</a:t>
            </a:r>
            <a:r>
              <a:rPr b="0" sz="1700"/>
              <a:t>、 ノウ ユーザースペイス ツール </a:t>
            </a:r>
            <a:r>
              <a:rPr b="1" sz="1700"/>
              <a:t>セイブズ</a:t>
            </a:r>
            <a:r>
              <a:rPr b="0" sz="1700"/>
              <a:t> ユー。</a:t>
            </a:r>
          </a:p>
          <a:p>
            <a:r>
              <a:rPr b="0" sz="1700"/>
              <a:t>I won’t pretend otherwise.”</a:t>
            </a:r>
          </a:p>
          <a:p>
            <a:r>
              <a:rPr b="0" sz="1700"/>
              <a:t>  アイ ウォウント </a:t>
            </a:r>
            <a:r>
              <a:rPr b="1" sz="1700"/>
              <a:t>プリテンド</a:t>
            </a:r>
            <a:r>
              <a:rPr b="0" sz="1700"/>
              <a:t> アザワイズ。</a:t>
            </a:r>
          </a:p>
          <a:p>
            <a:r>
              <a:rPr b="0" sz="1700"/>
              <a:t/>
            </a:r>
          </a:p>
          <a:p>
            <a:r>
              <a:rPr b="0" sz="1200"/>
              <a:t>JA: 左=戦う相手、右=戦わない相手。誠実さの要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[06:25 / 0:45] STRIDE + LINDDUN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“I didn’t hand-wave the threats.</a:t>
            </a:r>
          </a:p>
          <a:p>
            <a:r>
              <a:rPr b="0" sz="1700"/>
              <a:t>  アイ ディドゥント </a:t>
            </a:r>
            <a:r>
              <a:rPr b="1" sz="1700"/>
              <a:t>ハンドウェイブ</a:t>
            </a:r>
            <a:r>
              <a:rPr b="0" sz="1700"/>
              <a:t> ザ スレッツ。</a:t>
            </a:r>
          </a:p>
          <a:p>
            <a:r>
              <a:rPr b="0" sz="1700"/>
              <a:t>Eighteen scenarios. Each one tagged with STRIDE and LINDDUN.</a:t>
            </a:r>
          </a:p>
          <a:p>
            <a:r>
              <a:rPr b="0" sz="1700"/>
              <a:t>  </a:t>
            </a:r>
            <a:r>
              <a:rPr b="1" sz="1700"/>
              <a:t>エイティーン</a:t>
            </a:r>
            <a:r>
              <a:rPr b="0" sz="1700"/>
              <a:t> シナリオズ。 イーチ ワン タグド ウィズ </a:t>
            </a:r>
            <a:r>
              <a:rPr b="1" sz="1700"/>
              <a:t>ストライド</a:t>
            </a:r>
            <a:r>
              <a:rPr b="0" sz="1700"/>
              <a:t> アンド </a:t>
            </a:r>
            <a:r>
              <a:rPr b="1" sz="1700"/>
              <a:t>リンダン</a:t>
            </a:r>
            <a:r>
              <a:rPr b="0" sz="1700"/>
              <a:t>。</a:t>
            </a:r>
          </a:p>
          <a:p>
            <a:r>
              <a:rPr b="0" sz="1700"/>
              <a:t>Offline cracking. Session replay. Header leakage.</a:t>
            </a:r>
          </a:p>
          <a:p>
            <a:r>
              <a:rPr b="0" sz="1700"/>
              <a:t>  オフライン クラッキング。 セッション リプレイ。 ヘダー リーキッジ。</a:t>
            </a:r>
          </a:p>
          <a:p>
            <a:r>
              <a:rPr b="0" sz="1700"/>
              <a:t>Timing side-channels. Object-cue spoofing. Coerced disclosure.</a:t>
            </a:r>
          </a:p>
          <a:p>
            <a:r>
              <a:rPr b="0" sz="1700"/>
              <a:t>  タイミング サイドチャネルズ。 オブジェクトキュー スプーフィング。 コアースト ディスクロージャー。</a:t>
            </a:r>
          </a:p>
          <a:p>
            <a:r>
              <a:rPr b="0" sz="1700"/>
              <a:t>Here are a few. The full matrix is in the repo.</a:t>
            </a:r>
          </a:p>
          <a:p>
            <a:r>
              <a:rPr b="0" sz="1700"/>
              <a:t>  ヒア アー ア </a:t>
            </a:r>
            <a:r>
              <a:rPr b="1" sz="1700"/>
              <a:t>フュー</a:t>
            </a:r>
            <a:r>
              <a:rPr b="0" sz="1700"/>
              <a:t>。 ザ フル メイトリクス イズ イン ザ </a:t>
            </a:r>
            <a:r>
              <a:rPr b="1" sz="1700"/>
              <a:t>リーポウ</a:t>
            </a:r>
            <a:r>
              <a:rPr b="0" sz="1700"/>
              <a:t>。</a:t>
            </a:r>
          </a:p>
          <a:p>
            <a:r>
              <a:rPr b="0" sz="1700"/>
              <a:t>And if you want to argue with any of them — find me after.</a:t>
            </a:r>
          </a:p>
          <a:p>
            <a:r>
              <a:rPr b="0" sz="1700"/>
              <a:t>  アンド イフ ユー ワナ </a:t>
            </a:r>
            <a:r>
              <a:rPr b="1" sz="1700"/>
              <a:t>アーギュー</a:t>
            </a:r>
            <a:r>
              <a:rPr b="0" sz="1700"/>
              <a:t> ウィズ エニー オブ ゼム — </a:t>
            </a:r>
            <a:r>
              <a:rPr b="1" sz="1700"/>
              <a:t>ファインド ミー アフター</a:t>
            </a:r>
            <a:r>
              <a:rPr b="0" sz="1700"/>
              <a:t>。</a:t>
            </a:r>
          </a:p>
          <a:p>
            <a:r>
              <a:rPr b="0" sz="1700"/>
              <a:t>I’d enjoy that.”</a:t>
            </a:r>
          </a:p>
          <a:p>
            <a:r>
              <a:rPr b="0" sz="1700"/>
              <a:t>  アイド </a:t>
            </a:r>
            <a:r>
              <a:rPr b="1" sz="1700"/>
              <a:t>エンジョイ</a:t>
            </a:r>
            <a:r>
              <a:rPr b="0" sz="1700"/>
              <a:t> ザット。</a:t>
            </a:r>
          </a:p>
          <a:p>
            <a:r>
              <a:rPr b="0" sz="1700"/>
              <a:t/>
            </a:r>
          </a:p>
          <a:p>
            <a:r>
              <a:rPr b="0" sz="1200"/>
              <a:t>JA: 表は全部読まない。代表2–3行を指す。遅れていたらここを最短で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[07:10 / 1:00] ARCHITECTURE BOUNDARY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“Architecturally, four things stay explicit.</a:t>
            </a:r>
          </a:p>
          <a:p>
            <a:r>
              <a:rPr b="0" sz="1700"/>
              <a:t>  アーキテクチャリー、 フォー シングズ ステイ </a:t>
            </a:r>
            <a:r>
              <a:rPr b="1" sz="1700"/>
              <a:t>エクスプリシット</a:t>
            </a:r>
            <a:r>
              <a:rPr b="0" sz="1700"/>
              <a:t>。</a:t>
            </a:r>
          </a:p>
          <a:p>
            <a:r>
              <a:rPr b="0" sz="1700"/>
              <a:t>One. Two-slot storage.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。 トゥースロット </a:t>
            </a:r>
            <a:r>
              <a:rPr b="1" sz="1700"/>
              <a:t>ストレージ</a:t>
            </a:r>
            <a:r>
              <a:rPr b="0" sz="1700"/>
              <a:t>。</a:t>
            </a:r>
          </a:p>
          <a:p>
            <a:r>
              <a:rPr b="0" sz="1700"/>
              <a:t>Two. Local access-key mixing — keys come from local state, not from a passphrase alone.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。 ローカル アクセスキー ミキシング — キーズ カム フロム </a:t>
            </a:r>
            <a:r>
              <a:rPr b="1" sz="1700"/>
              <a:t>ローカル ステイト</a:t>
            </a:r>
            <a:r>
              <a:rPr b="0" sz="1700"/>
              <a:t>、 ナット フロム ア パスフレイズ アロウン。</a:t>
            </a:r>
          </a:p>
          <a:p>
            <a:r>
              <a:rPr b="0" sz="1700"/>
              <a:t>Three. A restricted-action policy. It gates anything sensitive, and anything about recovery.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。 ア リストリクティッドアクション ポリシー。 イット ゲイツ エニシング </a:t>
            </a:r>
            <a:r>
              <a:rPr b="1" sz="1700"/>
              <a:t>センシティブ</a:t>
            </a:r>
            <a:r>
              <a:rPr b="0" sz="1700"/>
              <a:t>、 アンド エニシング アバウト リカバリー。</a:t>
            </a:r>
          </a:p>
          <a:p>
            <a:r>
              <a:rPr b="0" sz="1700"/>
              <a:t>Four. Capture-visible discipline.</a:t>
            </a:r>
          </a:p>
          <a:p>
            <a:r>
              <a:rPr b="0" sz="1700"/>
              <a:t>  </a:t>
            </a:r>
            <a:r>
              <a:rPr b="1" sz="1700"/>
              <a:t>フォー</a:t>
            </a:r>
            <a:r>
              <a:rPr b="0" sz="1700"/>
              <a:t>。 キャプチャービジブル </a:t>
            </a:r>
            <a:r>
              <a:rPr b="1" sz="1700"/>
              <a:t>ディシプリン</a:t>
            </a:r>
            <a:r>
              <a:rPr b="0" sz="1700"/>
              <a:t>。</a:t>
            </a:r>
          </a:p>
          <a:p>
            <a:r>
              <a:rPr b="0" sz="1700"/>
              <a:t>Normal flows never show the structure, the recovery path, or the order you’d try things in.</a:t>
            </a:r>
          </a:p>
          <a:p>
            <a:r>
              <a:rPr b="0" sz="1700"/>
              <a:t>  ノーマル フロウズ </a:t>
            </a:r>
            <a:r>
              <a:rPr b="1" sz="1700"/>
              <a:t>ネバー</a:t>
            </a:r>
            <a:r>
              <a:rPr b="0" sz="1700"/>
              <a:t> ショウ ザ ストラクチャー、 ザ リカバリー パス、 オア ジ オーダー ユード トライ シングズ イン。</a:t>
            </a:r>
          </a:p>
          <a:p>
            <a:r>
              <a:rPr b="0" sz="1700"/>
              <a:t/>
            </a:r>
          </a:p>
          <a:p>
            <a:r>
              <a:rPr b="0" sz="1200"/>
              <a:t>JA: 4点を順に。専門聴衆が頷く箇所。11は流し気味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[08:10 / 0:40] LAYERS + DOCS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Underneath are narrow local layers.</a:t>
            </a:r>
          </a:p>
          <a:p>
            <a:r>
              <a:rPr b="0" sz="1700"/>
              <a:t>  アンダニース アー </a:t>
            </a:r>
            <a:r>
              <a:rPr b="1" sz="1700"/>
              <a:t>ナロウ ローカル レイヤーズ</a:t>
            </a:r>
            <a:r>
              <a:rPr b="0" sz="1700"/>
              <a:t>。</a:t>
            </a:r>
          </a:p>
          <a:p>
            <a:r>
              <a:rPr b="0" sz="1700"/>
              <a:t>Entry points, policy, crypto core, local state, deployment.</a:t>
            </a:r>
          </a:p>
          <a:p>
            <a:r>
              <a:rPr b="0" sz="1700"/>
              <a:t>  エントリー ポインツ、 ポリシー、 クリプト コア、 ローカル ステイト、 ディプロイメント。</a:t>
            </a:r>
          </a:p>
          <a:p>
            <a:r>
              <a:rPr b="0" sz="1700"/>
              <a:t>None of this is folklore. It’s documented.</a:t>
            </a:r>
          </a:p>
          <a:p>
            <a:r>
              <a:rPr b="0" sz="1700"/>
              <a:t>  </a:t>
            </a:r>
            <a:r>
              <a:rPr b="1" sz="1700"/>
              <a:t>ナン</a:t>
            </a:r>
            <a:r>
              <a:rPr b="0" sz="1700"/>
              <a:t> オブ ディス イズ フォークロー。 イッツ </a:t>
            </a:r>
            <a:r>
              <a:rPr b="1" sz="1700"/>
              <a:t>ドキュメンティッド</a:t>
            </a:r>
            <a:r>
              <a:rPr b="0" sz="1700"/>
              <a:t>。</a:t>
            </a:r>
          </a:p>
          <a:p>
            <a:r>
              <a:rPr b="0" sz="1700"/>
              <a:t>Read it — and poke holes in it.”</a:t>
            </a:r>
          </a:p>
          <a:p>
            <a:r>
              <a:rPr b="0" sz="1700"/>
              <a:t>  </a:t>
            </a:r>
            <a:r>
              <a:rPr b="1" sz="1700"/>
              <a:t>リード</a:t>
            </a:r>
            <a:r>
              <a:rPr b="0" sz="1700"/>
              <a:t> イット — アンド </a:t>
            </a:r>
            <a:r>
              <a:rPr b="1" sz="1700"/>
              <a:t>ポウク ホウルズ</a:t>
            </a:r>
            <a:r>
              <a:rPr b="0" sz="1700"/>
              <a:t> イン イット。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[08:50 / 0:50] THREE PILLARS — 発話 0:35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“Three moving parts.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ムービング パーツ。</a:t>
            </a:r>
          </a:p>
          <a:p>
            <a:r>
              <a:rPr b="0" sz="1700"/>
              <a:t>One — an encrypted local vessel. Authenticated encryption, password-derived keys.</a:t>
            </a:r>
          </a:p>
          <a:p>
            <a:r>
              <a:rPr b="0" sz="1700"/>
              <a:t>  </a:t>
            </a:r>
            <a:r>
              <a:rPr b="1" sz="1700"/>
              <a:t>ワン</a:t>
            </a:r>
            <a:r>
              <a:rPr b="0" sz="1700"/>
              <a:t> — アン インクリプティッド ローカル </a:t>
            </a:r>
            <a:r>
              <a:rPr b="1" sz="1700"/>
              <a:t>ベッセル</a:t>
            </a:r>
            <a:r>
              <a:rPr b="0" sz="1700"/>
              <a:t>。 オーセンティケイティッド インクリプション、 パスワードディライブド キーズ。</a:t>
            </a:r>
          </a:p>
          <a:p>
            <a:r>
              <a:rPr b="0" sz="1700"/>
              <a:t>Two — object-cue operation. I’ll come right back to this. It’s the fun part.</a:t>
            </a:r>
          </a:p>
          <a:p>
            <a:r>
              <a:rPr b="0" sz="1700"/>
              <a:t>  </a:t>
            </a:r>
            <a:r>
              <a:rPr b="1" sz="1700"/>
              <a:t>トゥー</a:t>
            </a:r>
            <a:r>
              <a:rPr b="0" sz="1700"/>
              <a:t> — オブジェクトキュー オペレイション。 アイル カム ライト バック トゥ ディス。 イッツ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Three — controlled disclosure.</a:t>
            </a:r>
          </a:p>
          <a:p>
            <a:r>
              <a:rPr b="0" sz="1700"/>
              <a:t>  </a:t>
            </a:r>
            <a:r>
              <a:rPr b="1" sz="1700"/>
              <a:t>スリー</a:t>
            </a:r>
            <a:r>
              <a:rPr b="0" sz="1700"/>
              <a:t> — コントロールド ディスクロージャー。</a:t>
            </a:r>
          </a:p>
          <a:p>
            <a:r>
              <a:rPr b="0" sz="1700"/>
              <a:t>And that third one is concrete, not a slogan.</a:t>
            </a:r>
          </a:p>
          <a:p>
            <a:r>
              <a:rPr b="0" sz="1700"/>
              <a:t>  アンド ザット サード ワン イズ </a:t>
            </a:r>
            <a:r>
              <a:rPr b="1" sz="1700"/>
              <a:t>コンクリート</a:t>
            </a:r>
            <a:r>
              <a:rPr b="0" sz="1700"/>
              <a:t>、 ナット ア スロウガン。</a:t>
            </a:r>
          </a:p>
          <a:p>
            <a:r>
              <a:rPr b="0" sz="1700"/>
              <a:t>You set three credentials.</a:t>
            </a:r>
          </a:p>
          <a:p>
            <a:r>
              <a:rPr b="0" sz="1700"/>
              <a:t>  ユー セット </a:t>
            </a:r>
            <a:r>
              <a:rPr b="1" sz="1700"/>
              <a:t>スリー クリデンシャルズ</a:t>
            </a:r>
            <a:r>
              <a:rPr b="0" sz="1700"/>
              <a:t>。</a:t>
            </a:r>
          </a:p>
          <a:p>
            <a:r>
              <a:rPr b="0" sz="1700"/>
              <a:t>One opens the real file.</a:t>
            </a:r>
          </a:p>
          <a:p>
            <a:r>
              <a:rPr b="0" sz="1700"/>
              <a:t>  ワン </a:t>
            </a:r>
            <a:r>
              <a:rPr b="1" sz="1700"/>
              <a:t>オープンズ</a:t>
            </a:r>
            <a:r>
              <a:rPr b="0" sz="1700"/>
              <a:t> ザ リアル ファイル。</a:t>
            </a:r>
          </a:p>
          <a:p>
            <a:r>
              <a:rPr b="0" sz="1700"/>
              <a:t>One opens the decoy.</a:t>
            </a:r>
          </a:p>
          <a:p>
            <a:r>
              <a:rPr b="0" sz="1700"/>
              <a:t>  ワン オープンズ ザ </a:t>
            </a:r>
            <a:r>
              <a:rPr b="1" sz="1700"/>
              <a:t>ディーコイ</a:t>
            </a:r>
            <a:r>
              <a:rPr b="0" sz="1700"/>
              <a:t>。</a:t>
            </a:r>
          </a:p>
          <a:p>
            <a:r>
              <a:rPr b="0" sz="1700"/>
              <a:t>And one destroys the real file.</a:t>
            </a:r>
          </a:p>
          <a:p>
            <a:r>
              <a:rPr b="0" sz="1700"/>
              <a:t>  アンド ワン </a:t>
            </a:r>
            <a:r>
              <a:rPr b="1" sz="1700"/>
              <a:t>ディストロイズ</a:t>
            </a:r>
            <a:r>
              <a:rPr b="0" sz="1700"/>
              <a:t> ザ リアル ファイル。</a:t>
            </a:r>
          </a:p>
          <a:p>
            <a:r>
              <a:rPr b="0" sz="1700"/>
              <a:t>Three passwords. Three very different outcomes.</a:t>
            </a:r>
          </a:p>
          <a:p>
            <a:r>
              <a:rPr b="0" sz="1700"/>
              <a:t>  スリー パスワーズ。 スリー ベリー </a:t>
            </a:r>
            <a:r>
              <a:rPr b="1" sz="1700"/>
              <a:t>ディファレント アウトカムズ</a:t>
            </a:r>
            <a:r>
              <a:rPr b="0" sz="1700"/>
              <a:t>。</a:t>
            </a:r>
          </a:p>
          <a:p>
            <a:r>
              <a:rPr b="0" sz="1700"/>
              <a:t>And only you know which is which.”</a:t>
            </a:r>
          </a:p>
          <a:p>
            <a:r>
              <a:rPr b="0" sz="1700"/>
              <a:t>  アンド </a:t>
            </a:r>
            <a:r>
              <a:rPr b="1" sz="1700"/>
              <a:t>オンリー ユー</a:t>
            </a:r>
            <a:r>
              <a:rPr b="0" sz="1700"/>
              <a:t> ノウ ウィッチ イズ ウィッチ。</a:t>
            </a:r>
          </a:p>
          <a:p>
            <a:r>
              <a:rPr b="0" sz="1700"/>
              <a:t/>
            </a:r>
          </a:p>
          <a:p>
            <a:r>
              <a:rPr b="0" sz="1200"/>
              <a:t>JA: ② を予告して引っ張る。3パスフレーズはここが初出 — 指で3つ数えて見せると残る。破壊資格の意味は Slide 21 まで引っ張る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[09:40 / 1:20] OBJECT-CUE  ★見せ場 — 発話 0:50</a:t>
            </a:r>
          </a:p>
          <a:p>
            <a:r>
              <a:rPr b="0" sz="1700"/>
              <a:t/>
            </a:r>
          </a:p>
          <a:p>
            <a:r>
              <a:rPr b="0" sz="1700"/>
              <a:t>“Here’s the fun part.</a:t>
            </a:r>
          </a:p>
          <a:p>
            <a:r>
              <a:rPr b="0" sz="1700"/>
              <a:t>  ヒアズ ザ </a:t>
            </a:r>
            <a:r>
              <a:rPr b="1" sz="1700"/>
              <a:t>ファン パート</a:t>
            </a:r>
            <a:r>
              <a:rPr b="0" sz="1700"/>
              <a:t>。</a:t>
            </a:r>
          </a:p>
          <a:p>
            <a:r>
              <a:rPr b="0" sz="1700"/>
              <a:t>You show an everyday object to the camera, and that operates the access gate.</a:t>
            </a:r>
          </a:p>
          <a:p>
            <a:r>
              <a:rPr b="0" sz="1700"/>
              <a:t>  ユー ショウ アン エブリデイ </a:t>
            </a:r>
            <a:r>
              <a:rPr b="1" sz="1700"/>
              <a:t>オブジェクト</a:t>
            </a:r>
            <a:r>
              <a:rPr b="0" sz="1700"/>
              <a:t> トゥ ザ カメラ、 アンド ザット オペレイツ ジ </a:t>
            </a:r>
            <a:r>
              <a:rPr b="1" sz="1700"/>
              <a:t>アクセス ゲイト</a:t>
            </a:r>
            <a:r>
              <a:rPr b="0" sz="1700"/>
              <a:t>。</a:t>
            </a:r>
          </a:p>
          <a:p>
            <a:r>
              <a:rPr b="0" sz="1700"/>
              <a:t>Nothing to type. Nothing that looks like a secret.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トゥ タイプ。 </a:t>
            </a:r>
            <a:r>
              <a:rPr b="1" sz="1700"/>
              <a:t>ナッシング</a:t>
            </a:r>
            <a:r>
              <a:rPr b="0" sz="1700"/>
              <a:t> ザット ルックス ライク ア シークレット。</a:t>
            </a:r>
          </a:p>
          <a:p>
            <a:r>
              <a:rPr b="0" sz="1700"/>
              <a:t>Now — this is the part people get wrong. So let me be clear.</a:t>
            </a:r>
          </a:p>
          <a:p>
            <a:r>
              <a:rPr b="0" sz="1700"/>
              <a:t>  ナウ — ディス イズ ザ パート ピープル ゲット </a:t>
            </a:r>
            <a:r>
              <a:rPr b="1" sz="1700"/>
              <a:t>ロング</a:t>
            </a:r>
            <a:r>
              <a:rPr b="0" sz="1700"/>
              <a:t>。 ソウ レット ミー ビー </a:t>
            </a:r>
            <a:r>
              <a:rPr b="1" sz="1700"/>
              <a:t>クリア</a:t>
            </a:r>
            <a:r>
              <a:rPr b="0" sz="1700"/>
              <a:t>。</a:t>
            </a:r>
          </a:p>
          <a:p>
            <a:r>
              <a:rPr b="0" sz="1700"/>
              <a:t>The object is a cue, not a key.</a:t>
            </a:r>
          </a:p>
          <a:p>
            <a:r>
              <a:rPr b="0" sz="1700"/>
              <a:t>  ジ オブジェクト イズ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</a:t>
            </a:r>
          </a:p>
          <a:p>
            <a:r>
              <a:rPr b="0" sz="1700"/>
              <a:t>It drives operation, and policy checks.</a:t>
            </a:r>
          </a:p>
          <a:p>
            <a:r>
              <a:rPr b="0" sz="1700"/>
              <a:t>  イット ドライブズ </a:t>
            </a:r>
            <a:r>
              <a:rPr b="1" sz="1700"/>
              <a:t>オペレイション</a:t>
            </a:r>
            <a:r>
              <a:rPr b="0" sz="1700"/>
              <a:t>、 アンド ポリシー チェックス。</a:t>
            </a:r>
          </a:p>
          <a:p>
            <a:r>
              <a:rPr b="0" sz="1700"/>
              <a:t>It is not the encryption key.</a:t>
            </a:r>
          </a:p>
          <a:p>
            <a:r>
              <a:rPr b="0" sz="1700"/>
              <a:t>  イット イズ </a:t>
            </a:r>
            <a:r>
              <a:rPr b="1" sz="1700"/>
              <a:t>ナット</a:t>
            </a:r>
            <a:r>
              <a:rPr b="0" sz="1700"/>
              <a:t> ジ インクリプション キー。</a:t>
            </a:r>
          </a:p>
          <a:p>
            <a:r>
              <a:rPr b="0" sz="1700"/>
              <a:t>A photo of the object unlocks nothing.</a:t>
            </a:r>
          </a:p>
          <a:p>
            <a:r>
              <a:rPr b="0" sz="1700"/>
              <a:t>  ア フォト オブ ジ オブジェクト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>The crypto stays with Argon2id and AES-GCM.</a:t>
            </a:r>
          </a:p>
          <a:p>
            <a:r>
              <a:rPr b="0" sz="1700"/>
              <a:t>  ザ クリプト ステイズ ウィズ </a:t>
            </a:r>
            <a:r>
              <a:rPr b="1" sz="1700"/>
              <a:t>アーゴン トゥー アイディー</a:t>
            </a:r>
            <a:r>
              <a:rPr b="0" sz="1700"/>
              <a:t> アンド </a:t>
            </a:r>
            <a:r>
              <a:rPr b="1" sz="1700"/>
              <a:t>エイ イー エス ジー シー エム</a:t>
            </a:r>
            <a:r>
              <a:rPr b="0" sz="1700"/>
              <a:t>。</a:t>
            </a:r>
          </a:p>
          <a:p>
            <a:r>
              <a:rPr b="0" sz="1700"/>
              <a:t>The object only decides whether you get to act.</a:t>
            </a:r>
          </a:p>
          <a:p>
            <a:r>
              <a:rPr b="0" sz="1700"/>
              <a:t>  ジ オブジェクト オンリー ディサイズ ウェザー ユー ゲット トゥ </a:t>
            </a:r>
            <a:r>
              <a:rPr b="1" sz="1700"/>
              <a:t>アクト</a:t>
            </a:r>
            <a:r>
              <a:rPr b="0" sz="1700"/>
              <a:t>。</a:t>
            </a:r>
          </a:p>
          <a:p>
            <a:r>
              <a:rPr b="0" sz="1700"/>
              <a:t>And you’ll watch this fail, live, in a few minutes.</a:t>
            </a:r>
          </a:p>
          <a:p>
            <a:r>
              <a:rPr b="0" sz="1700"/>
              <a:t>  アンド ユール ウォッチ ディス </a:t>
            </a:r>
            <a:r>
              <a:rPr b="1" sz="1700"/>
              <a:t>フェイル</a:t>
            </a:r>
            <a:r>
              <a:rPr b="0" sz="1700"/>
              <a:t>、 </a:t>
            </a:r>
            <a:r>
              <a:rPr b="1" sz="1700"/>
              <a:t>ライブ</a:t>
            </a:r>
            <a:r>
              <a:rPr b="0" sz="1700"/>
              <a:t>、 イン ア フュー ミニッツ。</a:t>
            </a:r>
          </a:p>
          <a:p>
            <a:r>
              <a:rPr b="0" sz="1700"/>
              <a:t>Same file. Same password. No object.”</a:t>
            </a:r>
          </a:p>
          <a:p>
            <a:r>
              <a:rPr b="0" sz="1700"/>
              <a:t>  セイム ファイル。 セイム パスワード。 </a:t>
            </a:r>
            <a:r>
              <a:rPr b="1" sz="1700"/>
              <a:t>ノウ オブジェクト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700"/>
              <a:t>SPEAK（決めゼリフ・間を置いて）</a:t>
            </a:r>
          </a:p>
          <a:p>
            <a:r>
              <a:rPr b="0" sz="1700"/>
              <a:t>“A cue, not a key. A photo of it unlocks nothing.”</a:t>
            </a:r>
          </a:p>
          <a:p>
            <a:r>
              <a:rPr b="0" sz="1700"/>
              <a:t>  ア </a:t>
            </a:r>
            <a:r>
              <a:rPr b="1" sz="1700"/>
              <a:t>キュー</a:t>
            </a:r>
            <a:r>
              <a:rPr b="0" sz="1700"/>
              <a:t>、 </a:t>
            </a:r>
            <a:r>
              <a:rPr b="1" sz="1700"/>
              <a:t>ナット</a:t>
            </a:r>
            <a:r>
              <a:rPr b="0" sz="1700"/>
              <a:t> ア キー。 ア フォト オブ イット アンロックス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ゆっくり。手元の物体を掲げると効果的。最後の一文で Step 4 を予告する — 実証を約束しておくとデモの山が強くなる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[11:00 / 1:20] COERCION-SAFE DELAYING — 発話 1:20</a:t>
            </a:r>
          </a:p>
          <a:p>
            <a:r>
              <a:rPr b="0" sz="1700"/>
              <a:t/>
            </a:r>
          </a:p>
          <a:p>
            <a:r>
              <a:rPr b="0" sz="1700"/>
              <a:t>“This is what makes it coercion-safe.</a:t>
            </a:r>
          </a:p>
          <a:p>
            <a:r>
              <a:rPr b="0" sz="1700"/>
              <a:t>  ディス イズ ワット メイクス イット </a:t>
            </a:r>
            <a:r>
              <a:rPr b="1" sz="1700"/>
              <a:t>コアージョン セイフ</a:t>
            </a:r>
            <a:r>
              <a:rPr b="0" sz="1700"/>
              <a:t>。</a:t>
            </a:r>
          </a:p>
          <a:p>
            <a:r>
              <a:rPr b="0" sz="1700"/>
              <a:t>First, Silent Standby.</a:t>
            </a:r>
          </a:p>
          <a:p>
            <a:r>
              <a:rPr b="0" sz="1700"/>
              <a:t>  ファースト、 </a:t>
            </a:r>
            <a:r>
              <a:rPr b="1" sz="1700"/>
              <a:t>サイレント スタンドバイ</a:t>
            </a:r>
            <a:r>
              <a:rPr b="0" sz="1700"/>
              <a:t>。</a:t>
            </a:r>
          </a:p>
          <a:p>
            <a:r>
              <a:rPr b="0" sz="1700"/>
              <a:t>One hotkey drops the sensitive interface into a harmless state.</a:t>
            </a:r>
          </a:p>
          <a:p>
            <a:r>
              <a:rPr b="0" sz="1700"/>
              <a:t>  ワン ホットキー ドロップス ザ センシティブ インターフェイス イントゥ ア </a:t>
            </a:r>
            <a:r>
              <a:rPr b="1" sz="1700"/>
              <a:t>ハームレス ステイト</a:t>
            </a:r>
            <a:r>
              <a:rPr b="0" sz="1700"/>
              <a:t>。</a:t>
            </a:r>
          </a:p>
          <a:p>
            <a:r>
              <a:rPr b="0" sz="1700"/>
              <a:t>Coming back needs re-authentication.</a:t>
            </a:r>
          </a:p>
          <a:p>
            <a:r>
              <a:rPr b="0" sz="1700"/>
              <a:t>  カミング バック ニーズ </a:t>
            </a:r>
            <a:r>
              <a:rPr b="1" sz="1700"/>
              <a:t>リーオーセンティケイション</a:t>
            </a:r>
            <a:r>
              <a:rPr b="0" sz="1700"/>
              <a:t>。</a:t>
            </a:r>
          </a:p>
          <a:p>
            <a:r>
              <a:rPr b="0" sz="1700"/>
              <a:t>Second — the material itself. And I want to be exact here.</a:t>
            </a:r>
          </a:p>
          <a:p>
            <a:r>
              <a:rPr b="0" sz="1700"/>
              <a:t>  セカンド — ザ マテリアル </a:t>
            </a:r>
            <a:r>
              <a:rPr b="1" sz="1700"/>
              <a:t>イットセルフ</a:t>
            </a:r>
            <a:r>
              <a:rPr b="0" sz="1700"/>
              <a:t>。 アンド アイ ワナ ビー </a:t>
            </a:r>
            <a:r>
              <a:rPr b="1" sz="1700"/>
              <a:t>イグザクト</a:t>
            </a:r>
            <a:r>
              <a:rPr b="0" sz="1700"/>
              <a:t> ヒア。</a:t>
            </a:r>
          </a:p>
          <a:p>
            <a:r>
              <a:rPr b="0" sz="1700"/>
              <a:t>The file you would hand over is a file you wrote and stored yourself.</a:t>
            </a:r>
          </a:p>
          <a:p>
            <a:r>
              <a:rPr b="0" sz="1700"/>
              <a:t>  ザ ファイル ユー ウド ハンド オーバー イズ ア ファイル ユー </a:t>
            </a:r>
            <a:r>
              <a:rPr b="1" sz="1700"/>
              <a:t>ロウト アンド ストード ユアセルフ</a:t>
            </a:r>
            <a:r>
              <a:rPr b="0" sz="1700"/>
              <a:t>。</a:t>
            </a:r>
          </a:p>
          <a:p>
            <a:r>
              <a:rPr b="0" sz="1700"/>
              <a:t>Before any coercion.</a:t>
            </a:r>
          </a:p>
          <a:p>
            <a:r>
              <a:rPr b="0" sz="1700"/>
              <a:t>  ビフォー </a:t>
            </a:r>
            <a:r>
              <a:rPr b="1" sz="1700"/>
              <a:t>エニー</a:t>
            </a:r>
            <a:r>
              <a:rPr b="0" sz="1700"/>
              <a:t> コアージョン。</a:t>
            </a:r>
          </a:p>
          <a:p>
            <a:r>
              <a:rPr b="0" sz="1700"/>
              <a:t>Phasmid does not manufacture your cover story.</a:t>
            </a:r>
          </a:p>
          <a:p>
            <a:r>
              <a:rPr b="0" sz="1700"/>
              <a:t>  ファズミッド ダズ </a:t>
            </a:r>
            <a:r>
              <a:rPr b="1" sz="1700"/>
              <a:t>ナット</a:t>
            </a:r>
            <a:r>
              <a:rPr b="0" sz="1700"/>
              <a:t> マニュファクチャー ユア カバー ストーリー。</a:t>
            </a:r>
          </a:p>
          <a:p>
            <a:r>
              <a:rPr b="0" sz="1700"/>
              <a:t>Generated data would not survive five minutes of questioning.</a:t>
            </a:r>
          </a:p>
          <a:p>
            <a:r>
              <a:rPr b="0" sz="1700"/>
              <a:t>  ジェネレイティッド データ ウド ナット </a:t>
            </a:r>
            <a:r>
              <a:rPr b="1" sz="1700"/>
              <a:t>サバイブ</a:t>
            </a:r>
            <a:r>
              <a:rPr b="0" sz="1700"/>
              <a:t> ファイブ ミニッツ オブ クエスチョニング。</a:t>
            </a:r>
          </a:p>
          <a:p>
            <a:r>
              <a:rPr b="0" sz="1700"/>
              <a:t>Not from someone holding your passport.</a:t>
            </a:r>
          </a:p>
          <a:p>
            <a:r>
              <a:rPr b="0" sz="1700"/>
              <a:t>  ナット フロム サムワン ホウルディング ユア </a:t>
            </a:r>
            <a:r>
              <a:rPr b="1" sz="1700"/>
              <a:t>パスポート</a:t>
            </a:r>
            <a:r>
              <a:rPr b="0" sz="1700"/>
              <a:t>。</a:t>
            </a:r>
          </a:p>
          <a:p>
            <a:r>
              <a:rPr b="0" sz="1700"/>
              <a:t>Realism has to come from your own material — not from my random-text generator.</a:t>
            </a:r>
          </a:p>
          <a:p>
            <a:r>
              <a:rPr b="0" sz="1700"/>
              <a:t>  </a:t>
            </a:r>
            <a:r>
              <a:rPr b="1" sz="1700"/>
              <a:t>リアリズム</a:t>
            </a:r>
            <a:r>
              <a:rPr b="0" sz="1700"/>
              <a:t> ハズ トゥ カム フロム ユア オウン マテリアル — ナット フロム マイ ランダムテクスト ジェネレイター。</a:t>
            </a:r>
          </a:p>
          <a:p>
            <a:r>
              <a:rPr b="0" sz="1700"/>
              <a:t>What the tool does give you is filler.</a:t>
            </a:r>
          </a:p>
          <a:p>
            <a:r>
              <a:rPr b="0" sz="1700"/>
              <a:t>  ワット ザ ツール ダズ ギブ ユー イズ </a:t>
            </a:r>
            <a:r>
              <a:rPr b="1" sz="1700"/>
              <a:t>フィラー</a:t>
            </a:r>
            <a:r>
              <a:rPr b="0" sz="1700"/>
              <a:t>。</a:t>
            </a:r>
          </a:p>
          <a:p>
            <a:r>
              <a:rPr b="0" sz="1700"/>
              <a:t>It occupies free space, so an empty container doesn’t read as empty.</a:t>
            </a:r>
          </a:p>
          <a:p>
            <a:r>
              <a:rPr b="0" sz="1700"/>
              <a:t>  イット オキュパイズ </a:t>
            </a:r>
            <a:r>
              <a:rPr b="1" sz="1700"/>
              <a:t>フリー スペイス</a:t>
            </a:r>
            <a:r>
              <a:rPr b="0" sz="1700"/>
              <a:t>、 ソウ アン エンプティ コンテナ ダズント リード アズ </a:t>
            </a:r>
            <a:r>
              <a:rPr b="1" sz="1700"/>
              <a:t>エンプティ</a:t>
            </a:r>
            <a:r>
              <a:rPr b="0" sz="1700"/>
              <a:t>。</a:t>
            </a:r>
          </a:p>
          <a:p>
            <a:r>
              <a:rPr b="0" sz="1700"/>
              <a:t>That’s a volume problem. And volume is something software can actually solve.</a:t>
            </a:r>
          </a:p>
          <a:p>
            <a:r>
              <a:rPr b="0" sz="1700"/>
              <a:t>  ザッツ ア </a:t>
            </a:r>
            <a:r>
              <a:rPr b="1" sz="1700"/>
              <a:t>ボリューム プロブレム</a:t>
            </a:r>
            <a:r>
              <a:rPr b="0" sz="1700"/>
              <a:t>。 アンド ボリューム イズ サムシング ソフトウェア キャン </a:t>
            </a:r>
            <a:r>
              <a:rPr b="1" sz="1700"/>
              <a:t>アクチュアリー ソルブ</a:t>
            </a:r>
            <a:r>
              <a:rPr b="0" sz="1700"/>
              <a:t>。</a:t>
            </a:r>
          </a:p>
          <a:p>
            <a:r>
              <a:rPr b="0" sz="1700"/>
              <a:t>Third — context profiles. Travel. Field engineer. Researcher.</a:t>
            </a:r>
          </a:p>
          <a:p>
            <a:r>
              <a:rPr b="0" sz="1700"/>
              <a:t>  サード — </a:t>
            </a:r>
            <a:r>
              <a:rPr b="1" sz="1700"/>
              <a:t>コンテクスト プロウファイルズ</a:t>
            </a:r>
            <a:r>
              <a:rPr b="0" sz="1700"/>
              <a:t>。 トラブル。 フィールド エンジニア。 リサーチャー。</a:t>
            </a:r>
          </a:p>
          <a:p>
            <a:r>
              <a:rPr b="0" sz="1700"/>
              <a:t>They tell you what ‘normal’ should look like, so you know what to prepare.</a:t>
            </a:r>
          </a:p>
          <a:p>
            <a:r>
              <a:rPr b="0" sz="1700"/>
              <a:t>  ゼイ テル ユー ワット </a:t>
            </a:r>
            <a:r>
              <a:rPr b="1" sz="1700"/>
              <a:t>ノーマル</a:t>
            </a:r>
            <a:r>
              <a:rPr b="0" sz="1700"/>
              <a:t> シュド ルック ライク、 ソウ ユー ノウ ワット トゥ プリペア。</a:t>
            </a:r>
          </a:p>
          <a:p>
            <a:r>
              <a:rPr b="0" sz="1700"/>
              <a:t>And in coercion-safe mode, a low-confidence match goes to the disclosure face, instead of failing loudly.</a:t>
            </a:r>
          </a:p>
          <a:p>
            <a:r>
              <a:rPr b="0" sz="1700"/>
              <a:t>  アンド イン コアージョンセイフ モウド、 ア ロウ コンフィデンス マッチ ゴウズ トゥ ザ </a:t>
            </a:r>
            <a:r>
              <a:rPr b="1" sz="1700"/>
              <a:t>ディスクロージャー フェイス</a:t>
            </a:r>
            <a:r>
              <a:rPr b="0" sz="1700"/>
              <a:t>、 インステッド オブ フェイリング ラウドリー。</a:t>
            </a:r>
          </a:p>
          <a:p>
            <a:r>
              <a:rPr b="0" sz="1700"/>
              <a:t>The goal isn’t magic invisibility.</a:t>
            </a:r>
          </a:p>
          <a:p>
            <a:r>
              <a:rPr b="0" sz="1700"/>
              <a:t>  ザ ゴウル イズント </a:t>
            </a:r>
            <a:r>
              <a:rPr b="1" sz="1700"/>
              <a:t>マジック インビジビリティ</a:t>
            </a:r>
            <a:r>
              <a:rPr b="0" sz="1700"/>
              <a:t>。</a:t>
            </a:r>
          </a:p>
          <a:p>
            <a:r>
              <a:rPr b="0" sz="1700"/>
              <a:t>The goal is uncertainty, and delay.”</a:t>
            </a:r>
          </a:p>
          <a:p>
            <a:r>
              <a:rPr b="0" sz="1700"/>
              <a:t>  ザ ゴウル イズ </a:t>
            </a:r>
            <a:r>
              <a:rPr b="1" sz="1700"/>
              <a:t>アンサートゥンティ</a:t>
            </a:r>
            <a:r>
              <a:rPr b="0" sz="1700"/>
              <a:t>、 アンド </a:t>
            </a:r>
            <a:r>
              <a:rPr b="1" sz="1700"/>
              <a:t>ディレイ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本トークで最も誤解されやすい点。「ツールが囮を作る」と思われた瞬間に設計の真実味が全部落ちる。「囮は利用者が用意する」と「填充は空き領域対策に過ぎない」を分けて言い切る。Silent Standby はデモで見せると予告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[12:20 / 0:45] DESIGN PRINCIPLES — 発話 0:15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“The design principle is restraint.</a:t>
            </a:r>
          </a:p>
          <a:p>
            <a:r>
              <a:rPr b="0" sz="1700"/>
              <a:t>  ザ デザイン プリンシプル イズ </a:t>
            </a:r>
            <a:r>
              <a:rPr b="1" sz="1700"/>
              <a:t>リストレイント</a:t>
            </a:r>
            <a:r>
              <a:rPr b="0" sz="1700"/>
              <a:t>。</a:t>
            </a:r>
          </a:p>
          <a:p>
            <a:r>
              <a:rPr b="0" sz="1700"/>
              <a:t>The vault file alone isn’t meant to be enough.</a:t>
            </a:r>
          </a:p>
          <a:p>
            <a:r>
              <a:rPr b="0" sz="1700"/>
              <a:t>  ザ ボルト ファイル </a:t>
            </a:r>
            <a:r>
              <a:rPr b="1" sz="1700"/>
              <a:t>アロウン</a:t>
            </a:r>
            <a:r>
              <a:rPr b="0" sz="1700"/>
              <a:t> イズント メント トゥ ビー イナフ。</a:t>
            </a:r>
          </a:p>
          <a:p>
            <a:r>
              <a:rPr b="0" sz="1700"/>
              <a:t>Normal flows don’t reveal structure, or recovery.</a:t>
            </a:r>
          </a:p>
          <a:p>
            <a:r>
              <a:rPr b="0" sz="1700"/>
              <a:t>  ノーマル フロウズ ドウント </a:t>
            </a:r>
            <a:r>
              <a:rPr b="1" sz="1700"/>
              <a:t>リビール</a:t>
            </a:r>
            <a:r>
              <a:rPr b="0" sz="1700"/>
              <a:t> ストラクチャー、 オア リカバリー。</a:t>
            </a:r>
          </a:p>
          <a:p>
            <a:r>
              <a:rPr b="0" sz="1700"/>
              <a:t>And metadata reduction is best-effort. Support — not sanitization.</a:t>
            </a:r>
          </a:p>
          <a:p>
            <a:r>
              <a:rPr b="0" sz="1700"/>
              <a:t>  アンド メタデータ リダクション イズ </a:t>
            </a:r>
            <a:r>
              <a:rPr b="1" sz="1700"/>
              <a:t>ベスト エフォート</a:t>
            </a:r>
            <a:r>
              <a:rPr b="0" sz="1700"/>
              <a:t>。 サポート — </a:t>
            </a:r>
            <a:r>
              <a:rPr b="1" sz="1700"/>
              <a:t>ナット</a:t>
            </a:r>
            <a:r>
              <a:rPr b="0" sz="1700"/>
              <a:t> サニタイゼイション。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4ステップを順に指す。デモの地図と予告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[13:05 / 0:45] OPERATING FLOW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Operationally, it’s four steps.</a:t>
            </a:r>
          </a:p>
          <a:p>
            <a:r>
              <a:rPr b="0" sz="1700"/>
              <a:t>  オペレイショナリー、 イッツ </a:t>
            </a:r>
            <a:r>
              <a:rPr b="1" sz="1700"/>
              <a:t>フォー ステップス</a:t>
            </a:r>
            <a:r>
              <a:rPr b="0" sz="1700"/>
              <a:t>。</a:t>
            </a:r>
          </a:p>
          <a:p>
            <a:r>
              <a:rPr b="0" sz="1700"/>
              <a:t>Prepare a vessel.</a:t>
            </a:r>
          </a:p>
          <a:p>
            <a:r>
              <a:rPr b="0" sz="1700"/>
              <a:t>  </a:t>
            </a:r>
            <a:r>
              <a:rPr b="1" sz="1700"/>
              <a:t>プリペア</a:t>
            </a:r>
            <a:r>
              <a:rPr b="0" sz="1700"/>
              <a:t> ア ベッセル。</a:t>
            </a:r>
          </a:p>
          <a:p>
            <a:r>
              <a:rPr b="0" sz="1700"/>
              <a:t>Bind it — to local state, and to the object cue.</a:t>
            </a:r>
          </a:p>
          <a:p>
            <a:r>
              <a:rPr b="0" sz="1700"/>
              <a:t>  </a:t>
            </a:r>
            <a:r>
              <a:rPr b="1" sz="1700"/>
              <a:t>バインド</a:t>
            </a:r>
            <a:r>
              <a:rPr b="0" sz="1700"/>
              <a:t> イット — トゥ ローカル ステイト、 アンド トゥ ジ オブジェクト キュー。</a:t>
            </a:r>
          </a:p>
          <a:p>
            <a:r>
              <a:rPr b="0" sz="1700"/>
              <a:t>Operate it — through the CLI, the TUI, or the local web interface.</a:t>
            </a:r>
          </a:p>
          <a:p>
            <a:r>
              <a:rPr b="0" sz="1700"/>
              <a:t>  </a:t>
            </a:r>
            <a:r>
              <a:rPr b="1" sz="1700"/>
              <a:t>オペレイト</a:t>
            </a:r>
            <a:r>
              <a:rPr b="0" sz="1700"/>
              <a:t> イット — スルー ザ シー エル アイ、 ザ ティー ユー アイ、 オア ザ ローカル ウェブ インターフェイス。</a:t>
            </a:r>
          </a:p>
          <a:p>
            <a:r>
              <a:rPr b="0" sz="1700"/>
              <a:t>Disclose — controlled, under documented assumptions.</a:t>
            </a:r>
          </a:p>
          <a:p>
            <a:r>
              <a:rPr b="0" sz="1700"/>
              <a:t>  </a:t>
            </a:r>
            <a:r>
              <a:rPr b="1" sz="1700"/>
              <a:t>ディスクロウズ</a:t>
            </a:r>
            <a:r>
              <a:rPr b="0" sz="1700"/>
              <a:t> — コントロールド、 アンダー ドキュメンティッド アサンプションズ。</a:t>
            </a:r>
          </a:p>
          <a:p>
            <a:r>
              <a:rPr b="0" sz="1700"/>
              <a:t>Keep those four in your head. They’re the map for the demo.”</a:t>
            </a:r>
          </a:p>
          <a:p>
            <a:r>
              <a:rPr b="0" sz="1700"/>
              <a:t>  キープ ゾウズ </a:t>
            </a:r>
            <a:r>
              <a:rPr b="1" sz="1700"/>
              <a:t>フォー</a:t>
            </a:r>
            <a:r>
              <a:rPr b="0" sz="1700"/>
              <a:t> イン ユア ヘッド。 ゼア ザ </a:t>
            </a:r>
            <a:r>
              <a:rPr b="1" sz="1700"/>
              <a:t>マップ</a:t>
            </a:r>
            <a:r>
              <a:rPr b="0" sz="1700"/>
              <a:t> フォー ザ デモ。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[13:50 / 0:50] TECH — 発話 0:25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“Small. Local. Boring by design.</a:t>
            </a:r>
          </a:p>
          <a:p>
            <a:r>
              <a:rPr b="0" sz="1700"/>
              <a:t>  </a:t>
            </a:r>
            <a:r>
              <a:rPr b="1" sz="1700"/>
              <a:t>スモール</a:t>
            </a:r>
            <a:r>
              <a:rPr b="0" sz="1700"/>
              <a:t>。 </a:t>
            </a:r>
            <a:r>
              <a:rPr b="1" sz="1700"/>
              <a:t>ローカル</a:t>
            </a:r>
            <a:r>
              <a:rPr b="0" sz="1700"/>
              <a:t>。 </a:t>
            </a:r>
            <a:r>
              <a:rPr b="1" sz="1700"/>
              <a:t>ボーリング</a:t>
            </a:r>
            <a:r>
              <a:rPr b="0" sz="1700"/>
              <a:t> バイ デザイン。</a:t>
            </a:r>
          </a:p>
          <a:p>
            <a:r>
              <a:rPr b="0" sz="1700"/>
              <a:t>Argon2id for key derivation.</a:t>
            </a:r>
          </a:p>
          <a:p>
            <a:r>
              <a:rPr b="0" sz="1700"/>
              <a:t>  </a:t>
            </a:r>
            <a:r>
              <a:rPr b="1" sz="1700"/>
              <a:t>アーゴン トゥー アイディー</a:t>
            </a:r>
            <a:r>
              <a:rPr b="0" sz="1700"/>
              <a:t> フォー キー デリベイション。</a:t>
            </a:r>
          </a:p>
          <a:p>
            <a:r>
              <a:rPr b="0" sz="1700"/>
              <a:t>AES-GCM for authenticated encryption.</a:t>
            </a:r>
          </a:p>
          <a:p>
            <a:r>
              <a:rPr b="0" sz="1700"/>
              <a:t>  </a:t>
            </a:r>
            <a:r>
              <a:rPr b="1" sz="1700"/>
              <a:t>エイ イー エス ジー シー エム</a:t>
            </a:r>
            <a:r>
              <a:rPr b="0" sz="1700"/>
              <a:t> フォー オーセンティケイティッド インクリプション。</a:t>
            </a:r>
          </a:p>
          <a:p>
            <a:r>
              <a:rPr b="0" sz="1700"/>
              <a:t>The web interface bound to localhost.</a:t>
            </a:r>
          </a:p>
          <a:p>
            <a:r>
              <a:rPr b="0" sz="1700"/>
              <a:t>  ザ ウェブ インターフェイス バウンド トゥ </a:t>
            </a:r>
            <a:r>
              <a:rPr b="1" sz="1700"/>
              <a:t>ローカルホウスト</a:t>
            </a:r>
            <a:r>
              <a:rPr b="0" sz="1700"/>
              <a:t>。</a:t>
            </a:r>
          </a:p>
          <a:p>
            <a:r>
              <a:rPr b="0" sz="1700"/>
              <a:t>All of it on a Pi Zero 2 W.</a:t>
            </a:r>
          </a:p>
          <a:p>
            <a:r>
              <a:rPr b="0" sz="1700"/>
              <a:t>  オール オブ イット オン ア </a:t>
            </a:r>
            <a:r>
              <a:rPr b="1" sz="1700"/>
              <a:t>パイ ゼロ トゥー ダブリュー</a:t>
            </a:r>
            <a:r>
              <a:rPr b="0" sz="1700"/>
              <a:t>。</a:t>
            </a:r>
          </a:p>
          <a:p>
            <a:r>
              <a:rPr b="0" sz="1700"/>
              <a:t>Parameters tuned for that little board. Per-record encryption. No plaintext header.</a:t>
            </a:r>
          </a:p>
          <a:p>
            <a:r>
              <a:rPr b="0" sz="1700"/>
              <a:t>  パラミターズ </a:t>
            </a:r>
            <a:r>
              <a:rPr b="1" sz="1700"/>
              <a:t>チューンド</a:t>
            </a:r>
            <a:r>
              <a:rPr b="0" sz="1700"/>
              <a:t> フォー ザット リトル ボード。 パーレコード インクリプション。 </a:t>
            </a:r>
            <a:r>
              <a:rPr b="1" sz="1700"/>
              <a:t>ノウ プレインテクスト ヘダー</a:t>
            </a:r>
            <a:r>
              <a:rPr b="0" sz="1700"/>
              <a:t>。</a:t>
            </a:r>
          </a:p>
          <a:p>
            <a:r>
              <a:rPr b="0" sz="1700"/>
              <a:t>Boring is good. Boring is auditable.”</a:t>
            </a:r>
          </a:p>
          <a:p>
            <a:r>
              <a:rPr b="0" sz="1700"/>
              <a:t>  ボーリング イズ </a:t>
            </a:r>
            <a:r>
              <a:rPr b="1" sz="1700"/>
              <a:t>グッド</a:t>
            </a:r>
            <a:r>
              <a:rPr b="0" sz="1700"/>
              <a:t>。 ボーリング イズ </a:t>
            </a:r>
            <a:r>
              <a:rPr b="1" sz="1700"/>
              <a:t>オーディタブル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数値は帯を指す程度。詳細は次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[14:40 / 1:00] FIELD HARDWARE  ★エンゲージ — 発話 0:30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“And here’s the actual thing.</a:t>
            </a:r>
          </a:p>
          <a:p>
            <a:r>
              <a:rPr b="0" sz="1700"/>
              <a:t>  アンド ヒアズ ジ </a:t>
            </a:r>
            <a:r>
              <a:rPr b="1" sz="1700"/>
              <a:t>アクチュアル シング</a:t>
            </a:r>
            <a:r>
              <a:rPr b="0" sz="1700"/>
              <a:t>。</a:t>
            </a:r>
          </a:p>
          <a:p>
            <a:r>
              <a:rPr b="0" sz="1700"/>
              <a:t>A Pi Zero 2 W, in a 3D-printed case.</a:t>
            </a:r>
          </a:p>
          <a:p>
            <a:r>
              <a:rPr b="0" sz="1700"/>
              <a:t>  ア パイ ゼロ トゥー ダブリュー、 イン ア </a:t>
            </a:r>
            <a:r>
              <a:rPr b="1" sz="1700"/>
              <a:t>スリーディー プリンティッド ケイス</a:t>
            </a:r>
            <a:r>
              <a:rPr b="0" sz="1700"/>
              <a:t>。</a:t>
            </a:r>
          </a:p>
          <a:p>
            <a:r>
              <a:rPr b="0" sz="1700"/>
              <a:t>A camera for the object cue. On a small tripod.</a:t>
            </a:r>
          </a:p>
          <a:p>
            <a:r>
              <a:rPr b="0" sz="1700"/>
              <a:t>  ア </a:t>
            </a:r>
            <a:r>
              <a:rPr b="1" sz="1700"/>
              <a:t>カメラ</a:t>
            </a:r>
            <a:r>
              <a:rPr b="0" sz="1700"/>
              <a:t> フォー ジ オブジェクト キュー。 オン ア スモール </a:t>
            </a:r>
            <a:r>
              <a:rPr b="1" sz="1700"/>
              <a:t>トライポッド</a:t>
            </a:r>
            <a:r>
              <a:rPr b="0" sz="1700"/>
              <a:t>。</a:t>
            </a:r>
          </a:p>
          <a:p>
            <a:r>
              <a:rPr b="0" sz="1700"/>
              <a:t>You reach the web interface over USB, at localhost.</a:t>
            </a:r>
          </a:p>
          <a:p>
            <a:r>
              <a:rPr b="0" sz="1700"/>
              <a:t>  ユー リーチ ザ ウェブ インターフェイス オーバー </a:t>
            </a:r>
            <a:r>
              <a:rPr b="1" sz="1700"/>
              <a:t>ユー エス ビー</a:t>
            </a:r>
            <a:r>
              <a:rPr b="0" sz="1700"/>
              <a:t>、 アット ローカルホウスト。</a:t>
            </a:r>
          </a:p>
          <a:p>
            <a:r>
              <a:rPr b="0" sz="1700"/>
              <a:t>It never touches a network.</a:t>
            </a:r>
          </a:p>
          <a:p>
            <a:r>
              <a:rPr b="0" sz="1700"/>
              <a:t>  イット </a:t>
            </a:r>
            <a:r>
              <a:rPr b="1" sz="1700"/>
              <a:t>ネバー</a:t>
            </a:r>
            <a:r>
              <a:rPr b="0" sz="1700"/>
              <a:t> タッチィズ ア ネットワーク。</a:t>
            </a:r>
          </a:p>
          <a:p>
            <a:r>
              <a:rPr b="0" sz="1700"/>
              <a:t>It’s meant to read as an unremarkable little gadget.</a:t>
            </a:r>
          </a:p>
          <a:p>
            <a:r>
              <a:rPr b="0" sz="1700"/>
              <a:t>  イッツ メント トゥ リード アズ アン アンリマーカブル リトル </a:t>
            </a:r>
            <a:r>
              <a:rPr b="1" sz="1700"/>
              <a:t>ガジェット</a:t>
            </a:r>
            <a:r>
              <a:rPr b="0" sz="1700"/>
              <a:t>。</a:t>
            </a:r>
          </a:p>
          <a:p>
            <a:r>
              <a:rPr b="0" sz="1700"/>
              <a:t>And it’s right here on the table.</a:t>
            </a:r>
          </a:p>
          <a:p>
            <a:r>
              <a:rPr b="0" sz="1700"/>
              <a:t>  アンド イッツ </a:t>
            </a:r>
            <a:r>
              <a:rPr b="1" sz="1700"/>
              <a:t>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look — and try it — after the talk.”</a:t>
            </a:r>
          </a:p>
          <a:p>
            <a:r>
              <a:rPr b="0" sz="1700"/>
              <a:t>  </a:t>
            </a:r>
            <a:r>
              <a:rPr b="1" sz="1700"/>
              <a:t>カム アンド ルック</a:t>
            </a:r>
            <a:r>
              <a:rPr b="0" sz="1700"/>
              <a:t> — アンド </a:t>
            </a:r>
            <a:r>
              <a:rPr b="1" sz="1700"/>
              <a:t>トライ イット</a:t>
            </a:r>
            <a:r>
              <a:rPr b="0" sz="1700"/>
              <a:t> — アフター ザ トーク。</a:t>
            </a:r>
          </a:p>
          <a:p>
            <a:r>
              <a:rPr b="0" sz="1700"/>
              <a:t/>
            </a:r>
          </a:p>
          <a:p>
            <a:r>
              <a:rPr b="0" sz="1200"/>
              <a:t>JA: 「ただの小さなガジェットに見える」を強調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[15:40 / 0:45] CRYPTO CORE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“For the crypto people.</a:t>
            </a:r>
          </a:p>
          <a:p>
            <a:r>
              <a:rPr b="0" sz="1700"/>
              <a:t>  フォー ザ </a:t>
            </a:r>
            <a:r>
              <a:rPr b="1" sz="1700"/>
              <a:t>クリプト ピープル</a:t>
            </a:r>
            <a:r>
              <a:rPr b="0" sz="1700"/>
              <a:t>。</a:t>
            </a:r>
          </a:p>
          <a:p>
            <a:r>
              <a:rPr b="0" sz="1700"/>
              <a:t>Argon2id, with local access-key material mixed in, and device binding.</a:t>
            </a:r>
          </a:p>
          <a:p>
            <a:r>
              <a:rPr b="0" sz="1700"/>
              <a:t>  アーゴン トゥー アイディー、 ウィズ </a:t>
            </a:r>
            <a:r>
              <a:rPr b="1" sz="1700"/>
              <a:t>ローカル アクセスキー マテリアル</a:t>
            </a:r>
            <a:r>
              <a:rPr b="0" sz="1700"/>
              <a:t> ミクスト イン、 アンド デバイス バインディング。</a:t>
            </a:r>
          </a:p>
          <a:p>
            <a:r>
              <a:rPr b="0" sz="1700"/>
              <a:t>An optional external secret, as a third factor.</a:t>
            </a:r>
          </a:p>
          <a:p>
            <a:r>
              <a:rPr b="0" sz="1700"/>
              <a:t>  アン オプショナル エクスターナル </a:t>
            </a:r>
            <a:r>
              <a:rPr b="1" sz="1700"/>
              <a:t>シークレット</a:t>
            </a:r>
            <a:r>
              <a:rPr b="0" sz="1700"/>
              <a:t>、 アズ ア </a:t>
            </a:r>
            <a:r>
              <a:rPr b="1" sz="1700"/>
              <a:t>サード ファクター</a:t>
            </a:r>
            <a:r>
              <a:rPr b="0" sz="1700"/>
              <a:t>。</a:t>
            </a:r>
          </a:p>
          <a:p>
            <a:r>
              <a:rPr b="0" sz="1700"/>
              <a:t>AES-GCM per record, with authenticated metadata.</a:t>
            </a:r>
          </a:p>
          <a:p>
            <a:r>
              <a:rPr b="0" sz="1700"/>
              <a:t>  エイ イー エス ジー シー エム パー </a:t>
            </a:r>
            <a:r>
              <a:rPr b="1" sz="1700"/>
              <a:t>レコード</a:t>
            </a:r>
            <a:r>
              <a:rPr b="0" sz="1700"/>
              <a:t>、 ウィズ オーセンティケイティッド メタデータ。</a:t>
            </a:r>
          </a:p>
          <a:p>
            <a:r>
              <a:rPr b="0" sz="1700"/>
              <a:t>No plaintext marker in the vault.</a:t>
            </a:r>
          </a:p>
          <a:p>
            <a:r>
              <a:rPr b="0" sz="1700"/>
              <a:t>  </a:t>
            </a:r>
            <a:r>
              <a:rPr b="1" sz="1700"/>
              <a:t>ノウ プレインテクスト マーカー</a:t>
            </a:r>
            <a:r>
              <a:rPr b="0" sz="1700"/>
              <a:t> イン ザ ボルト。</a:t>
            </a:r>
          </a:p>
          <a:p>
            <a:r>
              <a:rPr b="0" sz="1700"/>
              <a:t>Startup self-tests check the primitives first.</a:t>
            </a:r>
          </a:p>
          <a:p>
            <a:r>
              <a:rPr b="0" sz="1700"/>
              <a:t>  スタートアップ セルフテスツ チェック ザ プリミティブズ </a:t>
            </a:r>
            <a:r>
              <a:rPr b="1" sz="1700"/>
              <a:t>ファースト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全部読まない。左列を指す。個別値は Q&amp;A 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[16:25 / 0:40] OPERATIONAL GUARDS — 発話 0:20</a:t>
            </a:r>
            <a:endParaRPr lang="en-US" dirty="0"/>
          </a:p>
          <a:p>
            <a:r>
              <a:rPr b="0" sz="1700"/>
              <a:t/>
            </a:r>
          </a:p>
          <a:p>
            <a:r>
              <a:rPr b="0" sz="1700"/>
              <a:t>And the web interface is hardened — not an afterthought.</a:t>
            </a:r>
          </a:p>
          <a:p>
            <a:r>
              <a:rPr b="0" sz="1700"/>
              <a:t>  アンド ザ ウェブ インターフェイス イズ </a:t>
            </a:r>
            <a:r>
              <a:rPr b="1" sz="1700"/>
              <a:t>ハードゥンド</a:t>
            </a:r>
            <a:r>
              <a:rPr b="0" sz="1700"/>
              <a:t> — ナット アン アフターソート。</a:t>
            </a:r>
          </a:p>
          <a:p>
            <a:r>
              <a:rPr b="0" sz="1700"/>
              <a:t>Localhost binding. Per-process tokens.</a:t>
            </a:r>
          </a:p>
          <a:p>
            <a:r>
              <a:rPr b="0" sz="1700"/>
              <a:t>  ローカルホウスト バインディング。 パープロセス トウクンズ。</a:t>
            </a:r>
          </a:p>
          <a:p>
            <a:r>
              <a:rPr b="0" sz="1700"/>
              <a:t>A restricted-confirmation session: HttpOnly, and short-lived.</a:t>
            </a:r>
          </a:p>
          <a:p>
            <a:r>
              <a:rPr b="0" sz="1700"/>
              <a:t>  ア リストリクティッド コンファメイション セッション: </a:t>
            </a:r>
            <a:r>
              <a:rPr b="1" sz="1700"/>
              <a:t>エイチ ティー ティー ピー オンリー</a:t>
            </a:r>
            <a:r>
              <a:rPr b="0" sz="1700"/>
              <a:t>、 アンド ショートリブド。</a:t>
            </a:r>
          </a:p>
          <a:p>
            <a:r>
              <a:rPr b="0" sz="1700"/>
              <a:t>Attempt limiting. Rate limiting. Inactivity auto-kill. Hardened headers.</a:t>
            </a:r>
          </a:p>
          <a:p>
            <a:r>
              <a:rPr b="0" sz="1700"/>
              <a:t>  アテンプト リミティング。 レイト リミティング。 インアクティビティ オートキル。 ハードゥンド ヘダーズ。</a:t>
            </a:r>
          </a:p>
          <a:p>
            <a:r>
              <a:rPr b="0" sz="1700"/>
              <a:t>And an opt-in, HMAC-chained audit log.</a:t>
            </a:r>
          </a:p>
          <a:p>
            <a:r>
              <a:rPr b="0" sz="1700"/>
              <a:t>  アンド アン オプトイン、 </a:t>
            </a:r>
            <a:r>
              <a:rPr b="1" sz="1700"/>
              <a:t>エイチマック チェインド オーディット ログ</a:t>
            </a:r>
            <a:r>
              <a:rPr b="0" sz="1700"/>
              <a:t>。</a:t>
            </a:r>
          </a:p>
          <a:p>
            <a:r>
              <a:rPr b="0" sz="1700"/>
              <a:t>Happy to go deep in Q and A.”</a:t>
            </a:r>
          </a:p>
          <a:p>
            <a:r>
              <a:rPr b="0" sz="1700"/>
              <a:t>  ハッピー トゥ ゴウ </a:t>
            </a:r>
            <a:r>
              <a:rPr b="1" sz="1700"/>
              <a:t>ディープ</a:t>
            </a:r>
            <a:r>
              <a:rPr b="0" sz="1700"/>
              <a:t> イン キュー アンド エイ。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[17:05 / 1:10] DESIGN ETHICS  ★倫理 — 発話 0:30</a:t>
            </a:r>
          </a:p>
          <a:p>
            <a:r>
              <a:rPr b="0" sz="1700"/>
              <a:t/>
            </a:r>
          </a:p>
          <a:p>
            <a:r>
              <a:rPr b="0" sz="1700"/>
              <a:t>“Now the ethics. And this matters — especially in this room.</a:t>
            </a:r>
          </a:p>
          <a:p>
            <a:r>
              <a:rPr b="0" sz="1700"/>
              <a:t>  ナウ ジ </a:t>
            </a:r>
            <a:r>
              <a:rPr b="1" sz="1700"/>
              <a:t>エシックス</a:t>
            </a:r>
            <a:r>
              <a:rPr b="0" sz="1700"/>
              <a:t>。 アンド ディス </a:t>
            </a:r>
            <a:r>
              <a:rPr b="1" sz="1700"/>
              <a:t>マターズ</a:t>
            </a:r>
            <a:r>
              <a:rPr b="0" sz="1700"/>
              <a:t> — イスペシャリー イン ディス ルーム。</a:t>
            </a:r>
          </a:p>
          <a:p>
            <a:r>
              <a:rPr b="0" sz="1700"/>
              <a:t>Phasmid allows plausible controlled disclosure.</a:t>
            </a:r>
          </a:p>
          <a:p>
            <a:r>
              <a:rPr b="0" sz="1700"/>
              <a:t>  ファズミッド </a:t>
            </a:r>
            <a:r>
              <a:rPr b="1" sz="1700"/>
              <a:t>アラウズ</a:t>
            </a:r>
            <a:r>
              <a:rPr b="0" sz="1700"/>
              <a:t> プローザブル コントロールド ディスクロージャー。</a:t>
            </a:r>
          </a:p>
          <a:p>
            <a:r>
              <a:rPr b="0" sz="1700"/>
              <a:t>Standby. Workflows that preserve ambiguity.</a:t>
            </a:r>
          </a:p>
          <a:p>
            <a:r>
              <a:rPr b="0" sz="1700"/>
              <a:t>  スタンドバイ。 ワークフロウズ ザット プリザーブ </a:t>
            </a:r>
            <a:r>
              <a:rPr b="1" sz="1700"/>
              <a:t>アンビギューイティ</a:t>
            </a:r>
            <a:r>
              <a:rPr b="0" sz="1700"/>
              <a:t>。</a:t>
            </a:r>
          </a:p>
          <a:p>
            <a:r>
              <a:rPr b="0" sz="1700"/>
              <a:t>It explicitly disallows rootkits. Kernel-level hiding.</a:t>
            </a:r>
          </a:p>
          <a:p>
            <a:r>
              <a:rPr b="0" sz="1700"/>
              <a:t>  イット エクスプリシットリー </a:t>
            </a:r>
            <a:r>
              <a:rPr b="1" sz="1700"/>
              <a:t>ディサラウズ</a:t>
            </a:r>
            <a:r>
              <a:rPr b="0" sz="1700"/>
              <a:t> ルートキッツ。 カーネルレブル ハイディング。</a:t>
            </a:r>
          </a:p>
          <a:p>
            <a:r>
              <a:rPr b="0" sz="1700"/>
              <a:t>Anti-forensic destruction. Forensic-tool bypass.</a:t>
            </a:r>
          </a:p>
          <a:p>
            <a:r>
              <a:rPr b="0" sz="1700"/>
              <a:t>  アンティフォレンシック ディストラクション。 フォレンシック ツール バイパス。</a:t>
            </a:r>
          </a:p>
          <a:p>
            <a:r>
              <a:rPr b="0" sz="1700"/>
              <a:t>And fabricating false events, or false timestamps.</a:t>
            </a:r>
          </a:p>
          <a:p>
            <a:r>
              <a:rPr b="0" sz="1700"/>
              <a:t>  アンド </a:t>
            </a:r>
            <a:r>
              <a:rPr b="1" sz="1700"/>
              <a:t>ファブリケイティング</a:t>
            </a:r>
            <a:r>
              <a:rPr b="0" sz="1700"/>
              <a:t> フォルス イベンツ、 オア フォルス タイムスタンプス。</a:t>
            </a:r>
          </a:p>
          <a:p>
            <a:r>
              <a:rPr b="0" sz="1700"/>
              <a:t>It increases uncertainty. It delays a confident conclusion.</a:t>
            </a:r>
          </a:p>
          <a:p>
            <a:r>
              <a:rPr b="0" sz="1700"/>
              <a:t>  イット </a:t>
            </a:r>
            <a:r>
              <a:rPr b="1" sz="1700"/>
              <a:t>インクリーシズ</a:t>
            </a:r>
            <a:r>
              <a:rPr b="0" sz="1700"/>
              <a:t> アンサートゥンティ。 イット </a:t>
            </a:r>
            <a:r>
              <a:rPr b="1" sz="1700"/>
              <a:t>ディレイズ</a:t>
            </a:r>
            <a:r>
              <a:rPr b="0" sz="1700"/>
              <a:t> ア コンフィデント コンクルージョン。</a:t>
            </a:r>
          </a:p>
          <a:p>
            <a:r>
              <a:rPr b="0" sz="1700"/>
              <a:t>It does not claim forensic invisibility.</a:t>
            </a:r>
          </a:p>
          <a:p>
            <a:r>
              <a:rPr b="0" sz="1700"/>
              <a:t>  イット ダズ </a:t>
            </a:r>
            <a:r>
              <a:rPr b="1" sz="1700"/>
              <a:t>ナット</a:t>
            </a:r>
            <a:r>
              <a:rPr b="0" sz="1700"/>
              <a:t> クレイム フォレンシック インビジビリティ。</a:t>
            </a:r>
          </a:p>
          <a:p>
            <a:r>
              <a:rPr b="0" sz="1700"/>
              <a:t>That line is deliberate. And it’s in the code.”</a:t>
            </a:r>
          </a:p>
          <a:p>
            <a:r>
              <a:rPr b="0" sz="1700"/>
              <a:t>  ザット ライン イズ </a:t>
            </a:r>
            <a:r>
              <a:rPr b="1" sz="1700"/>
              <a:t>ディリバレット</a:t>
            </a:r>
            <a:r>
              <a:rPr b="0" sz="1700"/>
              <a:t>。 アンド イッツ イン ザ </a:t>
            </a:r>
            <a:r>
              <a:rPr b="1" sz="1700"/>
              <a:t>コウド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フォレンジック/法執行の聴衆へ誠実に。目を合わせる。信頼獲得点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[18:15 / 0:50] SCOPE — 発話 0:45</a:t>
            </a:r>
          </a:p>
          <a:p>
            <a:r>
              <a:rPr b="0" sz="1700"/>
              <a:t/>
            </a:r>
          </a:p>
          <a:p>
            <a:r>
              <a:rPr b="0" sz="1700"/>
              <a:t>“Scope, drawn honestly.</a:t>
            </a:r>
          </a:p>
          <a:p>
            <a:r>
              <a:rPr b="0" sz="1700"/>
              <a:t>  </a:t>
            </a:r>
            <a:r>
              <a:rPr b="1" sz="1700"/>
              <a:t>スコープ</a:t>
            </a:r>
            <a:r>
              <a:rPr b="0" sz="1700"/>
              <a:t>、 ドローン </a:t>
            </a:r>
            <a:r>
              <a:rPr b="1" sz="1700"/>
              <a:t>オネストリー</a:t>
            </a:r>
            <a:r>
              <a:rPr b="0" sz="1700"/>
              <a:t>。</a:t>
            </a:r>
          </a:p>
          <a:p>
            <a:r>
              <a:rPr b="0" sz="1700"/>
              <a:t>Hiding that the software exists — out.</a:t>
            </a:r>
          </a:p>
          <a:p>
            <a:r>
              <a:rPr b="0" sz="1700"/>
              <a:t>  ハイディング ザット ザ ソフトウェア イグズィスツ — </a:t>
            </a:r>
            <a:r>
              <a:rPr b="1" sz="1700"/>
              <a:t>アウト</a:t>
            </a:r>
            <a:r>
              <a:rPr b="0" sz="1700"/>
              <a:t>。</a:t>
            </a:r>
          </a:p>
          <a:p>
            <a:r>
              <a:rPr b="0" sz="1700"/>
              <a:t>Denying that the data exists — partial.</a:t>
            </a:r>
          </a:p>
          <a:p>
            <a:r>
              <a:rPr b="0" sz="1700"/>
              <a:t>  ディナイイング ザット ザ データ イグズィスツ — </a:t>
            </a:r>
            <a:r>
              <a:rPr b="1" sz="1700"/>
              <a:t>パーシャル</a:t>
            </a:r>
            <a:r>
              <a:rPr b="0" sz="1700"/>
              <a:t>。</a:t>
            </a:r>
          </a:p>
          <a:p>
            <a:r>
              <a:rPr b="0" sz="1700"/>
              <a:t>Controlled disclosure — in, and central.</a:t>
            </a:r>
          </a:p>
          <a:p>
            <a:r>
              <a:rPr b="0" sz="1700"/>
              <a:t>  コントロールド ディスクロージャー — </a:t>
            </a:r>
            <a:r>
              <a:rPr b="1" sz="1700"/>
              <a:t>イン</a:t>
            </a:r>
            <a:r>
              <a:rPr b="0" sz="1700"/>
              <a:t>、 アンド </a:t>
            </a:r>
            <a:r>
              <a:rPr b="1" sz="1700"/>
              <a:t>セントラル</a:t>
            </a:r>
            <a:r>
              <a:rPr b="0" sz="1700"/>
              <a:t>。</a:t>
            </a:r>
          </a:p>
          <a:p>
            <a:r>
              <a:rPr b="0" sz="1700"/>
              <a:t>Coercion-aware fallback — in.</a:t>
            </a:r>
          </a:p>
          <a:p>
            <a:r>
              <a:rPr b="0" sz="1700"/>
              <a:t>  コアージョンアウェア フォールバック — </a:t>
            </a:r>
            <a:r>
              <a:rPr b="1" sz="1700"/>
              <a:t>イン</a:t>
            </a:r>
            <a:r>
              <a:rPr b="0" sz="1700"/>
              <a:t>。</a:t>
            </a:r>
          </a:p>
          <a:p>
            <a:r>
              <a:rPr b="0" sz="1700"/>
              <a:t>And here’s what it never claims.</a:t>
            </a:r>
          </a:p>
          <a:p>
            <a:r>
              <a:rPr b="0" sz="1700"/>
              <a:t>  アンド ヒアズ ワット イット </a:t>
            </a:r>
            <a:r>
              <a:rPr b="1" sz="1700"/>
              <a:t>ネバー</a:t>
            </a:r>
            <a:r>
              <a:rPr b="0" sz="1700"/>
              <a:t> クレイムズ。</a:t>
            </a:r>
          </a:p>
          <a:p>
            <a:r>
              <a:rPr b="0" sz="1700"/>
              <a:t>Perfect deniability. Forensic immunity.</a:t>
            </a:r>
          </a:p>
          <a:p>
            <a:r>
              <a:rPr b="0" sz="1700"/>
              <a:t>  パーフェクト ディナイアビリティ。 フォレンシック イミューニティ。</a:t>
            </a:r>
          </a:p>
          <a:p>
            <a:r>
              <a:rPr b="0" sz="1700"/>
              <a:t>Secure deletion on flash. Protection from a compromised host.</a:t>
            </a:r>
          </a:p>
          <a:p>
            <a:r>
              <a:rPr b="0" sz="1700"/>
              <a:t>  セキュア ディリーション オン フラッシュ。 プロテクション フロム ア コンプロマイズド ホウスト。</a:t>
            </a:r>
          </a:p>
          <a:p>
            <a:r>
              <a:rPr b="0" sz="1700"/>
              <a:t>And one more thing it never claims: that your cover story is convincing.</a:t>
            </a:r>
          </a:p>
          <a:p>
            <a:r>
              <a:rPr b="0" sz="1700"/>
              <a:t>  アンド ワン モア シング イット ネバー クレイムズ: ザット ユア カバー ストーリー イズ </a:t>
            </a:r>
            <a:r>
              <a:rPr b="1" sz="1700"/>
              <a:t>コンビンシング</a:t>
            </a:r>
            <a:r>
              <a:rPr b="0" sz="1700"/>
              <a:t>。</a:t>
            </a:r>
          </a:p>
          <a:p>
            <a:r>
              <a:rPr b="0" sz="1700"/>
              <a:t>It can tell you how much space is occupied.</a:t>
            </a:r>
          </a:p>
          <a:p>
            <a:r>
              <a:rPr b="0" sz="1700"/>
              <a:t>  イット キャン テル ユー ハウ マッチ </a:t>
            </a:r>
            <a:r>
              <a:rPr b="1" sz="1700"/>
              <a:t>スペイス</a:t>
            </a:r>
            <a:r>
              <a:rPr b="0" sz="1700"/>
              <a:t> イズ オキュパイド。</a:t>
            </a:r>
          </a:p>
          <a:p>
            <a:r>
              <a:rPr b="0" sz="1700"/>
              <a:t>It cannot tell you whether anyone will believe you.</a:t>
            </a:r>
          </a:p>
          <a:p>
            <a:r>
              <a:rPr b="0" sz="1700"/>
              <a:t>  イット キャナット テル ユー ウェザー エニワン ウィル </a:t>
            </a:r>
            <a:r>
              <a:rPr b="1" sz="1700"/>
              <a:t>ビリーブ</a:t>
            </a:r>
            <a:r>
              <a:rPr b="0" sz="1700"/>
              <a:t> ユー。</a:t>
            </a:r>
          </a:p>
          <a:p>
            <a:r>
              <a:rPr b="0" sz="1700"/>
              <a:t>And it doesn’t pretend to. No snake oil.</a:t>
            </a:r>
          </a:p>
          <a:p>
            <a:r>
              <a:rPr b="0" sz="1700"/>
              <a:t>  アンド イット ダズント </a:t>
            </a:r>
            <a:r>
              <a:rPr b="1" sz="1700"/>
              <a:t>プリテンド</a:t>
            </a:r>
            <a:r>
              <a:rPr b="0" sz="1700"/>
              <a:t> トゥ。 </a:t>
            </a:r>
            <a:r>
              <a:rPr b="1" sz="1700"/>
              <a:t>ノウ スネイク オイル</a:t>
            </a:r>
            <a:r>
              <a:rPr b="0" sz="1700"/>
              <a:t>。</a:t>
            </a:r>
          </a:p>
          <a:p>
            <a:r>
              <a:rPr b="0" sz="1700"/>
              <a:t>All right. Enough talk. Let me show you.”</a:t>
            </a:r>
          </a:p>
          <a:p>
            <a:r>
              <a:rPr b="0" sz="1700"/>
              <a:t>  オーライト。 </a:t>
            </a:r>
            <a:r>
              <a:rPr b="1" sz="1700"/>
              <a:t>イナフ</a:t>
            </a:r>
            <a:r>
              <a:rPr b="0" sz="1700"/>
              <a:t> トーク。 レット ミー </a:t>
            </a:r>
            <a:r>
              <a:rPr b="1" sz="1700"/>
              <a:t>ショウ</a:t>
            </a:r>
            <a:r>
              <a:rPr b="0" sz="1700"/>
              <a:t> ユー。</a:t>
            </a:r>
          </a:p>
          <a:p>
            <a:r>
              <a:rPr b="0" sz="1700"/>
              <a:t/>
            </a:r>
          </a:p>
          <a:p>
            <a:r>
              <a:rPr b="0" sz="1200"/>
              <a:t>JA: 誠実さの締め。最後の一文でデモへ橋渡し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[19:05 / 0:15] LIVE DEMO（章扉）</a:t>
            </a:r>
          </a:p>
          <a:p>
            <a:r>
              <a:rPr b="0" sz="1700"/>
              <a:t/>
            </a:r>
          </a:p>
          <a:p>
            <a:r>
              <a:rPr b="0" sz="1700"/>
              <a:t>“Alright — live demo.”</a:t>
            </a:r>
          </a:p>
          <a:p>
            <a:r>
              <a:rPr b="0" sz="1700"/>
              <a:t>  オールライト — </a:t>
            </a:r>
            <a:r>
              <a:rPr b="1" sz="1700"/>
              <a:t>ライブ デモ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JA: 呼吸を整え実機に向き直る。スペースをターミナル（TUI）へ切替。バックアップ録画の頭出しを確認。以降の切替は SCENE 1→2 の片道1回だけで、TUI には戻らない。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[19:20 / ~8:30] LIVE DEMO  ★中心（12シーン・切替は片道1回）</a:t>
            </a:r>
          </a:p>
          <a:p>
            <a:r>
              <a:rPr b="0" sz="1700"/>
              <a:t/>
            </a:r>
          </a:p>
          <a:p>
            <a:r>
              <a:rPr b="0" sz="1200"/>
              <a:t>【読み方】 ▶SAY = 止めずに読み切る（手は動かさない）  ✋DO = 黙って操作  ▶THEN = 画面が変わってから言う</a:t>
            </a:r>
          </a:p>
          <a:p>
            <a:r>
              <a:rPr b="0" sz="1700"/>
              <a:t/>
            </a:r>
          </a:p>
          <a:p>
            <a:r>
              <a:rPr b="0" sz="1200"/>
              <a:t>── 前置き（まだ何も操作しない）</a:t>
            </a:r>
          </a:p>
          <a:p>
            <a:r>
              <a:rPr b="0" sz="1700"/>
              <a:t>“This is the real system. One file on disk.</a:t>
            </a:r>
          </a:p>
          <a:p>
            <a:r>
              <a:rPr b="0" sz="1700"/>
              <a:t>  ディス イズ ザ </a:t>
            </a:r>
            <a:r>
              <a:rPr b="1" sz="1700"/>
              <a:t>リアル システム</a:t>
            </a:r>
            <a:r>
              <a:rPr b="0" sz="1700"/>
              <a:t>。 </a:t>
            </a:r>
            <a:r>
              <a:rPr b="1" sz="1700"/>
              <a:t>ワン ファイル</a:t>
            </a:r>
            <a:r>
              <a:rPr b="0" sz="1700"/>
              <a:t> オン ディスク。</a:t>
            </a:r>
          </a:p>
          <a:p>
            <a:r>
              <a:rPr b="0" sz="1700"/>
              <a:t>Two objects, two passwords, two files inside it.</a:t>
            </a:r>
          </a:p>
          <a:p>
            <a:r>
              <a:rPr b="0" sz="1700"/>
              <a:t>  </a:t>
            </a:r>
            <a:r>
              <a:rPr b="1" sz="1700"/>
              <a:t>ツー オブジェクツ</a:t>
            </a:r>
            <a:r>
              <a:rPr b="0" sz="1700"/>
              <a:t>、 </a:t>
            </a:r>
            <a:r>
              <a:rPr b="1" sz="1700"/>
              <a:t>ツー パスワーズ</a:t>
            </a:r>
            <a:r>
              <a:rPr b="0" sz="1700"/>
              <a:t>、 </a:t>
            </a:r>
            <a:r>
              <a:rPr b="1" sz="1700"/>
              <a:t>ツー ファイルズ</a:t>
            </a:r>
            <a:r>
              <a:rPr b="0" sz="1700"/>
              <a:t> インサイド イット。</a:t>
            </a:r>
          </a:p>
          <a:p>
            <a:r>
              <a:rPr b="0" sz="1700"/>
              <a:t>And a password that ends one, instead of opening it.”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オブ </a:t>
            </a:r>
            <a:r>
              <a:rPr b="1" sz="1700"/>
              <a:t>オープニング</a:t>
            </a:r>
            <a:r>
              <a:rPr b="0" sz="1700"/>
              <a:t> イット。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0 · The console（0:20）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This is the real console.</a:t>
            </a:r>
          </a:p>
          <a:p>
            <a:r>
              <a:rPr b="0" sz="1700"/>
              <a:t>  ディス イズ ザ </a:t>
            </a:r>
            <a:r>
              <a:rPr b="1" sz="1700"/>
              <a:t>リアル</a:t>
            </a:r>
            <a:r>
              <a:rPr b="0" sz="1700"/>
              <a:t> コンソール。</a:t>
            </a:r>
          </a:p>
          <a:p>
            <a:r>
              <a:rPr b="0" sz="1700"/>
              <a:t>Local Disclosure Control.</a:t>
            </a:r>
          </a:p>
          <a:p>
            <a:r>
              <a:rPr b="0" sz="1700"/>
              <a:t>  </a:t>
            </a:r>
            <a:r>
              <a:rPr b="1" sz="1700"/>
              <a:t>ローカル ディスクロージャー コントロール</a:t>
            </a:r>
            <a:r>
              <a:rPr b="0" sz="1700"/>
              <a:t>。</a:t>
            </a:r>
          </a:p>
          <a:p>
            <a:r>
              <a:rPr b="0" sz="1700"/>
              <a:t>The home screen is deliberately small.</a:t>
            </a:r>
          </a:p>
          <a:p>
            <a:r>
              <a:rPr b="0" sz="1700"/>
              <a:t>  ザ ホーム スクリーン イズ ディリバレットリー </a:t>
            </a:r>
            <a:r>
              <a:rPr b="1" sz="1700"/>
              <a:t>スモール</a:t>
            </a:r>
            <a:r>
              <a:rPr b="0" sz="1700"/>
              <a:t>。</a:t>
            </a:r>
          </a:p>
          <a:p>
            <a:r>
              <a:rPr b="0" sz="1700"/>
              <a:t>Open. New. Guided. Expert.</a:t>
            </a:r>
          </a:p>
          <a:p>
            <a:r>
              <a:rPr b="0" sz="1700"/>
              <a:t>  オープン。 ニュー。 ガイデッド。 エクスパート。</a:t>
            </a:r>
          </a:p>
          <a:p>
            <a:r>
              <a:rPr b="0" sz="1700"/>
              <a:t>Under pressure, you do not want a wall of options.</a:t>
            </a:r>
          </a:p>
          <a:p>
            <a:r>
              <a:rPr b="0" sz="1700"/>
              <a:t>  アンダー </a:t>
            </a:r>
            <a:r>
              <a:rPr b="1" sz="1700"/>
              <a:t>プレッシャー</a:t>
            </a:r>
            <a:r>
              <a:rPr b="0" sz="1700"/>
              <a:t>、 ユー ドント ウォント ア </a:t>
            </a:r>
            <a:r>
              <a:rPr b="1" sz="1700"/>
              <a:t>ウォール オブ オプションズ</a:t>
            </a:r>
            <a:r>
              <a:rPr b="0" sz="1700"/>
              <a:t>。</a:t>
            </a:r>
          </a:p>
          <a:p>
            <a:r>
              <a:rPr b="0" sz="1700"/>
              <a:t>The full control set is one key away.</a:t>
            </a:r>
          </a:p>
          <a:p>
            <a:r>
              <a:rPr b="0" sz="1700"/>
              <a:t>  ザ フル コントロール セット イズ </a:t>
            </a:r>
            <a:r>
              <a:rPr b="1" sz="1700"/>
              <a:t>ワン キー</a:t>
            </a:r>
            <a:r>
              <a:rPr b="0" sz="1700"/>
              <a:t> アウェイ。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Simple Operator 画面を出したまま提示する。下部のバーを指す。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 · One file on disk（1:10）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First, I make a vessel.</a:t>
            </a:r>
          </a:p>
          <a:p>
            <a:r>
              <a:rPr b="0" sz="1700"/>
              <a:t>  ファースト、 アイ メイク ア </a:t>
            </a:r>
            <a:r>
              <a:rPr b="1" sz="1700"/>
              <a:t>ベッセル</a:t>
            </a:r>
            <a:r>
              <a:rPr b="0" sz="1700"/>
              <a:t>。</a:t>
            </a:r>
          </a:p>
          <a:p>
            <a:r>
              <a:rPr b="0" sz="1700"/>
              <a:t>A deniable container. One file. Sixty-four megabytes.</a:t>
            </a:r>
          </a:p>
          <a:p>
            <a:r>
              <a:rPr b="0" sz="1700"/>
              <a:t>  ア ディナイアブル コンテナ。 </a:t>
            </a:r>
            <a:r>
              <a:rPr b="1" sz="1700"/>
              <a:t>ワン ファイル</a:t>
            </a:r>
            <a:r>
              <a:rPr b="0" sz="1700"/>
              <a:t>。 </a:t>
            </a:r>
            <a:r>
              <a:rPr b="1" sz="1700"/>
              <a:t>シクスティフォー</a:t>
            </a:r>
            <a:r>
              <a:rPr b="0" sz="1700"/>
              <a:t> メガバイツ。</a:t>
            </a:r>
          </a:p>
          <a:p>
            <a:r>
              <a:rPr b="0" sz="1700"/>
              <a:t>Then I will show you what it looks like on disk.</a:t>
            </a:r>
          </a:p>
          <a:p>
            <a:r>
              <a:rPr b="0" sz="1700"/>
              <a:t>  ゼン アイル ショウ ユー ワット イット </a:t>
            </a:r>
            <a:r>
              <a:rPr b="1" sz="1700"/>
              <a:t>ルックス ライク</a:t>
            </a:r>
            <a:r>
              <a:rPr b="0" sz="1700"/>
              <a:t> オン ディスク。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n (New) → vessel-path に demo.vessel</a:t>
            </a:r>
          </a:p>
          <a:p>
            <a:r>
              <a:rPr b="0" sz="1200"/>
              <a:t>DO: → vessel-size を 64M に変更（既定の 512M のまま作らない）→ create-btn</a:t>
            </a:r>
          </a:p>
          <a:p>
            <a:r>
              <a:rPr b="0" sz="1200"/>
              <a:t>DO: 続けてシェルで:  ls -lh demo.vessel  /  file demo.vessel  /  od -A x -t x1z -N 96 demo.vessel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One file. That is all there is.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。 ザッツ </a:t>
            </a:r>
            <a:r>
              <a:rPr b="1" sz="1700"/>
              <a:t>オール</a:t>
            </a:r>
            <a:r>
              <a:rPr b="0" sz="1700"/>
              <a:t> ゼア イズ。</a:t>
            </a:r>
          </a:p>
          <a:p>
            <a:r>
              <a:rPr b="0" sz="1700"/>
              <a:t>It says 'data'. It has nothing to say, because there is nothing to read.</a:t>
            </a:r>
          </a:p>
          <a:p>
            <a:r>
              <a:rPr b="0" sz="1700"/>
              <a:t>  イット セズ </a:t>
            </a:r>
            <a:r>
              <a:rPr b="1" sz="1700"/>
              <a:t>データ</a:t>
            </a:r>
            <a:r>
              <a:rPr b="0" sz="1700"/>
              <a:t>。 イット ハズ </a:t>
            </a:r>
            <a:r>
              <a:rPr b="1" sz="1700"/>
              <a:t>ナッシング</a:t>
            </a:r>
            <a:r>
              <a:rPr b="0" sz="1700"/>
              <a:t> トゥ セイ、 ビコーズ ゼアズ </a:t>
            </a:r>
            <a:r>
              <a:rPr b="1" sz="1700"/>
              <a:t>ナッシング</a:t>
            </a:r>
            <a:r>
              <a:rPr b="0" sz="1700"/>
              <a:t> トゥ リード。</a:t>
            </a:r>
          </a:p>
          <a:p>
            <a:r>
              <a:rPr b="0" sz="1700"/>
              <a:t>No header. No magic bytes. On disk, this is random.</a:t>
            </a:r>
          </a:p>
          <a:p>
            <a:r>
              <a:rPr b="0" sz="1700"/>
              <a:t>  ノー </a:t>
            </a:r>
            <a:r>
              <a:rPr b="1" sz="1700"/>
              <a:t>ヘッダー</a:t>
            </a:r>
            <a:r>
              <a:rPr b="0" sz="1700"/>
              <a:t>。 ノー </a:t>
            </a:r>
            <a:r>
              <a:rPr b="1" sz="1700"/>
              <a:t>マジック バイツ</a:t>
            </a:r>
            <a:r>
              <a:rPr b="0" sz="1700"/>
              <a:t>。 オン ディスク、 ディス イズ </a:t>
            </a:r>
            <a:r>
              <a:rPr b="1" sz="1700"/>
              <a:t>ランダム</a:t>
            </a:r>
            <a:r>
              <a:rPr b="0" sz="1700"/>
              <a:t>。</a:t>
            </a:r>
          </a:p>
          <a:p>
            <a:r>
              <a:rPr b="0" sz="1700"/>
              <a:t>Remember the name. Demo dot vessel.</a:t>
            </a:r>
          </a:p>
          <a:p>
            <a:r>
              <a:rPr b="0" sz="1700"/>
              <a:t>  リメンバー ザ </a:t>
            </a:r>
            <a:r>
              <a:rPr b="1" sz="1700"/>
              <a:t>ネイム</a:t>
            </a:r>
            <a:r>
              <a:rPr b="0" sz="1700"/>
              <a:t>。 </a:t>
            </a:r>
            <a:r>
              <a:rPr b="1" sz="1700"/>
              <a:t>デモ ドット ベッセル</a:t>
            </a:r>
            <a:r>
              <a:rPr b="0" sz="1700"/>
              <a:t>。</a:t>
            </a:r>
          </a:p>
          <a:p>
            <a:r>
              <a:rPr b="0" sz="1700"/>
              <a:t>Everything from here comes out of this one file.</a:t>
            </a:r>
          </a:p>
          <a:p>
            <a:r>
              <a:rPr b="0" sz="1700"/>
              <a:t>  エブリシング フロム ヒア カムズ アウト オブ </a:t>
            </a:r>
            <a:r>
              <a:rPr b="1" sz="1700"/>
              <a:t>ディス 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⟶ 画面切替（—）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スペースを「スライド／ターミナル／ブラウザ」の3つに固定し、Ctrl+←→ だけで移動する。</a:t>
            </a:r>
          </a:p>
          <a:p>
            <a:r>
              <a:rPr b="0" sz="1200"/>
              <a:t>DO: 集中モード（おやすみモード）を必ずオンにしておく — 通知が投影画面に出る。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2 · Into the browser（0:50）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The device also serves a local web interface.</a:t>
            </a:r>
          </a:p>
          <a:p>
            <a:r>
              <a:rPr b="0" sz="1700"/>
              <a:t>  ザ デバイス オールソー サーブズ ア </a:t>
            </a:r>
            <a:r>
              <a:rPr b="1" sz="1700"/>
              <a:t>ローカル ウェブ インターフェイス</a:t>
            </a:r>
            <a:r>
              <a:rPr b="0" sz="1700"/>
              <a:t>。</a:t>
            </a:r>
          </a:p>
          <a:p>
            <a:r>
              <a:rPr b="0" sz="1700"/>
              <a:t>I am logging in now.</a:t>
            </a:r>
          </a:p>
          <a:p>
            <a:r>
              <a:rPr b="0" sz="1700"/>
              <a:t>  アイム </a:t>
            </a:r>
            <a:r>
              <a:rPr b="1" sz="1700"/>
              <a:t>ロギング イン</a:t>
            </a:r>
            <a:r>
              <a:rPr b="0" sz="1700"/>
              <a:t> ナウ。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ブックマークした /unlock で store トークンを入力してログイン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One word about these tokens, because it matters.</a:t>
            </a:r>
          </a:p>
          <a:p>
            <a:r>
              <a:rPr b="0" sz="1700"/>
              <a:t>  ワン ワード アバウト ジーズ </a:t>
            </a:r>
            <a:r>
              <a:rPr b="1" sz="1700"/>
              <a:t>トークンズ</a:t>
            </a:r>
            <a:r>
              <a:rPr b="0" sz="1700"/>
              <a:t>、 ビコーズ イット </a:t>
            </a:r>
            <a:r>
              <a:rPr b="1" sz="1700"/>
              <a:t>マターズ</a:t>
            </a:r>
            <a:r>
              <a:rPr b="0" sz="1700"/>
              <a:t>。</a:t>
            </a:r>
          </a:p>
          <a:p>
            <a:r>
              <a:rPr b="0" sz="1700"/>
              <a:t>In real use, you issue two of them.</a:t>
            </a:r>
          </a:p>
          <a:p>
            <a:r>
              <a:rPr b="0" sz="1700"/>
              <a:t>  イン リアル ユース、 ユー イシュー </a:t>
            </a:r>
            <a:r>
              <a:rPr b="1" sz="1700"/>
              <a:t>ツー</a:t>
            </a:r>
            <a:r>
              <a:rPr b="0" sz="1700"/>
              <a:t> オブ ゼム。</a:t>
            </a:r>
          </a:p>
          <a:p>
            <a:r>
              <a:rPr b="0" sz="1700"/>
              <a:t>A full-control token — used once, somewhere safe, to set things up.</a:t>
            </a:r>
          </a:p>
          <a:p>
            <a:r>
              <a:rPr b="0" sz="1700"/>
              <a:t>  ア </a:t>
            </a:r>
            <a:r>
              <a:rPr b="1" sz="1700"/>
              <a:t>フルコントロール</a:t>
            </a:r>
            <a:r>
              <a:rPr b="0" sz="1700"/>
              <a:t> トークン — ユーズド </a:t>
            </a:r>
            <a:r>
              <a:rPr b="1" sz="1700"/>
              <a:t>ワンス</a:t>
            </a:r>
            <a:r>
              <a:rPr b="0" sz="1700"/>
              <a:t>、 サムウェア </a:t>
            </a:r>
            <a:r>
              <a:rPr b="1" sz="1700"/>
              <a:t>セイフ</a:t>
            </a:r>
            <a:r>
              <a:rPr b="0" sz="1700"/>
              <a:t>、 トゥ セット シングス アップ。</a:t>
            </a:r>
          </a:p>
          <a:p>
            <a:r>
              <a:rPr b="0" sz="1700"/>
              <a:t>And a recovery token, that can decrypt and nothing else.</a:t>
            </a:r>
          </a:p>
          <a:p>
            <a:r>
              <a:rPr b="0" sz="1700"/>
              <a:t>  アンド ア </a:t>
            </a:r>
            <a:r>
              <a:rPr b="1" sz="1700"/>
              <a:t>リカバリー</a:t>
            </a:r>
            <a:r>
              <a:rPr b="0" sz="1700"/>
              <a:t> トークン、 ザット キャン </a:t>
            </a:r>
            <a:r>
              <a:rPr b="1" sz="1700"/>
              <a:t>ディクリプト</a:t>
            </a:r>
            <a:r>
              <a:rPr b="0" sz="1700"/>
              <a:t> アンド </a:t>
            </a:r>
            <a:r>
              <a:rPr b="1" sz="1700"/>
              <a:t>ナッシング エルス</a:t>
            </a:r>
            <a:r>
              <a:rPr b="0" sz="1700"/>
              <a:t>。</a:t>
            </a:r>
          </a:p>
          <a:p>
            <a:r>
              <a:rPr b="0" sz="1700"/>
              <a:t>That is the one you carry into a bad situation.</a:t>
            </a:r>
          </a:p>
          <a:p>
            <a:r>
              <a:rPr b="0" sz="1700"/>
              <a:t>  ザッツ ザ ワン ユー </a:t>
            </a:r>
            <a:r>
              <a:rPr b="1" sz="1700"/>
              <a:t>キャリー</a:t>
            </a:r>
            <a:r>
              <a:rPr b="0" sz="1700"/>
              <a:t> イントゥ ア </a:t>
            </a:r>
            <a:r>
              <a:rPr b="1" sz="1700"/>
              <a:t>バッド シチュエイション</a:t>
            </a:r>
            <a:r>
              <a:rPr b="0" sz="1700"/>
              <a:t>。</a:t>
            </a:r>
          </a:p>
          <a:p>
            <a:r>
              <a:rPr b="0" sz="1700"/>
              <a:t>It cannot reach setup, so it cannot give setup away.</a:t>
            </a:r>
          </a:p>
          <a:p>
            <a:r>
              <a:rPr b="0" sz="1700"/>
              <a:t>  イット キャナット </a:t>
            </a:r>
            <a:r>
              <a:rPr b="1" sz="1700"/>
              <a:t>リーチ</a:t>
            </a:r>
            <a:r>
              <a:rPr b="0" sz="1700"/>
              <a:t> セットアップ、 ソー イット キャナット </a:t>
            </a:r>
            <a:r>
              <a:rPr b="1" sz="1700"/>
              <a:t>ギブ イット アウェイ</a:t>
            </a:r>
            <a:r>
              <a:rPr b="0" sz="1700"/>
              <a:t>。</a:t>
            </a:r>
          </a:p>
          <a:p>
            <a:r>
              <a:rPr b="0" sz="1700"/>
              <a:t>Today I use one token, for time. Just know the split is there.</a:t>
            </a:r>
          </a:p>
          <a:p>
            <a:r>
              <a:rPr b="0" sz="1700"/>
              <a:t>  トゥデイ アイ ユーズ </a:t>
            </a:r>
            <a:r>
              <a:rPr b="1" sz="1700"/>
              <a:t>ワン</a:t>
            </a:r>
            <a:r>
              <a:rPr b="0" sz="1700"/>
              <a:t> トークン、 フォー </a:t>
            </a:r>
            <a:r>
              <a:rPr b="1" sz="1700"/>
              <a:t>タイム</a:t>
            </a:r>
            <a:r>
              <a:rPr b="0" sz="1700"/>
              <a:t>。 ジャスト ノー ザ </a:t>
            </a:r>
            <a:r>
              <a:rPr b="1" sz="1700"/>
              <a:t>スプリット</a:t>
            </a:r>
            <a:r>
              <a:rPr b="0" sz="1700"/>
              <a:t> イズ ゼア。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3 · Slot A — the file you would hand over（0:50）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Slot A. This is the file I would hand over.</a:t>
            </a:r>
          </a:p>
          <a:p>
            <a:r>
              <a:rPr b="0" sz="1700"/>
              <a:t>  </a:t>
            </a:r>
            <a:r>
              <a:rPr b="1" sz="1700"/>
              <a:t>スロット エイ</a:t>
            </a:r>
            <a:r>
              <a:rPr b="0" sz="1700"/>
              <a:t>。 ディス イズ ザ ファイル アイ ウド </a:t>
            </a:r>
            <a:r>
              <a:rPr b="1" sz="1700"/>
              <a:t>ハンド オーバー</a:t>
            </a:r>
            <a:r>
              <a:rPr b="0" sz="1700"/>
              <a:t>。</a:t>
            </a:r>
          </a:p>
          <a:p>
            <a:r>
              <a:rPr b="0" sz="1700"/>
              <a:t>Now watch the camera. It takes two shots.</a:t>
            </a:r>
          </a:p>
          <a:p>
            <a:r>
              <a:rPr b="0" sz="1700"/>
              <a:t>  ナウ ウォッチ ザ カメラ。 イット テイクス </a:t>
            </a:r>
            <a:r>
              <a:rPr b="1" sz="1700"/>
              <a:t>ツー ショッツ</a:t>
            </a:r>
            <a:r>
              <a:rPr b="0" sz="1700"/>
              <a:t>。</a:t>
            </a:r>
          </a:p>
          <a:p>
            <a:r>
              <a:rPr b="0" sz="1700"/>
              <a:t>First the empty scene — just my table. Then the same view, with the object in it.</a:t>
            </a:r>
          </a:p>
          <a:p>
            <a:r>
              <a:rPr b="0" sz="1700"/>
              <a:t>  ファースト ジ </a:t>
            </a:r>
            <a:r>
              <a:rPr b="1" sz="1700"/>
              <a:t>エンプティ シーン</a:t>
            </a:r>
            <a:r>
              <a:rPr b="0" sz="1700"/>
              <a:t> — ジャスト マイ </a:t>
            </a:r>
            <a:r>
              <a:rPr b="1" sz="1700"/>
              <a:t>テイブル</a:t>
            </a:r>
            <a:r>
              <a:rPr b="0" sz="1700"/>
              <a:t>。 ゼン ザ </a:t>
            </a:r>
            <a:r>
              <a:rPr b="1" sz="1700"/>
              <a:t>セイム ビュー</a:t>
            </a:r>
            <a:r>
              <a:rPr b="0" sz="1700"/>
              <a:t>、 ウィズ ジ </a:t>
            </a:r>
            <a:r>
              <a:rPr b="1" sz="1700"/>
              <a:t>オブジェクト</a:t>
            </a:r>
            <a:r>
              <a:rPr b="0" sz="1700"/>
              <a:t> イン イット。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Store → Step 1「Choose the slot」で Slot A → 偽装用ファイル → パスワードA</a:t>
            </a:r>
          </a:p>
          <a:p>
            <a:r>
              <a:rPr b="0" sz="1200"/>
              <a:t>DO: → 物体を外して「1 · Capture empty scene」</a:t>
            </a:r>
          </a:p>
          <a:p>
            <a:r>
              <a:rPr b="0" sz="1200"/>
              <a:t>DO: → 物体A をかざして「2 · Capture access object」→ かざしたまま「Protect file」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The device keeps the difference between them.</a:t>
            </a:r>
          </a:p>
          <a:p>
            <a:r>
              <a:rPr b="0" sz="1700"/>
              <a:t>  ザ デバイス キープス ザ </a:t>
            </a:r>
            <a:r>
              <a:rPr b="1" sz="1700"/>
              <a:t>ディファレンス</a:t>
            </a:r>
            <a:r>
              <a:rPr b="0" sz="1700"/>
              <a:t> ビトウィーン ゼム。</a:t>
            </a:r>
          </a:p>
          <a:p>
            <a:r>
              <a:rPr b="0" sz="1700"/>
              <a:t>Not my table. Not the room. The object.</a:t>
            </a:r>
          </a:p>
          <a:p>
            <a:r>
              <a:rPr b="0" sz="1700"/>
              <a:t>  ナット マイ テイブル。 ナット ザ ルーム。 </a:t>
            </a:r>
            <a:r>
              <a:rPr b="1" sz="1700"/>
              <a:t>ジ オブジェクト</a:t>
            </a:r>
            <a:r>
              <a:rPr b="0" sz="1700"/>
              <a:t>。</a:t>
            </a:r>
          </a:p>
          <a:p>
            <a:r>
              <a:rPr b="0" sz="1700"/>
              <a:t>And this is a cue, not a key.</a:t>
            </a:r>
          </a:p>
          <a:p>
            <a:r>
              <a:rPr b="0" sz="1700"/>
              <a:t>  アンド ディス イズ ア </a:t>
            </a:r>
            <a:r>
              <a:rPr b="1" sz="1700"/>
              <a:t>キュー</a:t>
            </a:r>
            <a:r>
              <a:rPr b="0" sz="1700"/>
              <a:t>、 ナット ア </a:t>
            </a:r>
            <a:r>
              <a:rPr b="1" sz="1700"/>
              <a:t>キー</a:t>
            </a:r>
            <a:r>
              <a:rPr b="0" sz="1700"/>
              <a:t>。</a:t>
            </a:r>
          </a:p>
          <a:p>
            <a:r>
              <a:rPr b="0" sz="1700"/>
              <a:t>It does not encrypt anything. It decides whether the operation may start.</a:t>
            </a:r>
          </a:p>
          <a:p>
            <a:r>
              <a:rPr b="0" sz="1700"/>
              <a:t>  イット ダズ ナット </a:t>
            </a:r>
            <a:r>
              <a:rPr b="1" sz="1700"/>
              <a:t>エンクリプト</a:t>
            </a:r>
            <a:r>
              <a:rPr b="0" sz="1700"/>
              <a:t> エニシング。 イット ディサイズ ウェザー ジ オペレイション </a:t>
            </a:r>
            <a:r>
              <a:rPr b="1" sz="1700"/>
              <a:t>メイ スタート</a:t>
            </a:r>
            <a:r>
              <a:rPr b="0" sz="1700"/>
              <a:t>。</a:t>
            </a:r>
          </a:p>
          <a:p>
            <a:r>
              <a:rPr b="0" sz="1700"/>
              <a:t>A photo of it opens nothing.</a:t>
            </a:r>
          </a:p>
          <a:p>
            <a:r>
              <a:rPr b="0" sz="1700"/>
              <a:t>  ア </a:t>
            </a:r>
            <a:r>
              <a:rPr b="1" sz="1700"/>
              <a:t>フォト</a:t>
            </a:r>
            <a:r>
              <a:rPr b="0" sz="1700"/>
              <a:t> オブ イット オープンズ </a:t>
            </a:r>
            <a:r>
              <a:rPr b="1" sz="1700"/>
              <a:t>ナッシング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4 · Slot B — the file you would not（1:00）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Slot B. Same file on disk. Same demo dot vessel.</a:t>
            </a:r>
          </a:p>
          <a:p>
            <a:r>
              <a:rPr b="0" sz="1700"/>
              <a:t>  </a:t>
            </a:r>
            <a:r>
              <a:rPr b="1" sz="1700"/>
              <a:t>スロット ビー</a:t>
            </a:r>
            <a:r>
              <a:rPr b="0" sz="1700"/>
              <a:t>。 セイム ファイル オン ディスク。 セイム </a:t>
            </a:r>
            <a:r>
              <a:rPr b="1" sz="1700"/>
              <a:t>デモ ドット ベッセル</a:t>
            </a:r>
            <a:r>
              <a:rPr b="0" sz="1700"/>
              <a:t>。</a:t>
            </a:r>
          </a:p>
          <a:p>
            <a:r>
              <a:rPr b="0" sz="1700"/>
              <a:t>A different object. A different password.</a:t>
            </a:r>
          </a:p>
          <a:p>
            <a:r>
              <a:rPr b="0" sz="1700"/>
              <a:t>  ア ディファレント </a:t>
            </a:r>
            <a:r>
              <a:rPr b="1" sz="1700"/>
              <a:t>オブジェクト</a:t>
            </a:r>
            <a:r>
              <a:rPr b="0" sz="1700"/>
              <a:t>。 ア ディファレント </a:t>
            </a:r>
            <a:r>
              <a:rPr b="1" sz="1700"/>
              <a:t>パスワード</a:t>
            </a:r>
            <a:r>
              <a:rPr b="0" sz="1700"/>
              <a:t>。</a:t>
            </a:r>
          </a:p>
          <a:p>
            <a:r>
              <a:rPr b="0" sz="1700"/>
              <a:t>And one more thing, which I will use later — a second password for this slot.</a:t>
            </a:r>
          </a:p>
          <a:p>
            <a:r>
              <a:rPr b="0" sz="1700"/>
              <a:t>  アンド </a:t>
            </a:r>
            <a:r>
              <a:rPr b="1" sz="1700"/>
              <a:t>ワン モア シング</a:t>
            </a:r>
            <a:r>
              <a:rPr b="0" sz="1700"/>
              <a:t>、 ウィッチ アイル </a:t>
            </a:r>
            <a:r>
              <a:rPr b="1" sz="1700"/>
              <a:t>ユーズ レイター</a:t>
            </a:r>
            <a:r>
              <a:rPr b="0" sz="1700"/>
              <a:t> — ア </a:t>
            </a:r>
            <a:r>
              <a:rPr b="1" sz="1700"/>
              <a:t>セカンド パスワード</a:t>
            </a:r>
            <a:r>
              <a:rPr b="0" sz="1700"/>
              <a:t> フォー ディス スロット。</a:t>
            </a:r>
          </a:p>
          <a:p>
            <a:r>
              <a:rPr b="0" sz="1700"/>
              <a:t>Not one that opens it.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ワン ザット </a:t>
            </a:r>
            <a:r>
              <a:rPr b="1" sz="1700"/>
              <a:t>オープンズ</a:t>
            </a:r>
            <a:r>
              <a:rPr b="0" sz="1700"/>
              <a:t> イット。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Step 1 を Slot B → 真のファイル → パスワードB</a:t>
            </a:r>
          </a:p>
          <a:p>
            <a:r>
              <a:rPr b="0" sz="1200"/>
              <a:t>DO: → Advanced security options で Clearing password（破壊用）を設定</a:t>
            </a:r>
          </a:p>
          <a:p>
            <a:r>
              <a:rPr b="0" sz="1200"/>
              <a:t>DO: → 物体を外して空シーン → 物体B をかざして撮影 → かざしたまま「Protect file」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Both slots now live inside that one file.</a:t>
            </a:r>
          </a:p>
          <a:p>
            <a:r>
              <a:rPr b="0" sz="1700"/>
              <a:t>  ボース スロッツ ナウ リブ </a:t>
            </a:r>
            <a:r>
              <a:rPr b="1" sz="1700"/>
              <a:t>インサイド</a:t>
            </a:r>
            <a:r>
              <a:rPr b="0" sz="1700"/>
              <a:t> ザット </a:t>
            </a:r>
            <a:r>
              <a:rPr b="1" sz="1700"/>
              <a:t>ワン ファイル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5 · Slot A opens（0:20）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Object A. Password A.</a:t>
            </a:r>
          </a:p>
          <a:p>
            <a:r>
              <a:rPr b="0" sz="1700"/>
              <a:t>  </a:t>
            </a:r>
            <a:r>
              <a:rPr b="1" sz="1700"/>
              <a:t>オブジェクト エイ</a:t>
            </a:r>
            <a:r>
              <a:rPr b="0" sz="1700"/>
              <a:t>。 </a:t>
            </a:r>
            <a:r>
              <a:rPr b="1" sz="1700"/>
              <a:t>パスワード エイ</a:t>
            </a:r>
            <a:r>
              <a:rPr b="0" sz="1700"/>
              <a:t>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Retrieve → 物体A → 一致表示を待つ → パスワードA → Open protected file → 中身を見せる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And there it is. That is Slot A, out of demo dot vessel.</a:t>
            </a:r>
          </a:p>
          <a:p>
            <a:r>
              <a:rPr b="0" sz="1700"/>
              <a:t>  アンド </a:t>
            </a:r>
            <a:r>
              <a:rPr b="1" sz="1700"/>
              <a:t>ゼア イット イズ</a:t>
            </a:r>
            <a:r>
              <a:rPr b="0" sz="1700"/>
              <a:t>。 ザッツ </a:t>
            </a:r>
            <a:r>
              <a:rPr b="1" sz="1700"/>
              <a:t>スロット エイ</a:t>
            </a:r>
            <a:r>
              <a:rPr b="0" sz="1700"/>
              <a:t>、 アウト オブ </a:t>
            </a:r>
            <a:r>
              <a:rPr b="1" sz="1700"/>
              <a:t>デモ ドット ベッセル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6 · The object alone is not enough（1:00）</a:t>
            </a:r>
          </a:p>
          <a:p>
            <a:r>
              <a:rPr b="0" sz="1200"/>
              <a:t>▶ SAY (1/2) — 止めずに読み切る</a:t>
            </a:r>
          </a:p>
          <a:p>
            <a:r>
              <a:rPr b="0" sz="1700"/>
              <a:t>Same screen. I have only changed the object.</a:t>
            </a:r>
          </a:p>
          <a:p>
            <a:r>
              <a:rPr b="0" sz="1700"/>
              <a:t>  </a:t>
            </a:r>
            <a:r>
              <a:rPr b="1" sz="1700"/>
              <a:t>セイム スクリーン</a:t>
            </a:r>
            <a:r>
              <a:rPr b="0" sz="1700"/>
              <a:t>。 アイブ </a:t>
            </a:r>
            <a:r>
              <a:rPr b="1" sz="1700"/>
              <a:t>オンリー</a:t>
            </a:r>
            <a:r>
              <a:rPr b="0" sz="1700"/>
              <a:t> チェインジド ジ オブジェクト。</a:t>
            </a:r>
          </a:p>
          <a:p>
            <a:r>
              <a:rPr b="0" sz="1700"/>
              <a:t>This is the object for Slot B — and I will type Slot A's password.</a:t>
            </a:r>
          </a:p>
          <a:p>
            <a:r>
              <a:rPr b="0" sz="1700"/>
              <a:t>  ディス イズ ジ オブジェクト フォー </a:t>
            </a:r>
            <a:r>
              <a:rPr b="1" sz="1700"/>
              <a:t>スロット ビー</a:t>
            </a:r>
            <a:r>
              <a:rPr b="0" sz="1700"/>
              <a:t> — アンド アイル タイプ </a:t>
            </a:r>
            <a:r>
              <a:rPr b="1" sz="1700"/>
              <a:t>スロット エイズ</a:t>
            </a:r>
            <a:r>
              <a:rPr b="0" sz="1700"/>
              <a:t> パスワード。</a:t>
            </a:r>
          </a:p>
          <a:p>
            <a:r>
              <a:rPr b="0" sz="1200"/>
              <a:t>✋ DO (1/2) — 黙って操作</a:t>
            </a:r>
          </a:p>
          <a:p>
            <a:r>
              <a:rPr b="0" sz="1200"/>
              <a:t>DO: 物体B に持ち替え → 一致表示を待つ → パスワードA → Open protected file</a:t>
            </a:r>
          </a:p>
          <a:p>
            <a:r>
              <a:rPr b="0" sz="1200"/>
              <a:t>▶ THEN (1/2) — 画面が変わってから</a:t>
            </a:r>
          </a:p>
          <a:p>
            <a:r>
              <a:rPr b="0" sz="1700"/>
              <a:t>No valid entry found.</a:t>
            </a:r>
          </a:p>
          <a:p>
            <a:r>
              <a:rPr b="0" sz="1700"/>
              <a:t>  </a:t>
            </a:r>
            <a:r>
              <a:rPr b="1" sz="1700"/>
              <a:t>ノー バリッド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The object is right. The password is not. Nothing opens.</a:t>
            </a:r>
          </a:p>
          <a:p>
            <a:r>
              <a:rPr b="0" sz="1700"/>
              <a:t>  ジ オブジェクト イズ </a:t>
            </a:r>
            <a:r>
              <a:rPr b="1" sz="1700"/>
              <a:t>ライト</a:t>
            </a:r>
            <a:r>
              <a:rPr b="0" sz="1700"/>
              <a:t>。 ザ パスワード イズ </a:t>
            </a:r>
            <a:r>
              <a:rPr b="1" sz="1700"/>
              <a:t>ナット</a:t>
            </a:r>
            <a:r>
              <a:rPr b="0" sz="1700"/>
              <a:t>。 </a:t>
            </a:r>
            <a:r>
              <a:rPr b="1" sz="1700"/>
              <a:t>ナッシング</a:t>
            </a:r>
            <a:r>
              <a:rPr b="0" sz="1700"/>
              <a:t> オープンズ。</a:t>
            </a:r>
          </a:p>
          <a:p>
            <a:r>
              <a:rPr b="0" sz="1200"/>
              <a:t>▶ SAY (2/2) — 止めずに読み切る</a:t>
            </a:r>
          </a:p>
          <a:p>
            <a:r>
              <a:rPr b="0" sz="1700"/>
              <a:t>Now Slot B's own password.</a:t>
            </a:r>
          </a:p>
          <a:p>
            <a:r>
              <a:rPr b="0" sz="1700"/>
              <a:t>  ナウ </a:t>
            </a:r>
            <a:r>
              <a:rPr b="1" sz="1700"/>
              <a:t>スロット ビーズ オウン</a:t>
            </a:r>
            <a:r>
              <a:rPr b="0" sz="1700"/>
              <a:t> パスワード。</a:t>
            </a:r>
          </a:p>
          <a:p>
            <a:r>
              <a:rPr b="0" sz="1200"/>
              <a:t>✋ DO (2/2) — 黙って操作</a:t>
            </a:r>
          </a:p>
          <a:p>
            <a:r>
              <a:rPr b="0" sz="1200"/>
              <a:t>DO: パスワードB → Open protected file → 落ちたファイルを開き、SCENE 5 と中身が違うことを見せる</a:t>
            </a:r>
          </a:p>
          <a:p>
            <a:r>
              <a:rPr b="0" sz="1200"/>
              <a:t>▶ THEN (2/2) — 画面が変わってから</a:t>
            </a:r>
          </a:p>
          <a:p>
            <a:r>
              <a:rPr b="0" sz="1700"/>
              <a:t>A different file — out of the same file on disk.</a:t>
            </a:r>
          </a:p>
          <a:p>
            <a:r>
              <a:rPr b="0" sz="1700"/>
              <a:t>  ア </a:t>
            </a:r>
            <a:r>
              <a:rPr b="1" sz="1700"/>
              <a:t>ディファレント ファイル</a:t>
            </a:r>
            <a:r>
              <a:rPr b="0" sz="1700"/>
              <a:t> — アウト オブ ザ </a:t>
            </a:r>
            <a:r>
              <a:rPr b="1" sz="1700"/>
              <a:t>セイム ファイル</a:t>
            </a:r>
            <a:r>
              <a:rPr b="0" sz="1700"/>
              <a:t> オン ディスク。</a:t>
            </a:r>
          </a:p>
          <a:p>
            <a:r>
              <a:rPr b="0" sz="1700"/>
              <a:t>One vessel. Two objects. Two passwords. Two files.</a:t>
            </a:r>
          </a:p>
          <a:p>
            <a:r>
              <a:rPr b="0" sz="1700"/>
              <a:t>  </a:t>
            </a:r>
            <a:r>
              <a:rPr b="1" sz="1700"/>
              <a:t>ワン ベッセル</a:t>
            </a:r>
            <a:r>
              <a:rPr b="0" sz="1700"/>
              <a:t>。 </a:t>
            </a:r>
            <a:r>
              <a:rPr b="1" sz="1700"/>
              <a:t>ツー オブジェクツ</a:t>
            </a:r>
            <a:r>
              <a:rPr b="0" sz="1700"/>
              <a:t>。 </a:t>
            </a:r>
            <a:r>
              <a:rPr b="1" sz="1700"/>
              <a:t>ツー パスワーズ</a:t>
            </a:r>
            <a:r>
              <a:rPr b="0" sz="1700"/>
              <a:t>。 </a:t>
            </a:r>
            <a:r>
              <a:rPr b="1" sz="1700"/>
              <a:t>ツー ファイルズ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7 · The password alone is not enough either（0:40）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Now the other way around.</a:t>
            </a:r>
          </a:p>
          <a:p>
            <a:r>
              <a:rPr b="0" sz="1700"/>
              <a:t>  ナウ ジ </a:t>
            </a:r>
            <a:r>
              <a:rPr b="1" sz="1700"/>
              <a:t>アザー ウェイ</a:t>
            </a:r>
            <a:r>
              <a:rPr b="0" sz="1700"/>
              <a:t> アラウンド。</a:t>
            </a:r>
          </a:p>
          <a:p>
            <a:r>
              <a:rPr b="0" sz="1700"/>
              <a:t>I keep Slot B's password. I change the object back to A.</a:t>
            </a:r>
          </a:p>
          <a:p>
            <a:r>
              <a:rPr b="0" sz="1700"/>
              <a:t>  アイ </a:t>
            </a:r>
            <a:r>
              <a:rPr b="1" sz="1700"/>
              <a:t>キープ</a:t>
            </a:r>
            <a:r>
              <a:rPr b="0" sz="1700"/>
              <a:t> スロット ビーズ パスワード。 アイ </a:t>
            </a:r>
            <a:r>
              <a:rPr b="1" sz="1700"/>
              <a:t>チェインジ</a:t>
            </a:r>
            <a:r>
              <a:rPr b="0" sz="1700"/>
              <a:t> ジ オブジェクト バック トゥ </a:t>
            </a:r>
            <a:r>
              <a:rPr b="1" sz="1700"/>
              <a:t>エイ</a:t>
            </a:r>
            <a:r>
              <a:rPr b="0" sz="1700"/>
              <a:t>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物体A に持ち替え → 表示が変わるのを待つ → パスワードB → Open protected file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Same result. No valid entry found.</a:t>
            </a:r>
          </a:p>
          <a:p>
            <a:r>
              <a:rPr b="0" sz="1700"/>
              <a:t>  </a:t>
            </a:r>
            <a:r>
              <a:rPr b="1" sz="1700"/>
              <a:t>セイム リザルト</a:t>
            </a:r>
            <a:r>
              <a:rPr b="0" sz="1700"/>
              <a:t>。 ノー バリッド エントリー ファウンド。</a:t>
            </a:r>
          </a:p>
          <a:p>
            <a:r>
              <a:rPr b="0" sz="1700"/>
              <a:t>Not 'wrong object'. Not 'object missing'.</a:t>
            </a:r>
          </a:p>
          <a:p>
            <a:r>
              <a:rPr b="0" sz="1700"/>
              <a:t>  ナット </a:t>
            </a:r>
            <a:r>
              <a:rPr b="1" sz="1700"/>
              <a:t>ロング オブジェクト</a:t>
            </a:r>
            <a:r>
              <a:rPr b="0" sz="1700"/>
              <a:t>。 ナット </a:t>
            </a:r>
            <a:r>
              <a:rPr b="1" sz="1700"/>
              <a:t>オブジェクト ミッシング</a:t>
            </a:r>
            <a:r>
              <a:rPr b="0" sz="1700"/>
              <a:t>。</a:t>
            </a:r>
          </a:p>
          <a:p>
            <a:r>
              <a:rPr b="0" sz="1700"/>
              <a:t>It will not tell you what it is waiting for.</a:t>
            </a:r>
          </a:p>
          <a:p>
            <a:r>
              <a:rPr b="0" sz="1700"/>
              <a:t>  イット ウィル ナット </a:t>
            </a:r>
            <a:r>
              <a:rPr b="1" sz="1700"/>
              <a:t>テル ユー</a:t>
            </a:r>
            <a:r>
              <a:rPr b="0" sz="1700"/>
              <a:t> ワット イッツ </a:t>
            </a:r>
            <a:r>
              <a:rPr b="1" sz="1700"/>
              <a:t>ウェイティング フォー</a:t>
            </a:r>
            <a:r>
              <a:rPr b="0" sz="1700"/>
              <a:t>。</a:t>
            </a:r>
          </a:p>
          <a:p>
            <a:r>
              <a:rPr b="0" sz="1700"/>
              <a:t>That is what 'the cue gates the operation' means.</a:t>
            </a:r>
          </a:p>
          <a:p>
            <a:r>
              <a:rPr b="0" sz="1700"/>
              <a:t>  ザッツ ワット ザ </a:t>
            </a:r>
            <a:r>
              <a:rPr b="1" sz="1700"/>
              <a:t>キュー ゲイツ ジ オペレイション</a:t>
            </a:r>
            <a:r>
              <a:rPr b="0" sz="1700"/>
              <a:t> ミーンズ。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8 · Coercion — hand over Slot A（0:30）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Now change the situation.</a:t>
            </a:r>
          </a:p>
          <a:p>
            <a:r>
              <a:rPr b="0" sz="1700"/>
              <a:t>  ナウ </a:t>
            </a:r>
            <a:r>
              <a:rPr b="1" sz="1700"/>
              <a:t>チェインジ</a:t>
            </a:r>
            <a:r>
              <a:rPr b="0" sz="1700"/>
              <a:t> ザ シチュエイション。</a:t>
            </a:r>
          </a:p>
          <a:p>
            <a:r>
              <a:rPr b="0" sz="1700"/>
              <a:t>Someone has the device. And they have me.</a:t>
            </a:r>
          </a:p>
          <a:p>
            <a:r>
              <a:rPr b="0" sz="1700"/>
              <a:t>  サムワン ハズ ザ </a:t>
            </a:r>
            <a:r>
              <a:rPr b="1" sz="1700"/>
              <a:t>デバイス</a:t>
            </a:r>
            <a:r>
              <a:rPr b="0" sz="1700"/>
              <a:t>。 アンド ゼイ ハブ </a:t>
            </a:r>
            <a:r>
              <a:rPr b="1" sz="1700"/>
              <a:t>ミー</a:t>
            </a:r>
            <a:r>
              <a:rPr b="0" sz="1700"/>
              <a:t>。</a:t>
            </a:r>
          </a:p>
          <a:p>
            <a:r>
              <a:rPr b="0" sz="1700"/>
              <a:t>'Give us the password.' So I do.</a:t>
            </a:r>
          </a:p>
          <a:p>
            <a:r>
              <a:rPr b="0" sz="1700"/>
              <a:t>  </a:t>
            </a:r>
            <a:r>
              <a:rPr b="1" sz="1700"/>
              <a:t>ギブ アス</a:t>
            </a:r>
            <a:r>
              <a:rPr b="0" sz="1700"/>
              <a:t> ザ パスワード。 ソー </a:t>
            </a:r>
            <a:r>
              <a:rPr b="1" sz="1700"/>
              <a:t>アイ ドゥー</a:t>
            </a:r>
            <a:r>
              <a:rPr b="0" sz="1700"/>
              <a:t>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物体A → パスワードA → Open protected file（SCENE 5 と同一操作）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They get a file. A real file, that really opens.</a:t>
            </a:r>
          </a:p>
          <a:p>
            <a:r>
              <a:rPr b="0" sz="1700"/>
              <a:t>  ゼイ ゲット ア ファイル。 ア </a:t>
            </a:r>
            <a:r>
              <a:rPr b="1" sz="1700"/>
              <a:t>リアル</a:t>
            </a:r>
            <a:r>
              <a:rPr b="0" sz="1700"/>
              <a:t> ファイル、 ザット </a:t>
            </a:r>
            <a:r>
              <a:rPr b="1" sz="1700"/>
              <a:t>リアリー オープンズ</a:t>
            </a:r>
            <a:r>
              <a:rPr b="0" sz="1700"/>
              <a:t>。</a:t>
            </a:r>
          </a:p>
          <a:p>
            <a:r>
              <a:rPr b="0" sz="1700"/>
              <a:t>Nothing on this screen says there is another one.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 オン ディス スクリーン セズ ゼアズ </a:t>
            </a:r>
            <a:r>
              <a:rPr b="1" sz="1700"/>
              <a:t>アナザー ワン</a:t>
            </a:r>
            <a:r>
              <a:rPr b="0" sz="1700"/>
              <a:t>。</a:t>
            </a:r>
          </a:p>
          <a:p>
            <a:r>
              <a:rPr b="0" sz="1700"/>
              <a:t>That is the whole design.</a:t>
            </a:r>
          </a:p>
          <a:p>
            <a:r>
              <a:rPr b="0" sz="1700"/>
              <a:t>  ザッツ ザ </a:t>
            </a:r>
            <a:r>
              <a:rPr b="1" sz="1700"/>
              <a:t>ホール デザイン</a:t>
            </a:r>
            <a:r>
              <a:rPr b="0" sz="1700"/>
              <a:t>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9 · The other password（0:50）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Worse case. They already know there is more.</a:t>
            </a:r>
          </a:p>
          <a:p>
            <a:r>
              <a:rPr b="0" sz="1700"/>
              <a:t>  </a:t>
            </a:r>
            <a:r>
              <a:rPr b="1" sz="1700"/>
              <a:t>ワース ケイス</a:t>
            </a:r>
            <a:r>
              <a:rPr b="0" sz="1700"/>
              <a:t>。 ゼイ オールレディ </a:t>
            </a:r>
            <a:r>
              <a:rPr b="1" sz="1700"/>
              <a:t>ノー</a:t>
            </a:r>
            <a:r>
              <a:rPr b="0" sz="1700"/>
              <a:t> ゼアズ </a:t>
            </a:r>
            <a:r>
              <a:rPr b="1" sz="1700"/>
              <a:t>モア</a:t>
            </a:r>
            <a:r>
              <a:rPr b="0" sz="1700"/>
              <a:t>。</a:t>
            </a:r>
          </a:p>
          <a:p>
            <a:r>
              <a:rPr b="0" sz="1700"/>
              <a:t>Same screen. Same object. Same field. Same button.</a:t>
            </a:r>
          </a:p>
          <a:p>
            <a:r>
              <a:rPr b="0" sz="1700"/>
              <a:t>  セイム スクリーン。 セイム オブジェクト。 セイム フィールド。 セイム ボタン。</a:t>
            </a:r>
          </a:p>
          <a:p>
            <a:r>
              <a:rPr b="0" sz="1700"/>
              <a:t>The only thing I change is which password I type.</a:t>
            </a:r>
          </a:p>
          <a:p>
            <a:r>
              <a:rPr b="0" sz="1700"/>
              <a:t>  ジ </a:t>
            </a:r>
            <a:r>
              <a:rPr b="1" sz="1700"/>
              <a:t>オンリー</a:t>
            </a:r>
            <a:r>
              <a:rPr b="0" sz="1700"/>
              <a:t> シング アイ チェインジ イズ </a:t>
            </a:r>
            <a:r>
              <a:rPr b="1" sz="1700"/>
              <a:t>ウィッチ パスワード</a:t>
            </a:r>
            <a:r>
              <a:rPr b="0" sz="1700"/>
              <a:t> アイ タイプ。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物体B をかざす → パスワード欄に Clearing password → Open protected file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And it says — no valid entry found.</a:t>
            </a:r>
          </a:p>
          <a:p>
            <a:r>
              <a:rPr b="0" sz="1700"/>
              <a:t>  アンド イット セズ — </a:t>
            </a:r>
            <a:r>
              <a:rPr b="1" sz="1700"/>
              <a:t>ノー バリッド エントリー ファウンド</a:t>
            </a:r>
            <a:r>
              <a:rPr b="0" sz="1700"/>
              <a:t>。</a:t>
            </a:r>
          </a:p>
          <a:p>
            <a:r>
              <a:rPr b="0" sz="1700"/>
              <a:t>That is the same sentence you get from a typo.</a:t>
            </a:r>
          </a:p>
          <a:p>
            <a:r>
              <a:rPr b="0" sz="1700"/>
              <a:t>  ザッツ ザ </a:t>
            </a:r>
            <a:r>
              <a:rPr b="1" sz="1700"/>
              <a:t>セイム センテンス</a:t>
            </a:r>
            <a:r>
              <a:rPr b="0" sz="1700"/>
              <a:t> ユー ゲット フロム ア </a:t>
            </a:r>
            <a:r>
              <a:rPr b="1" sz="1700"/>
              <a:t>タイポ</a:t>
            </a:r>
            <a:r>
              <a:rPr b="0" sz="1700"/>
              <a:t>。</a:t>
            </a:r>
          </a:p>
          <a:p>
            <a:r>
              <a:rPr b="0" sz="1700"/>
              <a:t>But that entry is not locked. It is gone.</a:t>
            </a:r>
          </a:p>
          <a:p>
            <a:r>
              <a:rPr b="0" sz="1700"/>
              <a:t>  バット ザット エントリー イズ ナット </a:t>
            </a:r>
            <a:r>
              <a:rPr b="1" sz="1700"/>
              <a:t>ロックト</a:t>
            </a:r>
            <a:r>
              <a:rPr b="0" sz="1700"/>
              <a:t>。 イッツ </a:t>
            </a:r>
            <a:r>
              <a:rPr b="1" sz="1700"/>
              <a:t>ゴーン</a:t>
            </a:r>
            <a:r>
              <a:rPr b="0" sz="1700"/>
              <a:t>。</a:t>
            </a:r>
          </a:p>
          <a:p>
            <a:r>
              <a:rPr b="0" sz="1700"/>
              <a:t>The password they can compel is not the only one there is.</a:t>
            </a:r>
          </a:p>
          <a:p>
            <a:r>
              <a:rPr b="0" sz="1700"/>
              <a:t>  ザ パスワード ゼイ キャン </a:t>
            </a:r>
            <a:r>
              <a:rPr b="1" sz="1700"/>
              <a:t>コンペル</a:t>
            </a:r>
            <a:r>
              <a:rPr b="0" sz="1700"/>
              <a:t> イズ ナット ジ </a:t>
            </a:r>
            <a:r>
              <a:rPr b="1" sz="1700"/>
              <a:t>オンリー ワン</a:t>
            </a:r>
            <a:r>
              <a:rPr b="0" sz="1700"/>
              <a:t> ゼア 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10 · Nothing left to open（0:50）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Let me prove that.</a:t>
            </a:r>
          </a:p>
          <a:p>
            <a:r>
              <a:rPr b="0" sz="1700"/>
              <a:t>  レット ミー </a:t>
            </a:r>
            <a:r>
              <a:rPr b="1" sz="1700"/>
              <a:t>プルーブ</a:t>
            </a:r>
            <a:r>
              <a:rPr b="0" sz="1700"/>
              <a:t> ザット。</a:t>
            </a:r>
          </a:p>
          <a:p>
            <a:r>
              <a:rPr b="0" sz="1700"/>
              <a:t>Object B. Slot B's real password. The correct way.</a:t>
            </a:r>
          </a:p>
          <a:p>
            <a:r>
              <a:rPr b="0" sz="1700"/>
              <a:t>  オブジェクト ビー。 スロット ビーズ </a:t>
            </a:r>
            <a:r>
              <a:rPr b="1" sz="1700"/>
              <a:t>リアル</a:t>
            </a:r>
            <a:r>
              <a:rPr b="0" sz="1700"/>
              <a:t> パスワード。 ザ </a:t>
            </a:r>
            <a:r>
              <a:rPr b="1" sz="1700"/>
              <a:t>コレクト ウェイ</a:t>
            </a:r>
            <a:r>
              <a:rPr b="0" sz="1700"/>
              <a:t>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物体B → パスワードB（正規）→ Open protected file → 何も出ない</a:t>
            </a:r>
          </a:p>
          <a:p>
            <a:r>
              <a:rPr b="0" sz="1200"/>
              <a:t>DO: 続けて 物体A → パスワードA → 開く（時計が押していれば口頭のみ）</a:t>
            </a:r>
          </a:p>
          <a:p>
            <a:r>
              <a:rPr b="0" sz="1200"/>
              <a:t>▶ THEN — 画面が変わってから</a:t>
            </a:r>
          </a:p>
          <a:p>
            <a:r>
              <a:rPr b="0" sz="1700"/>
              <a:t>Nothing. I cannot get it back either. That is not a bug.</a:t>
            </a:r>
          </a:p>
          <a:p>
            <a:r>
              <a:rPr b="0" sz="1700"/>
              <a:t>  </a:t>
            </a:r>
            <a:r>
              <a:rPr b="1" sz="1700"/>
              <a:t>ナッシング</a:t>
            </a:r>
            <a:r>
              <a:rPr b="0" sz="1700"/>
              <a:t>。 アイ キャナット ゲット イット バック </a:t>
            </a:r>
            <a:r>
              <a:rPr b="1" sz="1700"/>
              <a:t>アイザー</a:t>
            </a:r>
            <a:r>
              <a:rPr b="0" sz="1700"/>
              <a:t>。 ザッツ </a:t>
            </a:r>
            <a:r>
              <a:rPr b="1" sz="1700"/>
              <a:t>ナット ア バグ</a:t>
            </a:r>
            <a:r>
              <a:rPr b="0" sz="1700"/>
              <a:t>。</a:t>
            </a:r>
          </a:p>
          <a:p>
            <a:r>
              <a:rPr b="0" sz="1700"/>
              <a:t>And Slot A still opens, exactly as before.</a:t>
            </a:r>
          </a:p>
          <a:p>
            <a:r>
              <a:rPr b="0" sz="1700"/>
              <a:t>  アンド </a:t>
            </a:r>
            <a:r>
              <a:rPr b="1" sz="1700"/>
              <a:t>スロット エイ</a:t>
            </a:r>
            <a:r>
              <a:rPr b="0" sz="1700"/>
              <a:t> スティル オープンズ、 イグザクトリー アズ </a:t>
            </a:r>
            <a:r>
              <a:rPr b="1" sz="1700"/>
              <a:t>ビフォー</a:t>
            </a:r>
            <a:r>
              <a:rPr b="0" sz="1700"/>
              <a:t>。</a:t>
            </a:r>
          </a:p>
          <a:p>
            <a:r>
              <a:rPr b="0" sz="1700"/>
              <a:t>One thing this tool will never tell you:</a:t>
            </a:r>
          </a:p>
          <a:p>
            <a:r>
              <a:rPr b="0" sz="1700"/>
              <a:t>  ワン シング ディス ツール ウィル ネバー </a:t>
            </a:r>
            <a:r>
              <a:rPr b="1" sz="1700"/>
              <a:t>テル ユー</a:t>
            </a:r>
            <a:r>
              <a:rPr b="0" sz="1700"/>
              <a:t>:</a:t>
            </a:r>
          </a:p>
          <a:p>
            <a:r>
              <a:rPr b="0" sz="1700"/>
              <a:t>whether your cover story is believable.</a:t>
            </a:r>
          </a:p>
          <a:p>
            <a:r>
              <a:rPr b="0" sz="1700"/>
              <a:t>  ウェザー ユア </a:t>
            </a:r>
            <a:r>
              <a:rPr b="1" sz="1700"/>
              <a:t>カバー ストーリー</a:t>
            </a:r>
            <a:r>
              <a:rPr b="0" sz="1700"/>
              <a:t> イズ </a:t>
            </a:r>
            <a:r>
              <a:rPr b="1" sz="1700"/>
              <a:t>ビリーバブル</a:t>
            </a:r>
            <a:r>
              <a:rPr b="0" sz="1700"/>
              <a:t>。</a:t>
            </a:r>
          </a:p>
          <a:p>
            <a:r>
              <a:rPr b="0" sz="1700"/>
              <a:t>That is your job. It does not pretend otherwise.</a:t>
            </a:r>
          </a:p>
          <a:p>
            <a:r>
              <a:rPr b="0" sz="1700"/>
              <a:t>  ザッツ </a:t>
            </a:r>
            <a:r>
              <a:rPr b="1" sz="1700"/>
              <a:t>ユア ジョブ</a:t>
            </a:r>
            <a:r>
              <a:rPr b="0" sz="1700"/>
              <a:t>。 イット ダズ ナット </a:t>
            </a:r>
            <a:r>
              <a:rPr b="1" sz="1700"/>
              <a:t>プリテンド</a:t>
            </a:r>
            <a:r>
              <a:rPr b="0" sz="1700"/>
              <a:t> アザーワイズ。</a:t>
            </a:r>
          </a:p>
          <a:p>
            <a:r>
              <a:rPr b="0" sz="1700"/>
              <a:t/>
            </a:r>
          </a:p>
          <a:p>
            <a:r>
              <a:rPr b="0" sz="1200"/>
              <a:t>── SCENE 11 · Wrap（0:10）</a:t>
            </a:r>
          </a:p>
          <a:p>
            <a:r>
              <a:rPr b="0" sz="1200"/>
              <a:t>▶ SAY — 止めずに読み切る</a:t>
            </a:r>
          </a:p>
          <a:p>
            <a:r>
              <a:rPr b="0" sz="1700"/>
              <a:t>One file. Two objects. Two passwords.</a:t>
            </a:r>
          </a:p>
          <a:p>
            <a:r>
              <a:rPr b="0" sz="1700"/>
              <a:t>  </a:t>
            </a:r>
            <a:r>
              <a:rPr b="1" sz="1700"/>
              <a:t>ワン ファイル</a:t>
            </a:r>
            <a:r>
              <a:rPr b="0" sz="1700"/>
              <a:t>。 </a:t>
            </a:r>
            <a:r>
              <a:rPr b="1" sz="1700"/>
              <a:t>ツー オブジェクツ</a:t>
            </a:r>
            <a:r>
              <a:rPr b="0" sz="1700"/>
              <a:t>。 </a:t>
            </a:r>
            <a:r>
              <a:rPr b="1" sz="1700"/>
              <a:t>ツー パスワーズ</a:t>
            </a:r>
            <a:r>
              <a:rPr b="0" sz="1700"/>
              <a:t>。</a:t>
            </a:r>
          </a:p>
          <a:p>
            <a:r>
              <a:rPr b="0" sz="1700"/>
              <a:t>And a password that ends one, instead of opening it.</a:t>
            </a:r>
          </a:p>
          <a:p>
            <a:r>
              <a:rPr b="0" sz="1700"/>
              <a:t>  アンド ア パスワード ザット </a:t>
            </a:r>
            <a:r>
              <a:rPr b="1" sz="1700"/>
              <a:t>エンズ</a:t>
            </a:r>
            <a:r>
              <a:rPr b="0" sz="1700"/>
              <a:t> ワン、 インステッド オブ </a:t>
            </a:r>
            <a:r>
              <a:rPr b="1" sz="1700"/>
              <a:t>オープニング</a:t>
            </a:r>
            <a:r>
              <a:rPr b="0" sz="1700"/>
              <a:t> イット。</a:t>
            </a:r>
          </a:p>
          <a:p>
            <a:r>
              <a:rPr b="0" sz="1700"/>
              <a:t>On real hardware. Come and try it at the table.</a:t>
            </a:r>
          </a:p>
          <a:p>
            <a:r>
              <a:rPr b="0" sz="1700"/>
              <a:t>  オン </a:t>
            </a:r>
            <a:r>
              <a:rPr b="1" sz="1700"/>
              <a:t>リアル ハードウェア</a:t>
            </a:r>
            <a:r>
              <a:rPr b="0" sz="1700"/>
              <a:t>。 カム アンド </a:t>
            </a:r>
            <a:r>
              <a:rPr b="1" sz="1700"/>
              <a:t>トライ イット</a:t>
            </a:r>
            <a:r>
              <a:rPr b="0" sz="1700"/>
              <a:t> アット ザ テイブル。</a:t>
            </a:r>
          </a:p>
          <a:p>
            <a:r>
              <a:rPr b="0" sz="1200"/>
              <a:t>✋ DO — 黙って操作</a:t>
            </a:r>
          </a:p>
          <a:p>
            <a:r>
              <a:rPr b="0" sz="1200"/>
              <a:t>DO: スライド（Slide 25）へ戻す。</a:t>
            </a:r>
          </a:p>
          <a:p>
            <a:r>
              <a:rPr b="0" sz="1700"/>
              <a:t/>
            </a:r>
          </a:p>
          <a:p>
            <a:r>
              <a:rPr b="0" sz="1200"/>
              <a:t>JA: 26:00 到達で SCENE 5 と SCENE 8 を落とす。SCENE 1・6・7・9・10 は何があっても実機で見せる。録画に切り替えたときは「1つの容器・2つの物体・2つのパスワード・そして開くのではなく終わらせるパスワード」を口頭で辿る。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[26:50 / 0:30] QUICK START — 発話 0:20</a:t>
            </a:r>
          </a:p>
          <a:p>
            <a:r>
              <a:rPr b="0" sz="1700"/>
              <a:t/>
            </a:r>
          </a:p>
          <a:p>
            <a:r>
              <a:rPr b="0" sz="1700"/>
              <a:t>“Want to try it?</a:t>
            </a:r>
          </a:p>
          <a:p>
            <a:r>
              <a:rPr b="0" sz="1700"/>
              <a:t>  </a:t>
            </a:r>
            <a:r>
              <a:rPr b="1" sz="1700"/>
              <a:t>ワナ トライ イット</a:t>
            </a:r>
            <a:r>
              <a:rPr b="0" sz="1700"/>
              <a:t>?</a:t>
            </a:r>
          </a:p>
          <a:p>
            <a:r>
              <a:rPr b="0" sz="1700"/>
              <a:t>Clone the repo. Change into it. Run ./phasmid</a:t>
            </a:r>
          </a:p>
          <a:p>
            <a:r>
              <a:rPr b="0" sz="1700"/>
              <a:t>  </a:t>
            </a:r>
            <a:r>
              <a:rPr b="1" sz="1700"/>
              <a:t>クロウン</a:t>
            </a:r>
            <a:r>
              <a:rPr b="0" sz="1700"/>
              <a:t> ザ リーポウ。 </a:t>
            </a:r>
            <a:r>
              <a:rPr b="1" sz="1700"/>
              <a:t>チェインジ</a:t>
            </a:r>
            <a:r>
              <a:rPr b="0" sz="1700"/>
              <a:t> イントゥ イット。 </a:t>
            </a:r>
            <a:r>
              <a:rPr b="1" sz="1700"/>
              <a:t>ラン</a:t>
            </a:r>
            <a:r>
              <a:rPr b="0" sz="1700"/>
              <a:t> ドット スラッシュ ファズミッド。</a:t>
            </a:r>
          </a:p>
          <a:p>
            <a:r>
              <a:rPr b="0" sz="1700"/>
              <a:t>The first run sets up a virtual environment and opens the console.</a:t>
            </a:r>
          </a:p>
          <a:p>
            <a:r>
              <a:rPr b="0" sz="1700"/>
              <a:t>  ザ ファースト ラン セッツ アップ ア </a:t>
            </a:r>
            <a:r>
              <a:rPr b="1" sz="1700"/>
              <a:t>バーチュアル インバイロンメント</a:t>
            </a:r>
            <a:r>
              <a:rPr b="0" sz="1700"/>
              <a:t> アンド オープンズ ザ コンソウル。</a:t>
            </a:r>
          </a:p>
          <a:p>
            <a:r>
              <a:rPr b="0" sz="1700"/>
              <a:t>Research software. Apache 2.0.</a:t>
            </a:r>
          </a:p>
          <a:p>
            <a:r>
              <a:rPr b="0" sz="1700"/>
              <a:t>  </a:t>
            </a:r>
            <a:r>
              <a:rPr b="1" sz="1700"/>
              <a:t>リサーチ ソフトウェア</a:t>
            </a:r>
            <a:r>
              <a:rPr b="0" sz="1700"/>
              <a:t>。 </a:t>
            </a:r>
            <a:r>
              <a:rPr b="1" sz="1700"/>
              <a:t>アパッチ トゥー ポイント ゼロ</a:t>
            </a:r>
            <a:r>
              <a:rPr b="0" sz="1700"/>
              <a:t>。</a:t>
            </a:r>
          </a:p>
          <a:p>
            <a:r>
              <a:rPr b="0" sz="1700"/>
              <a:t>Evaluate it locally, in field-test conditions.</a:t>
            </a:r>
          </a:p>
          <a:p>
            <a:r>
              <a:rPr b="0" sz="1700"/>
              <a:t>  イバリュエイト イット </a:t>
            </a:r>
            <a:r>
              <a:rPr b="1" sz="1700"/>
              <a:t>ローカリー</a:t>
            </a:r>
            <a:r>
              <a:rPr b="0" sz="1700"/>
              <a:t>、 イン </a:t>
            </a:r>
            <a:r>
              <a:rPr b="1" sz="1700"/>
              <a:t>フィールドテスト コンディションズ</a:t>
            </a:r>
            <a:r>
              <a:rPr b="0" sz="1700"/>
              <a:t>。</a:t>
            </a:r>
          </a:p>
          <a:p>
            <a:r>
              <a:rPr b="0" sz="1700"/>
              <a:t>Not as production protection.”</a:t>
            </a:r>
          </a:p>
          <a:p>
            <a:r>
              <a:rPr b="0" sz="1700"/>
              <a:t>  </a:t>
            </a:r>
            <a:r>
              <a:rPr b="1" sz="1700"/>
              <a:t>ナット</a:t>
            </a:r>
            <a:r>
              <a:rPr b="0" sz="1700"/>
              <a:t> アズ プロダクション プロテクション。</a:t>
            </a:r>
          </a:p>
          <a:p>
            <a:r>
              <a:rPr b="0" sz="1700"/>
              <a:t/>
            </a:r>
          </a:p>
          <a:p>
            <a:r>
              <a:rPr b="0" sz="1200"/>
              <a:t>JA: リポジトリ URL を指す。ステッカーは未作成なので言及しない。卓上デモへ繋ぐ。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 sz="1700"/>
              <a:t>[27:20 / 0:40] CLOSING → Q&amp;A — 発話 0:25</a:t>
            </a:r>
          </a:p>
          <a:p>
            <a:r>
              <a:rPr b="0" sz="1700"/>
              <a:t/>
            </a:r>
          </a:p>
          <a:p>
            <a:r>
              <a:rPr b="0" sz="1700"/>
              <a:t>“That’s Phasmid.</a:t>
            </a:r>
          </a:p>
          <a:p>
            <a:r>
              <a:rPr b="0" sz="1700"/>
              <a:t>  ザッツ </a:t>
            </a:r>
            <a:r>
              <a:rPr b="1" sz="1700"/>
              <a:t>ファズミッド</a:t>
            </a:r>
            <a:r>
              <a:rPr b="0" sz="1700"/>
              <a:t>。</a:t>
            </a:r>
          </a:p>
          <a:p>
            <a:r>
              <a:rPr b="0" sz="1700"/>
              <a:t>Local-only. Coercion-aware. Honest limits included.</a:t>
            </a:r>
          </a:p>
          <a:p>
            <a:r>
              <a:rPr b="0" sz="1700"/>
              <a:t>  </a:t>
            </a:r>
            <a:r>
              <a:rPr b="1" sz="1700"/>
              <a:t>ローカル オンリー</a:t>
            </a:r>
            <a:r>
              <a:rPr b="0" sz="1700"/>
              <a:t>。 </a:t>
            </a:r>
            <a:r>
              <a:rPr b="1" sz="1700"/>
              <a:t>コアージョン アウェア</a:t>
            </a:r>
            <a:r>
              <a:rPr b="0" sz="1700"/>
              <a:t>。 </a:t>
            </a:r>
            <a:r>
              <a:rPr b="1" sz="1700"/>
              <a:t>オネスト リミッツ</a:t>
            </a:r>
            <a:r>
              <a:rPr b="0" sz="1700"/>
              <a:t> インクルーディッド。</a:t>
            </a:r>
          </a:p>
          <a:p>
            <a:r>
              <a:rPr b="0" sz="1700"/>
              <a:t>The code, the threat model, and the architecture are all on GitHub, at 01rabbit.</a:t>
            </a:r>
          </a:p>
          <a:p>
            <a:r>
              <a:rPr b="0" sz="1700"/>
              <a:t>  ザ コウド、 ザ スレット モデル、 アンド ジ アーキテクチャー アー オール オン </a:t>
            </a:r>
            <a:r>
              <a:rPr b="1" sz="1700"/>
              <a:t>ギットハブ</a:t>
            </a:r>
            <a:r>
              <a:rPr b="0" sz="1700"/>
              <a:t>、 アット </a:t>
            </a:r>
            <a:r>
              <a:rPr b="1" sz="1700"/>
              <a:t>ゼロワン ラビット</a:t>
            </a:r>
            <a:r>
              <a:rPr b="0" sz="1700"/>
              <a:t>。</a:t>
            </a:r>
          </a:p>
          <a:p>
            <a:r>
              <a:rPr b="0" sz="1700"/>
              <a:t>The device is right here on the table.</a:t>
            </a:r>
          </a:p>
          <a:p>
            <a:r>
              <a:rPr b="0" sz="1700"/>
              <a:t>  ザ デバイス イズ </a:t>
            </a:r>
            <a:r>
              <a:rPr b="1" sz="1700"/>
              <a:t>ライト ヒア</a:t>
            </a:r>
            <a:r>
              <a:rPr b="0" sz="1700"/>
              <a:t> オン ザ テイブル。</a:t>
            </a:r>
          </a:p>
          <a:p>
            <a:r>
              <a:rPr b="0" sz="1700"/>
              <a:t>Come and try it. And please — come and break it.</a:t>
            </a:r>
          </a:p>
          <a:p>
            <a:r>
              <a:rPr b="0" sz="1700"/>
              <a:t>  </a:t>
            </a:r>
            <a:r>
              <a:rPr b="1" sz="1700"/>
              <a:t>カム アンド トライ イット</a:t>
            </a:r>
            <a:r>
              <a:rPr b="0" sz="1700"/>
              <a:t>。 アンド プリーズ — </a:t>
            </a:r>
            <a:r>
              <a:rPr b="1" sz="1700"/>
              <a:t>カム アンド ブレイク イット</a:t>
            </a:r>
            <a:r>
              <a:rPr b="0" sz="1700"/>
              <a:t>。</a:t>
            </a:r>
          </a:p>
          <a:p>
            <a:r>
              <a:rPr b="0" sz="1700"/>
              <a:t>I’ve got time for questions.”</a:t>
            </a:r>
          </a:p>
          <a:p>
            <a:r>
              <a:rPr b="0" sz="1700"/>
              <a:t>  アイブ ゴット </a:t>
            </a:r>
            <a:r>
              <a:rPr b="1" sz="1700"/>
              <a:t>タイム</a:t>
            </a:r>
            <a:r>
              <a:rPr b="0" sz="1700"/>
              <a:t> フォー クエスチョンズ。</a:t>
            </a:r>
          </a:p>
          <a:p>
            <a:r>
              <a:rPr b="0" sz="1700"/>
              <a:t/>
            </a:r>
          </a:p>
          <a:p>
            <a:r>
              <a:rPr b="0" sz="1200"/>
              <a:t>JA: 約27分で着地。残り約18分を Q&amp;A・卓上デモ・交流へ。ステッカーは未作成 — 実機体験への導線に差し替え済み。45分で必ず終了。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4747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 · DEMO LABS</a:t>
            </a:r>
            <a:endParaRPr lang="en-US" sz="1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731520"/>
            <a:ext cx="777240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6817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 Eidolon System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0" y="51389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 for controlled disclosure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5596128"/>
            <a:ext cx="594360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7424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 (Mr.Rabbit)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Senior Engineer, GMO Cybersecurity by Ierae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github.com/01rabbit/Phasmid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62362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prototype · Apache-2.0 ·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WHOAMI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— a.k.a. Mr.Rabbit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383280" cy="4114800"/>
          </a:xfrm>
          <a:prstGeom prst="roundRect">
            <a:avLst>
              <a:gd name="adj" fmla="val 243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148840"/>
            <a:ext cx="1371600" cy="137160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2459736"/>
            <a:ext cx="749808" cy="749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657600"/>
            <a:ext cx="3054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GMO Cybersecurity by Ierae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3054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Engineer, SOC · Security Researcher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/01rabbit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68680" y="5440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541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9768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do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34340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offensive experience into defensive tools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deception, delaying action, constrained SOC/NOC, coercion-aware design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penetration tester · CISSP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Ex-military — former JGSDF officer (2nd Lt.), cyber unit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the Azazel System and the PAKURI tool family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29768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you've seen the work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43400" y="4828032"/>
            <a:ext cx="1960474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43400" y="4828032"/>
            <a:ext cx="1960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Hat Arsenal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50178" y="4828032"/>
            <a:ext cx="185806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50178" y="4828032"/>
            <a:ext cx="185806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Las Vegas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454542" y="4828032"/>
            <a:ext cx="1448410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454542" y="4828032"/>
            <a:ext cx="14484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Tokyo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049256" y="4828032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9256" y="4828032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4343400" y="5413248"/>
            <a:ext cx="114117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43400" y="5413248"/>
            <a:ext cx="11411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BLUE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5630875" y="5413248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630875" y="5413248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SECCON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611112" y="5413248"/>
            <a:ext cx="936346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611112" y="5413248"/>
            <a:ext cx="9363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AVTOKYO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we're going — ~30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1892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933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78308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Compelled access and over-disclosure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96312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41732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70662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57400" y="249631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212080" y="2496312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— a two-slot disclosure model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66928" y="3209544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3209544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41732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3419856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32095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5212080" y="3209544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operation &amp; coercion-safe delaying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66928" y="3922776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3922776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1417320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41330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57400" y="392277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212080" y="3922776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Crypto, operational guards, real hardware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66928" y="4636008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22960" y="4636008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1417320" y="47457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4846320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57400" y="463600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5212080" y="4636008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ethics &amp; scope drawn carefully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566928" y="534924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22960" y="53492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1417320" y="5458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5559552"/>
            <a:ext cx="256032" cy="25603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7400" y="534924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5212080" y="534924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TUI — then try it yourself</a:t>
            </a:r>
            <a:endParaRPr lang="en-US" sz="1700" dirty="0"/>
          </a:p>
        </p:txBody>
      </p:sp>
      <p:sp>
        <p:nvSpPr>
          <p:cNvPr id="40" name="Text 3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They don't need to break crypto.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take the device — and ask you to unlock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735" y="2671511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seizure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7782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Border, checkpoint, arrest, or theft. The hardware is now in someone else's hands.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6168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495" y="267151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7258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"Unlock it." Legal, physical, or coercive pressure to hand over credentials.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5644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6734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55" y="2671511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Over-disclosure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6734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Full-disk encryption is all-or-nothing: once open, everything is exposed at once.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90" name="RealCase"/>
          <p:cNvSpPr/>
          <p:nvPr/>
        </p:nvSpPr>
        <p:spPr>
          <a:xfrm>
            <a:off x="566928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cs typeface="Courier New" pitchFamily="34" charset="0"/>
              </a:rPr>
              <a:t>REAL CASE (2026): </a:t>
            </a:r>
            <a:r>
              <a:rPr lang="en-US" sz="1500" dirty="0">
                <a:solidFill>
                  <a:srgbClr val="E8EFEA"/>
                </a:solidFill>
                <a:latin typeface="Calibri" pitchFamily="34" charset="0"/>
                <a:cs typeface="Calibri" pitchFamily="34" charset="0"/>
              </a:rPr>
              <a:t>a U.S. citizen was federally charged after a duress-wipe during a border search — the first known prosecution of its kind.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RELATABLE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access: pick your fate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🙅</a:t>
            </a:r>
            <a:endParaRPr lang="en-US" sz="74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won't unlock it."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detained / escalation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168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6168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😰</a:t>
            </a:r>
            <a:endParaRPr lang="en-US" sz="7400" dirty="0"/>
          </a:p>
        </p:txBody>
      </p:sp>
      <p:sp>
        <p:nvSpPr>
          <p:cNvPr id="11" name="Text 9"/>
          <p:cNvSpPr/>
          <p:nvPr/>
        </p:nvSpPr>
        <p:spPr>
          <a:xfrm>
            <a:off x="436168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Comply (FDE)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4456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"...here's everything."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total over-disclosure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5644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😎</a:t>
            </a:r>
            <a:endParaRPr lang="en-US" sz="7400" dirty="0"/>
          </a:p>
        </p:txBody>
      </p:sp>
      <p:sp>
        <p:nvSpPr>
          <p:cNvPr id="16" name="Text 14"/>
          <p:cNvSpPr/>
          <p:nvPr/>
        </p:nvSpPr>
        <p:spPr>
          <a:xfrm>
            <a:off x="815644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"Here's what's visible."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932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controlled disclosure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demand. Different blast radius.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 control — not casual file encryption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21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Phasmid 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14400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field-evaluation research prototype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by default (127.0.0.1 WebUI)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visible disclosure from protected local state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of the Janus Eidolon System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99632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 NOT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547104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audited full-disk encryption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hardware-backed key storage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risk-free delete — destruction is legally hazardous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 answer to compelled disclosure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faces, by design — the Janus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two-slot controlled-disclosure model: what you show is not all there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841" y="275088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A · VISIBLE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capture-visible surface shows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under pressure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Plausible, ordinary, unremarkable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11112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31152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93" y="275088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54112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B · PROTECTED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976872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local state, kept off the visible path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local conditions, not just a password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exposed by normal UI / CLI flows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660136" y="3520440"/>
            <a:ext cx="868680" cy="868680"/>
          </a:xfrm>
          <a:prstGeom prst="ellipse">
            <a:avLst/>
          </a:prstGeom>
          <a:solidFill>
            <a:srgbClr val="0C1210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12464"/>
            <a:ext cx="484632" cy="4846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ADVERSARIES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 defends against — and who it doesn't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343400"/>
          </a:xfrm>
          <a:prstGeom prst="roundRect">
            <a:avLst>
              <a:gd name="adj" fmla="val 189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 (5)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42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496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captor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at rest → recover payload / confirm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Passive observer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3502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shell history, files → learn mode/slots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05079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active attacker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4206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OS-level dir access → copy vault, offline crack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22960" y="4654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75488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Local-network attacker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71600" y="49103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via localhost/USB → replay token, brute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22960" y="535838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458968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53126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Coercing authority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1371600" y="5614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legal/physical coercion → compel disclosure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236208" y="1783080"/>
            <a:ext cx="5394960" cy="4343400"/>
          </a:xfrm>
          <a:prstGeom prst="roundRect">
            <a:avLst>
              <a:gd name="adj" fmla="val 1895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011680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6772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 (5)</a:t>
            </a:r>
            <a:endParaRPr lang="en-US" sz="19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528" y="2578608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49440" y="2505456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host kernel / hypervisor — defeats all software controls</a:t>
            </a:r>
            <a:endParaRPr lang="en-US" sz="15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3282696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949440" y="3209544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implant / side-channel — needs HSM or certified enclave</a:t>
            </a:r>
            <a:endParaRPr lang="en-US" sz="15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3986784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949440" y="3913632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attacker over untrusted network — WebUI is localhost / USB only</a:t>
            </a:r>
            <a:endParaRPr lang="en-US" sz="15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4690872"/>
            <a:ext cx="310896" cy="31089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49440" y="4617720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attacker — dependency integrity is operational (SH-22)</a:t>
            </a:r>
            <a:endParaRPr lang="en-US" sz="15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528" y="5394960"/>
            <a:ext cx="310896" cy="31089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49440" y="53218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breaks vs AES-GCM / Argon2id — assumed computationally secure</a:t>
            </a:r>
            <a:endParaRPr lang="en-US" sz="1500" dirty="0"/>
          </a:p>
        </p:txBody>
      </p:sp>
      <p:sp>
        <p:nvSpPr>
          <p:cNvPr id="4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SCENARIOS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scenarios, tagged STRIDE + LINDDUN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· Tampering · Repudiation · Info-disclosure · DoS · Elevation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938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LINDDUN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Linkability · Identifiability · Non-repudiation · Detectability · Disclosure · Unawareness · Non-compliance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50592"/>
            <a:ext cx="11018520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2514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Representative scenario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/ LINDDUN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91693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35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2935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copy + offline cracking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0" y="2935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Di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31012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284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20240" y="3328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session fixation / replay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33284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216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37216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 / filename leakage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7216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Di, 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096512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114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20240" y="41148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/ lockout bypass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4114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489704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5079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920240" y="4507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side-channel: RESTRICTED vs FAILED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968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88289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901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920240" y="49011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spoofing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69680" y="4901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22960" y="527608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2943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20240" y="5294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Coerced disclosure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69680" y="5294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Di, 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matrix: docs/THREAT_MODEL.md · docs/THREAT_ANALYSIS_STRIDE.md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BOUNDARY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things the system keeps explicit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77" y="23119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Two-slot local storage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7824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disclosure separated from protected local state.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199632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081" y="23119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10528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derive from local state — not a passphrase alone.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77" y="4351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82496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Restricted-action policy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77824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checks gate sensitive / recovery behavior.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99632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08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discipline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510528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flows don't expose structure, recovery, or trial order.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LAYERS &amp;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local layers &amp; document 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024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Architectural layers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651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WebUI entry points — no internal structure in normal flows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3291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Restricted-action policy — confirmation, timing, capability checks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71600" y="393192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core — vault.bin, KDF, layout, access-key mixing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45720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— typed state, attempt limiting, object-cue, audit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21208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review — operating boundary, appliance hardening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 map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28816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SPECIFICATION.md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28816" y="29992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behavior &amp; configuration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28816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THREAT_MODEL.md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8816" y="36667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assumptions, residual risk, safety boundary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528816" y="4032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JANUS_EIDOLON_SYSTEM.md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528816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two-slot architecture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528816" y="47000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COERCION_SAFE_DELAYING.md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28816" y="50017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delaying-architecture design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28816" y="5367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6528816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summary &amp; operational limits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moving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6537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1408" y="24505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Encrypted local vessel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5953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live in a local container, sealed with authenticated encryption and password-derived keys.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6168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013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45059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Object-cue operation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5429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object matching acts as an operational access cue — an on/off gate, not cryptographic key material.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15644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5489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45059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8504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Controlled disclosure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4905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what is shown from what stays protected. Three credentials: open the real file, open the decoy, destroy the real.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INTERESTING BIT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object is a cue — not a key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00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right object to the camera to operate the access gate.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everyday item becomes an operating gesture — nothing to type, nothing that looks like a secret.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6208" y="1874520"/>
            <a:ext cx="5349240" cy="3977640"/>
          </a:xfrm>
          <a:prstGeom prst="roundRect">
            <a:avLst>
              <a:gd name="adj" fmla="val 2069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28816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that matters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889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743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drives operation and policy checks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015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33558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 NOT the encryption key</a:t>
            </a:r>
            <a:endParaRPr lang="en-US" sz="1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1421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39684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object doesn't unlock the vessel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28816" y="4709160"/>
            <a:ext cx="47548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528816" y="48463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stays with Argon2id + AES-GCM. The object just decides whether you get to act.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COERCION-SAFE DELAYING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time. Avoid obvious failure.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144451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hotkey drops sensitive UI into a non-sensitive state. Recovery needs re-auth.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7782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3235" y="41605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53235" y="41605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standby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911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0911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4617720"/>
            <a:ext cx="1470355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4617720"/>
            <a:ext cx="1470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dummy_disclosure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6168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5429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067" y="2144451"/>
            <a:ext cx="337962" cy="3379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8581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Operator-supplied disclosure material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7258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file you would hand over, before any coercion. Phasmid never fabricates it.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15644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4905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827" y="2144451"/>
            <a:ext cx="337962" cy="3379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8057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Profiles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846734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describing what 'normal' looks like for a role — so you know what to prepare.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6734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6734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9242755" y="4160520"/>
            <a:ext cx="1309421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242755" y="4160520"/>
            <a:ext cx="13094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field_engineer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67344" y="4617720"/>
            <a:ext cx="987552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67344" y="4617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9564624" y="4617720"/>
            <a:ext cx="1068019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564624" y="4617720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0742371" y="46177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0742371" y="46177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66928" y="5230368"/>
            <a:ext cx="11018520" cy="914400"/>
          </a:xfrm>
          <a:prstGeom prst="roundRect">
            <a:avLst>
              <a:gd name="adj" fmla="val 9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3"/>
          <p:cNvSpPr/>
          <p:nvPr/>
        </p:nvSpPr>
        <p:spPr>
          <a:xfrm>
            <a:off x="822960" y="52303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Recognition modes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017520" y="5230368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mismatch = failure      </a:t>
            </a:r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low confidence → dummy path     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safe debug visibility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Restraint is a feature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54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451" y="231818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Local-first boundary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0" y="20574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vault.bin alone is not meant to be enough for normal recovery when required local state is absent.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5570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51" y="368978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429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restraint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669280" y="34290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UI / CLI flows avoid revealing disclosure structure, recovery behavior, or trial order.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5061387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Best-effort metadata reduction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5669280" y="48006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review and reduction are operational support — not guaranteed sanitization.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→ Bind → Operate → Disclose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313432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6203" y="24644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local vessel and define the operational context before field use.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2044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38144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694176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184648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419" y="2464491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4176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3694176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passphrase recovery with local state and the object-cue gate.</a:t>
            </a:r>
            <a:endParaRPr lang="en-US" sz="17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520440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565392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Shape 14"/>
          <p:cNvSpPr/>
          <p:nvPr/>
        </p:nvSpPr>
        <p:spPr>
          <a:xfrm>
            <a:off x="8055864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635" y="246449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65392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</a:t>
            </a:r>
            <a:endParaRPr lang="en-US" sz="2100" dirty="0"/>
          </a:p>
        </p:txBody>
      </p:sp>
      <p:sp>
        <p:nvSpPr>
          <p:cNvPr id="23" name="Text 16"/>
          <p:cNvSpPr/>
          <p:nvPr/>
        </p:nvSpPr>
        <p:spPr>
          <a:xfrm>
            <a:off x="6565392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CLI, TUI, or local WebUI while keeping visible surfaces restrained.</a:t>
            </a:r>
            <a:endParaRPr lang="en-US" sz="17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3520440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180576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9436608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000" dirty="0"/>
          </a:p>
        </p:txBody>
      </p:sp>
      <p:sp>
        <p:nvSpPr>
          <p:cNvPr id="27" name="Shape 19"/>
          <p:cNvSpPr/>
          <p:nvPr/>
        </p:nvSpPr>
        <p:spPr>
          <a:xfrm>
            <a:off x="10927080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9851" y="2464491"/>
            <a:ext cx="337962" cy="33796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36608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</a:t>
            </a:r>
            <a:endParaRPr lang="en-US" sz="2100" dirty="0"/>
          </a:p>
        </p:txBody>
      </p:sp>
      <p:sp>
        <p:nvSpPr>
          <p:cNvPr id="30" name="Text 21"/>
          <p:cNvSpPr/>
          <p:nvPr/>
        </p:nvSpPr>
        <p:spPr>
          <a:xfrm>
            <a:off x="9436608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controlled disclosure under documented assumptions and residual risk.</a:t>
            </a:r>
            <a:endParaRPr lang="en-US" sz="1700" dirty="0"/>
          </a:p>
        </p:txBody>
      </p:sp>
      <p:sp>
        <p:nvSpPr>
          <p:cNvPr id="31" name="Text 2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Small, local, boring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86384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password-based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19272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21323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3538728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71616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45936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21323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6291072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WebUI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823960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98280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981" y="21323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25128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 Zero 2 W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9043416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field-evaluation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66928" y="4343400"/>
            <a:ext cx="11018520" cy="960120"/>
          </a:xfrm>
          <a:prstGeom prst="roundRect">
            <a:avLst>
              <a:gd name="adj" fmla="val 857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4343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KDF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(m=32768, t=2, p=1)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access-key mixing  +  device-bind (CPU serial)  →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per-record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(salt + nonce, AAD, no plaintext header · v3)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Python 3.10+    Interfaces CLI · TUI · local WebUI    License Apache-2.0    Ver v0.6.0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appliance that hides in plain sight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310896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3108960" cy="4142232"/>
          </a:xfrm>
          <a:prstGeom prst="roundRect">
            <a:avLst>
              <a:gd name="adj" fmla="val 1471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77640" y="1874520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60520" y="20116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174" y="2124334"/>
            <a:ext cx="286756" cy="2867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965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Zero 2 W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77240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compute; the WebUI never needs the network.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2734056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0520" y="2871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74" y="2983870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82549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 module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0" y="2825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object cue ("Faces") that gates operation.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3977640" y="3593592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160520" y="37307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174" y="3843406"/>
            <a:ext cx="286756" cy="2867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92040" y="368503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3D-printed enclosure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772400" y="3685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and unremarkable — reads as a small gadget.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3977640" y="4453128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160520" y="459028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174" y="4702942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92040" y="454456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USB-gadget WebUI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772400" y="45445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over USB at 127.0.0.1, not over any LAN.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3977640" y="5312664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160520" y="54498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3174" y="5562478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540410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 tripod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772400" y="54041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an everyday object to the lens on demand.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CRYPTOGRAPHIC CORE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 v3 record &amp; key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KDF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64208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memory_cost=32768 · iterations=2 · lanes=1 (tuned for Pi Zero 2 W). Fresh random salt per record.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723" y="222674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96912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296912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access.bin is mixed into derivation — copying vault.bin alone is insufficient.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3570915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binding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64208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identifiers (CPU serial, revision) feed the KDF pipeline.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99632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723" y="3570915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9691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external secret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296912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PHASMID_HARDWARE_SECRET_FILE / _PROMPT adds a third factor for retrieval.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66928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019" y="4915083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64208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 record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664208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nonce + AAD phasmid-record-v3:&lt;mode&gt;:&lt;role&gt;:&lt;size&gt;; tamper → InvalidTag.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199632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73952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723" y="4915083"/>
            <a:ext cx="337962" cy="3379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96912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plaintext marker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7296912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vault.bin has no magic/header; AEAD-authenticated encrypted metadata.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66928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 self-tests verify AES-GCM, HMAC-SHA-256, and RNG before normal operation.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GUARDS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WebUI &amp; access controls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2115190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 binding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27048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binds 127.0.0.1 by default; USB-gadget only otherwise.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318" y="2115190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Per-process token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59752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require X-Phasmid-Token; rotatable via restricted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3185038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 confirmation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27048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cookie, 120 s TTL, IP-bound, + typed confirmation phrase.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99632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55664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318" y="3185038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limiter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59752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after 5 failures / 60 s (configurable), per client.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66928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614" y="4254886"/>
            <a:ext cx="286756" cy="2867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1527048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 / 60 s per client; excess returns HTTP 429.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99632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55664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318" y="4254886"/>
            <a:ext cx="286756" cy="2867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59752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Inactivity auto-kill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159752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TUI-managed WebUI terminates after 10 min idle; exposure banner shown.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66928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22960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614" y="5324734"/>
            <a:ext cx="286756" cy="2867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27048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Hardened headers</a:t>
            </a:r>
            <a:endParaRPr lang="en-US" sz="1600" dirty="0"/>
          </a:p>
        </p:txBody>
      </p:sp>
      <p:sp>
        <p:nvSpPr>
          <p:cNvPr id="38" name="Text 29"/>
          <p:cNvSpPr/>
          <p:nvPr/>
        </p:nvSpPr>
        <p:spPr>
          <a:xfrm>
            <a:off x="1527048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frame-ancestors none · no-store · X-Frame-Options · nosniff.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6199632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6455664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8318" y="5324734"/>
            <a:ext cx="286756" cy="2867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59752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Opt-in audit log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7159752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events.log: op/timestamp/length only, HMAC-SHA-256 chained.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ETHICS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will and won't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 behaviors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controlled disclosure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Privacy-preserving standby transitions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Ambiguity-preserving workflows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Configurable hotkey-triggered standby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Operator-supplied disclosure material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Local free-space reports</a:t>
            </a:r>
          </a:p>
        </p:txBody>
      </p:sp>
      <p:sp>
        <p:nvSpPr>
          <p:cNvPr id="8" name="Shape 5"/>
          <p:cNvSpPr/>
          <p:nvPr/>
        </p:nvSpPr>
        <p:spPr>
          <a:xfrm>
            <a:off x="6199632" y="178308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Disallowed by design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47104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Rootkits / kernel-level hiding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process persistence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Forensic-tool bypass or interference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system-event fabrication / timestamp forgery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Anti-forensic metadata tampering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66928" y="5742432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destroys but never fabricates — and under coercion the restricted credential destroys rather than discloses. Owner-triggered destruction is real and legally hazardous; the operator decides and bears the risk.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Scope, honestly drawn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in / out of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Software-existence concealment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0446" y="2724912"/>
            <a:ext cx="5431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E565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00446" y="2724912"/>
            <a:ext cx="543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Data-existence deniability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2002" y="3474720"/>
            <a:ext cx="901598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F0A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2002" y="3474720"/>
            <a:ext cx="9015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1513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disclosure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93946" y="4224528"/>
            <a:ext cx="13496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3946" y="4224528"/>
            <a:ext cx="13496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central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011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Coercion-aware fallback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5501" y="4974336"/>
            <a:ext cx="1708099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5501" y="4974336"/>
            <a:ext cx="17080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operational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claimed</a:t>
            </a:r>
            <a:endParaRPr lang="en-US" sz="1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9748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40880" y="2642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deniability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4728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0" y="339242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immunity</a:t>
            </a:r>
            <a:endParaRPr lang="en-US" sz="1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40880" y="414223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deletion on flash media</a:t>
            </a:r>
            <a:endParaRPr lang="en-US" sz="18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94690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40880" y="489204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from a compromised host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66928" y="6089904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documented boundary — no snake oil. Judging your cover story stays your job.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3317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76656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Disclosure Control — on real hardware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76656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file → Two objects, two passwords, two files → Refused, both ways → Compelled → Gone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76656" y="5029200"/>
            <a:ext cx="1078992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166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hardware misbehaves, I'll narrate over the recorded run — the design points stand either way.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container, two passwords, two files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585216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5852160" cy="3968496"/>
          </a:xfrm>
          <a:prstGeom prst="roundRect">
            <a:avLst>
              <a:gd name="adj" fmla="val 1152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797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TUI + local WebUI — Local Disclosure Control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29400" y="24688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container — no header, no magic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Store two files, two passwords, two objects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First object + password → the first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Second object + password → a different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Object taken away → same tab, same password → refused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Audit, then Silent Standby</a:t>
            </a:r>
          </a:p>
        </p:txBody>
      </p:sp>
      <p:sp>
        <p:nvSpPr>
          <p:cNvPr id="9" name="Text 6"/>
          <p:cNvSpPr/>
          <p:nvPr/>
        </p:nvSpPr>
        <p:spPr>
          <a:xfrm>
            <a:off x="66294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bar  Open · New · Guided · Expert · Quit · WebUI   (Expert adds Audit)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start — repo-local &amp; simple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6766560" cy="2743200"/>
          </a:xfrm>
          <a:prstGeom prst="roundRect">
            <a:avLst>
              <a:gd name="adj" fmla="val 3000"/>
            </a:avLst>
          </a:prstGeom>
          <a:solidFill>
            <a:srgbClr val="0A0F0D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https://github.com/01rabbit/Phasmid.git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Phasmid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./phasmid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a venv, installs deps, and opens the TUI Operator Console.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16368" y="192024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2212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6676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boundary notice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880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is research software. Evaluate it in controlled, local, field-test conditions — not as production-grade protection.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pPr indent="0" marL="0">
              <a:buNone/>
            </a:pPr>
            <a:r>
              <a:rPr lang="en-US" sz="15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 · THREAT_MODEL · JANUS_EIDOLON_SYSTEM · COERCION_SAFE_DELAYING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868680"/>
            <a:ext cx="3383280" cy="3977640"/>
          </a:xfrm>
          <a:prstGeom prst="roundRect">
            <a:avLst>
              <a:gd name="adj" fmla="val 5405"/>
            </a:avLst>
          </a:prstGeom>
          <a:solidFill>
            <a:srgbClr val="16211B"/>
          </a:solidFill>
          <a:ln w="31750">
            <a:solidFill>
              <a:srgbClr val="7EC46B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09728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838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at the table →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come break it.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03504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storage. Honest limits included.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03504" y="3383280"/>
            <a:ext cx="74980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3611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732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280160" y="392277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threat model · architecture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3504" y="445312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5738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416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280160" y="47640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&amp; releases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3504" y="529437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541507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5257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in/makoto-sugita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1280160" y="56052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Makoto Sugita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66928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· Mr.Rabbit · GMO Cybersecurity by Ierae ·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Phasmid — Janus Eidolon System (DEF CON Demo Labs)</dc:title>
  <dc:subject>PptxGenJS Presentation</dc:subject>
  <dc:creator>Makoto Sugita (Mr.Rabbit / 01rabbit)</dc:creator>
  <cp:lastModifiedBy>Makoto Sugita (Mr.Rabbit / 01rabbit)</cp:lastModifiedBy>
  <cp:revision>1</cp:revision>
  <dcterms:created xsi:type="dcterms:W3CDTF">2026-07-21T16:42:37Z</dcterms:created>
  <dcterms:modified xsi:type="dcterms:W3CDTF">2026-07-21T16:42:37Z</dcterms:modified>
</cp:coreProperties>
</file>