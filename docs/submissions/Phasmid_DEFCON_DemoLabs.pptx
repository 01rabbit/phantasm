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[00:00 / 0:30] TITLE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200"/>
              <a:t>【読み方】</a:t>
            </a:r>
          </a:p>
          <a:p>
            <a:r>
              <a:rPr b="0" sz="1200"/>
              <a:t>・英文1行＝1息。行末で必ず一度切る。</a:t>
            </a:r>
          </a:p>
          <a:p>
            <a:r>
              <a:rPr b="0" sz="120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 sz="1200"/>
              <a:t>・カタカナは普段のカタカナ語のまま。無理に英語風に崩していない。</a:t>
            </a:r>
          </a:p>
          <a:p>
            <a:r>
              <a:rPr b="0" sz="1200"/>
              <a:t>・ゥ付き（ゥロング／ゥライト／コゥレクト）は3語だけ。そのまま読むと long／light／collect に聞こえるため。</a:t>
            </a:r>
          </a:p>
          <a:p>
            <a:r>
              <a:rPr b="0" sz="1200"/>
              <a:t>・ヴ＝V（ヴォルト=vault。ボルト=bolt と区別）。 ス・ズ＝th。</a:t>
            </a:r>
          </a:p>
          <a:p>
            <a:r>
              <a:rPr b="0" sz="1700"/>
              <a:t/>
            </a:r>
          </a:p>
          <a:p>
            <a:r>
              <a:rPr b="0" sz="1700"/>
              <a:t>“Hi. Thank you for coming.</a:t>
            </a:r>
          </a:p>
          <a:p>
            <a:r>
              <a:rPr b="0" sz="1700"/>
              <a:t>  </a:t>
            </a:r>
            <a:r>
              <a:rPr b="1" sz="1700"/>
              <a:t>ハイ</a:t>
            </a:r>
            <a:r>
              <a:rPr b="0" sz="1700"/>
              <a:t>。 サンキュー フォー </a:t>
            </a:r>
            <a:r>
              <a:rPr b="1" sz="1700"/>
              <a:t>カミング</a:t>
            </a:r>
            <a:r>
              <a:rPr b="0" sz="1700"/>
              <a:t>。</a:t>
            </a:r>
          </a:p>
          <a:p>
            <a:r>
              <a:rPr b="0" sz="1700"/>
              <a:t>This is Phasmid.</a:t>
            </a:r>
          </a:p>
          <a:p>
            <a:r>
              <a:rPr b="0" sz="1700"/>
              <a:t>  ディス イズ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It’s the reference build of the Janus Eidolon System.</a:t>
            </a:r>
          </a:p>
          <a:p>
            <a:r>
              <a:rPr b="0" sz="1700"/>
              <a:t>  イッツ ザ レファレンス ビルド オヴ ザ </a:t>
            </a:r>
            <a:r>
              <a:rPr b="1" sz="1700"/>
              <a:t>ジェイナス アイドウロン システム</a:t>
            </a:r>
            <a:r>
              <a:rPr b="0" sz="1700"/>
              <a:t>。</a:t>
            </a:r>
          </a:p>
          <a:p>
            <a:r>
              <a:rPr b="0" sz="1700"/>
              <a:t>Storage that stays local — and expects coercion.</a:t>
            </a:r>
          </a:p>
          <a:p>
            <a:r>
              <a:rPr b="0" sz="1700"/>
              <a:t>  ストレージ ザット ステイズ </a:t>
            </a:r>
            <a:r>
              <a:rPr b="1" sz="1700"/>
              <a:t>ローカル</a:t>
            </a:r>
            <a:r>
              <a:rPr b="0" sz="1700"/>
              <a:t> — アンド イクスペクツ コアージョン。</a:t>
            </a:r>
          </a:p>
          <a:p>
            <a:r>
              <a:rPr b="0" sz="1700"/>
              <a:t>It’s built for one moment.</a:t>
            </a:r>
          </a:p>
          <a:p>
            <a:r>
              <a:rPr b="0" sz="1700"/>
              <a:t>  イッツ ビルト フォー </a:t>
            </a:r>
            <a:r>
              <a:rPr b="1" sz="1700"/>
              <a:t>ワン モウメント</a:t>
            </a:r>
            <a:r>
              <a:rPr b="0" sz="1700"/>
              <a:t>。</a:t>
            </a:r>
          </a:p>
          <a:p>
            <a:r>
              <a:rPr b="0" sz="1700"/>
              <a:t>Someone has your device… and they have you.</a:t>
            </a:r>
          </a:p>
          <a:p>
            <a:r>
              <a:rPr b="0" sz="1700"/>
              <a:t>  サムワン ハズ ユア </a:t>
            </a:r>
            <a:r>
              <a:rPr b="1" sz="1700"/>
              <a:t>デバイス</a:t>
            </a:r>
            <a:r>
              <a:rPr b="0" sz="1700"/>
              <a:t>… アンド ゼイ ハヴ </a:t>
            </a:r>
            <a:r>
              <a:rPr b="1" sz="1700"/>
              <a:t>ユー</a:t>
            </a:r>
            <a:r>
              <a:rPr b="0" sz="1700"/>
              <a:t>。</a:t>
            </a:r>
          </a:p>
          <a:p>
            <a:r>
              <a:rPr b="0" sz="1700"/>
              <a:t>I’m Makoto Sugita, from GMO Cybersecurity by Ierae, in Tokyo.</a:t>
            </a:r>
          </a:p>
          <a:p>
            <a:r>
              <a:rPr b="0" sz="1700"/>
              <a:t>  アイム </a:t>
            </a:r>
            <a:r>
              <a:rPr b="1" sz="1700"/>
              <a:t>マコト スギタ</a:t>
            </a:r>
            <a:r>
              <a:rPr b="0" sz="1700"/>
              <a:t>、 フロム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Online — Mr. Rabbit.”</a:t>
            </a:r>
          </a:p>
          <a:p>
            <a:r>
              <a:rPr b="0" sz="1700"/>
              <a:t>  オンライン — </a:t>
            </a:r>
            <a:r>
              <a:rPr b="1" sz="1700"/>
              <a:t>ミスター ラビット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[00:30 / 1:00] WHOAMI — 発話 0:45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“Quick background.</a:t>
            </a:r>
          </a:p>
          <a:p>
            <a:r>
              <a:rPr b="0" sz="1700"/>
              <a:t>  クイック </a:t>
            </a:r>
            <a:r>
              <a:rPr b="1" sz="1700"/>
              <a:t>バックグラウンド</a:t>
            </a:r>
            <a:r>
              <a:rPr b="0" sz="1700"/>
              <a:t>。</a:t>
            </a:r>
          </a:p>
          <a:p>
            <a:r>
              <a:rPr b="0" sz="1700"/>
              <a:t>I’m a senior engineer at GMO Cybersecurity by Ierae, in Tokyo.</a:t>
            </a:r>
          </a:p>
          <a:p>
            <a:r>
              <a:rPr b="0" sz="1700"/>
              <a:t>  アイム ア </a:t>
            </a:r>
            <a:r>
              <a:rPr b="1" sz="1700"/>
              <a:t>シニア エンジニア</a:t>
            </a:r>
            <a:r>
              <a:rPr b="0" sz="1700"/>
              <a:t> アット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I work in the SOC. Defence, every day.</a:t>
            </a:r>
          </a:p>
          <a:p>
            <a:r>
              <a:rPr b="0" sz="1700"/>
              <a:t>  アイ ワーク イン ザ </a:t>
            </a:r>
            <a:r>
              <a:rPr b="1" sz="1700"/>
              <a:t>エス オー シー</a:t>
            </a:r>
            <a:r>
              <a:rPr b="0" sz="1700"/>
              <a:t>。 </a:t>
            </a:r>
            <a:r>
              <a:rPr b="1" sz="1700"/>
              <a:t>ディフェンス</a:t>
            </a:r>
            <a:r>
              <a:rPr b="0" sz="1700"/>
              <a:t>、 エヴリ デイ。</a:t>
            </a:r>
          </a:p>
          <a:p>
            <a:r>
              <a:rPr b="0" sz="1700"/>
              <a:t>Before that — a penetration tester. CISSP.</a:t>
            </a:r>
          </a:p>
          <a:p>
            <a:r>
              <a:rPr b="0" sz="1700"/>
              <a:t>  ビフォー ザット — ア </a:t>
            </a:r>
            <a:r>
              <a:rPr b="1" sz="1700"/>
              <a:t>ペネトレイション テスター</a:t>
            </a:r>
            <a:r>
              <a:rPr b="0" sz="1700"/>
              <a:t>。 シー アイ エス エス ピー。</a:t>
            </a:r>
          </a:p>
          <a:p>
            <a:r>
              <a:rPr b="0" sz="1700"/>
              <a:t>And before that, in uniform — a Japan Ground Self-Defense Force officer, in a cyber unit.</a:t>
            </a:r>
          </a:p>
          <a:p>
            <a:r>
              <a:rPr b="0" sz="1700"/>
              <a:t>  アンド ビフォー ザット、 イン </a:t>
            </a:r>
            <a:r>
              <a:rPr b="1" sz="1700"/>
              <a:t>ユニフォーム</a:t>
            </a:r>
            <a:r>
              <a:rPr b="0" sz="1700"/>
              <a:t> — ア ジャパン グラウンド セルフディフェンス フォース </a:t>
            </a:r>
            <a:r>
              <a:rPr b="1" sz="1700"/>
              <a:t>オフィサー</a:t>
            </a:r>
            <a:r>
              <a:rPr b="0" sz="1700"/>
              <a:t>、 イン ア サイバー ユニット。</a:t>
            </a:r>
          </a:p>
          <a:p>
            <a:r>
              <a:rPr b="0" sz="1700"/>
              <a:t>Offensive work taught me the weak link is the person, not the algorithm.</a:t>
            </a:r>
          </a:p>
          <a:p>
            <a:r>
              <a:rPr b="0" sz="1700"/>
              <a:t>  オフェンシヴ ワーク トート ミー ザ ウィーク リンク イズ ザ </a:t>
            </a:r>
            <a:r>
              <a:rPr b="1" sz="1700"/>
              <a:t>パーソン</a:t>
            </a:r>
            <a:r>
              <a:rPr b="0" sz="1700"/>
              <a:t>、 ナット ジ アルゴリズム。</a:t>
            </a:r>
          </a:p>
          <a:p>
            <a:r>
              <a:rPr b="0" sz="1700"/>
              <a:t>So I turn offensive experience into defensive tools.</a:t>
            </a:r>
          </a:p>
          <a:p>
            <a:r>
              <a:rPr b="0" sz="1700"/>
              <a:t>  ソウ アイ ターン オフェンシヴ エクスピアリエンス イントゥ </a:t>
            </a:r>
            <a:r>
              <a:rPr b="1" sz="1700"/>
              <a:t>ディフェンシヴ ツールズ</a:t>
            </a:r>
            <a:r>
              <a:rPr b="0" sz="1700"/>
              <a:t>。</a:t>
            </a:r>
          </a:p>
          <a:p>
            <a:r>
              <a:rPr b="0" sz="1700"/>
              <a:t>Deception. Delay. Coercion-aware design.</a:t>
            </a:r>
          </a:p>
          <a:p>
            <a:r>
              <a:rPr b="0" sz="1700"/>
              <a:t>  ディセプション。 ディレイ。 </a:t>
            </a:r>
            <a:r>
              <a:rPr b="1" sz="1700"/>
              <a:t>コアージョン アウェア デザイン</a:t>
            </a:r>
            <a:r>
              <a:rPr b="0" sz="1700"/>
              <a:t>。</a:t>
            </a:r>
          </a:p>
          <a:p>
            <a:r>
              <a:rPr b="0" sz="1700"/>
              <a:t>Alongside that — security research, and open-source tools.</a:t>
            </a:r>
          </a:p>
          <a:p>
            <a:r>
              <a:rPr b="0" sz="1700"/>
              <a:t>  アロングサイド ザット — セキュリティ </a:t>
            </a:r>
            <a:r>
              <a:rPr b="1" sz="1700"/>
              <a:t>リサーチ</a:t>
            </a:r>
            <a:r>
              <a:rPr b="0" sz="1700"/>
              <a:t>、 アンド </a:t>
            </a:r>
            <a:r>
              <a:rPr b="1" sz="1700"/>
              <a:t>オープンソース ツールズ</a:t>
            </a:r>
            <a:r>
              <a:rPr b="0" sz="1700"/>
              <a:t>。</a:t>
            </a:r>
          </a:p>
          <a:p>
            <a:r>
              <a:rPr b="0" sz="1700"/>
              <a:t>You may know my other work — Azazel, and the PAKURI family.</a:t>
            </a:r>
          </a:p>
          <a:p>
            <a:r>
              <a:rPr b="0" sz="1700"/>
              <a:t>  ユー メイ ノウ マイ アザー ワーク — </a:t>
            </a:r>
            <a:r>
              <a:rPr b="1" sz="1700"/>
              <a:t>アザゼル</a:t>
            </a:r>
            <a:r>
              <a:rPr b="0" sz="1700"/>
              <a:t>、 アンド ザ </a:t>
            </a:r>
            <a:r>
              <a:rPr b="1" sz="1700"/>
              <a:t>パクリ</a:t>
            </a:r>
            <a:r>
              <a:rPr b="0" sz="1700"/>
              <a:t> ファミリー。</a:t>
            </a:r>
          </a:p>
          <a:p>
            <a:r>
              <a:rPr b="0" sz="1700"/>
              <a:t>Black Hat Arsenal. BSides. SecTor. CODE BLUE.</a:t>
            </a:r>
          </a:p>
          <a:p>
            <a:r>
              <a:rPr b="0" sz="1700"/>
              <a:t>  ブラック ハット アーサナル。 ビーサイズ。 セクター。 コウド ブルー。</a:t>
            </a:r>
          </a:p>
          <a:p>
            <a:r>
              <a:rPr b="0" sz="1700"/>
              <a:t>I’m 01rabbit on GitHub.”</a:t>
            </a:r>
          </a:p>
          <a:p>
            <a:r>
              <a:rPr b="0" sz="1700"/>
              <a:t>  アイム </a:t>
            </a:r>
            <a:r>
              <a:rPr b="1" sz="1700"/>
              <a:t>ゼロワン ラビット</a:t>
            </a:r>
            <a:r>
              <a:rPr b="0" sz="1700"/>
              <a:t> オン ギットハブ。</a:t>
            </a:r>
          </a:p>
          <a:p>
            <a:r>
              <a:rPr b="0" sz="1700"/>
              <a:t/>
            </a:r>
          </a:p>
          <a:p>
            <a:r>
              <a:rPr b="0" sz="120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[01:10 / 0:30] AGENDA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the plan for the next half hour.</a:t>
            </a:r>
          </a:p>
          <a:p>
            <a:r>
              <a:rPr b="0" sz="1700"/>
              <a:t>  ヒアズ ザ </a:t>
            </a:r>
            <a:r>
              <a:rPr b="1" sz="1700"/>
              <a:t>プラン</a:t>
            </a:r>
            <a:r>
              <a:rPr b="0" sz="1700"/>
              <a:t> フォー ザ ネクスト ハーフ アウア。</a:t>
            </a:r>
          </a:p>
          <a:p>
            <a:r>
              <a:rPr b="0" sz="1700"/>
              <a:t>First, the problem: compelled access.</a:t>
            </a:r>
          </a:p>
          <a:p>
            <a:r>
              <a:rPr b="0" sz="1700"/>
              <a:t>  ファースト、 ザ プロブレム: </a:t>
            </a:r>
            <a:r>
              <a:rPr b="1" sz="1700"/>
              <a:t>コンペルド アクセス</a:t>
            </a:r>
            <a:r>
              <a:rPr b="0" sz="1700"/>
              <a:t>。</a:t>
            </a:r>
          </a:p>
          <a:p>
            <a:r>
              <a:rPr b="0" sz="1700"/>
              <a:t>Then the core idea — Janus.</a:t>
            </a:r>
          </a:p>
          <a:p>
            <a:r>
              <a:rPr b="0" sz="1700"/>
              <a:t>  ゼン ザ コア アイディア — </a:t>
            </a:r>
            <a:r>
              <a:rPr b="1" sz="1700"/>
              <a:t>ジェイナス</a:t>
            </a:r>
            <a:r>
              <a:rPr b="0" sz="1700"/>
              <a:t>。</a:t>
            </a:r>
          </a:p>
          <a:p>
            <a:r>
              <a:rPr b="0" sz="1700"/>
              <a:t>Then how it works: the object cue, and coercion-safe delay.</a:t>
            </a:r>
          </a:p>
          <a:p>
            <a:r>
              <a:rPr b="0" sz="1700"/>
              <a:t>  ゼン ハウ イット ワークス: ジ </a:t>
            </a:r>
            <a:r>
              <a:rPr b="1" sz="1700"/>
              <a:t>オブジェクト キュー</a:t>
            </a:r>
            <a:r>
              <a:rPr b="0" sz="1700"/>
              <a:t>、 アンド コアージョンセイフ ディレイ。</a:t>
            </a:r>
          </a:p>
          <a:p>
            <a:r>
              <a:rPr b="0" sz="1700"/>
              <a:t>Then under the hood — crypto, guards, and the hardware itself.</a:t>
            </a:r>
          </a:p>
          <a:p>
            <a:r>
              <a:rPr b="0" sz="1700"/>
              <a:t>  ゼン アンダー ザ </a:t>
            </a:r>
            <a:r>
              <a:rPr b="1" sz="1700"/>
              <a:t>フッド</a:t>
            </a:r>
            <a:r>
              <a:rPr b="0" sz="1700"/>
              <a:t> — クリプト、 ガーズ、 アンド ザ ハードウェア イットセルフ。</a:t>
            </a:r>
          </a:p>
          <a:p>
            <a:r>
              <a:rPr b="0" sz="1700"/>
              <a:t>Then the honest limits. Ethics, and scope.</a:t>
            </a:r>
          </a:p>
          <a:p>
            <a:r>
              <a:rPr b="0" sz="1700"/>
              <a:t>  ゼン ジ </a:t>
            </a:r>
            <a:r>
              <a:rPr b="1" sz="1700"/>
              <a:t>オネスト</a:t>
            </a:r>
            <a:r>
              <a:rPr b="0" sz="1700"/>
              <a:t> リミッツ。 エシックス、 アンド スコープ。</a:t>
            </a:r>
          </a:p>
          <a:p>
            <a:r>
              <a:rPr b="0" sz="1700"/>
              <a:t>I finish with a live demo, and how to run it yourself.</a:t>
            </a:r>
          </a:p>
          <a:p>
            <a:r>
              <a:rPr b="0" sz="1700"/>
              <a:t>  アイ フィニッシュ ウィズ ア </a:t>
            </a:r>
            <a:r>
              <a:rPr b="1" sz="1700"/>
              <a:t>ライヴ デモ</a:t>
            </a:r>
            <a:r>
              <a:rPr b="0" sz="1700"/>
              <a:t>、 アンド ハウ トゥ ラン イット ユアセルフ。</a:t>
            </a:r>
          </a:p>
          <a:p>
            <a:r>
              <a:rPr b="0" sz="1700"/>
              <a:t>And I’ll keep time for questions at the end.”</a:t>
            </a:r>
          </a:p>
          <a:p>
            <a:r>
              <a:rPr b="0" sz="1700"/>
              <a:t>  アンド アイル キープ </a:t>
            </a:r>
            <a:r>
              <a:rPr b="1" sz="1700"/>
              <a:t>タイム</a:t>
            </a:r>
            <a:r>
              <a:rPr b="0" sz="1700"/>
              <a:t> フォー クエスチョンズ アット ジ エンド。</a:t>
            </a:r>
          </a:p>
          <a:p>
            <a:r>
              <a:rPr b="0" sz="1700"/>
              <a:t/>
            </a:r>
          </a:p>
          <a:p>
            <a:r>
              <a:rPr b="0" sz="120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[01:40 / 1:00] THE PROBLEM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what Phasmid is built for.</a:t>
            </a:r>
          </a:p>
          <a:p>
            <a:r>
              <a:rPr b="0" sz="1700"/>
              <a:t>  ヒアズ ワット </a:t>
            </a:r>
            <a:r>
              <a:rPr b="1" sz="1700"/>
              <a:t>ファズミッド</a:t>
            </a:r>
            <a:r>
              <a:rPr b="0" sz="1700"/>
              <a:t> イズ ビルト フォー。</a:t>
            </a:r>
          </a:p>
          <a:p>
            <a:r>
              <a:rPr b="0" sz="1700"/>
              <a:t>Attackers today don’t break your crypto.</a:t>
            </a:r>
          </a:p>
          <a:p>
            <a:r>
              <a:rPr b="0" sz="1700"/>
              <a:t>  アタッカーズ トゥデイ ドウント ブレイク ユア </a:t>
            </a:r>
            <a:r>
              <a:rPr b="1" sz="1700"/>
              <a:t>クリプト</a:t>
            </a:r>
            <a:r>
              <a:rPr b="0" sz="1700"/>
              <a:t>。</a:t>
            </a:r>
          </a:p>
          <a:p>
            <a:r>
              <a:rPr b="0" sz="1700"/>
              <a:t>They take the device.</a:t>
            </a:r>
          </a:p>
          <a:p>
            <a:r>
              <a:rPr b="0" sz="1700"/>
              <a:t>  ゼイ テイク ザ </a:t>
            </a:r>
            <a:r>
              <a:rPr b="1" sz="1700"/>
              <a:t>デバイス</a:t>
            </a:r>
            <a:r>
              <a:rPr b="0" sz="1700"/>
              <a:t>。</a:t>
            </a:r>
          </a:p>
          <a:p>
            <a:r>
              <a:rPr b="0" sz="1700"/>
              <a:t>At a border. At a checkpoint. At an arrest.</a:t>
            </a:r>
          </a:p>
          <a:p>
            <a:r>
              <a:rPr b="0" sz="1700"/>
              <a:t>  アッタ </a:t>
            </a:r>
            <a:r>
              <a:rPr b="1" sz="1700"/>
              <a:t>ボーダー</a:t>
            </a:r>
            <a:r>
              <a:rPr b="0" sz="1700"/>
              <a:t>。 アッタ </a:t>
            </a:r>
            <a:r>
              <a:rPr b="1" sz="1700"/>
              <a:t>チェックポイント</a:t>
            </a:r>
            <a:r>
              <a:rPr b="0" sz="1700"/>
              <a:t>。 アッタン </a:t>
            </a:r>
            <a:r>
              <a:rPr b="1" sz="1700"/>
              <a:t>アレスト</a:t>
            </a:r>
            <a:r>
              <a:rPr b="0" sz="1700"/>
              <a:t>。</a:t>
            </a:r>
          </a:p>
          <a:p>
            <a:r>
              <a:rPr b="0" sz="1700"/>
              <a:t>And then they ask you to unlock it.</a:t>
            </a:r>
          </a:p>
          <a:p>
            <a:r>
              <a:rPr b="0" sz="1700"/>
              <a:t>  アンド ゼン ゼイ アスク ユー トゥ </a:t>
            </a:r>
            <a:r>
              <a:rPr b="1" sz="1700"/>
              <a:t>アンロック</a:t>
            </a:r>
            <a:r>
              <a:rPr b="0" sz="1700"/>
              <a:t> イット。</a:t>
            </a:r>
          </a:p>
          <a:p>
            <a:r>
              <a:rPr b="0" sz="1700"/>
              <a:t>Full-disk encryption is all or nothing.</a:t>
            </a:r>
          </a:p>
          <a:p>
            <a:r>
              <a:rPr b="0" sz="1700"/>
              <a:t>  フルディスク インクリプション イズ </a:t>
            </a:r>
            <a:r>
              <a:rPr b="1" sz="1700"/>
              <a:t>オール オア ナッシング</a:t>
            </a:r>
            <a:r>
              <a:rPr b="0" sz="1700"/>
              <a:t>。</a:t>
            </a:r>
          </a:p>
          <a:p>
            <a:r>
              <a:rPr b="0" sz="1700"/>
              <a:t>You open it once, under pressure — and everything is exposed.</a:t>
            </a:r>
          </a:p>
          <a:p>
            <a:r>
              <a:rPr b="0" sz="1700"/>
              <a:t>  ユー オウプン イット </a:t>
            </a:r>
            <a:r>
              <a:rPr b="1" sz="1700"/>
              <a:t>ワンス</a:t>
            </a:r>
            <a:r>
              <a:rPr b="0" sz="1700"/>
              <a:t>、 アンダー プレッシャー — アンド </a:t>
            </a:r>
            <a:r>
              <a:rPr b="1" sz="1700"/>
              <a:t>エヴリシング</a:t>
            </a:r>
            <a:r>
              <a:rPr b="0" sz="1700"/>
              <a:t> イズ エクスポウズド。</a:t>
            </a:r>
          </a:p>
          <a:p>
            <a:r>
              <a:rPr b="0" sz="1700"/>
              <a:t>That’s over-disclosure.”</a:t>
            </a:r>
          </a:p>
          <a:p>
            <a:r>
              <a:rPr b="0" sz="1700"/>
              <a:t>  ザッツ </a:t>
            </a:r>
            <a:r>
              <a:rPr b="1" sz="1700"/>
              <a:t>オウヴァー ディスクロージャー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[02:40 / 0:30] MEME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“So you get three bad options.</a:t>
            </a:r>
          </a:p>
          <a:p>
            <a:r>
              <a:rPr b="0" sz="1700"/>
              <a:t>  ソウ ユー ゲット </a:t>
            </a:r>
            <a:r>
              <a:rPr b="1" sz="1700"/>
              <a:t>スリー バッド オプションズ</a:t>
            </a:r>
            <a:r>
              <a:rPr b="0" sz="1700"/>
              <a:t>。</a:t>
            </a:r>
          </a:p>
          <a:p>
            <a:r>
              <a:rPr b="0" sz="1700"/>
              <a:t>Refuse — and you escalate.</a:t>
            </a:r>
          </a:p>
          <a:p>
            <a:r>
              <a:rPr b="0" sz="1700"/>
              <a:t>  </a:t>
            </a:r>
            <a:r>
              <a:rPr b="1" sz="1700"/>
              <a:t>リフューズ</a:t>
            </a:r>
            <a:r>
              <a:rPr b="0" sz="1700"/>
              <a:t> — アンド ユー </a:t>
            </a:r>
            <a:r>
              <a:rPr b="1" sz="1700"/>
              <a:t>エスカレイト</a:t>
            </a:r>
            <a:r>
              <a:rPr b="0" sz="1700"/>
              <a:t>。</a:t>
            </a:r>
          </a:p>
          <a:p>
            <a:r>
              <a:rPr b="0" sz="1700"/>
              <a:t>Comply, with full-disk encryption — and you hand over everything.</a:t>
            </a:r>
          </a:p>
          <a:p>
            <a:r>
              <a:rPr b="0" sz="1700"/>
              <a:t>  </a:t>
            </a:r>
            <a:r>
              <a:rPr b="1" sz="1700"/>
              <a:t>コンプライ</a:t>
            </a:r>
            <a:r>
              <a:rPr b="0" sz="1700"/>
              <a:t>、 ウィズ フルディスク インクリプション — アンド ユー ハンド オウヴァー </a:t>
            </a:r>
            <a:r>
              <a:rPr b="1" sz="1700"/>
              <a:t>エヴリシング</a:t>
            </a:r>
            <a:r>
              <a:rPr b="0" sz="1700"/>
              <a:t>。</a:t>
            </a:r>
          </a:p>
          <a:p>
            <a:r>
              <a:rPr b="0" sz="1700"/>
              <a:t>Or… controlled disclosure.</a:t>
            </a:r>
          </a:p>
          <a:p>
            <a:r>
              <a:rPr b="0" sz="1700"/>
              <a:t>  オア… </a:t>
            </a:r>
            <a:r>
              <a:rPr b="1" sz="1700"/>
              <a:t>コントロールド ディスクロージャー</a:t>
            </a:r>
            <a:r>
              <a:rPr b="0" sz="1700"/>
              <a:t>。</a:t>
            </a:r>
          </a:p>
          <a:p>
            <a:r>
              <a:rPr b="0" sz="1700"/>
              <a:t>Show what’s visible. Protect the rest.</a:t>
            </a:r>
          </a:p>
          <a:p>
            <a:r>
              <a:rPr b="0" sz="1700"/>
              <a:t>  ショウ ワッツ </a:t>
            </a:r>
            <a:r>
              <a:rPr b="1" sz="1700"/>
              <a:t>ヴィジブル</a:t>
            </a:r>
            <a:r>
              <a:rPr b="0" sz="1700"/>
              <a:t>。 プロテクト ザ </a:t>
            </a:r>
            <a:r>
              <a:rPr b="1" sz="1700"/>
              <a:t>レスト</a:t>
            </a:r>
            <a:r>
              <a:rPr b="0" sz="1700"/>
              <a:t>。</a:t>
            </a:r>
          </a:p>
          <a:p>
            <a:r>
              <a:rPr b="0" sz="1700"/>
              <a:t>Same demand. Very different blast radius.”</a:t>
            </a:r>
          </a:p>
          <a:p>
            <a:r>
              <a:rPr b="0" sz="1700"/>
              <a:t>  セイム </a:t>
            </a:r>
            <a:r>
              <a:rPr b="1" sz="1700"/>
              <a:t>ディマンド</a:t>
            </a:r>
            <a:r>
              <a:rPr b="0" sz="1700"/>
              <a:t>。 ヴェリー ディファレント </a:t>
            </a:r>
            <a:r>
              <a:rPr b="1" sz="1700"/>
              <a:t>ブラスト レイディアス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[03:10 / 0:50] WHAT IT IS / ISN'T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“Let me be precise.</a:t>
            </a:r>
          </a:p>
          <a:p>
            <a:r>
              <a:rPr b="0" sz="1700"/>
              <a:t>  レット ミー ビー </a:t>
            </a:r>
            <a:r>
              <a:rPr b="1" sz="1700"/>
              <a:t>プリサイス</a:t>
            </a:r>
            <a:r>
              <a:rPr b="0" sz="1700"/>
              <a:t>。</a:t>
            </a:r>
          </a:p>
          <a:p>
            <a:r>
              <a:rPr b="0" sz="1700"/>
              <a:t>Phasmid is a field-evaluation research prototype for disclosure control.</a:t>
            </a:r>
          </a:p>
          <a:p>
            <a:r>
              <a:rPr b="0" sz="1700"/>
              <a:t>  ファズミッド イズ ア フィールド イヴァリュエイション リサーチ </a:t>
            </a:r>
            <a:r>
              <a:rPr b="1" sz="1700"/>
              <a:t>プロウトタイプ</a:t>
            </a:r>
            <a:r>
              <a:rPr b="0" sz="1700"/>
              <a:t> フォー ディスクロージャー コントロール。</a:t>
            </a:r>
          </a:p>
          <a:p>
            <a:r>
              <a:rPr b="0" sz="1700"/>
              <a:t>Local-only by default. Not casual file encryption.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 バイ ディフォルト。 </a:t>
            </a:r>
            <a:r>
              <a:rPr b="1" sz="1700"/>
              <a:t>ナット</a:t>
            </a:r>
            <a:r>
              <a:rPr b="0" sz="1700"/>
              <a:t> キャジュアル ファイル インクリプション。</a:t>
            </a:r>
          </a:p>
          <a:p>
            <a:r>
              <a:rPr b="0" sz="1700"/>
              <a:t>And it is not a replacement for audited full-disk encryption.</a:t>
            </a:r>
          </a:p>
          <a:p>
            <a:r>
              <a:rPr b="0" sz="1700"/>
              <a:t>  アンド イット イズ </a:t>
            </a:r>
            <a:r>
              <a:rPr b="1" sz="1700"/>
              <a:t>ナット</a:t>
            </a:r>
            <a:r>
              <a:rPr b="0" sz="1700"/>
              <a:t> ア リプレイスメント フォー オーディティッド フルディスク インクリプション。</a:t>
            </a:r>
          </a:p>
          <a:p>
            <a:r>
              <a:rPr b="0" sz="1700"/>
              <a:t>Not hardware-backed keys.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ハードウェアバックト キーズ。</a:t>
            </a:r>
          </a:p>
          <a:p>
            <a:r>
              <a:rPr b="0" sz="1700"/>
              <a:t>Not a magic delete button.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マジック ディリート バトゥン。</a:t>
            </a:r>
          </a:p>
          <a:p>
            <a:r>
              <a:rPr b="0" sz="1700"/>
              <a:t>Not a complete answer to compelled disclosure.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コンプリート アンサー トゥ コンペルド ディスクロージャー。</a:t>
            </a:r>
          </a:p>
          <a:p>
            <a:r>
              <a:rPr b="0" sz="1700"/>
              <a:t>I’ll keep drawing that line, the whole way through.”</a:t>
            </a:r>
          </a:p>
          <a:p>
            <a:r>
              <a:rPr b="0" sz="1700"/>
              <a:t>  アイル キープ ドローイング </a:t>
            </a:r>
            <a:r>
              <a:rPr b="1" sz="1700"/>
              <a:t>ザット ライン</a:t>
            </a:r>
            <a:r>
              <a:rPr b="0" sz="1700"/>
              <a:t>、 ザ ホウル ウェイ スルー。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[04:00 / 1:10] CORE IDEA — JANUS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core idea is Janus. Two faces.</a:t>
            </a:r>
          </a:p>
          <a:p>
            <a:r>
              <a:rPr b="0" sz="1700"/>
              <a:t>  ザ コア アイディア イズ </a:t>
            </a:r>
            <a:r>
              <a:rPr b="1" sz="1700"/>
              <a:t>ジェイナス</a:t>
            </a:r>
            <a:r>
              <a:rPr b="0" sz="1700"/>
              <a:t>。 </a:t>
            </a:r>
            <a:r>
              <a:rPr b="1" sz="1700"/>
              <a:t>トゥー フェイシズ</a:t>
            </a:r>
            <a:r>
              <a:rPr b="0" sz="1700"/>
              <a:t>。</a:t>
            </a:r>
          </a:p>
          <a:p>
            <a:r>
              <a:rPr b="0" sz="1700"/>
              <a:t>A two-slot model.</a:t>
            </a:r>
          </a:p>
          <a:p>
            <a:r>
              <a:rPr b="0" sz="1700"/>
              <a:t>  ア </a:t>
            </a:r>
            <a:r>
              <a:rPr b="1" sz="1700"/>
              <a:t>トゥースロット</a:t>
            </a:r>
            <a:r>
              <a:rPr b="0" sz="1700"/>
              <a:t> モデル。</a:t>
            </a:r>
          </a:p>
          <a:p>
            <a:r>
              <a:rPr b="0" sz="1700"/>
              <a:t>Slot A is what the visible surface shows.</a:t>
            </a:r>
          </a:p>
          <a:p>
            <a:r>
              <a:rPr b="0" sz="1700"/>
              <a:t>  スロット </a:t>
            </a:r>
            <a:r>
              <a:rPr b="1" sz="1700"/>
              <a:t>エイ</a:t>
            </a:r>
            <a:r>
              <a:rPr b="0" sz="1700"/>
              <a:t> イズ ワット ザ ヴィジブル サーフィス ショウズ。</a:t>
            </a:r>
          </a:p>
          <a:p>
            <a:r>
              <a:rPr b="0" sz="1700"/>
              <a:t>Plausible. Ordinary. Disclosed under pressure.</a:t>
            </a:r>
          </a:p>
          <a:p>
            <a:r>
              <a:rPr b="0" sz="1700"/>
              <a:t>  </a:t>
            </a:r>
            <a:r>
              <a:rPr b="1" sz="1700"/>
              <a:t>プローザブル</a:t>
            </a:r>
            <a:r>
              <a:rPr b="0" sz="1700"/>
              <a:t>。 </a:t>
            </a:r>
            <a:r>
              <a:rPr b="1" sz="1700"/>
              <a:t>オーディナリー</a:t>
            </a:r>
            <a:r>
              <a:rPr b="0" sz="1700"/>
              <a:t>。 ディスクロウズド アンダー プレッシャー。</a:t>
            </a:r>
          </a:p>
          <a:p>
            <a:r>
              <a:rPr b="0" sz="1700"/>
              <a:t>Slot B is protected local state. It stays off the visible path.</a:t>
            </a:r>
          </a:p>
          <a:p>
            <a:r>
              <a:rPr b="0" sz="1700"/>
              <a:t>  スロット </a:t>
            </a:r>
            <a:r>
              <a:rPr b="1" sz="1700"/>
              <a:t>ビー</a:t>
            </a:r>
            <a:r>
              <a:rPr b="0" sz="1700"/>
              <a:t> イズ プロテクティッド ローカル ステイト。 イット ステイズ </a:t>
            </a:r>
            <a:r>
              <a:rPr b="1" sz="1700"/>
              <a:t>オフ</a:t>
            </a:r>
            <a:r>
              <a:rPr b="0" sz="1700"/>
              <a:t> ザ ヴィジブル パス。</a:t>
            </a:r>
          </a:p>
          <a:p>
            <a:r>
              <a:rPr b="0" sz="1700"/>
              <a:t>And it’s bound to local conditions — not to a password alone.</a:t>
            </a:r>
          </a:p>
          <a:p>
            <a:r>
              <a:rPr b="0" sz="1700"/>
              <a:t>  アンド イッツ バウンド トゥ </a:t>
            </a:r>
            <a:r>
              <a:rPr b="1" sz="1700"/>
              <a:t>ローカル コンディションズ</a:t>
            </a:r>
            <a:r>
              <a:rPr b="0" sz="1700"/>
              <a:t> — ナット トゥ ア パスワード アロウン。</a:t>
            </a:r>
          </a:p>
          <a:p>
            <a:r>
              <a:rPr b="0" sz="1700"/>
              <a:t>What you show is not all there is.”</a:t>
            </a:r>
          </a:p>
          <a:p>
            <a:r>
              <a:rPr b="0" sz="1700"/>
              <a:t>  ワット ユー ショウ イズ </a:t>
            </a:r>
            <a:r>
              <a:rPr b="1" sz="1700"/>
              <a:t>ナット オール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“Slot A is what you show. Slot B is not on the visible path.”</a:t>
            </a:r>
          </a:p>
          <a:p>
            <a:r>
              <a:rPr b="0" sz="1700"/>
              <a:t>  スロット エイ イズ ワット ユー </a:t>
            </a:r>
            <a:r>
              <a:rPr b="1" sz="1700"/>
              <a:t>ショウ</a:t>
            </a:r>
            <a:r>
              <a:rPr b="0" sz="1700"/>
              <a:t>。 スロット ビー イズ </a:t>
            </a:r>
            <a:r>
              <a:rPr b="1" sz="1700"/>
              <a:t>ナット</a:t>
            </a:r>
            <a:r>
              <a:rPr b="0" sz="1700"/>
              <a:t> オン ザ ヴィジブル パス。</a:t>
            </a:r>
          </a:p>
          <a:p>
            <a:r>
              <a:rPr b="0" sz="1700"/>
              <a:t/>
            </a:r>
          </a:p>
          <a:p>
            <a:r>
              <a:rPr b="0" sz="120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[05:10 / 1:15] ADVERSARY MODEL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“Who does it defend against?</a:t>
            </a:r>
          </a:p>
          <a:p>
            <a:r>
              <a:rPr b="0" sz="1700"/>
              <a:t>  フー ダズ イット </a:t>
            </a:r>
            <a:r>
              <a:rPr b="1" sz="1700"/>
              <a:t>ディフェンド</a:t>
            </a:r>
            <a:r>
              <a:rPr b="0" sz="1700"/>
              <a:t> アゲンスト?</a:t>
            </a:r>
          </a:p>
          <a:p>
            <a:r>
              <a:rPr b="0" sz="1700"/>
              <a:t>Five adversaries in scope.</a:t>
            </a:r>
          </a:p>
          <a:p>
            <a:r>
              <a:rPr b="0" sz="1700"/>
              <a:t>  </a:t>
            </a:r>
            <a:r>
              <a:rPr b="1" sz="1700"/>
              <a:t>ファイヴ</a:t>
            </a:r>
            <a:r>
              <a:rPr b="0" sz="1700"/>
              <a:t> アドヴァサリーズ イン スコープ。</a:t>
            </a:r>
          </a:p>
          <a:p>
            <a:r>
              <a:rPr b="0" sz="1700"/>
              <a:t>A physical captor. A passive observer. A local active attacker.</a:t>
            </a:r>
          </a:p>
          <a:p>
            <a:r>
              <a:rPr b="0" sz="1700"/>
              <a:t>  ア フィジカル キャプター。 ア パッシヴ オブザーヴァー。 ア ローカル アクティヴ アタッカー。</a:t>
            </a:r>
          </a:p>
          <a:p>
            <a:r>
              <a:rPr b="0" sz="1700"/>
              <a:t>A local-network attacker. And a coercing authority.</a:t>
            </a:r>
          </a:p>
          <a:p>
            <a:r>
              <a:rPr b="0" sz="1700"/>
              <a:t>  ア ローカルネットワーク アタッカー。 アンド ア </a:t>
            </a:r>
            <a:r>
              <a:rPr b="1" sz="1700"/>
              <a:t>コアーシング オーソリティ</a:t>
            </a:r>
            <a:r>
              <a:rPr b="0" sz="1700"/>
              <a:t>。</a:t>
            </a:r>
          </a:p>
          <a:p>
            <a:r>
              <a:rPr b="0" sz="1700"/>
              <a:t>And five explicitly out of scope.</a:t>
            </a:r>
          </a:p>
          <a:p>
            <a:r>
              <a:rPr b="0" sz="1700"/>
              <a:t>  アンド ファイヴ エクスプリシットリー </a:t>
            </a:r>
            <a:r>
              <a:rPr b="1" sz="1700"/>
              <a:t>アウト オヴ スコープ</a:t>
            </a:r>
            <a:r>
              <a:rPr b="0" sz="1700"/>
              <a:t>。</a:t>
            </a:r>
          </a:p>
          <a:p>
            <a:r>
              <a:rPr b="0" sz="1700"/>
              <a:t>A compromised kernel. Hardware implants. Remote attackers.</a:t>
            </a:r>
          </a:p>
          <a:p>
            <a:r>
              <a:rPr b="0" sz="1700"/>
              <a:t>  ア コンプロマイズド カーネル。 ハードウェア インプランツ。 リモウト アタッカーズ。</a:t>
            </a:r>
          </a:p>
          <a:p>
            <a:r>
              <a:rPr b="0" sz="1700"/>
              <a:t>Supply chain. And breaking the crypto itself.</a:t>
            </a:r>
          </a:p>
          <a:p>
            <a:r>
              <a:rPr b="0" sz="1700"/>
              <a:t>  サプライ チェイン。 アンド ブレイキング ザ </a:t>
            </a:r>
            <a:r>
              <a:rPr b="1" sz="1700"/>
              <a:t>クリプト イットセルフ</a:t>
            </a:r>
            <a:r>
              <a:rPr b="0" sz="1700"/>
              <a:t>。</a:t>
            </a:r>
          </a:p>
          <a:p>
            <a:r>
              <a:rPr b="0" sz="1700"/>
              <a:t>If the host is owned, no user-space tool saves you.</a:t>
            </a:r>
          </a:p>
          <a:p>
            <a:r>
              <a:rPr b="0" sz="1700"/>
              <a:t>  イフ ザ ホウスト イズ </a:t>
            </a:r>
            <a:r>
              <a:rPr b="1" sz="1700"/>
              <a:t>オウンド</a:t>
            </a:r>
            <a:r>
              <a:rPr b="0" sz="1700"/>
              <a:t>、 ノウ ユーザースペイス ツール </a:t>
            </a:r>
            <a:r>
              <a:rPr b="1" sz="1700"/>
              <a:t>セイヴズ</a:t>
            </a:r>
            <a:r>
              <a:rPr b="0" sz="1700"/>
              <a:t> ユー。</a:t>
            </a:r>
          </a:p>
          <a:p>
            <a:r>
              <a:rPr b="0" sz="1700"/>
              <a:t>I won’t pretend otherwise.”</a:t>
            </a:r>
          </a:p>
          <a:p>
            <a:r>
              <a:rPr b="0" sz="1700"/>
              <a:t>  アイ ウォウント </a:t>
            </a:r>
            <a:r>
              <a:rPr b="1" sz="1700"/>
              <a:t>プリテンド</a:t>
            </a:r>
            <a:r>
              <a:rPr b="0" sz="1700"/>
              <a:t> アザワイズ。</a:t>
            </a:r>
          </a:p>
          <a:p>
            <a:r>
              <a:rPr b="0" sz="1700"/>
              <a:t/>
            </a:r>
          </a:p>
          <a:p>
            <a:r>
              <a:rPr b="0" sz="120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[06:25 / 0:45] STRIDE + LINDDUN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“I didn’t hand-wave the threats.</a:t>
            </a:r>
          </a:p>
          <a:p>
            <a:r>
              <a:rPr b="0" sz="1700"/>
              <a:t>  アイ ディドゥント </a:t>
            </a:r>
            <a:r>
              <a:rPr b="1" sz="1700"/>
              <a:t>ハンドウェイヴ</a:t>
            </a:r>
            <a:r>
              <a:rPr b="0" sz="1700"/>
              <a:t> ザ スレッツ。</a:t>
            </a:r>
          </a:p>
          <a:p>
            <a:r>
              <a:rPr b="0" sz="1700"/>
              <a:t>Eighteen scenarios. Each one tagged with STRIDE and LINDDUN.</a:t>
            </a:r>
          </a:p>
          <a:p>
            <a:r>
              <a:rPr b="0" sz="1700"/>
              <a:t>  </a:t>
            </a:r>
            <a:r>
              <a:rPr b="1" sz="1700"/>
              <a:t>エイティーン</a:t>
            </a:r>
            <a:r>
              <a:rPr b="0" sz="1700"/>
              <a:t> シナリオズ。 イーチ ワン タグド ウィズ </a:t>
            </a:r>
            <a:r>
              <a:rPr b="1" sz="1700"/>
              <a:t>ストライド</a:t>
            </a:r>
            <a:r>
              <a:rPr b="0" sz="1700"/>
              <a:t> アンド </a:t>
            </a:r>
            <a:r>
              <a:rPr b="1" sz="1700"/>
              <a:t>リンダン</a:t>
            </a:r>
            <a:r>
              <a:rPr b="0" sz="1700"/>
              <a:t>。</a:t>
            </a:r>
          </a:p>
          <a:p>
            <a:r>
              <a:rPr b="0" sz="1700"/>
              <a:t>Offline cracking. Session replay. Header leakage.</a:t>
            </a:r>
          </a:p>
          <a:p>
            <a:r>
              <a:rPr b="0" sz="1700"/>
              <a:t>  オフライン クラッキング。 セッション リプレイ。 ヘダー リーキッジ。</a:t>
            </a:r>
          </a:p>
          <a:p>
            <a:r>
              <a:rPr b="0" sz="1700"/>
              <a:t>Timing side-channels. Object-cue spoofing. Coerced disclosure.</a:t>
            </a:r>
          </a:p>
          <a:p>
            <a:r>
              <a:rPr b="0" sz="1700"/>
              <a:t>  タイミング サイドチャネルズ。 オブジェクトキュー スプーフィング。 コアースト ディスクロージャー。</a:t>
            </a:r>
          </a:p>
          <a:p>
            <a:r>
              <a:rPr b="0" sz="1700"/>
              <a:t>Here are a few. The full matrix is in the repo.</a:t>
            </a:r>
          </a:p>
          <a:p>
            <a:r>
              <a:rPr b="0" sz="1700"/>
              <a:t>  ヒア アー ア </a:t>
            </a:r>
            <a:r>
              <a:rPr b="1" sz="1700"/>
              <a:t>フュー</a:t>
            </a:r>
            <a:r>
              <a:rPr b="0" sz="1700"/>
              <a:t>。 ザ フル メイトリクス イズ イン ザ </a:t>
            </a:r>
            <a:r>
              <a:rPr b="1" sz="1700"/>
              <a:t>リーポウ</a:t>
            </a:r>
            <a:r>
              <a:rPr b="0" sz="1700"/>
              <a:t>。</a:t>
            </a:r>
          </a:p>
          <a:p>
            <a:r>
              <a:rPr b="0" sz="1700"/>
              <a:t>And if you want to argue with any of them — find me after.</a:t>
            </a:r>
          </a:p>
          <a:p>
            <a:r>
              <a:rPr b="0" sz="1700"/>
              <a:t>  アンド イフ ユー ワナ </a:t>
            </a:r>
            <a:r>
              <a:rPr b="1" sz="1700"/>
              <a:t>アーギュー</a:t>
            </a:r>
            <a:r>
              <a:rPr b="0" sz="1700"/>
              <a:t> ウィズ エニー オヴ ゼム — </a:t>
            </a:r>
            <a:r>
              <a:rPr b="1" sz="1700"/>
              <a:t>ファインド ミー アフター</a:t>
            </a:r>
            <a:r>
              <a:rPr b="0" sz="1700"/>
              <a:t>。</a:t>
            </a:r>
          </a:p>
          <a:p>
            <a:r>
              <a:rPr b="0" sz="1700"/>
              <a:t>I’d enjoy that.”</a:t>
            </a:r>
          </a:p>
          <a:p>
            <a:r>
              <a:rPr b="0" sz="1700"/>
              <a:t>  アイド </a:t>
            </a:r>
            <a:r>
              <a:rPr b="1" sz="1700"/>
              <a:t>エンジョイ</a:t>
            </a:r>
            <a:r>
              <a:rPr b="0" sz="1700"/>
              <a:t> ザット。</a:t>
            </a:r>
          </a:p>
          <a:p>
            <a:r>
              <a:rPr b="0" sz="1700"/>
              <a:t/>
            </a:r>
          </a:p>
          <a:p>
            <a:r>
              <a:rPr b="0" sz="120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[07:10 / 1:00] ARCHITECTURE BOUNDARY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“Architecturally, four things stay explicit.</a:t>
            </a:r>
          </a:p>
          <a:p>
            <a:r>
              <a:rPr b="0" sz="1700"/>
              <a:t>  アーキテクチャリー、 フォー シングズ ステイ </a:t>
            </a:r>
            <a:r>
              <a:rPr b="1" sz="1700"/>
              <a:t>エクスプリシット</a:t>
            </a:r>
            <a:r>
              <a:rPr b="0" sz="1700"/>
              <a:t>。</a:t>
            </a:r>
          </a:p>
          <a:p>
            <a:r>
              <a:rPr b="0" sz="1700"/>
              <a:t>One. Two-slot storage.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。 トゥースロット </a:t>
            </a:r>
            <a:r>
              <a:rPr b="1" sz="1700"/>
              <a:t>ストレージ</a:t>
            </a:r>
            <a:r>
              <a:rPr b="0" sz="1700"/>
              <a:t>。</a:t>
            </a:r>
          </a:p>
          <a:p>
            <a:r>
              <a:rPr b="0" sz="1700"/>
              <a:t>Two. Local access-key mixing — keys come from local state, not from a passphrase alone.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。 ローカル アクセスキー ミキシング — キーズ カム フロム </a:t>
            </a:r>
            <a:r>
              <a:rPr b="1" sz="1700"/>
              <a:t>ローカル ステイト</a:t>
            </a:r>
            <a:r>
              <a:rPr b="0" sz="1700"/>
              <a:t>、 ナット フロム ア パスフレイズ アロウン。</a:t>
            </a:r>
          </a:p>
          <a:p>
            <a:r>
              <a:rPr b="0" sz="1700"/>
              <a:t>Three. A restricted-action policy. It gates anything sensitive, and anything about recovery.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。 ア リストリクティッドアクション ポリシー。 イット ゲイツ エニシング </a:t>
            </a:r>
            <a:r>
              <a:rPr b="1" sz="1700"/>
              <a:t>センシティヴ</a:t>
            </a:r>
            <a:r>
              <a:rPr b="0" sz="1700"/>
              <a:t>、 アンド エニシング アバウト リカヴァリー。</a:t>
            </a:r>
          </a:p>
          <a:p>
            <a:r>
              <a:rPr b="0" sz="1700"/>
              <a:t>Four. Capture-visible discipline.</a:t>
            </a:r>
          </a:p>
          <a:p>
            <a:r>
              <a:rPr b="0" sz="1700"/>
              <a:t>  </a:t>
            </a:r>
            <a:r>
              <a:rPr b="1" sz="1700"/>
              <a:t>フォー</a:t>
            </a:r>
            <a:r>
              <a:rPr b="0" sz="1700"/>
              <a:t>。 キャプチャーヴィジブル </a:t>
            </a:r>
            <a:r>
              <a:rPr b="1" sz="1700"/>
              <a:t>ディシプリン</a:t>
            </a:r>
            <a:r>
              <a:rPr b="0" sz="1700"/>
              <a:t>。</a:t>
            </a:r>
          </a:p>
          <a:p>
            <a:r>
              <a:rPr b="0" sz="1700"/>
              <a:t>Normal flows never show the structure, the recovery path, or the order you’d try things in.</a:t>
            </a:r>
          </a:p>
          <a:p>
            <a:r>
              <a:rPr b="0" sz="1700"/>
              <a:t>  ノーマル フロウズ </a:t>
            </a:r>
            <a:r>
              <a:rPr b="1" sz="1700"/>
              <a:t>ネヴァー</a:t>
            </a:r>
            <a:r>
              <a:rPr b="0" sz="1700"/>
              <a:t> ショウ ザ ストラクチャー、 ザ リカヴァリー パス、 オア ジ オーダー ユード トライ シングズ イン。</a:t>
            </a:r>
          </a:p>
          <a:p>
            <a:r>
              <a:rPr b="0" sz="1700"/>
              <a:t/>
            </a:r>
          </a:p>
          <a:p>
            <a:r>
              <a:rPr b="0" sz="120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[08:10 / 0:40] LAYERS + DOCS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Underneath are narrow local layers.</a:t>
            </a:r>
          </a:p>
          <a:p>
            <a:r>
              <a:rPr b="0" sz="1700"/>
              <a:t>  アンダニース アー </a:t>
            </a:r>
            <a:r>
              <a:rPr b="1" sz="1700"/>
              <a:t>ナロウ ローカル レイヤーズ</a:t>
            </a:r>
            <a:r>
              <a:rPr b="0" sz="1700"/>
              <a:t>。</a:t>
            </a:r>
          </a:p>
          <a:p>
            <a:r>
              <a:rPr b="0" sz="1700"/>
              <a:t>Entry points, policy, crypto core, local state, deployment.</a:t>
            </a:r>
          </a:p>
          <a:p>
            <a:r>
              <a:rPr b="0" sz="1700"/>
              <a:t>  エントリー ポインツ、 ポリシー、 クリプト コア、 ローカル ステイト、 ディプロイメント。</a:t>
            </a:r>
          </a:p>
          <a:p>
            <a:r>
              <a:rPr b="0" sz="1700"/>
              <a:t>None of this is folklore. It’s documented.</a:t>
            </a:r>
          </a:p>
          <a:p>
            <a:r>
              <a:rPr b="0" sz="1700"/>
              <a:t>  </a:t>
            </a:r>
            <a:r>
              <a:rPr b="1" sz="1700"/>
              <a:t>ナン</a:t>
            </a:r>
            <a:r>
              <a:rPr b="0" sz="1700"/>
              <a:t> オヴ ディス イズ フォウクロー。 イッツ </a:t>
            </a:r>
            <a:r>
              <a:rPr b="1" sz="1700"/>
              <a:t>ドキュメンティッド</a:t>
            </a:r>
            <a:r>
              <a:rPr b="0" sz="1700"/>
              <a:t>。</a:t>
            </a:r>
          </a:p>
          <a:p>
            <a:r>
              <a:rPr b="0" sz="1700"/>
              <a:t>Read it — and poke holes in it.”</a:t>
            </a:r>
          </a:p>
          <a:p>
            <a:r>
              <a:rPr b="0" sz="1700"/>
              <a:t>  </a:t>
            </a:r>
            <a:r>
              <a:rPr b="1" sz="1700"/>
              <a:t>リード</a:t>
            </a:r>
            <a:r>
              <a:rPr b="0" sz="1700"/>
              <a:t> イット — アンド </a:t>
            </a:r>
            <a:r>
              <a:rPr b="1" sz="1700"/>
              <a:t>ポウク ホウルズ</a:t>
            </a:r>
            <a:r>
              <a:rPr b="0" sz="170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[08:50 / 0:50] THREE PILLARS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“Three moving parts.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ムーヴィング パーツ。</a:t>
            </a:r>
          </a:p>
          <a:p>
            <a:r>
              <a:rPr b="0" sz="1700"/>
              <a:t>One — an encrypted local vessel. Authenticated encryption, password-derived keys.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 — アン インクリプティッド ローカル </a:t>
            </a:r>
            <a:r>
              <a:rPr b="1" sz="1700"/>
              <a:t>ヴェッセル</a:t>
            </a:r>
            <a:r>
              <a:rPr b="0" sz="1700"/>
              <a:t>。 オーセンティケイティッド インクリプション、 パスワードディライヴド キーズ。</a:t>
            </a:r>
          </a:p>
          <a:p>
            <a:r>
              <a:rPr b="0" sz="1700"/>
              <a:t>Two — object-cue operation. I’ll come right back to this. It’s the fun part.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 — オブジェクトキュー オペレイション。 アイル カム ゥライト バック トゥ ディス。 イッツ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Three — controlled disclosure.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— コントロールド ディスクロージャー。</a:t>
            </a:r>
          </a:p>
          <a:p>
            <a:r>
              <a:rPr b="0" sz="1700"/>
              <a:t>And that third one is concrete, not a slogan.</a:t>
            </a:r>
          </a:p>
          <a:p>
            <a:r>
              <a:rPr b="0" sz="1700"/>
              <a:t>  アンド ザット サード ワン イズ </a:t>
            </a:r>
            <a:r>
              <a:rPr b="1" sz="1700"/>
              <a:t>コンクリート</a:t>
            </a:r>
            <a:r>
              <a:rPr b="0" sz="1700"/>
              <a:t>、 ナット ア スロウガン。</a:t>
            </a:r>
          </a:p>
          <a:p>
            <a:r>
              <a:rPr b="0" sz="1700"/>
              <a:t>You set three credentials.</a:t>
            </a:r>
          </a:p>
          <a:p>
            <a:r>
              <a:rPr b="0" sz="1700"/>
              <a:t>  ユー セット </a:t>
            </a:r>
            <a:r>
              <a:rPr b="1" sz="1700"/>
              <a:t>スリー クリデンシャルズ</a:t>
            </a:r>
            <a:r>
              <a:rPr b="0" sz="1700"/>
              <a:t>。</a:t>
            </a:r>
          </a:p>
          <a:p>
            <a:r>
              <a:rPr b="0" sz="1700"/>
              <a:t>One opens the real file.</a:t>
            </a:r>
          </a:p>
          <a:p>
            <a:r>
              <a:rPr b="0" sz="1700"/>
              <a:t>  ワン </a:t>
            </a:r>
            <a:r>
              <a:rPr b="1" sz="1700"/>
              <a:t>オウプンズ</a:t>
            </a:r>
            <a:r>
              <a:rPr b="0" sz="1700"/>
              <a:t> ザ リアル ファイル。</a:t>
            </a:r>
          </a:p>
          <a:p>
            <a:r>
              <a:rPr b="0" sz="1700"/>
              <a:t>One opens the decoy.</a:t>
            </a:r>
          </a:p>
          <a:p>
            <a:r>
              <a:rPr b="0" sz="1700"/>
              <a:t>  ワン オウプンズ ザ </a:t>
            </a:r>
            <a:r>
              <a:rPr b="1" sz="1700"/>
              <a:t>ディーコイ</a:t>
            </a:r>
            <a:r>
              <a:rPr b="0" sz="1700"/>
              <a:t>。</a:t>
            </a:r>
          </a:p>
          <a:p>
            <a:r>
              <a:rPr b="0" sz="1700"/>
              <a:t>And one destroys the real file.</a:t>
            </a:r>
          </a:p>
          <a:p>
            <a:r>
              <a:rPr b="0" sz="1700"/>
              <a:t>  アンド ワン </a:t>
            </a:r>
            <a:r>
              <a:rPr b="1" sz="1700"/>
              <a:t>ディストロイズ</a:t>
            </a:r>
            <a:r>
              <a:rPr b="0" sz="1700"/>
              <a:t> ザ リアル ファイル。</a:t>
            </a:r>
          </a:p>
          <a:p>
            <a:r>
              <a:rPr b="0" sz="1700"/>
              <a:t>Three passwords. Three very different outcomes.</a:t>
            </a:r>
          </a:p>
          <a:p>
            <a:r>
              <a:rPr b="0" sz="1700"/>
              <a:t>  スリー パスワーズ。 スリー ヴェリー </a:t>
            </a:r>
            <a:r>
              <a:rPr b="1" sz="1700"/>
              <a:t>ディファレント アウトカムズ</a:t>
            </a:r>
            <a:r>
              <a:rPr b="0" sz="1700"/>
              <a:t>。</a:t>
            </a:r>
          </a:p>
          <a:p>
            <a:r>
              <a:rPr b="0" sz="1700"/>
              <a:t>And only you know which is which.”</a:t>
            </a:r>
          </a:p>
          <a:p>
            <a:r>
              <a:rPr b="0" sz="1700"/>
              <a:t>  アンド </a:t>
            </a:r>
            <a:r>
              <a:rPr b="1" sz="1700"/>
              <a:t>オウンリー ユー</a:t>
            </a:r>
            <a:r>
              <a:rPr b="0" sz="1700"/>
              <a:t> ノウ ウィッチ イズ ウィッチ。</a:t>
            </a:r>
          </a:p>
          <a:p>
            <a:r>
              <a:rPr b="0" sz="1700"/>
              <a:t/>
            </a:r>
          </a:p>
          <a:p>
            <a:r>
              <a:rPr b="0" sz="120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[09:40 / 1:20] OBJECT-CUE  ★見せ場 — 発話 0:50</a:t>
            </a:r>
          </a:p>
          <a:p>
            <a:r>
              <a:rPr b="0" sz="1700"/>
              <a:t/>
            </a:r>
          </a:p>
          <a:p>
            <a:r>
              <a:rPr b="0" sz="1700"/>
              <a:t>“Here’s the fun part.</a:t>
            </a:r>
          </a:p>
          <a:p>
            <a:r>
              <a:rPr b="0" sz="1700"/>
              <a:t>  ヒアズ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You show an everyday object to the camera, and that operates the access gate.</a:t>
            </a:r>
          </a:p>
          <a:p>
            <a:r>
              <a:rPr b="0" sz="1700"/>
              <a:t>  ユー ショウ アン エヴリデイ </a:t>
            </a:r>
            <a:r>
              <a:rPr b="1" sz="1700"/>
              <a:t>オブジェクト</a:t>
            </a:r>
            <a:r>
              <a:rPr b="0" sz="1700"/>
              <a:t> トゥ ザ カメラ、 アンド ザット オペレイツ ジ </a:t>
            </a:r>
            <a:r>
              <a:rPr b="1" sz="1700"/>
              <a:t>アクセス ゲイト</a:t>
            </a:r>
            <a:r>
              <a:rPr b="0" sz="1700"/>
              <a:t>。</a:t>
            </a:r>
          </a:p>
          <a:p>
            <a:r>
              <a:rPr b="0" sz="1700"/>
              <a:t>Nothing to type. Nothing that looks like a secret.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トゥ タイプ。 </a:t>
            </a:r>
            <a:r>
              <a:rPr b="1" sz="1700"/>
              <a:t>ナッシング</a:t>
            </a:r>
            <a:r>
              <a:rPr b="0" sz="1700"/>
              <a:t> ザット ルックス ライク ア シークレット。</a:t>
            </a:r>
          </a:p>
          <a:p>
            <a:r>
              <a:rPr b="0" sz="1700"/>
              <a:t>Now — this is the part people get wrong. So let me be clear.</a:t>
            </a:r>
          </a:p>
          <a:p>
            <a:r>
              <a:rPr b="0" sz="1700"/>
              <a:t>  ナウ — ディス イズ ザ パート ピープル ゲット </a:t>
            </a:r>
            <a:r>
              <a:rPr b="1" sz="1700"/>
              <a:t>ゥロング</a:t>
            </a:r>
            <a:r>
              <a:rPr b="0" sz="1700"/>
              <a:t>。 ソウ レット ミー ビー </a:t>
            </a:r>
            <a:r>
              <a:rPr b="1" sz="1700"/>
              <a:t>クリア</a:t>
            </a:r>
            <a:r>
              <a:rPr b="0" sz="1700"/>
              <a:t>。</a:t>
            </a:r>
          </a:p>
          <a:p>
            <a:r>
              <a:rPr b="0" sz="1700"/>
              <a:t>The object is a cue, not a key.</a:t>
            </a:r>
          </a:p>
          <a:p>
            <a:r>
              <a:rPr b="0" sz="1700"/>
              <a:t>  ジ オブジェクト イズ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drives operation, and policy checks.</a:t>
            </a:r>
          </a:p>
          <a:p>
            <a:r>
              <a:rPr b="0" sz="1700"/>
              <a:t>  イット ドライヴズ </a:t>
            </a:r>
            <a:r>
              <a:rPr b="1" sz="1700"/>
              <a:t>オペレイション</a:t>
            </a:r>
            <a:r>
              <a:rPr b="0" sz="1700"/>
              <a:t>、 アンド ポリシー チェックス。</a:t>
            </a:r>
          </a:p>
          <a:p>
            <a:r>
              <a:rPr b="0" sz="1700"/>
              <a:t>It is not the encryption key.</a:t>
            </a:r>
          </a:p>
          <a:p>
            <a:r>
              <a:rPr b="0" sz="1700"/>
              <a:t> 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 of the object unlocks nothing.</a:t>
            </a:r>
          </a:p>
          <a:p>
            <a:r>
              <a:rPr b="0" sz="1700"/>
              <a:t>  ア フォウトウ オヴ ジ オブジェクト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The crypto stays with Argon2id and AES-GCM.</a:t>
            </a:r>
          </a:p>
          <a:p>
            <a:r>
              <a:rPr b="0" sz="1700"/>
              <a:t>  ザ クリプト ステイズ ウィズ </a:t>
            </a:r>
            <a:r>
              <a:rPr b="1" sz="1700"/>
              <a:t>アーゴン トゥー アイディー</a:t>
            </a:r>
            <a:r>
              <a:rPr b="0" sz="1700"/>
              <a:t> アンド </a:t>
            </a:r>
            <a:r>
              <a:rPr b="1" sz="1700"/>
              <a:t>エイ イー エス ジー シー エム</a:t>
            </a:r>
            <a:r>
              <a:rPr b="0" sz="1700"/>
              <a:t>。</a:t>
            </a:r>
          </a:p>
          <a:p>
            <a:r>
              <a:rPr b="0" sz="1700"/>
              <a:t>The object only decides whether you get to act.</a:t>
            </a:r>
          </a:p>
          <a:p>
            <a:r>
              <a:rPr b="0" sz="1700"/>
              <a:t>  ジ オブジェクト オウンリー ディサイズ ウェザー ユー ゲット トゥ </a:t>
            </a:r>
            <a:r>
              <a:rPr b="1" sz="1700"/>
              <a:t>アクト</a:t>
            </a:r>
            <a:r>
              <a:rPr b="0" sz="1700"/>
              <a:t>。</a:t>
            </a:r>
          </a:p>
          <a:p>
            <a:r>
              <a:rPr b="0" sz="1700"/>
              <a:t>And you’ll watch this fail, live, in a few minutes.</a:t>
            </a:r>
          </a:p>
          <a:p>
            <a:r>
              <a:rPr b="0" sz="1700"/>
              <a:t>  アンド ユール ウォッチ ディス </a:t>
            </a:r>
            <a:r>
              <a:rPr b="1" sz="1700"/>
              <a:t>フェイル</a:t>
            </a:r>
            <a:r>
              <a:rPr b="0" sz="1700"/>
              <a:t>、 </a:t>
            </a:r>
            <a:r>
              <a:rPr b="1" sz="1700"/>
              <a:t>ライヴ</a:t>
            </a:r>
            <a:r>
              <a:rPr b="0" sz="1700"/>
              <a:t>、 イン ア フュー ミニッツ。</a:t>
            </a:r>
          </a:p>
          <a:p>
            <a:r>
              <a:rPr b="0" sz="1700"/>
              <a:t>Same file. Same password. No object.”</a:t>
            </a:r>
          </a:p>
          <a:p>
            <a:r>
              <a:rPr b="0" sz="1700"/>
              <a:t>  セイム ファイル。 セイム パスワード。 </a:t>
            </a:r>
            <a:r>
              <a:rPr b="1" sz="1700"/>
              <a:t>ノウ オブジェクト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“A cue, not a key. A photo of it unlocks nothing.”</a:t>
            </a:r>
          </a:p>
          <a:p>
            <a:r>
              <a:rPr b="0" sz="1700"/>
              <a:t> 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 ア フォウトウ オヴ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ゆっくり。手元の物体を掲げると効果的。最後の一文で Step 4 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[11:00 / 1:20] COERCION-SAFE DELAYING — 発話 1:20</a:t>
            </a:r>
          </a:p>
          <a:p>
            <a:r>
              <a:rPr b="0" sz="1700"/>
              <a:t/>
            </a:r>
          </a:p>
          <a:p>
            <a:r>
              <a:rPr b="0" sz="1700"/>
              <a:t>“This is what makes it coercion-safe.</a:t>
            </a:r>
          </a:p>
          <a:p>
            <a:r>
              <a:rPr b="0" sz="1700"/>
              <a:t>  ディス イズ ワット メイクス イット </a:t>
            </a:r>
            <a:r>
              <a:rPr b="1" sz="1700"/>
              <a:t>コアージョン セイフ</a:t>
            </a:r>
            <a:r>
              <a:rPr b="0" sz="1700"/>
              <a:t>。</a:t>
            </a:r>
          </a:p>
          <a:p>
            <a:r>
              <a:rPr b="0" sz="1700"/>
              <a:t>First, Silent Standby.</a:t>
            </a:r>
          </a:p>
          <a:p>
            <a:r>
              <a:rPr b="0" sz="1700"/>
              <a:t>  ファースト、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One hotkey drops the sensitive interface into a harmless state.</a:t>
            </a:r>
          </a:p>
          <a:p>
            <a:r>
              <a:rPr b="0" sz="1700"/>
              <a:t>  ワン ホットキー ドロップス ザ センシティヴ インターフェイス イントゥ ア </a:t>
            </a:r>
            <a:r>
              <a:rPr b="1" sz="1700"/>
              <a:t>ハームレス ステイト</a:t>
            </a:r>
            <a:r>
              <a:rPr b="0" sz="1700"/>
              <a:t>。</a:t>
            </a:r>
          </a:p>
          <a:p>
            <a:r>
              <a:rPr b="0" sz="1700"/>
              <a:t>Coming back needs re-authentication.</a:t>
            </a:r>
          </a:p>
          <a:p>
            <a:r>
              <a:rPr b="0" sz="1700"/>
              <a:t>  カミング バック ニーズ </a:t>
            </a:r>
            <a:r>
              <a:rPr b="1" sz="1700"/>
              <a:t>リーオーセンティケイション</a:t>
            </a:r>
            <a:r>
              <a:rPr b="0" sz="1700"/>
              <a:t>。</a:t>
            </a:r>
          </a:p>
          <a:p>
            <a:r>
              <a:rPr b="0" sz="1700"/>
              <a:t>Second — the material itself. And I want to be exact here.</a:t>
            </a:r>
          </a:p>
          <a:p>
            <a:r>
              <a:rPr b="0" sz="1700"/>
              <a:t>  セカンド — ザ マテリアル </a:t>
            </a:r>
            <a:r>
              <a:rPr b="1" sz="1700"/>
              <a:t>イットセルフ</a:t>
            </a:r>
            <a:r>
              <a:rPr b="0" sz="1700"/>
              <a:t>。 アンド アイ ワナ ビー </a:t>
            </a:r>
            <a:r>
              <a:rPr b="1" sz="1700"/>
              <a:t>イグザクト</a:t>
            </a:r>
            <a:r>
              <a:rPr b="0" sz="1700"/>
              <a:t> ヒア。</a:t>
            </a:r>
          </a:p>
          <a:p>
            <a:r>
              <a:rPr b="0" sz="1700"/>
              <a:t>The file you would hand over is a file you wrote and stored yourself.</a:t>
            </a:r>
          </a:p>
          <a:p>
            <a:r>
              <a:rPr b="0" sz="1700"/>
              <a:t>  ザ ファイル ユー ウド ハンド オウヴァー イズ ア ファイル ユー </a:t>
            </a:r>
            <a:r>
              <a:rPr b="1" sz="1700"/>
              <a:t>ロウト アンド ストード ユアセルフ</a:t>
            </a:r>
            <a:r>
              <a:rPr b="0" sz="1700"/>
              <a:t>。</a:t>
            </a:r>
          </a:p>
          <a:p>
            <a:r>
              <a:rPr b="0" sz="1700"/>
              <a:t>Before any coercion.</a:t>
            </a:r>
          </a:p>
          <a:p>
            <a:r>
              <a:rPr b="0" sz="1700"/>
              <a:t>  ビフォー </a:t>
            </a:r>
            <a:r>
              <a:rPr b="1" sz="1700"/>
              <a:t>エニー</a:t>
            </a:r>
            <a:r>
              <a:rPr b="0" sz="1700"/>
              <a:t> コアージョン。</a:t>
            </a:r>
          </a:p>
          <a:p>
            <a:r>
              <a:rPr b="0" sz="1700"/>
              <a:t>Phasmid does not manufacture your cover story.</a:t>
            </a:r>
          </a:p>
          <a:p>
            <a:r>
              <a:rPr b="0" sz="1700"/>
              <a:t>  ファズミッド ダズ </a:t>
            </a:r>
            <a:r>
              <a:rPr b="1" sz="1700"/>
              <a:t>ナット</a:t>
            </a:r>
            <a:r>
              <a:rPr b="0" sz="1700"/>
              <a:t> マニュファクチャー ユア カヴァー ストーリー。</a:t>
            </a:r>
          </a:p>
          <a:p>
            <a:r>
              <a:rPr b="0" sz="1700"/>
              <a:t>Generated data would not survive five minutes of questioning.</a:t>
            </a:r>
          </a:p>
          <a:p>
            <a:r>
              <a:rPr b="0" sz="1700"/>
              <a:t>  ジェネレイティッド データ ウド ナット </a:t>
            </a:r>
            <a:r>
              <a:rPr b="1" sz="1700"/>
              <a:t>サヴァイヴ</a:t>
            </a:r>
            <a:r>
              <a:rPr b="0" sz="1700"/>
              <a:t> ファイヴ ミニッツ オヴ クエスチョニング。</a:t>
            </a:r>
          </a:p>
          <a:p>
            <a:r>
              <a:rPr b="0" sz="1700"/>
              <a:t>Not from someone holding your passport.</a:t>
            </a:r>
          </a:p>
          <a:p>
            <a:r>
              <a:rPr b="0" sz="1700"/>
              <a:t>  ナット フロム サムワン ホウルディング ユア </a:t>
            </a:r>
            <a:r>
              <a:rPr b="1" sz="1700"/>
              <a:t>パスポート</a:t>
            </a:r>
            <a:r>
              <a:rPr b="0" sz="1700"/>
              <a:t>。</a:t>
            </a:r>
          </a:p>
          <a:p>
            <a:r>
              <a:rPr b="0" sz="1700"/>
              <a:t>Realism has to come from your own material — not from my random-text generator.</a:t>
            </a:r>
          </a:p>
          <a:p>
            <a:r>
              <a:rPr b="0" sz="1700"/>
              <a:t>  </a:t>
            </a:r>
            <a:r>
              <a:rPr b="1" sz="1700"/>
              <a:t>リアリズム</a:t>
            </a:r>
            <a:r>
              <a:rPr b="0" sz="1700"/>
              <a:t> ハズ トゥ カム フロム ユア オウン マテリアル — ナット フロム マイ ランダムテクスト ジェネレイター。</a:t>
            </a:r>
          </a:p>
          <a:p>
            <a:r>
              <a:rPr b="0" sz="1700"/>
              <a:t>What the tool does give you is filler.</a:t>
            </a:r>
          </a:p>
          <a:p>
            <a:r>
              <a:rPr b="0" sz="1700"/>
              <a:t>  ワット ザ ツール ダズ ギヴ ユー イズ </a:t>
            </a:r>
            <a:r>
              <a:rPr b="1" sz="1700"/>
              <a:t>フィラー</a:t>
            </a:r>
            <a:r>
              <a:rPr b="0" sz="1700"/>
              <a:t>。</a:t>
            </a:r>
          </a:p>
          <a:p>
            <a:r>
              <a:rPr b="0" sz="1700"/>
              <a:t>It occupies free space, so an empty container doesn’t read as empty.</a:t>
            </a:r>
          </a:p>
          <a:p>
            <a:r>
              <a:rPr b="0" sz="1700"/>
              <a:t>  イット オキュパイズ </a:t>
            </a:r>
            <a:r>
              <a:rPr b="1" sz="1700"/>
              <a:t>フリー スペイス</a:t>
            </a:r>
            <a:r>
              <a:rPr b="0" sz="1700"/>
              <a:t>、 ソウ アン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That’s a volume problem. And volume is something software can actually solve.</a:t>
            </a:r>
          </a:p>
          <a:p>
            <a:r>
              <a:rPr b="0" sz="1700"/>
              <a:t>  ザッツ ア </a:t>
            </a:r>
            <a:r>
              <a:rPr b="1" sz="1700"/>
              <a:t>ヴォリューム プロブレム</a:t>
            </a:r>
            <a:r>
              <a:rPr b="0" sz="1700"/>
              <a:t>。 アンド ヴォリューム イズ サムシング ソフトウェア キャン </a:t>
            </a:r>
            <a:r>
              <a:rPr b="1" sz="1700"/>
              <a:t>アクチュアリー ソルヴ</a:t>
            </a:r>
            <a:r>
              <a:rPr b="0" sz="1700"/>
              <a:t>。</a:t>
            </a:r>
          </a:p>
          <a:p>
            <a:r>
              <a:rPr b="0" sz="1700"/>
              <a:t>Third — context profiles. Travel. Field engineer. Researcher.</a:t>
            </a:r>
          </a:p>
          <a:p>
            <a:r>
              <a:rPr b="0" sz="1700"/>
              <a:t>  サード — </a:t>
            </a:r>
            <a:r>
              <a:rPr b="1" sz="1700"/>
              <a:t>コンテクスト プロウファイルズ</a:t>
            </a:r>
            <a:r>
              <a:rPr b="0" sz="1700"/>
              <a:t>。 トラヴル。 フィールド エンジニア。 リサーチャー。</a:t>
            </a:r>
          </a:p>
          <a:p>
            <a:r>
              <a:rPr b="0" sz="1700"/>
              <a:t>They tell you what ‘normal’ should look like, so you know what to prepare.</a:t>
            </a:r>
          </a:p>
          <a:p>
            <a:r>
              <a:rPr b="0" sz="1700"/>
              <a:t>  ゼイ テル ユー ワット </a:t>
            </a:r>
            <a:r>
              <a:rPr b="1" sz="1700"/>
              <a:t>ノーマル</a:t>
            </a:r>
            <a:r>
              <a:rPr b="0" sz="1700"/>
              <a:t> シュド ルック ライク、 ソウ ユー ノウ ワット トゥ プリペア。</a:t>
            </a:r>
          </a:p>
          <a:p>
            <a:r>
              <a:rPr b="0" sz="1700"/>
              <a:t>And in coercion-safe mode, a low-confidence match goes to the disclosure face, instead of failing loudly.</a:t>
            </a:r>
          </a:p>
          <a:p>
            <a:r>
              <a:rPr b="0" sz="1700"/>
              <a:t>  アンド イン コアージョンセイフ モウド、 ア ロウ コンフィデンス マッチ ゴウズ トゥ ザ </a:t>
            </a:r>
            <a:r>
              <a:rPr b="1" sz="1700"/>
              <a:t>ディスクロージャー フェイス</a:t>
            </a:r>
            <a:r>
              <a:rPr b="0" sz="1700"/>
              <a:t>、 インステッド オヴ フェイリング ラウドリー。</a:t>
            </a:r>
          </a:p>
          <a:p>
            <a:r>
              <a:rPr b="0" sz="1700"/>
              <a:t>The goal isn’t magic invisibility.</a:t>
            </a:r>
          </a:p>
          <a:p>
            <a:r>
              <a:rPr b="0" sz="1700"/>
              <a:t>  ザ ゴウル イズント </a:t>
            </a:r>
            <a:r>
              <a:rPr b="1" sz="1700"/>
              <a:t>マジック インヴィジビリティ</a:t>
            </a:r>
            <a:r>
              <a:rPr b="0" sz="1700"/>
              <a:t>。</a:t>
            </a:r>
          </a:p>
          <a:p>
            <a:r>
              <a:rPr b="0" sz="1700"/>
              <a:t>The goal is uncertainty, and delay.”</a:t>
            </a:r>
          </a:p>
          <a:p>
            <a:r>
              <a:rPr b="0" sz="1700"/>
              <a:t>  ザ ゴウル イズ </a:t>
            </a:r>
            <a:r>
              <a:rPr b="1" sz="1700"/>
              <a:t>アンサートゥンティ</a:t>
            </a:r>
            <a:r>
              <a:rPr b="0" sz="1700"/>
              <a:t>、 アンド </a:t>
            </a:r>
            <a:r>
              <a:rPr b="1" sz="1700"/>
              <a:t>ディレイ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はデモで見せると予告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[12:20 / 0:45] DESIGN PRINCIPLES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design principle is restraint.</a:t>
            </a:r>
          </a:p>
          <a:p>
            <a:r>
              <a:rPr b="0" sz="1700"/>
              <a:t>  ザ デザイン プリンシプル イズ </a:t>
            </a:r>
            <a:r>
              <a:rPr b="1" sz="1700"/>
              <a:t>リストレイント</a:t>
            </a:r>
            <a:r>
              <a:rPr b="0" sz="1700"/>
              <a:t>。</a:t>
            </a:r>
          </a:p>
          <a:p>
            <a:r>
              <a:rPr b="0" sz="1700"/>
              <a:t>The vault file alone isn’t meant to be enough.</a:t>
            </a:r>
          </a:p>
          <a:p>
            <a:r>
              <a:rPr b="0" sz="1700"/>
              <a:t>  ザ ヴォルト ファイル </a:t>
            </a:r>
            <a:r>
              <a:rPr b="1" sz="1700"/>
              <a:t>アロウン</a:t>
            </a:r>
            <a:r>
              <a:rPr b="0" sz="1700"/>
              <a:t> イズント メント トゥ ビー イナフ。</a:t>
            </a:r>
          </a:p>
          <a:p>
            <a:r>
              <a:rPr b="0" sz="1700"/>
              <a:t>Normal flows don’t reveal structure, or recovery.</a:t>
            </a:r>
          </a:p>
          <a:p>
            <a:r>
              <a:rPr b="0" sz="1700"/>
              <a:t>  ノーマル フロウズ ドウント </a:t>
            </a:r>
            <a:r>
              <a:rPr b="1" sz="1700"/>
              <a:t>リヴィール</a:t>
            </a:r>
            <a:r>
              <a:rPr b="0" sz="1700"/>
              <a:t> ストラクチャー、 オア リカヴァリー。</a:t>
            </a:r>
          </a:p>
          <a:p>
            <a:r>
              <a:rPr b="0" sz="1700"/>
              <a:t>And metadata reduction is best-effort. Support — not sanitization.</a:t>
            </a:r>
          </a:p>
          <a:p>
            <a:r>
              <a:rPr b="0" sz="1700"/>
              <a:t>  アンド メタデータ リダクション イズ </a:t>
            </a:r>
            <a:r>
              <a:rPr b="1" sz="1700"/>
              <a:t>ベスト エフォート</a:t>
            </a:r>
            <a:r>
              <a:rPr b="0" sz="1700"/>
              <a:t>。 サポート — </a:t>
            </a:r>
            <a:r>
              <a:rPr b="1" sz="1700"/>
              <a:t>ナット</a:t>
            </a:r>
            <a:r>
              <a:rPr b="0" sz="1700"/>
              <a:t> サニタイゼイション。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[13:05 / 0:45] OPERATING FLOW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Operationally, it’s four steps.</a:t>
            </a:r>
          </a:p>
          <a:p>
            <a:r>
              <a:rPr b="0" sz="1700"/>
              <a:t>  オペレイショナリー、 イッツ </a:t>
            </a:r>
            <a:r>
              <a:rPr b="1" sz="1700"/>
              <a:t>フォー ステップス</a:t>
            </a:r>
            <a:r>
              <a:rPr b="0" sz="1700"/>
              <a:t>。</a:t>
            </a:r>
          </a:p>
          <a:p>
            <a:r>
              <a:rPr b="0" sz="1700"/>
              <a:t>Prepare a vessel.</a:t>
            </a:r>
          </a:p>
          <a:p>
            <a:r>
              <a:rPr b="0" sz="1700"/>
              <a:t>  </a:t>
            </a:r>
            <a:r>
              <a:rPr b="1" sz="1700"/>
              <a:t>プリペア</a:t>
            </a:r>
            <a:r>
              <a:rPr b="0" sz="1700"/>
              <a:t> ア ヴェッセル。</a:t>
            </a:r>
          </a:p>
          <a:p>
            <a:r>
              <a:rPr b="0" sz="1700"/>
              <a:t>Bind it — to local state, and to the object cue.</a:t>
            </a:r>
          </a:p>
          <a:p>
            <a:r>
              <a:rPr b="0" sz="1700"/>
              <a:t>  </a:t>
            </a:r>
            <a:r>
              <a:rPr b="1" sz="1700"/>
              <a:t>バインド</a:t>
            </a:r>
            <a:r>
              <a:rPr b="0" sz="1700"/>
              <a:t> イット — トゥ ローカル ステイト、 アンド トゥ ジ オブジェクト キュー。</a:t>
            </a:r>
          </a:p>
          <a:p>
            <a:r>
              <a:rPr b="0" sz="1700"/>
              <a:t>Operate it — through the CLI, the TUI, or the local web interface.</a:t>
            </a:r>
          </a:p>
          <a:p>
            <a:r>
              <a:rPr b="0" sz="1700"/>
              <a:t>  </a:t>
            </a:r>
            <a:r>
              <a:rPr b="1" sz="1700"/>
              <a:t>オペレイト</a:t>
            </a:r>
            <a:r>
              <a:rPr b="0" sz="1700"/>
              <a:t> イット — スルー ザ シー エル アイ、 ザ ティー ユー アイ、 オア ザ ローカル ウェブ インターフェイス。</a:t>
            </a:r>
          </a:p>
          <a:p>
            <a:r>
              <a:rPr b="0" sz="1700"/>
              <a:t>Disclose — controlled, under documented assumptions.</a:t>
            </a:r>
          </a:p>
          <a:p>
            <a:r>
              <a:rPr b="0" sz="1700"/>
              <a:t>  </a:t>
            </a:r>
            <a:r>
              <a:rPr b="1" sz="1700"/>
              <a:t>ディスクロウズ</a:t>
            </a:r>
            <a:r>
              <a:rPr b="0" sz="1700"/>
              <a:t> — コントロールド、 アンダー ドキュメンティッド アサンプションズ。</a:t>
            </a:r>
          </a:p>
          <a:p>
            <a:r>
              <a:rPr b="0" sz="1700"/>
              <a:t>Keep those four in your head. They’re the map for the demo.”</a:t>
            </a:r>
          </a:p>
          <a:p>
            <a:r>
              <a:rPr b="0" sz="1700"/>
              <a:t>  キープ ゾウズ </a:t>
            </a:r>
            <a:r>
              <a:rPr b="1" sz="1700"/>
              <a:t>フォー</a:t>
            </a:r>
            <a:r>
              <a:rPr b="0" sz="1700"/>
              <a:t> イン ユア ヘッド。 ゼア ザ </a:t>
            </a:r>
            <a:r>
              <a:rPr b="1" sz="1700"/>
              <a:t>マップ</a:t>
            </a:r>
            <a:r>
              <a:rPr b="0" sz="170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[13:50 / 0:50] TECH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“Small. Local. Boring by design.</a:t>
            </a:r>
          </a:p>
          <a:p>
            <a:r>
              <a:rPr b="0" sz="1700"/>
              <a:t>  </a:t>
            </a:r>
            <a:r>
              <a:rPr b="1" sz="1700"/>
              <a:t>スモール</a:t>
            </a:r>
            <a:r>
              <a:rPr b="0" sz="1700"/>
              <a:t>。 </a:t>
            </a:r>
            <a:r>
              <a:rPr b="1" sz="1700"/>
              <a:t>ローカル</a:t>
            </a:r>
            <a:r>
              <a:rPr b="0" sz="1700"/>
              <a:t>。 </a:t>
            </a:r>
            <a:r>
              <a:rPr b="1" sz="1700"/>
              <a:t>ボーリング</a:t>
            </a:r>
            <a:r>
              <a:rPr b="0" sz="1700"/>
              <a:t> バイ デザイン。</a:t>
            </a:r>
          </a:p>
          <a:p>
            <a:r>
              <a:rPr b="0" sz="1700"/>
              <a:t>Argon2id for key derivation.</a:t>
            </a:r>
          </a:p>
          <a:p>
            <a:r>
              <a:rPr b="0" sz="1700"/>
              <a:t>  </a:t>
            </a:r>
            <a:r>
              <a:rPr b="1" sz="1700"/>
              <a:t>アーゴン トゥー アイディー</a:t>
            </a:r>
            <a:r>
              <a:rPr b="0" sz="1700"/>
              <a:t> フォー キー デリヴェイション。</a:t>
            </a:r>
          </a:p>
          <a:p>
            <a:r>
              <a:rPr b="0" sz="1700"/>
              <a:t>AES-GCM for authenticated encryption.</a:t>
            </a:r>
          </a:p>
          <a:p>
            <a:r>
              <a:rPr b="0" sz="1700"/>
              <a:t>  </a:t>
            </a:r>
            <a:r>
              <a:rPr b="1" sz="1700"/>
              <a:t>エイ イー エス ジー シー エム</a:t>
            </a:r>
            <a:r>
              <a:rPr b="0" sz="1700"/>
              <a:t> フォー オーセンティケイティッド インクリプション。</a:t>
            </a:r>
          </a:p>
          <a:p>
            <a:r>
              <a:rPr b="0" sz="1700"/>
              <a:t>The web interface bound to localhost.</a:t>
            </a:r>
          </a:p>
          <a:p>
            <a:r>
              <a:rPr b="0" sz="1700"/>
              <a:t>  ザ ウェブ インターフェイス バウンド トゥ </a:t>
            </a:r>
            <a:r>
              <a:rPr b="1" sz="1700"/>
              <a:t>ローカルホウスト</a:t>
            </a:r>
            <a:r>
              <a:rPr b="0" sz="1700"/>
              <a:t>。</a:t>
            </a:r>
          </a:p>
          <a:p>
            <a:r>
              <a:rPr b="0" sz="1700"/>
              <a:t>All of it on a Pi Zero 2 W.</a:t>
            </a:r>
          </a:p>
          <a:p>
            <a:r>
              <a:rPr b="0" sz="1700"/>
              <a:t>  オール オヴ イット オン ア </a:t>
            </a:r>
            <a:r>
              <a:rPr b="1" sz="1700"/>
              <a:t>パイ ズィーロウ トゥー ダブリュー</a:t>
            </a:r>
            <a:r>
              <a:rPr b="0" sz="1700"/>
              <a:t>。</a:t>
            </a:r>
          </a:p>
          <a:p>
            <a:r>
              <a:rPr b="0" sz="1700"/>
              <a:t>Parameters tuned for that little board. Per-record encryption. No plaintext header.</a:t>
            </a:r>
          </a:p>
          <a:p>
            <a:r>
              <a:rPr b="0" sz="1700"/>
              <a:t>  パラミターズ </a:t>
            </a:r>
            <a:r>
              <a:rPr b="1" sz="1700"/>
              <a:t>チューンド</a:t>
            </a:r>
            <a:r>
              <a:rPr b="0" sz="1700"/>
              <a:t> フォー ザット リトル ボード。 パーレコード インクリプション。 </a:t>
            </a:r>
            <a:r>
              <a:rPr b="1" sz="1700"/>
              <a:t>ノウ プレインテクスト ヘダー</a:t>
            </a:r>
            <a:r>
              <a:rPr b="0" sz="1700"/>
              <a:t>。</a:t>
            </a:r>
          </a:p>
          <a:p>
            <a:r>
              <a:rPr b="0" sz="1700"/>
              <a:t>Boring is good. Boring is auditable.”</a:t>
            </a:r>
          </a:p>
          <a:p>
            <a:r>
              <a:rPr b="0" sz="1700"/>
              <a:t>  ボーリング イズ </a:t>
            </a:r>
            <a:r>
              <a:rPr b="1" sz="1700"/>
              <a:t>グッド</a:t>
            </a:r>
            <a:r>
              <a:rPr b="0" sz="1700"/>
              <a:t>。 ボーリング イズ </a:t>
            </a:r>
            <a:r>
              <a:rPr b="1" sz="1700"/>
              <a:t>オーディタブル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[14:40 / 1:00] FIELD HARDWARE  ★エンゲージ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“And here’s the actual thing.</a:t>
            </a:r>
          </a:p>
          <a:p>
            <a:r>
              <a:rPr b="0" sz="1700"/>
              <a:t>  アンド ヒアズ ジ </a:t>
            </a:r>
            <a:r>
              <a:rPr b="1" sz="1700"/>
              <a:t>アクチュアル シング</a:t>
            </a:r>
            <a:r>
              <a:rPr b="0" sz="1700"/>
              <a:t>。</a:t>
            </a:r>
          </a:p>
          <a:p>
            <a:r>
              <a:rPr b="0" sz="1700"/>
              <a:t>A Pi Zero 2 W, in a 3D-printed case.</a:t>
            </a:r>
          </a:p>
          <a:p>
            <a:r>
              <a:rPr b="0" sz="1700"/>
              <a:t>  ア パイ ズィーロウ トゥー ダブリュー、 イン ア </a:t>
            </a:r>
            <a:r>
              <a:rPr b="1" sz="1700"/>
              <a:t>スリーディー プリンティッド ケイス</a:t>
            </a:r>
            <a:r>
              <a:rPr b="0" sz="1700"/>
              <a:t>。</a:t>
            </a:r>
          </a:p>
          <a:p>
            <a:r>
              <a:rPr b="0" sz="1700"/>
              <a:t>A camera for the object cue. On a small tripod.</a:t>
            </a:r>
          </a:p>
          <a:p>
            <a:r>
              <a:rPr b="0" sz="1700"/>
              <a:t>  ア </a:t>
            </a:r>
            <a:r>
              <a:rPr b="1" sz="1700"/>
              <a:t>カメラ</a:t>
            </a:r>
            <a:r>
              <a:rPr b="0" sz="1700"/>
              <a:t> フォー ジ オブジェクト キュー。 オン ア スモール </a:t>
            </a:r>
            <a:r>
              <a:rPr b="1" sz="1700"/>
              <a:t>トライポッド</a:t>
            </a:r>
            <a:r>
              <a:rPr b="0" sz="1700"/>
              <a:t>。</a:t>
            </a:r>
          </a:p>
          <a:p>
            <a:r>
              <a:rPr b="0" sz="1700"/>
              <a:t>You reach the web interface over USB, at localhost.</a:t>
            </a:r>
          </a:p>
          <a:p>
            <a:r>
              <a:rPr b="0" sz="1700"/>
              <a:t>  ユー リーチ ザ ウェブ インターフェイス オウヴァー </a:t>
            </a:r>
            <a:r>
              <a:rPr b="1" sz="1700"/>
              <a:t>ユー エス ビー</a:t>
            </a:r>
            <a:r>
              <a:rPr b="0" sz="1700"/>
              <a:t>、 アット ローカルホウスト。</a:t>
            </a:r>
          </a:p>
          <a:p>
            <a:r>
              <a:rPr b="0" sz="1700"/>
              <a:t>It never touches a network.</a:t>
            </a:r>
          </a:p>
          <a:p>
            <a:r>
              <a:rPr b="0" sz="1700"/>
              <a:t>  イット </a:t>
            </a:r>
            <a:r>
              <a:rPr b="1" sz="1700"/>
              <a:t>ネヴァー</a:t>
            </a:r>
            <a:r>
              <a:rPr b="0" sz="1700"/>
              <a:t> タッチィズ ア ネットワーク。</a:t>
            </a:r>
          </a:p>
          <a:p>
            <a:r>
              <a:rPr b="0" sz="1700"/>
              <a:t>It’s meant to read as an unremarkable little gadget.</a:t>
            </a:r>
          </a:p>
          <a:p>
            <a:r>
              <a:rPr b="0" sz="1700"/>
              <a:t>  イッツ メント トゥ リード アズ アン アンリマーカブル リトル </a:t>
            </a:r>
            <a:r>
              <a:rPr b="1" sz="1700"/>
              <a:t>ガジェット</a:t>
            </a:r>
            <a:r>
              <a:rPr b="0" sz="1700"/>
              <a:t>。</a:t>
            </a:r>
          </a:p>
          <a:p>
            <a:r>
              <a:rPr b="0" sz="1700"/>
              <a:t>And it’s right here on the table.</a:t>
            </a:r>
          </a:p>
          <a:p>
            <a:r>
              <a:rPr b="0" sz="1700"/>
              <a:t>  アンド イッツ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look — and try it — after the talk.”</a:t>
            </a:r>
          </a:p>
          <a:p>
            <a:r>
              <a:rPr b="0" sz="1700"/>
              <a:t>  </a:t>
            </a:r>
            <a:r>
              <a:rPr b="1" sz="1700"/>
              <a:t>カム アンド ルック</a:t>
            </a:r>
            <a:r>
              <a:rPr b="0" sz="1700"/>
              <a:t> — アンド </a:t>
            </a:r>
            <a:r>
              <a:rPr b="1" sz="1700"/>
              <a:t>トライ イット</a:t>
            </a:r>
            <a:r>
              <a:rPr b="0" sz="1700"/>
              <a:t> — アフター ザ トーク。</a:t>
            </a:r>
          </a:p>
          <a:p>
            <a:r>
              <a:rPr b="0" sz="1700"/>
              <a:t/>
            </a:r>
          </a:p>
          <a:p>
            <a:r>
              <a:rPr b="0" sz="120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[15:40 / 0:45] CRYPTO CORE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“For the crypto people.</a:t>
            </a:r>
          </a:p>
          <a:p>
            <a:r>
              <a:rPr b="0" sz="1700"/>
              <a:t>  フォー ザ </a:t>
            </a:r>
            <a:r>
              <a:rPr b="1" sz="1700"/>
              <a:t>クリプト ピープル</a:t>
            </a:r>
            <a:r>
              <a:rPr b="0" sz="1700"/>
              <a:t>。</a:t>
            </a:r>
          </a:p>
          <a:p>
            <a:r>
              <a:rPr b="0" sz="1700"/>
              <a:t>Argon2id, with local access-key material mixed in, and device binding.</a:t>
            </a:r>
          </a:p>
          <a:p>
            <a:r>
              <a:rPr b="0" sz="1700"/>
              <a:t>  アーゴン トゥー アイディー、 ウィズ </a:t>
            </a:r>
            <a:r>
              <a:rPr b="1" sz="1700"/>
              <a:t>ローカル アクセスキー マテリアル</a:t>
            </a:r>
            <a:r>
              <a:rPr b="0" sz="1700"/>
              <a:t> ミクスト イン、 アンド デバイス バインディング。</a:t>
            </a:r>
          </a:p>
          <a:p>
            <a:r>
              <a:rPr b="0" sz="1700"/>
              <a:t>An optional external secret, as a third factor.</a:t>
            </a:r>
          </a:p>
          <a:p>
            <a:r>
              <a:rPr b="0" sz="1700"/>
              <a:t>  アン オプショナル エクスターナル </a:t>
            </a:r>
            <a:r>
              <a:rPr b="1" sz="1700"/>
              <a:t>シークレット</a:t>
            </a:r>
            <a:r>
              <a:rPr b="0" sz="1700"/>
              <a:t>、 アズ ア </a:t>
            </a:r>
            <a:r>
              <a:rPr b="1" sz="1700"/>
              <a:t>サード ファクター</a:t>
            </a:r>
            <a:r>
              <a:rPr b="0" sz="1700"/>
              <a:t>。</a:t>
            </a:r>
          </a:p>
          <a:p>
            <a:r>
              <a:rPr b="0" sz="1700"/>
              <a:t>AES-GCM per record, with authenticated metadata.</a:t>
            </a:r>
          </a:p>
          <a:p>
            <a:r>
              <a:rPr b="0" sz="1700"/>
              <a:t>  エイ イー エス ジー シー エム パー </a:t>
            </a:r>
            <a:r>
              <a:rPr b="1" sz="1700"/>
              <a:t>レコード</a:t>
            </a:r>
            <a:r>
              <a:rPr b="0" sz="1700"/>
              <a:t>、 ウィズ オーセンティケイティッド メタデータ。</a:t>
            </a:r>
          </a:p>
          <a:p>
            <a:r>
              <a:rPr b="0" sz="1700"/>
              <a:t>No plaintext marker in the vault.</a:t>
            </a:r>
          </a:p>
          <a:p>
            <a:r>
              <a:rPr b="0" sz="1700"/>
              <a:t>  </a:t>
            </a:r>
            <a:r>
              <a:rPr b="1" sz="1700"/>
              <a:t>ノウ プレインテクスト マーカー</a:t>
            </a:r>
            <a:r>
              <a:rPr b="0" sz="1700"/>
              <a:t> イン ザ ヴォルト。</a:t>
            </a:r>
          </a:p>
          <a:p>
            <a:r>
              <a:rPr b="0" sz="1700"/>
              <a:t>Startup self-tests check the primitives first.</a:t>
            </a:r>
          </a:p>
          <a:p>
            <a:r>
              <a:rPr b="0" sz="1700"/>
              <a:t>  スタートアップ セルフテスツ チェック ザ プリミティヴズ </a:t>
            </a:r>
            <a:r>
              <a:rPr b="1" sz="1700"/>
              <a:t>ファースト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[16:25 / 0:40] OPERATIONAL GUARDS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And the web interface is hardened — not an afterthought.</a:t>
            </a:r>
          </a:p>
          <a:p>
            <a:r>
              <a:rPr b="0" sz="1700"/>
              <a:t>  アンド ザ ウェブ インターフェイス イズ </a:t>
            </a:r>
            <a:r>
              <a:rPr b="1" sz="1700"/>
              <a:t>ハードゥンド</a:t>
            </a:r>
            <a:r>
              <a:rPr b="0" sz="1700"/>
              <a:t> — ナット アン アフターソート。</a:t>
            </a:r>
          </a:p>
          <a:p>
            <a:r>
              <a:rPr b="0" sz="1700"/>
              <a:t>Localhost binding. Per-process tokens.</a:t>
            </a:r>
          </a:p>
          <a:p>
            <a:r>
              <a:rPr b="0" sz="1700"/>
              <a:t>  ローカルホウスト バインディング。 パープロセス トウクンズ。</a:t>
            </a:r>
          </a:p>
          <a:p>
            <a:r>
              <a:rPr b="0" sz="1700"/>
              <a:t>A restricted-confirmation session: HttpOnly, and short-lived.</a:t>
            </a:r>
          </a:p>
          <a:p>
            <a:r>
              <a:rPr b="0" sz="1700"/>
              <a:t>  ア リストリクティッド コンファメイション セッション: </a:t>
            </a:r>
            <a:r>
              <a:rPr b="1" sz="1700"/>
              <a:t>エイチ ティー ティー ピー オウンリー</a:t>
            </a:r>
            <a:r>
              <a:rPr b="0" sz="1700"/>
              <a:t>、 アンド ショートリヴド。</a:t>
            </a:r>
          </a:p>
          <a:p>
            <a:r>
              <a:rPr b="0" sz="1700"/>
              <a:t>Attempt limiting. Rate limiting. Inactivity auto-kill. Hardened headers.</a:t>
            </a:r>
          </a:p>
          <a:p>
            <a:r>
              <a:rPr b="0" sz="1700"/>
              <a:t>  アテンプト リミティング。 レイト リミティング。 インアクティヴィティ オートキル。 ハードゥンド ヘダーズ。</a:t>
            </a:r>
          </a:p>
          <a:p>
            <a:r>
              <a:rPr b="0" sz="1700"/>
              <a:t>And an opt-in, HMAC-chained audit log.</a:t>
            </a:r>
          </a:p>
          <a:p>
            <a:r>
              <a:rPr b="0" sz="1700"/>
              <a:t>  アンド アン オプトイン、 </a:t>
            </a:r>
            <a:r>
              <a:rPr b="1" sz="1700"/>
              <a:t>エイチマック チェインド オーディット ログ</a:t>
            </a:r>
            <a:r>
              <a:rPr b="0" sz="1700"/>
              <a:t>。</a:t>
            </a:r>
          </a:p>
          <a:p>
            <a:r>
              <a:rPr b="0" sz="1700"/>
              <a:t>Happy to go deep in Q and A.”</a:t>
            </a:r>
          </a:p>
          <a:p>
            <a:r>
              <a:rPr b="0" sz="1700"/>
              <a:t>  ハッピー トゥ ゴウ </a:t>
            </a:r>
            <a:r>
              <a:rPr b="1" sz="1700"/>
              <a:t>ディープ</a:t>
            </a:r>
            <a:r>
              <a:rPr b="0" sz="170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[17:05 / 1:10] DESIGN ETHICS  ★倫理 — 発話 0:30</a:t>
            </a:r>
          </a:p>
          <a:p>
            <a:r>
              <a:rPr b="0" sz="1700"/>
              <a:t/>
            </a:r>
          </a:p>
          <a:p>
            <a:r>
              <a:rPr b="0" sz="1700"/>
              <a:t>“Now the ethics. And this matters — especially in this room.</a:t>
            </a:r>
          </a:p>
          <a:p>
            <a:r>
              <a:rPr b="0" sz="1700"/>
              <a:t>  ナウ ジ </a:t>
            </a:r>
            <a:r>
              <a:rPr b="1" sz="1700"/>
              <a:t>エシックス</a:t>
            </a:r>
            <a:r>
              <a:rPr b="0" sz="1700"/>
              <a:t>。 アンド ディス </a:t>
            </a:r>
            <a:r>
              <a:rPr b="1" sz="1700"/>
              <a:t>マターズ</a:t>
            </a:r>
            <a:r>
              <a:rPr b="0" sz="1700"/>
              <a:t> — イスペシャリー イン ディス ルーム。</a:t>
            </a:r>
          </a:p>
          <a:p>
            <a:r>
              <a:rPr b="0" sz="1700"/>
              <a:t>Phasmid allows plausible controlled disclosure.</a:t>
            </a:r>
          </a:p>
          <a:p>
            <a:r>
              <a:rPr b="0" sz="1700"/>
              <a:t>  ファズミッド </a:t>
            </a:r>
            <a:r>
              <a:rPr b="1" sz="1700"/>
              <a:t>アラウズ</a:t>
            </a:r>
            <a:r>
              <a:rPr b="0" sz="1700"/>
              <a:t> プローザブル コントロールド ディスクロージャー。</a:t>
            </a:r>
          </a:p>
          <a:p>
            <a:r>
              <a:rPr b="0" sz="1700"/>
              <a:t>Standby. Workflows that preserve ambiguity.</a:t>
            </a:r>
          </a:p>
          <a:p>
            <a:r>
              <a:rPr b="0" sz="1700"/>
              <a:t>  スタンドバイ。 ワークフロウズ ザット プリザーヴ </a:t>
            </a:r>
            <a:r>
              <a:rPr b="1" sz="1700"/>
              <a:t>アンビギューイティ</a:t>
            </a:r>
            <a:r>
              <a:rPr b="0" sz="1700"/>
              <a:t>。</a:t>
            </a:r>
          </a:p>
          <a:p>
            <a:r>
              <a:rPr b="0" sz="1700"/>
              <a:t>It explicitly disallows rootkits. Kernel-level hiding.</a:t>
            </a:r>
          </a:p>
          <a:p>
            <a:r>
              <a:rPr b="0" sz="1700"/>
              <a:t>  イット エクスプリシットリー </a:t>
            </a:r>
            <a:r>
              <a:rPr b="1" sz="1700"/>
              <a:t>ディサラウズ</a:t>
            </a:r>
            <a:r>
              <a:rPr b="0" sz="1700"/>
              <a:t> ルートキッツ。 カーネルレヴル ハイディング。</a:t>
            </a:r>
          </a:p>
          <a:p>
            <a:r>
              <a:rPr b="0" sz="1700"/>
              <a:t>Anti-forensic destruction. Forensic-tool bypass.</a:t>
            </a:r>
          </a:p>
          <a:p>
            <a:r>
              <a:rPr b="0" sz="1700"/>
              <a:t>  アンティフォレンシック ディストラクション。 フォレンシック ツール バイパス。</a:t>
            </a:r>
          </a:p>
          <a:p>
            <a:r>
              <a:rPr b="0" sz="1700"/>
              <a:t>And fabricating false events, or false timestamps.</a:t>
            </a:r>
          </a:p>
          <a:p>
            <a:r>
              <a:rPr b="0" sz="1700"/>
              <a:t>  アンド </a:t>
            </a:r>
            <a:r>
              <a:rPr b="1" sz="1700"/>
              <a:t>ファブリケイティング</a:t>
            </a:r>
            <a:r>
              <a:rPr b="0" sz="1700"/>
              <a:t> フォルス イヴェンツ、 オア フォルス タイムスタンプス。</a:t>
            </a:r>
          </a:p>
          <a:p>
            <a:r>
              <a:rPr b="0" sz="1700"/>
              <a:t>It increases uncertainty. It delays a confident conclusion.</a:t>
            </a:r>
          </a:p>
          <a:p>
            <a:r>
              <a:rPr b="0" sz="1700"/>
              <a:t>  イット </a:t>
            </a:r>
            <a:r>
              <a:rPr b="1" sz="1700"/>
              <a:t>インクリーシズ</a:t>
            </a:r>
            <a:r>
              <a:rPr b="0" sz="1700"/>
              <a:t> アンサートゥンティ。 イット </a:t>
            </a:r>
            <a:r>
              <a:rPr b="1" sz="1700"/>
              <a:t>ディレイズ</a:t>
            </a:r>
            <a:r>
              <a:rPr b="0" sz="1700"/>
              <a:t> ア コンフィデント コンクルージョン。</a:t>
            </a:r>
          </a:p>
          <a:p>
            <a:r>
              <a:rPr b="0" sz="1700"/>
              <a:t>It does not claim forensic invisibility.</a:t>
            </a:r>
          </a:p>
          <a:p>
            <a:r>
              <a:rPr b="0" sz="1700"/>
              <a:t>  イット ダズ </a:t>
            </a:r>
            <a:r>
              <a:rPr b="1" sz="1700"/>
              <a:t>ナット</a:t>
            </a:r>
            <a:r>
              <a:rPr b="0" sz="1700"/>
              <a:t> クレイム フォレンシック インヴィジビリティ。</a:t>
            </a:r>
          </a:p>
          <a:p>
            <a:r>
              <a:rPr b="0" sz="1700"/>
              <a:t>That line is deliberate. And it’s in the code.”</a:t>
            </a:r>
          </a:p>
          <a:p>
            <a:r>
              <a:rPr b="0" sz="1700"/>
              <a:t>  ザット ライン イズ </a:t>
            </a:r>
            <a:r>
              <a:rPr b="1" sz="1700"/>
              <a:t>ディリバレット</a:t>
            </a:r>
            <a:r>
              <a:rPr b="0" sz="1700"/>
              <a:t>。 アンド イッツ イン ザ </a:t>
            </a:r>
            <a:r>
              <a:rPr b="1" sz="1700"/>
              <a:t>コウド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[18:15 / 0:50] SCOPE — 発話 0:45</a:t>
            </a:r>
          </a:p>
          <a:p>
            <a:r>
              <a:rPr b="0" sz="1700"/>
              <a:t/>
            </a:r>
          </a:p>
          <a:p>
            <a:r>
              <a:rPr b="0" sz="1700"/>
              <a:t>“Scope, drawn honestly.</a:t>
            </a:r>
          </a:p>
          <a:p>
            <a:r>
              <a:rPr b="0" sz="1700"/>
              <a:t>  </a:t>
            </a:r>
            <a:r>
              <a:rPr b="1" sz="1700"/>
              <a:t>スコープ</a:t>
            </a:r>
            <a:r>
              <a:rPr b="0" sz="1700"/>
              <a:t>、 ドローン </a:t>
            </a:r>
            <a:r>
              <a:rPr b="1" sz="1700"/>
              <a:t>オネストリー</a:t>
            </a:r>
            <a:r>
              <a:rPr b="0" sz="1700"/>
              <a:t>。</a:t>
            </a:r>
          </a:p>
          <a:p>
            <a:r>
              <a:rPr b="0" sz="1700"/>
              <a:t>Hiding that the software exists — out.</a:t>
            </a:r>
          </a:p>
          <a:p>
            <a:r>
              <a:rPr b="0" sz="1700"/>
              <a:t>  ハイディング ザット ザ ソフトウェア イグズィスツ — </a:t>
            </a:r>
            <a:r>
              <a:rPr b="1" sz="1700"/>
              <a:t>アウト</a:t>
            </a:r>
            <a:r>
              <a:rPr b="0" sz="1700"/>
              <a:t>。</a:t>
            </a:r>
          </a:p>
          <a:p>
            <a:r>
              <a:rPr b="0" sz="1700"/>
              <a:t>Denying that the data exists — partial.</a:t>
            </a:r>
          </a:p>
          <a:p>
            <a:r>
              <a:rPr b="0" sz="1700"/>
              <a:t>  ディナイイング ザット ザ データ イグズィスツ — </a:t>
            </a:r>
            <a:r>
              <a:rPr b="1" sz="1700"/>
              <a:t>パーシャル</a:t>
            </a:r>
            <a:r>
              <a:rPr b="0" sz="1700"/>
              <a:t>。</a:t>
            </a:r>
          </a:p>
          <a:p>
            <a:r>
              <a:rPr b="0" sz="1700"/>
              <a:t>Controlled disclosure — in, and central.</a:t>
            </a:r>
          </a:p>
          <a:p>
            <a:r>
              <a:rPr b="0" sz="1700"/>
              <a:t>  コントロールド ディスクロージャー — </a:t>
            </a:r>
            <a:r>
              <a:rPr b="1" sz="1700"/>
              <a:t>イン</a:t>
            </a:r>
            <a:r>
              <a:rPr b="0" sz="1700"/>
              <a:t>、 アンド </a:t>
            </a:r>
            <a:r>
              <a:rPr b="1" sz="1700"/>
              <a:t>セントラル</a:t>
            </a:r>
            <a:r>
              <a:rPr b="0" sz="1700"/>
              <a:t>。</a:t>
            </a:r>
          </a:p>
          <a:p>
            <a:r>
              <a:rPr b="0" sz="1700"/>
              <a:t>Coercion-aware fallback — in.</a:t>
            </a:r>
          </a:p>
          <a:p>
            <a:r>
              <a:rPr b="0" sz="1700"/>
              <a:t>  コアージョンアウェア フォールバック — </a:t>
            </a:r>
            <a:r>
              <a:rPr b="1" sz="1700"/>
              <a:t>イン</a:t>
            </a:r>
            <a:r>
              <a:rPr b="0" sz="1700"/>
              <a:t>。</a:t>
            </a:r>
          </a:p>
          <a:p>
            <a:r>
              <a:rPr b="0" sz="1700"/>
              <a:t>And here’s what it never claims.</a:t>
            </a:r>
          </a:p>
          <a:p>
            <a:r>
              <a:rPr b="0" sz="1700"/>
              <a:t>  アンド ヒアズ ワット イット </a:t>
            </a:r>
            <a:r>
              <a:rPr b="1" sz="1700"/>
              <a:t>ネヴァー</a:t>
            </a:r>
            <a:r>
              <a:rPr b="0" sz="1700"/>
              <a:t> クレイムズ。</a:t>
            </a:r>
          </a:p>
          <a:p>
            <a:r>
              <a:rPr b="0" sz="1700"/>
              <a:t>Perfect deniability. Forensic immunity.</a:t>
            </a:r>
          </a:p>
          <a:p>
            <a:r>
              <a:rPr b="0" sz="1700"/>
              <a:t>  パーフェクト ディナイアビリティ。 フォレンシック イミューニティ。</a:t>
            </a:r>
          </a:p>
          <a:p>
            <a:r>
              <a:rPr b="0" sz="1700"/>
              <a:t>Secure deletion on flash. Protection from a compromised host.</a:t>
            </a:r>
          </a:p>
          <a:p>
            <a:r>
              <a:rPr b="0" sz="1700"/>
              <a:t>  セキュア ディリーション オン フラッシュ。 プロテクション フロム ア コンプロマイズド ホウスト。</a:t>
            </a:r>
          </a:p>
          <a:p>
            <a:r>
              <a:rPr b="0" sz="1700"/>
              <a:t>And one more thing it never claims: that your cover story is convincing.</a:t>
            </a:r>
          </a:p>
          <a:p>
            <a:r>
              <a:rPr b="0" sz="1700"/>
              <a:t>  アンド ワン モア シング イット ネヴァー クレイムズ: ザット ユア カヴァー ストーリー イズ </a:t>
            </a:r>
            <a:r>
              <a:rPr b="1" sz="1700"/>
              <a:t>コンヴィンシング</a:t>
            </a:r>
            <a:r>
              <a:rPr b="0" sz="1700"/>
              <a:t>。</a:t>
            </a:r>
          </a:p>
          <a:p>
            <a:r>
              <a:rPr b="0" sz="1700"/>
              <a:t>It can tell you how much space is occupied.</a:t>
            </a:r>
          </a:p>
          <a:p>
            <a:r>
              <a:rPr b="0" sz="1700"/>
              <a:t>  イット キャン テル ユー ハウ マッチ </a:t>
            </a:r>
            <a:r>
              <a:rPr b="1" sz="1700"/>
              <a:t>スペイス</a:t>
            </a:r>
            <a:r>
              <a:rPr b="0" sz="1700"/>
              <a:t> イズ オキュパイド。</a:t>
            </a:r>
          </a:p>
          <a:p>
            <a:r>
              <a:rPr b="0" sz="1700"/>
              <a:t>It cannot tell you whether anyone will believe you.</a:t>
            </a:r>
          </a:p>
          <a:p>
            <a:r>
              <a:rPr b="0" sz="1700"/>
              <a:t>  イット キャナット テル ユー ウェザー エニワン ウィル </a:t>
            </a:r>
            <a:r>
              <a:rPr b="1" sz="1700"/>
              <a:t>ビリーヴ</a:t>
            </a:r>
            <a:r>
              <a:rPr b="0" sz="1700"/>
              <a:t> ユー。</a:t>
            </a:r>
          </a:p>
          <a:p>
            <a:r>
              <a:rPr b="0" sz="1700"/>
              <a:t>And it doesn’t pretend to. No snake oil.</a:t>
            </a:r>
          </a:p>
          <a:p>
            <a:r>
              <a:rPr b="0" sz="1700"/>
              <a:t>  アンド イット ダズント </a:t>
            </a:r>
            <a:r>
              <a:rPr b="1" sz="1700"/>
              <a:t>プリテンド</a:t>
            </a:r>
            <a:r>
              <a:rPr b="0" sz="1700"/>
              <a:t> トゥ。 </a:t>
            </a:r>
            <a:r>
              <a:rPr b="1" sz="1700"/>
              <a:t>ノウ スネイク オイル</a:t>
            </a:r>
            <a:r>
              <a:rPr b="0" sz="1700"/>
              <a:t>。</a:t>
            </a:r>
          </a:p>
          <a:p>
            <a:r>
              <a:rPr b="0" sz="1700"/>
              <a:t>All right. Enough talk. Let me show you.”</a:t>
            </a:r>
          </a:p>
          <a:p>
            <a:r>
              <a:rPr b="0" sz="1700"/>
              <a:t>  オーライト。 </a:t>
            </a:r>
            <a:r>
              <a:rPr b="1" sz="1700"/>
              <a:t>イナフ</a:t>
            </a:r>
            <a:r>
              <a:rPr b="0" sz="1700"/>
              <a:t> トーク。 レット ミー </a:t>
            </a:r>
            <a:r>
              <a:rPr b="1" sz="1700"/>
              <a:t>ショウ</a:t>
            </a:r>
            <a:r>
              <a:rPr b="0" sz="1700"/>
              <a:t> ユー。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[19:05 / 0:15] LIVE DEMO（章扉）</a:t>
            </a:r>
          </a:p>
          <a:p>
            <a:r>
              <a:rPr b="0" sz="1700"/>
              <a:t/>
            </a:r>
          </a:p>
          <a:p>
            <a:r>
              <a:rPr b="0" sz="1700"/>
              <a:t>“Alright — live demo.”</a:t>
            </a:r>
          </a:p>
          <a:p>
            <a:r>
              <a:rPr b="0" sz="1700"/>
              <a:t>  オーライト — </a:t>
            </a:r>
            <a:r>
              <a:rPr b="1" sz="1700"/>
              <a:t>ライヴ デモ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呼吸を整え実機に向き直る。プロジェクタ入力を TUI へ切替。バックアップ録画の頭出しを確認。以降の切替は Step 1→2（TUI→ブラウザ）と Step 4→5（ブラウザ→TUI）の1往復だけ。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[19:20 / ~8:05] LIVE DEMO  ★中心（9手＋任意1・TUI+WebUI・切替1往復）</a:t>
            </a:r>
          </a:p>
          <a:p>
            <a:r>
              <a:rPr b="0" sz="1700"/>
              <a:t/>
            </a:r>
          </a:p>
          <a:p>
            <a:r>
              <a:rPr b="0" sz="1700"/>
              <a:t>── 前置き（手を動かしながら）</a:t>
            </a:r>
          </a:p>
          <a:p>
            <a:r>
              <a:rPr b="0" sz="1700"/>
              <a:t>“Here’s what you’re about to see.</a:t>
            </a:r>
          </a:p>
          <a:p>
            <a:r>
              <a:rPr b="0" sz="1700"/>
              <a:t>  ヒアズ ワット ユア アバウト トゥ </a:t>
            </a:r>
            <a:r>
              <a:rPr b="1" sz="1700"/>
              <a:t>シー</a:t>
            </a:r>
            <a:r>
              <a:rPr b="0" sz="1700"/>
              <a:t>。</a:t>
            </a:r>
          </a:p>
          <a:p>
            <a:r>
              <a:rPr b="0" sz="1700"/>
              <a:t>I’ll create one container on the device.</a:t>
            </a:r>
          </a:p>
          <a:p>
            <a:r>
              <a:rPr b="0" sz="1700"/>
              <a:t>  アイル クリエイト </a:t>
            </a:r>
            <a:r>
              <a:rPr b="1" sz="1700"/>
              <a:t>ワン コンテナ</a:t>
            </a:r>
            <a:r>
              <a:rPr b="0" sz="1700"/>
              <a:t> オン ザ デバイス。</a:t>
            </a:r>
          </a:p>
          <a:p>
            <a:r>
              <a:rPr b="0" sz="1700"/>
              <a:t>Then, in the local web interface, I’ll put two different files into it.</a:t>
            </a:r>
          </a:p>
          <a:p>
            <a:r>
              <a:rPr b="0" sz="1700"/>
              <a:t>  ゼン、 イン ザ ローカル ウェブ インターフェイス、 アイル プット </a:t>
            </a:r>
            <a:r>
              <a:rPr b="1" sz="1700"/>
              <a:t>トゥー ディファレント ファイルズ</a:t>
            </a:r>
            <a:r>
              <a:rPr b="0" sz="1700"/>
              <a:t> イントゥ イット。</a:t>
            </a:r>
          </a:p>
          <a:p>
            <a:r>
              <a:rPr b="0" sz="1700"/>
              <a:t>Each one behind its own password, and its own everyday object.</a:t>
            </a:r>
          </a:p>
          <a:p>
            <a:r>
              <a:rPr b="0" sz="1700"/>
              <a:t>  イーチ ワン ビハインド イツ </a:t>
            </a:r>
            <a:r>
              <a:rPr b="1" sz="1700"/>
              <a:t>オウン パスワード</a:t>
            </a:r>
            <a:r>
              <a:rPr b="0" sz="1700"/>
              <a:t>、 アンド イツ </a:t>
            </a:r>
            <a:r>
              <a:rPr b="1" sz="1700"/>
              <a:t>オウン エヴリデイ オブジェクト</a:t>
            </a:r>
            <a:r>
              <a:rPr b="0" sz="1700"/>
              <a:t>。</a:t>
            </a:r>
          </a:p>
          <a:p>
            <a:r>
              <a:rPr b="0" sz="1700"/>
              <a:t>Then I open them. One object, one password — one file.</a:t>
            </a:r>
          </a:p>
          <a:p>
            <a:r>
              <a:rPr b="0" sz="1700"/>
              <a:t>  ゼン アイ オウプン ゼム。 ワン オブジェクト、 ワン パスワード —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>A different object, a different password — a different file.</a:t>
            </a:r>
          </a:p>
          <a:p>
            <a:r>
              <a:rPr b="0" sz="1700"/>
              <a:t>  ア ディファレント オブジェクト、 ア ディファレント パスワード — ア </a:t>
            </a:r>
            <a:r>
              <a:rPr b="1" sz="1700"/>
              <a:t>ディファレント ファイル</a:t>
            </a:r>
            <a:r>
              <a:rPr b="0" sz="1700"/>
              <a:t>。</a:t>
            </a:r>
          </a:p>
          <a:p>
            <a:r>
              <a:rPr b="0" sz="1700"/>
              <a:t>Same container. That is the two-slot model, working.</a:t>
            </a:r>
          </a:p>
          <a:p>
            <a:r>
              <a:rPr b="0" sz="1700"/>
              <a:t>  </a:t>
            </a:r>
            <a:r>
              <a:rPr b="1" sz="1700"/>
              <a:t>セイム コンテナ</a:t>
            </a:r>
            <a:r>
              <a:rPr b="0" sz="1700"/>
              <a:t>。 ザット イズ ザ </a:t>
            </a:r>
            <a:r>
              <a:rPr b="1" sz="1700"/>
              <a:t>トゥースロット モデル</a:t>
            </a:r>
            <a:r>
              <a:rPr b="0" sz="1700"/>
              <a:t>、 ワーキング。</a:t>
            </a:r>
          </a:p>
          <a:p>
            <a:r>
              <a:rPr b="0" sz="1700"/>
              <a:t>And then the part that matters most.</a:t>
            </a:r>
          </a:p>
          <a:p>
            <a:r>
              <a:rPr b="0" sz="1700"/>
              <a:t>  アンド ゼン ザ パート ザット </a:t>
            </a:r>
            <a:r>
              <a:rPr b="1" sz="1700"/>
              <a:t>マターズ モウスト</a:t>
            </a:r>
            <a:r>
              <a:rPr b="0" sz="1700"/>
              <a:t>。</a:t>
            </a:r>
          </a:p>
          <a:p>
            <a:r>
              <a:rPr b="0" sz="1700"/>
              <a:t>I don’t touch the screen.</a:t>
            </a:r>
          </a:p>
          <a:p>
            <a:r>
              <a:rPr b="0" sz="1700"/>
              <a:t>  アイ </a:t>
            </a:r>
            <a:r>
              <a:rPr b="1" sz="1700"/>
              <a:t>ドウント タッチ</a:t>
            </a:r>
            <a:r>
              <a:rPr b="0" sz="1700"/>
              <a:t> ザ スクリーン。</a:t>
            </a:r>
          </a:p>
          <a:p>
            <a:r>
              <a:rPr b="0" sz="1700"/>
              <a:t>Same tab. Same file. Same password. Same button.</a:t>
            </a:r>
          </a:p>
          <a:p>
            <a:r>
              <a:rPr b="0" sz="1700"/>
              <a:t>  セイム タブ。 セイム ファイル。 セイム パスワード。 セイム バトゥン。</a:t>
            </a:r>
          </a:p>
          <a:p>
            <a:r>
              <a:rPr b="0" sz="1700"/>
              <a:t>I simply take the object off the table.</a:t>
            </a:r>
          </a:p>
          <a:p>
            <a:r>
              <a:rPr b="0" sz="1700"/>
              <a:t>  アイ シンプリー </a:t>
            </a:r>
            <a:r>
              <a:rPr b="1" sz="1700"/>
              <a:t>テイク ジ オブジェクト オフ</a:t>
            </a:r>
            <a:r>
              <a:rPr b="0" sz="1700"/>
              <a:t> ザ テイブル。</a:t>
            </a:r>
          </a:p>
          <a:p>
            <a:r>
              <a:rPr b="0" sz="1700"/>
              <a:t>And watch it refuse.</a:t>
            </a:r>
          </a:p>
          <a:p>
            <a:r>
              <a:rPr b="0" sz="1700"/>
              <a:t>  アンド ウォッチ イット </a:t>
            </a:r>
            <a:r>
              <a:rPr b="1" sz="1700"/>
              <a:t>リフューズ</a:t>
            </a:r>
            <a:r>
              <a:rPr b="0" sz="1700"/>
              <a:t>。</a:t>
            </a:r>
          </a:p>
          <a:p>
            <a:r>
              <a:rPr b="0" sz="1700"/>
              <a:t>Then Audit. And Silent Standby.”</a:t>
            </a:r>
          </a:p>
          <a:p>
            <a:r>
              <a:rPr b="0" sz="1700"/>
              <a:t>  ゼン </a:t>
            </a:r>
            <a:r>
              <a:rPr b="1" sz="1700"/>
              <a:t>オーディット</a:t>
            </a:r>
            <a:r>
              <a:rPr b="0" sz="1700"/>
              <a:t>。 アンド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0 · 0:20 · Orientation</a:t>
            </a:r>
          </a:p>
          <a:p>
            <a:r>
              <a:rPr b="0" sz="1200"/>
              <a:t>DO: Simple ホームを提示。下部バーを指す（o · n · g · e · q · w の6つだけ）</a:t>
            </a:r>
          </a:p>
          <a:p>
            <a:r>
              <a:rPr b="0" sz="1700"/>
              <a:t>“This is the real console — Local Disclosure Control.</a:t>
            </a:r>
          </a:p>
          <a:p>
            <a:r>
              <a:rPr b="0" sz="1700"/>
              <a:t>  ディス イズ ザ </a:t>
            </a:r>
            <a:r>
              <a:rPr b="1" sz="1700"/>
              <a:t>リアル コンソウル</a:t>
            </a:r>
            <a:r>
              <a:rPr b="0" sz="1700"/>
              <a:t> — ローカル ディスクロージャー コントロール。</a:t>
            </a:r>
          </a:p>
          <a:p>
            <a:r>
              <a:rPr b="0" sz="1700"/>
              <a:t>The home screen is deliberately small.</a:t>
            </a:r>
          </a:p>
          <a:p>
            <a:r>
              <a:rPr b="0" sz="1700"/>
              <a:t>  ザ ホウム スクリーン イズ </a:t>
            </a:r>
            <a:r>
              <a:rPr b="1" sz="1700"/>
              <a:t>ディリバレットリー スモール</a:t>
            </a:r>
            <a:r>
              <a:rPr b="0" sz="1700"/>
              <a:t>。</a:t>
            </a:r>
          </a:p>
          <a:p>
            <a:r>
              <a:rPr b="0" sz="1700"/>
              <a:t>Open. New. Guided. Expert.</a:t>
            </a:r>
          </a:p>
          <a:p>
            <a:r>
              <a:rPr b="0" sz="1700"/>
              <a:t>  オウプン。 ニュー。 ガイディッド。 エクスパート。</a:t>
            </a:r>
          </a:p>
          <a:p>
            <a:r>
              <a:rPr b="0" sz="1700"/>
              <a:t>Under pressure, you don’t want a wall of options.</a:t>
            </a:r>
          </a:p>
          <a:p>
            <a:r>
              <a:rPr b="0" sz="1700"/>
              <a:t>  アンダー プレッシャー、 ユー ドウント ワント ア </a:t>
            </a:r>
            <a:r>
              <a:rPr b="1" sz="1700"/>
              <a:t>ウォール オヴ オプションズ</a:t>
            </a:r>
            <a:r>
              <a:rPr b="0" sz="1700"/>
              <a:t>。</a:t>
            </a:r>
          </a:p>
          <a:p>
            <a:r>
              <a:rPr b="0" sz="1700"/>
              <a:t>The full control set is one key away.”</a:t>
            </a:r>
          </a:p>
          <a:p>
            <a:r>
              <a:rPr b="0" sz="1700"/>
              <a:t>  ザ フル コントロール セット イズ </a:t>
            </a:r>
            <a:r>
              <a:rPr b="1" sz="1700"/>
              <a:t>ワン キー アウェイ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1 · 0:50 · Create a Vessel — Prepare</a:t>
            </a:r>
          </a:p>
          <a:p>
            <a:r>
              <a:rPr b="0" sz="1200"/>
              <a:t>DO: n New → vessel-path → vessel-size を 64M に変更（Select・既定 512M。既定のまま作らない）→ vessel-label（任意・無害な語）→ create-btn</a:t>
            </a:r>
          </a:p>
          <a:p>
            <a:r>
              <a:rPr b="0" sz="1700"/>
              <a:t>“First I create a vessel — a deniable container file.</a:t>
            </a:r>
          </a:p>
          <a:p>
            <a:r>
              <a:rPr b="0" sz="1700"/>
              <a:t>  ファースト アイ クリエイト ア </a:t>
            </a:r>
            <a:r>
              <a:rPr b="1" sz="1700"/>
              <a:t>ヴェッセル</a:t>
            </a:r>
            <a:r>
              <a:rPr b="0" sz="1700"/>
              <a:t> — ア ディナイアブル コンテナ ファイル。</a:t>
            </a:r>
          </a:p>
          <a:p>
            <a:r>
              <a:rPr b="0" sz="1700"/>
              <a:t>This is the Prepare step.</a:t>
            </a:r>
          </a:p>
          <a:p>
            <a:r>
              <a:rPr b="0" sz="1700"/>
              <a:t>  ディス イズ ザ </a:t>
            </a:r>
            <a:r>
              <a:rPr b="1" sz="1700"/>
              <a:t>プリペア</a:t>
            </a:r>
            <a:r>
              <a:rPr b="0" sz="1700"/>
              <a:t> ステップ。</a:t>
            </a:r>
          </a:p>
          <a:p>
            <a:r>
              <a:rPr b="0" sz="1700"/>
              <a:t>It has no header. No magic bytes.</a:t>
            </a:r>
          </a:p>
          <a:p>
            <a:r>
              <a:rPr b="0" sz="1700"/>
              <a:t>  イット ハズ </a:t>
            </a:r>
            <a:r>
              <a:rPr b="1" sz="1700"/>
              <a:t>ノウ ヘダー</a:t>
            </a:r>
            <a:r>
              <a:rPr b="0" sz="1700"/>
              <a:t>。 </a:t>
            </a:r>
            <a:r>
              <a:rPr b="1" sz="1700"/>
              <a:t>ノウ マジック バイツ</a:t>
            </a:r>
            <a:r>
              <a:rPr b="0" sz="1700"/>
              <a:t>。</a:t>
            </a:r>
          </a:p>
          <a:p>
            <a:r>
              <a:rPr b="0" sz="1700"/>
              <a:t>On disk, it’s indistinguishable from random data.”</a:t>
            </a:r>
          </a:p>
          <a:p>
            <a:r>
              <a:rPr b="0" sz="1700"/>
              <a:t>  オン ディスク、 イッツ </a:t>
            </a:r>
            <a:r>
              <a:rPr b="1" sz="1700"/>
              <a:t>インディスティングウィシャブル</a:t>
            </a:r>
            <a:r>
              <a:rPr b="0" sz="1700"/>
              <a:t> フロム ランダム データ。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2 · 1:30 · Bind — put two different files into one container</a:t>
            </a:r>
          </a:p>
          <a:p>
            <a:r>
              <a:rPr b="0" sz="1200"/>
              <a:t>DO: TUI で w → プロジェクタをラップトップのブラウザへ切替 → 事前ブックマークの /unlock タブに store トークンを入力 → Store 画面。1回目：「Choose the entry」で Entry 1 → ファイル → パスワード → 物体を手元に置いたまま 1 · Capture empty scene → 物体Aをかざして 2 · Capture access object → かざしたまま Protect file2回目：Entry 2 に切替 → 別ファイル → 別パスワード → 物体を外して 1 · Capture empty scene → 物体Bをかざして 2 · Capture access object → Advanced security options → Restricted recovery password に破壊パスワード → かざしたまま Protect file</a:t>
            </a:r>
          </a:p>
          <a:p>
            <a:r>
              <a:rPr b="0" sz="1700"/>
              <a:t>“Now I switch to the browser.</a:t>
            </a:r>
          </a:p>
          <a:p>
            <a:r>
              <a:rPr b="0" sz="1700"/>
              <a:t>  ナウ アイ スウィッチ トゥ ザ </a:t>
            </a:r>
            <a:r>
              <a:rPr b="1" sz="1700"/>
              <a:t>ブラウザ</a:t>
            </a:r>
            <a:r>
              <a:rPr b="0" sz="1700"/>
              <a:t>。</a:t>
            </a:r>
          </a:p>
          <a:p>
            <a:r>
              <a:rPr b="0" sz="1700"/>
              <a:t>The same device serves a local web interface.</a:t>
            </a:r>
          </a:p>
          <a:p>
            <a:r>
              <a:rPr b="0" sz="1700"/>
              <a:t>  ザ セイム デバイス サーヴズ ア </a:t>
            </a:r>
            <a:r>
              <a:rPr b="1" sz="1700"/>
              <a:t>ローカル ウェブ インターフェイス</a:t>
            </a:r>
            <a:r>
              <a:rPr b="0" sz="1700"/>
              <a:t>。</a:t>
            </a:r>
          </a:p>
          <a:p>
            <a:r>
              <a:rPr b="0" sz="1700"/>
              <a:t>I’m logged in with a token scoped to the store role.</a:t>
            </a:r>
          </a:p>
          <a:p>
            <a:r>
              <a:rPr b="0" sz="1700"/>
              <a:t>  アイム ログド イン ウィズ ア トウクン スコウプト トゥ ザ </a:t>
            </a:r>
            <a:r>
              <a:rPr b="1" sz="1700"/>
              <a:t>ストア ロウル</a:t>
            </a:r>
            <a:r>
              <a:rPr b="0" sz="1700"/>
              <a:t>。</a:t>
            </a:r>
          </a:p>
          <a:p>
            <a:r>
              <a:rPr b="0" sz="1700"/>
              <a:t>I’m putting two different files into the one container I just made.</a:t>
            </a:r>
          </a:p>
          <a:p>
            <a:r>
              <a:rPr b="0" sz="1700"/>
              <a:t>  アイム プティング </a:t>
            </a:r>
            <a:r>
              <a:rPr b="1" sz="1700"/>
              <a:t>トゥー ディファレント ファイルズ</a:t>
            </a:r>
            <a:r>
              <a:rPr b="0" sz="1700"/>
              <a:t> イントゥ ザ ワン コンテナ アイ ジャスト メイド。</a:t>
            </a:r>
          </a:p>
          <a:p>
            <a:r>
              <a:rPr b="0" sz="1700"/>
              <a:t>Now watch — it takes two shots.</a:t>
            </a:r>
          </a:p>
          <a:p>
            <a:r>
              <a:rPr b="0" sz="1700"/>
              <a:t>  ナウ </a:t>
            </a:r>
            <a:r>
              <a:rPr b="1" sz="1700"/>
              <a:t>ウォッチ</a:t>
            </a:r>
            <a:r>
              <a:rPr b="0" sz="1700"/>
              <a:t> — イット テイクス </a:t>
            </a:r>
            <a:r>
              <a:rPr b="1" sz="1700"/>
              <a:t>トゥー ショッツ</a:t>
            </a:r>
            <a:r>
              <a:rPr b="0" sz="1700"/>
              <a:t>。</a:t>
            </a:r>
          </a:p>
          <a:p>
            <a:r>
              <a:rPr b="0" sz="1700"/>
              <a:t>First the empty view. Then the object.</a:t>
            </a:r>
          </a:p>
          <a:p>
            <a:r>
              <a:rPr b="0" sz="1700"/>
              <a:t>  ファースト ジ </a:t>
            </a:r>
            <a:r>
              <a:rPr b="1" sz="1700"/>
              <a:t>エンプティ ヴュー</a:t>
            </a:r>
            <a:r>
              <a:rPr b="0" sz="1700"/>
              <a:t>。 ゼン ジ </a:t>
            </a:r>
            <a:r>
              <a:rPr b="1" sz="1700"/>
              <a:t>オブジェクト</a:t>
            </a:r>
            <a:r>
              <a:rPr b="0" sz="1700"/>
              <a:t>。</a:t>
            </a:r>
          </a:p>
          <a:p>
            <a:r>
              <a:rPr b="0" sz="1700"/>
              <a:t>The difference between those two frames is what the device keeps.</a:t>
            </a:r>
          </a:p>
          <a:p>
            <a:r>
              <a:rPr b="0" sz="1700"/>
              <a:t>  ザ </a:t>
            </a:r>
            <a:r>
              <a:rPr b="1" sz="1700"/>
              <a:t>ディファレンス</a:t>
            </a:r>
            <a:r>
              <a:rPr b="0" sz="1700"/>
              <a:t> ビトウィーン ゾウズ トゥー フレイムズ イズ ワット ザ デバイス キープス。</a:t>
            </a:r>
          </a:p>
          <a:p>
            <a:r>
              <a:rPr b="0" sz="1700"/>
              <a:t>Otherwise it would be describing my wall.</a:t>
            </a:r>
          </a:p>
          <a:p>
            <a:r>
              <a:rPr b="0" sz="1700"/>
              <a:t>  アザワイズ イット ウド ビー ディスクライビング マイ </a:t>
            </a:r>
            <a:r>
              <a:rPr b="1" sz="1700"/>
              <a:t>ウォール</a:t>
            </a:r>
            <a:r>
              <a:rPr b="0" sz="1700"/>
              <a:t>。</a:t>
            </a:r>
          </a:p>
          <a:p>
            <a:r>
              <a:rPr b="0" sz="1700"/>
              <a:t>And then my wall would open the file.</a:t>
            </a:r>
          </a:p>
          <a:p>
            <a:r>
              <a:rPr b="0" sz="1700"/>
              <a:t>  アンド ゼン </a:t>
            </a:r>
            <a:r>
              <a:rPr b="1" sz="1700"/>
              <a:t>マイ ウォール</a:t>
            </a:r>
            <a:r>
              <a:rPr b="0" sz="1700"/>
              <a:t> ウド オウプン ザ ファイル。</a:t>
            </a:r>
          </a:p>
          <a:p>
            <a:r>
              <a:rPr b="0" sz="1700"/>
              <a:t>And remember what that object is. A cue, not a key.</a:t>
            </a:r>
          </a:p>
          <a:p>
            <a:r>
              <a:rPr b="0" sz="1700"/>
              <a:t>  アンド リメンバー ワット ザット オブジェクト イズ。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gates the operation. It is not the encryption key.</a:t>
            </a:r>
          </a:p>
          <a:p>
            <a:r>
              <a:rPr b="0" sz="1700"/>
              <a:t>  イット </a:t>
            </a:r>
            <a:r>
              <a:rPr b="1" sz="1700"/>
              <a:t>ゲイツ</a:t>
            </a:r>
            <a:r>
              <a:rPr b="0" sz="1700"/>
              <a:t> ジ オペレイション。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photograph of it unlocks nothing.”</a:t>
            </a:r>
          </a:p>
          <a:p>
            <a:r>
              <a:rPr b="0" sz="1700"/>
              <a:t>  ア フォウトグラフ オヴ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3 · 0:50 · Operate — the file comes back, and the role boundary</a:t>
            </a:r>
          </a:p>
          <a:p>
            <a:r>
              <a:rPr b="0" sz="1200"/>
              <a:t>DO: 同じ store タブで Retrieve へ。物体Aを提示 → パスワード → Open protected file。続けて役割の境界：別タブで recover トークンで解錠しておいたウィンドウを一瞬提示 — ナビに Store / Maintenance が一切無いことを指す</a:t>
            </a:r>
          </a:p>
          <a:p>
            <a:r>
              <a:rPr b="0" sz="1700"/>
              <a:t>“Same object. Correct password. The file comes back.</a:t>
            </a:r>
          </a:p>
          <a:p>
            <a:r>
              <a:rPr b="0" sz="1700"/>
              <a:t>  セイム オブジェクト。 コゥレクト パスワード。 ザ ファイル </a:t>
            </a:r>
            <a:r>
              <a:rPr b="1" sz="1700"/>
              <a:t>カムズ バック</a:t>
            </a:r>
            <a:r>
              <a:rPr b="0" sz="1700"/>
              <a:t>。</a:t>
            </a:r>
          </a:p>
          <a:p>
            <a:r>
              <a:rPr b="0" sz="1700"/>
              <a:t>And here’s a second session. A narrower one.</a:t>
            </a:r>
          </a:p>
          <a:p>
            <a:r>
              <a:rPr b="0" sz="1700"/>
              <a:t>  アンド ヒアズ ア </a:t>
            </a:r>
            <a:r>
              <a:rPr b="1" sz="1700"/>
              <a:t>セカンド セッション</a:t>
            </a:r>
            <a:r>
              <a:rPr b="0" sz="1700"/>
              <a:t>。 ア </a:t>
            </a:r>
            <a:r>
              <a:rPr b="1" sz="1700"/>
              <a:t>ナロウアー</a:t>
            </a:r>
            <a:r>
              <a:rPr b="0" sz="1700"/>
              <a:t> ワン。</a:t>
            </a:r>
          </a:p>
          <a:p>
            <a:r>
              <a:rPr b="0" sz="1700"/>
              <a:t>Logged in with a different token — a different role.</a:t>
            </a:r>
          </a:p>
          <a:p>
            <a:r>
              <a:rPr b="0" sz="1700"/>
              <a:t>  ログド イン ウィズ ア </a:t>
            </a:r>
            <a:r>
              <a:rPr b="1" sz="1700"/>
              <a:t>ディファレント トウクン</a:t>
            </a:r>
            <a:r>
              <a:rPr b="0" sz="1700"/>
              <a:t> — ア </a:t>
            </a:r>
            <a:r>
              <a:rPr b="1" sz="1700"/>
              <a:t>ディファレント ロウル</a:t>
            </a:r>
            <a:r>
              <a:rPr b="0" sz="1700"/>
              <a:t>。</a:t>
            </a:r>
          </a:p>
          <a:p>
            <a:r>
              <a:rPr b="0" sz="1700"/>
              <a:t>It can decrypt, and it can destroy.</a:t>
            </a:r>
          </a:p>
          <a:p>
            <a:r>
              <a:rPr b="0" sz="1700"/>
              <a:t>  イット キャン </a:t>
            </a:r>
            <a:r>
              <a:rPr b="1" sz="1700"/>
              <a:t>ディクリプト</a:t>
            </a:r>
            <a:r>
              <a:rPr b="0" sz="1700"/>
              <a:t>、 アンド イット キャン </a:t>
            </a:r>
            <a:r>
              <a:rPr b="1" sz="1700"/>
              <a:t>ディストロイ</a:t>
            </a:r>
            <a:r>
              <a:rPr b="0" sz="1700"/>
              <a:t>。</a:t>
            </a:r>
          </a:p>
          <a:p>
            <a:r>
              <a:rPr b="0" sz="1700"/>
              <a:t>It can never reach Face setup at all.</a:t>
            </a:r>
          </a:p>
          <a:p>
            <a:r>
              <a:rPr b="0" sz="1700"/>
              <a:t>  イット キャン </a:t>
            </a:r>
            <a:r>
              <a:rPr b="1" sz="1700"/>
              <a:t>ネヴァー</a:t>
            </a:r>
            <a:r>
              <a:rPr b="0" sz="1700"/>
              <a:t> リーチ フェイス セットアップ アット オール。</a:t>
            </a:r>
          </a:p>
          <a:p>
            <a:r>
              <a:rPr b="0" sz="1700"/>
              <a:t>It can’t even see that there is more than one entry.”</a:t>
            </a:r>
          </a:p>
          <a:p>
            <a:r>
              <a:rPr b="0" sz="1700"/>
              <a:t>  イット キャント </a:t>
            </a:r>
            <a:r>
              <a:rPr b="1" sz="1700"/>
              <a:t>イーヴン シー</a:t>
            </a:r>
            <a:r>
              <a:rPr b="0" sz="1700"/>
              <a:t> ザット ゼア イズ モア ザン ワン エントリー。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3b · 0:35 · The second object, the second password — a different file</a:t>
            </a:r>
          </a:p>
          <a:p>
            <a:r>
              <a:rPr b="0" sz="1200"/>
              <a:t>DO: 同じ Retrieve 画面のまま、物体Bに持ち替える → 2つ目のパスワード → Open protected file。落ちてきたファイルを開いて中身を見せる</a:t>
            </a:r>
          </a:p>
          <a:p>
            <a:r>
              <a:rPr b="0" sz="1700"/>
              <a:t>“Now the same screen. The same container.</a:t>
            </a:r>
          </a:p>
          <a:p>
            <a:r>
              <a:rPr b="0" sz="1700"/>
              <a:t>  ナウ ザ </a:t>
            </a:r>
            <a:r>
              <a:rPr b="1" sz="1700"/>
              <a:t>セイム スクリーン</a:t>
            </a:r>
            <a:r>
              <a:rPr b="0" sz="1700"/>
              <a:t>。 ザ セイム コンテナ。</a:t>
            </a:r>
          </a:p>
          <a:p>
            <a:r>
              <a:rPr b="0" sz="1700"/>
              <a:t>But a different object — and a different password.</a:t>
            </a:r>
          </a:p>
          <a:p>
            <a:r>
              <a:rPr b="0" sz="1700"/>
              <a:t>  バット ア </a:t>
            </a:r>
            <a:r>
              <a:rPr b="1" sz="1700"/>
              <a:t>ディファレント オブジェクト</a:t>
            </a:r>
            <a:r>
              <a:rPr b="0" sz="1700"/>
              <a:t> — アンド ア </a:t>
            </a:r>
            <a:r>
              <a:rPr b="1" sz="1700"/>
              <a:t>ディファレント パスワード</a:t>
            </a:r>
            <a:r>
              <a:rPr b="0" sz="1700"/>
              <a:t>。</a:t>
            </a:r>
          </a:p>
          <a:p>
            <a:r>
              <a:rPr b="0" sz="1700"/>
              <a:t>And a different file comes back.</a:t>
            </a:r>
          </a:p>
          <a:p>
            <a:r>
              <a:rPr b="0" sz="1700"/>
              <a:t>  アンド ア </a:t>
            </a:r>
            <a:r>
              <a:rPr b="1" sz="1700"/>
              <a:t>ディファレント ファイル</a:t>
            </a:r>
            <a:r>
              <a:rPr b="0" sz="1700"/>
              <a:t> カムズ バック。</a:t>
            </a:r>
          </a:p>
          <a:p>
            <a:r>
              <a:rPr b="0" sz="1700"/>
              <a:t>One container. Two objects. Two passwords. Two files.</a:t>
            </a:r>
          </a:p>
          <a:p>
            <a:r>
              <a:rPr b="0" sz="1700"/>
              <a:t>  </a:t>
            </a:r>
            <a:r>
              <a:rPr b="1" sz="1700"/>
              <a:t>ワン コンテナ</a:t>
            </a:r>
            <a:r>
              <a:rPr b="0" sz="1700"/>
              <a:t>。 トゥー オブジェクツ。 トゥー パスワーズ。 </a:t>
            </a:r>
            <a:r>
              <a:rPr b="1" sz="1700"/>
              <a:t>トゥー ファイルズ</a:t>
            </a:r>
            <a:r>
              <a:rPr b="0" sz="1700"/>
              <a:t>。</a:t>
            </a:r>
          </a:p>
          <a:p>
            <a:r>
              <a:rPr b="0" sz="1700"/>
              <a:t>That is Slot A and Slot B — on the table, in front of you.”</a:t>
            </a:r>
          </a:p>
          <a:p>
            <a:r>
              <a:rPr b="0" sz="1700"/>
              <a:t>  ザット イズ </a:t>
            </a:r>
            <a:r>
              <a:rPr b="1" sz="1700"/>
              <a:t>スロット エイ アンド スロット ビー</a:t>
            </a:r>
            <a:r>
              <a:rPr b="0" sz="1700"/>
              <a:t> — オン ザ テイブル、 イン フロント オヴ ユー。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“Same container. Different object — a different file.”</a:t>
            </a:r>
          </a:p>
          <a:p>
            <a:r>
              <a:rPr b="0" sz="1700"/>
              <a:t>  </a:t>
            </a:r>
            <a:r>
              <a:rPr b="1" sz="1700"/>
              <a:t>セイム コンテナ</a:t>
            </a:r>
            <a:r>
              <a:rPr b="0" sz="1700"/>
              <a:t>。 ディファレント オブジェクト — ア </a:t>
            </a:r>
            <a:r>
              <a:rPr b="1" sz="1700"/>
              <a:t>ディファレント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4 · 0:50 · Same tab, same password — the object is gone, and it refuses</a:t>
            </a:r>
          </a:p>
          <a:p>
            <a:r>
              <a:rPr b="0" sz="1200"/>
              <a:t>DO: Step 3 と同じ Retrieve 画面のまま。 物体をカメラの視野から完全に外す（手で覆うのではなく卓の下に下ろす）→ オーバーレイが No object cue match に変わるのを待つ → Step 3 と同じパスワード → Open protected file。直後に物体を戻して同じパスワードで再実行し、成功させる（0:15）</a:t>
            </a:r>
          </a:p>
          <a:p>
            <a:r>
              <a:rPr b="0" sz="1700"/>
              <a:t>“Same tab. Same file. Same password. Same everything.</a:t>
            </a:r>
          </a:p>
          <a:p>
            <a:r>
              <a:rPr b="0" sz="1700"/>
              <a:t>  </a:t>
            </a:r>
            <a:r>
              <a:rPr b="1" sz="1700"/>
              <a:t>セイム</a:t>
            </a:r>
            <a:r>
              <a:rPr b="0" sz="1700"/>
              <a:t> タブ。 </a:t>
            </a:r>
            <a:r>
              <a:rPr b="1" sz="1700"/>
              <a:t>セイム</a:t>
            </a:r>
            <a:r>
              <a:rPr b="0" sz="1700"/>
              <a:t> ファイル。 </a:t>
            </a:r>
            <a:r>
              <a:rPr b="1" sz="1700"/>
              <a:t>セイム</a:t>
            </a:r>
            <a:r>
              <a:rPr b="0" sz="1700"/>
              <a:t> パスワード。 </a:t>
            </a:r>
            <a:r>
              <a:rPr b="1" sz="1700"/>
              <a:t>セイム エヴリシング</a:t>
            </a:r>
            <a:r>
              <a:rPr b="0" sz="1700"/>
              <a:t>。</a:t>
            </a:r>
          </a:p>
          <a:p>
            <a:r>
              <a:rPr b="0" sz="1700"/>
              <a:t>I have only taken the object away.</a:t>
            </a:r>
          </a:p>
          <a:p>
            <a:r>
              <a:rPr b="0" sz="1700"/>
              <a:t>  アイ ハヴ </a:t>
            </a:r>
            <a:r>
              <a:rPr b="1" sz="1700"/>
              <a:t>オウンリー</a:t>
            </a:r>
            <a:r>
              <a:rPr b="0" sz="1700"/>
              <a:t> テイクン ジ オブジェクト アウェイ。</a:t>
            </a:r>
          </a:p>
          <a:p>
            <a:r>
              <a:rPr b="0" sz="1700"/>
              <a:t>And look at what it says. ‘No valid entry found.’</a:t>
            </a:r>
          </a:p>
          <a:p>
            <a:r>
              <a:rPr b="0" sz="1700"/>
              <a:t>  アンド ルック アット ワット イット セズ。 </a:t>
            </a:r>
            <a:r>
              <a:rPr b="1" sz="1700"/>
              <a:t>ノウ ヴァリッド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Not ‘wrong object’. Not ‘object missing’.</a:t>
            </a:r>
          </a:p>
          <a:p>
            <a:r>
              <a:rPr b="0" sz="1700"/>
              <a:t>  ナット </a:t>
            </a:r>
            <a:r>
              <a:rPr b="1" sz="1700"/>
              <a:t>ゥロング オブジェクト</a:t>
            </a:r>
            <a:r>
              <a:rPr b="0" sz="1700"/>
              <a:t>。 ナット </a:t>
            </a:r>
            <a:r>
              <a:rPr b="1" sz="1700"/>
              <a:t>オブジェクト ミッシング</a:t>
            </a:r>
            <a:r>
              <a:rPr b="0" sz="1700"/>
              <a:t>。</a:t>
            </a:r>
          </a:p>
          <a:p>
            <a:r>
              <a:rPr b="0" sz="1700"/>
              <a:t>It won’t even tell you what it’s waiting for.</a:t>
            </a:r>
          </a:p>
          <a:p>
            <a:r>
              <a:rPr b="0" sz="1700"/>
              <a:t>  イット ウォウント イーヴン テル ユー ワット イッツ </a:t>
            </a:r>
            <a:r>
              <a:rPr b="1" sz="1700"/>
              <a:t>ウェイティング</a:t>
            </a:r>
            <a:r>
              <a:rPr b="0" sz="1700"/>
              <a:t> フォー。</a:t>
            </a:r>
          </a:p>
          <a:p>
            <a:r>
              <a:rPr b="0" sz="1700"/>
              <a:t>That is deliberate.</a:t>
            </a:r>
          </a:p>
          <a:p>
            <a:r>
              <a:rPr b="0" sz="1700"/>
              <a:t>  ザット イズ </a:t>
            </a:r>
            <a:r>
              <a:rPr b="1" sz="1700"/>
              <a:t>ディリバレット</a:t>
            </a:r>
            <a:r>
              <a:rPr b="0" sz="1700"/>
              <a:t>。</a:t>
            </a:r>
          </a:p>
          <a:p>
            <a:r>
              <a:rPr b="0" sz="1700"/>
              <a:t>That is what ‘the cue gates the operation’ means.”</a:t>
            </a:r>
          </a:p>
          <a:p>
            <a:r>
              <a:rPr b="0" sz="1700"/>
              <a:t>  </a:t>
            </a:r>
            <a:r>
              <a:rPr b="1" sz="1700"/>
              <a:t>ザット</a:t>
            </a:r>
            <a:r>
              <a:rPr b="0" sz="1700"/>
              <a:t> イズ ワット 「ザ キュー ゲイツ ジ オペレイション」 ミーンズ。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“Only the object is gone. And it refuses.”</a:t>
            </a:r>
          </a:p>
          <a:p>
            <a:r>
              <a:rPr b="0" sz="1700"/>
              <a:t>  </a:t>
            </a:r>
            <a:r>
              <a:rPr b="1" sz="1700"/>
              <a:t>オウンリー ジ オブジェクト</a:t>
            </a:r>
            <a:r>
              <a:rPr b="0" sz="1700"/>
              <a:t> イズ ゴーン。 アンド イット </a:t>
            </a:r>
            <a:r>
              <a:rPr b="1" sz="1700"/>
              <a:t>リフューズィズ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4b · 0:40 · 同じ欄に、違うパスワード — エントリが消える</a:t>
            </a:r>
          </a:p>
          <a:p>
            <a:r>
              <a:rPr b="0" sz="1200"/>
              <a:t>DO: Step 3・4 とまったく同じ Retrieve 画面。 消したい Face の物体をかざす → パスワード欄に、そのアクセスパスワードではなく Clearing password（Store の Advanced security options で設定した2つめ）を入力 → Open protected file</a:t>
            </a:r>
          </a:p>
          <a:p>
            <a:r>
              <a:rPr b="0" sz="1700"/>
              <a:t>“Now watch this screen — because nothing on it is going to change.</a:t>
            </a:r>
          </a:p>
          <a:p>
            <a:r>
              <a:rPr b="0" sz="1700"/>
              <a:t>  ナウ </a:t>
            </a:r>
            <a:r>
              <a:rPr b="1" sz="1700"/>
              <a:t>ウォッチ ディス スクリーン</a:t>
            </a:r>
            <a:r>
              <a:rPr b="0" sz="1700"/>
              <a:t> — ビコズ </a:t>
            </a:r>
            <a:r>
              <a:rPr b="1" sz="1700"/>
              <a:t>ナッシング</a:t>
            </a:r>
            <a:r>
              <a:rPr b="0" sz="1700"/>
              <a:t> オン イット イズ ゴウイング トゥ チェインジ。</a:t>
            </a:r>
          </a:p>
          <a:p>
            <a:r>
              <a:rPr b="0" sz="1700"/>
              <a:t>Same tab. Same object. Same field. Same button.</a:t>
            </a:r>
          </a:p>
          <a:p>
            <a:r>
              <a:rPr b="0" sz="1700"/>
              <a:t>  セイム タブ。 セイム オブジェクト。 セイム フィールド。 セイム バトゥン。</a:t>
            </a:r>
          </a:p>
          <a:p>
            <a:r>
              <a:rPr b="0" sz="1700"/>
              <a:t>The only thing I do differently… is type a different password.</a:t>
            </a:r>
          </a:p>
          <a:p>
            <a:r>
              <a:rPr b="0" sz="1700"/>
              <a:t>  ジ オウンリー シング アイ ドゥー ディファレントリー… イズ タイプ ア </a:t>
            </a:r>
            <a:r>
              <a:rPr b="1" sz="1700"/>
              <a:t>ディファレント パスワード</a:t>
            </a:r>
            <a:r>
              <a:rPr b="0" sz="1700"/>
              <a:t>。</a:t>
            </a:r>
          </a:p>
          <a:p>
            <a:r>
              <a:rPr b="0" sz="1700"/>
              <a:t>And it says what it says when you mistype. No valid entry found.</a:t>
            </a:r>
          </a:p>
          <a:p>
            <a:r>
              <a:rPr b="0" sz="1700"/>
              <a:t>  アンド イット セズ ワット イット セズ ウェン ユー </a:t>
            </a:r>
            <a:r>
              <a:rPr b="1" sz="1700"/>
              <a:t>ミスタイプ</a:t>
            </a:r>
            <a:r>
              <a:rPr b="0" sz="1700"/>
              <a:t>。 ノウ ヴァリッド エントリー ファウンド。</a:t>
            </a:r>
          </a:p>
          <a:p>
            <a:r>
              <a:rPr b="0" sz="1700"/>
              <a:t>Except that entry is not locked.</a:t>
            </a:r>
          </a:p>
          <a:p>
            <a:r>
              <a:rPr b="0" sz="1700"/>
              <a:t>  イクセプト ザット エントリー イズ </a:t>
            </a:r>
            <a:r>
              <a:rPr b="1" sz="1700"/>
              <a:t>ナット ロックト</a:t>
            </a:r>
            <a:r>
              <a:rPr b="0" sz="1700"/>
              <a:t>。</a:t>
            </a:r>
          </a:p>
          <a:p>
            <a:r>
              <a:rPr b="0" sz="1700"/>
              <a:t>It is gone.</a:t>
            </a:r>
          </a:p>
          <a:p>
            <a:r>
              <a:rPr b="0" sz="1700"/>
              <a:t>  イット イズ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>The other one is untouched. And I can still open it.</a:t>
            </a:r>
          </a:p>
          <a:p>
            <a:r>
              <a:rPr b="0" sz="1700"/>
              <a:t>  ジ アザー ワン イズ </a:t>
            </a:r>
            <a:r>
              <a:rPr b="1" sz="1700"/>
              <a:t>アンタッチト</a:t>
            </a:r>
            <a:r>
              <a:rPr b="0" sz="1700"/>
              <a:t>。 アンド アイ キャン </a:t>
            </a:r>
            <a:r>
              <a:rPr b="1" sz="1700"/>
              <a:t>スティル オウプン</a:t>
            </a:r>
            <a:r>
              <a:rPr b="0" sz="1700"/>
              <a:t> イット。</a:t>
            </a:r>
          </a:p>
          <a:p>
            <a:r>
              <a:rPr b="0" sz="1700"/>
              <a:t>That’s my answer to ‘they’ll just make you type the password.’</a:t>
            </a:r>
          </a:p>
          <a:p>
            <a:r>
              <a:rPr b="0" sz="1700"/>
              <a:t>  ザッツ マイ </a:t>
            </a:r>
            <a:r>
              <a:rPr b="1" sz="1700"/>
              <a:t>アンサー</a:t>
            </a:r>
            <a:r>
              <a:rPr b="0" sz="1700"/>
              <a:t> トゥ 「ゼイル ジャスト メイク ユー タイプ ザ パスワード」。</a:t>
            </a:r>
          </a:p>
          <a:p>
            <a:r>
              <a:rPr b="0" sz="1700"/>
              <a:t>The password they can compel is not the only one there is.”</a:t>
            </a:r>
          </a:p>
          <a:p>
            <a:r>
              <a:rPr b="0" sz="1700"/>
              <a:t>  ザ パスワード ゼイ キャン </a:t>
            </a:r>
            <a:r>
              <a:rPr b="1" sz="1700"/>
              <a:t>コンペル</a:t>
            </a:r>
            <a:r>
              <a:rPr b="0" sz="1700"/>
              <a:t> イズ ナット ジ </a:t>
            </a:r>
            <a:r>
              <a:rPr b="1" sz="1700"/>
              <a:t>オウンリー ワン</a:t>
            </a:r>
            <a:r>
              <a:rPr b="0" sz="1700"/>
              <a:t> ゼア イズ。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“Nothing on the screen changed. The entry is gone.”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オン ザ スクリーン チェインジド。 ジ エントリー イズ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5 · 0:50 · Audit — free space, and what it won’t judge</a:t>
            </a:r>
          </a:p>
          <a:p>
            <a:r>
              <a:rPr b="0" sz="1200"/>
              <a:t>DO: ここでプロジェクタを TUI に戻す（切替②・往復の折り返し。以降は切替なし）。 e Expert → a Audit。Free Space Filler セクションを指す（戻るのは Esc）。a は #169 の非活性化対象から意図的に外してある — この Step でキー1つで直接使うため</a:t>
            </a:r>
          </a:p>
          <a:p>
            <a:r>
              <a:rPr b="0" sz="1700"/>
              <a:t>“Audit reports per face.</a:t>
            </a:r>
          </a:p>
          <a:p>
            <a:r>
              <a:rPr b="0" sz="1700"/>
              <a:t>  </a:t>
            </a:r>
            <a:r>
              <a:rPr b="1" sz="1700"/>
              <a:t>オーディット</a:t>
            </a:r>
            <a:r>
              <a:rPr b="0" sz="1700"/>
              <a:t> リポーツ パー </a:t>
            </a:r>
            <a:r>
              <a:rPr b="1" sz="1700"/>
              <a:t>フェイス</a:t>
            </a:r>
            <a:r>
              <a:rPr b="0" sz="1700"/>
              <a:t>。</a:t>
            </a:r>
          </a:p>
          <a:p>
            <a:r>
              <a:rPr b="0" sz="1700"/>
              <a:t>Now notice what it does not claim.</a:t>
            </a:r>
          </a:p>
          <a:p>
            <a:r>
              <a:rPr b="0" sz="1700"/>
              <a:t>  ナウ ノウティス ワット イット ダズ </a:t>
            </a:r>
            <a:r>
              <a:rPr b="1" sz="1700"/>
              <a:t>ナット</a:t>
            </a:r>
            <a:r>
              <a:rPr b="0" sz="1700"/>
              <a:t> クレイム。</a:t>
            </a:r>
          </a:p>
          <a:p>
            <a:r>
              <a:rPr b="0" sz="1700"/>
              <a:t>It doesn’t tell me my cover story is convincing.</a:t>
            </a:r>
          </a:p>
          <a:p>
            <a:r>
              <a:rPr b="0" sz="1700"/>
              <a:t>  イット ダズント テル ミー マイ カヴァー ストーリー イズ </a:t>
            </a:r>
            <a:r>
              <a:rPr b="1" sz="1700"/>
              <a:t>コンヴィンシング</a:t>
            </a:r>
            <a:r>
              <a:rPr b="0" sz="1700"/>
              <a:t>。</a:t>
            </a:r>
          </a:p>
          <a:p>
            <a:r>
              <a:rPr b="0" sz="1700"/>
              <a:t>The file I would hand over is one I wrote, and stored, myself.</a:t>
            </a:r>
          </a:p>
          <a:p>
            <a:r>
              <a:rPr b="0" sz="1700"/>
              <a:t>  ザ ファイル アイ ウド ハンド オウヴァー イズ ワン アイ </a:t>
            </a:r>
            <a:r>
              <a:rPr b="1" sz="1700"/>
              <a:t>ロウト</a:t>
            </a:r>
            <a:r>
              <a:rPr b="0" sz="1700"/>
              <a:t>、 アンド </a:t>
            </a:r>
            <a:r>
              <a:rPr b="1" sz="1700"/>
              <a:t>ストード</a:t>
            </a:r>
            <a:r>
              <a:rPr b="0" sz="1700"/>
              <a:t>、 マイセルフ。</a:t>
            </a:r>
          </a:p>
          <a:p>
            <a:r>
              <a:rPr b="0" sz="1700"/>
              <a:t>The tool can’t judge whether it’s believable. And it doesn’t pretend to.</a:t>
            </a:r>
          </a:p>
          <a:p>
            <a:r>
              <a:rPr b="0" sz="1700"/>
              <a:t>  ザ ツール キャント </a:t>
            </a:r>
            <a:r>
              <a:rPr b="1" sz="1700"/>
              <a:t>ジャッジ</a:t>
            </a:r>
            <a:r>
              <a:rPr b="0" sz="1700"/>
              <a:t> ウェザー イッツ ビリーヴァブル。 アンド イット ダズント </a:t>
            </a:r>
            <a:r>
              <a:rPr b="1" sz="1700"/>
              <a:t>プリテンド</a:t>
            </a:r>
            <a:r>
              <a:rPr b="0" sz="1700"/>
              <a:t> トゥ。</a:t>
            </a:r>
          </a:p>
          <a:p>
            <a:r>
              <a:rPr b="0" sz="1700"/>
              <a:t>All it reports here is how much free space is filled —</a:t>
            </a:r>
          </a:p>
          <a:p>
            <a:r>
              <a:rPr b="0" sz="1700"/>
              <a:t>  オール イット リポーツ ヒア イズ ハウ マッチ </a:t>
            </a:r>
            <a:r>
              <a:rPr b="1" sz="1700"/>
              <a:t>フリー スペイス</a:t>
            </a:r>
            <a:r>
              <a:rPr b="0" sz="1700"/>
              <a:t> イズ フィルド —</a:t>
            </a:r>
          </a:p>
          <a:p>
            <a:r>
              <a:rPr b="0" sz="1700"/>
              <a:t>so an otherwise empty container doesn’t read as empty.</a:t>
            </a:r>
          </a:p>
          <a:p>
            <a:r>
              <a:rPr b="0" sz="1700"/>
              <a:t>  ソウ アン アザワイズ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Judging the cover story is the operator’s job.</a:t>
            </a:r>
          </a:p>
          <a:p>
            <a:r>
              <a:rPr b="0" sz="1700"/>
              <a:t>  ジャッジング ザ カヴァー ストーリー イズ ジ </a:t>
            </a:r>
            <a:r>
              <a:rPr b="1" sz="1700"/>
              <a:t>オペレイターズ ジョブ</a:t>
            </a:r>
            <a:r>
              <a:rPr b="0" sz="1700"/>
              <a:t>。</a:t>
            </a:r>
          </a:p>
          <a:p>
            <a:r>
              <a:rPr b="0" sz="1700"/>
              <a:t>And the tool is honest about that boundary.”</a:t>
            </a:r>
          </a:p>
          <a:p>
            <a:r>
              <a:rPr b="0" sz="1700"/>
              <a:t>  アンド ザ ツール イズ </a:t>
            </a:r>
            <a:r>
              <a:rPr b="1" sz="1700"/>
              <a:t>オネスト</a:t>
            </a:r>
            <a:r>
              <a:rPr b="0" sz="1700"/>
              <a:t> アバウト ザット バウンダリー。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“It reports what it can measure. It refuses to score what it can’t.”</a:t>
            </a:r>
          </a:p>
          <a:p>
            <a:r>
              <a:rPr b="0" sz="1700"/>
              <a:t>  イット リポーツ ワット イット キャン </a:t>
            </a:r>
            <a:r>
              <a:rPr b="1" sz="1700"/>
              <a:t>メジャー</a:t>
            </a:r>
            <a:r>
              <a:rPr b="0" sz="1700"/>
              <a:t>。 イット リフューズィズ トゥ </a:t>
            </a:r>
            <a:r>
              <a:rPr b="1" sz="1700"/>
              <a:t>スコア</a:t>
            </a:r>
            <a:r>
              <a:rPr b="0" sz="1700"/>
              <a:t> ワット イット キャント。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6 · 1:20 · Silent Standby — Disclose</a:t>
            </a:r>
          </a:p>
          <a:p>
            <a:r>
              <a:rPr b="0" sz="1200"/>
              <a:t>DO: Ctrl+S を押下。復帰は Ctrl+R または Esc。フッタに出ないので指で覚えておく</a:t>
            </a:r>
          </a:p>
          <a:p>
            <a:r>
              <a:rPr b="0" sz="1700"/>
              <a:t>“Now — the moment it’s built for.</a:t>
            </a:r>
          </a:p>
          <a:p>
            <a:r>
              <a:rPr b="0" sz="1700"/>
              <a:t>  ナウ — ザ </a:t>
            </a:r>
            <a:r>
              <a:rPr b="1" sz="1700"/>
              <a:t>モウメント</a:t>
            </a:r>
            <a:r>
              <a:rPr b="0" sz="1700"/>
              <a:t> イッツ ビルト フォー。</a:t>
            </a:r>
          </a:p>
          <a:p>
            <a:r>
              <a:rPr b="0" sz="1700"/>
              <a:t>One hotkey. Silent Standby.</a:t>
            </a:r>
          </a:p>
          <a:p>
            <a:r>
              <a:rPr b="0" sz="1700"/>
              <a:t>  </a:t>
            </a:r>
            <a:r>
              <a:rPr b="1" sz="1700"/>
              <a:t>ワン ホットキー</a:t>
            </a:r>
            <a:r>
              <a:rPr b="0" sz="1700"/>
              <a:t>。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The sensitive surface drops away.</a:t>
            </a:r>
          </a:p>
          <a:p>
            <a:r>
              <a:rPr b="0" sz="1700"/>
              <a:t>  ザ センシティヴ サーフィス </a:t>
            </a:r>
            <a:r>
              <a:rPr b="1" sz="1700"/>
              <a:t>ドロップス アウェイ</a:t>
            </a:r>
            <a:r>
              <a:rPr b="0" sz="1700"/>
              <a:t>。</a:t>
            </a:r>
          </a:p>
          <a:p>
            <a:r>
              <a:rPr b="0" sz="1700"/>
              <a:t>And it’s not only this screen. The web interface goes down with it.</a:t>
            </a:r>
          </a:p>
          <a:p>
            <a:r>
              <a:rPr b="0" sz="1700"/>
              <a:t>  アンド イッツ </a:t>
            </a:r>
            <a:r>
              <a:rPr b="1" sz="1700"/>
              <a:t>ナット オウンリー</a:t>
            </a:r>
            <a:r>
              <a:rPr b="0" sz="1700"/>
              <a:t> ディス スクリーン。 ザ ウェブ インターフェイス </a:t>
            </a:r>
            <a:r>
              <a:rPr b="1" sz="1700"/>
              <a:t>ゴウズ ダウン</a:t>
            </a:r>
            <a:r>
              <a:rPr b="0" sz="1700"/>
              <a:t> ウィズ イット。</a:t>
            </a:r>
          </a:p>
          <a:p>
            <a:r>
              <a:rPr b="0" sz="1700"/>
              <a:t>A laptop tethered to this device loses access at the same instant —</a:t>
            </a:r>
          </a:p>
          <a:p>
            <a:r>
              <a:rPr b="0" sz="1700"/>
              <a:t>  ア ラップトップ テザード トゥ ディス デバイス </a:t>
            </a:r>
            <a:r>
              <a:rPr b="1" sz="1700"/>
              <a:t>ルーズィズ アクセス</a:t>
            </a:r>
            <a:r>
              <a:rPr b="0" sz="1700"/>
              <a:t> アット ザ セイム インスタント —</a:t>
            </a:r>
          </a:p>
          <a:p>
            <a:r>
              <a:rPr b="0" sz="1700"/>
              <a:t>including the two browser tabs I just used.</a:t>
            </a:r>
          </a:p>
          <a:p>
            <a:r>
              <a:rPr b="0" sz="1700"/>
              <a:t>  インクルーディング ザ </a:t>
            </a:r>
            <a:r>
              <a:rPr b="1" sz="1700"/>
              <a:t>トゥー ブラウザ タブズ</a:t>
            </a:r>
            <a:r>
              <a:rPr b="0" sz="1700"/>
              <a:t> アイ ジャスト ユーズド。</a:t>
            </a:r>
          </a:p>
          <a:p>
            <a:r>
              <a:rPr b="0" sz="1700"/>
              <a:t>Coming back needs re-authentication.</a:t>
            </a:r>
          </a:p>
          <a:p>
            <a:r>
              <a:rPr b="0" sz="1700"/>
              <a:t>  カミング バック ニーズ </a:t>
            </a:r>
            <a:r>
              <a:rPr b="1" sz="1700"/>
              <a:t>リーオーセンティケイション</a:t>
            </a:r>
            <a:r>
              <a:rPr b="0" sz="1700"/>
              <a:t>。</a:t>
            </a:r>
          </a:p>
          <a:p>
            <a:r>
              <a:rPr b="0" sz="1700"/>
              <a:t>I’m not hiding from forensics.</a:t>
            </a:r>
          </a:p>
          <a:p>
            <a:r>
              <a:rPr b="0" sz="1700"/>
              <a:t>  アイム </a:t>
            </a:r>
            <a:r>
              <a:rPr b="1" sz="1700"/>
              <a:t>ナット ハイディング</a:t>
            </a:r>
            <a:r>
              <a:rPr b="0" sz="1700"/>
              <a:t> フロム フォレンシックス。</a:t>
            </a:r>
          </a:p>
          <a:p>
            <a:r>
              <a:rPr b="0" sz="1700"/>
              <a:t>I’m buying time, and uncertainty.”</a:t>
            </a:r>
          </a:p>
          <a:p>
            <a:r>
              <a:rPr b="0" sz="1700"/>
              <a:t>  アイム </a:t>
            </a:r>
            <a:r>
              <a:rPr b="1" sz="1700"/>
              <a:t>バイイング タイム</a:t>
            </a:r>
            <a:r>
              <a:rPr b="0" sz="1700"/>
              <a:t>、 アンド </a:t>
            </a:r>
            <a:r>
              <a:rPr b="1" sz="1700"/>
              <a:t>アンサートゥンティ</a:t>
            </a:r>
            <a:r>
              <a:rPr b="0" sz="1700"/>
              <a:t>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“One key. And the second surface goes with it.”</a:t>
            </a:r>
          </a:p>
          <a:p>
            <a:r>
              <a:rPr b="0" sz="1700"/>
              <a:t>  </a:t>
            </a:r>
            <a:r>
              <a:rPr b="1" sz="1700"/>
              <a:t>ワン キー</a:t>
            </a:r>
            <a:r>
              <a:rPr b="0" sz="1700"/>
              <a:t>。 アンド ザ セカンド サーフィス </a:t>
            </a:r>
            <a:r>
              <a:rPr b="1" sz="1700"/>
              <a:t>ゴウズ ウィズ イット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7 · 0:10 · Wrap</a:t>
            </a:r>
          </a:p>
          <a:p>
            <a:r>
              <a:rPr b="0" sz="1200"/>
              <a:t>DO: Esc で Simple Operator へ戻す → プロジェクタ入力をスライドへ復帰（Slide 25）</a:t>
            </a:r>
          </a:p>
          <a:p>
            <a:r>
              <a:rPr b="0" sz="1700"/>
              <a:t>“That’s Prepare, Bind, Operate, Disclose. On real hardware.</a:t>
            </a:r>
          </a:p>
          <a:p>
            <a:r>
              <a:rPr b="0" sz="1700"/>
              <a:t>  ザッツ </a:t>
            </a:r>
            <a:r>
              <a:rPr b="1" sz="1700"/>
              <a:t>プリペア</a:t>
            </a:r>
            <a:r>
              <a:rPr b="0" sz="1700"/>
              <a:t>、 </a:t>
            </a:r>
            <a:r>
              <a:rPr b="1" sz="1700"/>
              <a:t>バインド</a:t>
            </a:r>
            <a:r>
              <a:rPr b="0" sz="1700"/>
              <a:t>、 </a:t>
            </a:r>
            <a:r>
              <a:rPr b="1" sz="1700"/>
              <a:t>オペレイト</a:t>
            </a:r>
            <a:r>
              <a:rPr b="0" sz="1700"/>
              <a:t>、 </a:t>
            </a:r>
            <a:r>
              <a:rPr b="1" sz="1700"/>
              <a:t>ディスクロウズ</a:t>
            </a:r>
            <a:r>
              <a:rPr b="0" sz="1700"/>
              <a:t>。 オン </a:t>
            </a:r>
            <a:r>
              <a:rPr b="1" sz="1700"/>
              <a:t>リアル ハードウェア</a:t>
            </a:r>
            <a:r>
              <a:rPr b="0" sz="1700"/>
              <a:t>。</a:t>
            </a:r>
          </a:p>
          <a:p>
            <a:r>
              <a:rPr b="0" sz="1700"/>
              <a:t>Come and try it at the table.”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 アット ザ テイブル。</a:t>
            </a:r>
          </a:p>
          <a:p>
            <a:r>
              <a:rPr b="0" sz="1700"/>
              <a:t/>
            </a:r>
          </a:p>
          <a:p>
            <a:r>
              <a:rPr b="0" sz="1700"/>
              <a:t>── フォールバック（録画に切り替えたとき）</a:t>
            </a:r>
          </a:p>
          <a:p>
            <a:r>
              <a:rPr b="0" sz="1700"/>
              <a:t>“The design points stand either way.”</a:t>
            </a:r>
          </a:p>
          <a:p>
            <a:r>
              <a:rPr b="0" sz="1700"/>
              <a:t>  ザ デザイン ポインツ </a:t>
            </a:r>
            <a:r>
              <a:rPr b="1" sz="1700"/>
              <a:t>スタンド</a:t>
            </a:r>
            <a:r>
              <a:rPr b="0" sz="1700"/>
              <a:t> イーザー ウェイ。</a:t>
            </a:r>
          </a:p>
          <a:p>
            <a:r>
              <a:rPr b="0" sz="1700"/>
              <a:t/>
            </a:r>
          </a:p>
          <a:p>
            <a:r>
              <a:rPr b="0" sz="1200"/>
              <a:t>JA: Step 3→4（物体だけ外す→拒否→戻して成功）と Step 6（Standby）だけは何があっても実機で見せる。26:00 到達で Step 4b と Step 5 Audit を削る。個別ステップは最大15秒で見切り、止まらず前進。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[26:50 / 0:30] QUICK START — 発話 0:20</a:t>
            </a:r>
          </a:p>
          <a:p>
            <a:r>
              <a:rPr b="0" sz="1700"/>
              <a:t/>
            </a:r>
          </a:p>
          <a:p>
            <a:r>
              <a:rPr b="0" sz="1700"/>
              <a:t>“Want to try it?</a:t>
            </a:r>
          </a:p>
          <a:p>
            <a:r>
              <a:rPr b="0" sz="1700"/>
              <a:t>  </a:t>
            </a:r>
            <a:r>
              <a:rPr b="1" sz="1700"/>
              <a:t>ワナ トライ イット</a:t>
            </a:r>
            <a:r>
              <a:rPr b="0" sz="1700"/>
              <a:t>?</a:t>
            </a:r>
          </a:p>
          <a:p>
            <a:r>
              <a:rPr b="0" sz="1700"/>
              <a:t>Clone the repo. Change into it. Run ./phasmid</a:t>
            </a:r>
          </a:p>
          <a:p>
            <a:r>
              <a:rPr b="0" sz="1700"/>
              <a:t>  </a:t>
            </a:r>
            <a:r>
              <a:rPr b="1" sz="1700"/>
              <a:t>クロウン</a:t>
            </a:r>
            <a:r>
              <a:rPr b="0" sz="1700"/>
              <a:t> ザ リーポウ。 </a:t>
            </a:r>
            <a:r>
              <a:rPr b="1" sz="1700"/>
              <a:t>チェインジ</a:t>
            </a:r>
            <a:r>
              <a:rPr b="0" sz="1700"/>
              <a:t> イントゥ イット。 </a:t>
            </a:r>
            <a:r>
              <a:rPr b="1" sz="1700"/>
              <a:t>ラン</a:t>
            </a:r>
            <a:r>
              <a:rPr b="0" sz="1700"/>
              <a:t> ドット スラッシュ ファズミッド。</a:t>
            </a:r>
          </a:p>
          <a:p>
            <a:r>
              <a:rPr b="0" sz="1700"/>
              <a:t>The first run sets up a virtual environment and opens the console.</a:t>
            </a:r>
          </a:p>
          <a:p>
            <a:r>
              <a:rPr b="0" sz="1700"/>
              <a:t>  ザ ファースト ラン セッツ アップ ア </a:t>
            </a:r>
            <a:r>
              <a:rPr b="1" sz="1700"/>
              <a:t>ヴァーチュアル インヴァイロンメント</a:t>
            </a:r>
            <a:r>
              <a:rPr b="0" sz="1700"/>
              <a:t> アンド オウプンズ ザ コンソウル。</a:t>
            </a:r>
          </a:p>
          <a:p>
            <a:r>
              <a:rPr b="0" sz="1700"/>
              <a:t>Research software. Apache 2.0.</a:t>
            </a:r>
          </a:p>
          <a:p>
            <a:r>
              <a:rPr b="0" sz="1700"/>
              <a:t>  </a:t>
            </a:r>
            <a:r>
              <a:rPr b="1" sz="1700"/>
              <a:t>リサーチ ソフトウェア</a:t>
            </a:r>
            <a:r>
              <a:rPr b="0" sz="1700"/>
              <a:t>。 </a:t>
            </a:r>
            <a:r>
              <a:rPr b="1" sz="1700"/>
              <a:t>アパッチ トゥー ポイント ズィーロウ</a:t>
            </a:r>
            <a:r>
              <a:rPr b="0" sz="1700"/>
              <a:t>。</a:t>
            </a:r>
          </a:p>
          <a:p>
            <a:r>
              <a:rPr b="0" sz="1700"/>
              <a:t>Evaluate it locally, in field-test conditions.</a:t>
            </a:r>
          </a:p>
          <a:p>
            <a:r>
              <a:rPr b="0" sz="1700"/>
              <a:t>  イヴァリュエイト イット </a:t>
            </a:r>
            <a:r>
              <a:rPr b="1" sz="1700"/>
              <a:t>ローカリー</a:t>
            </a:r>
            <a:r>
              <a:rPr b="0" sz="1700"/>
              <a:t>、 イン </a:t>
            </a:r>
            <a:r>
              <a:rPr b="1" sz="1700"/>
              <a:t>フィールドテスト コンディションズ</a:t>
            </a:r>
            <a:r>
              <a:rPr b="0" sz="1700"/>
              <a:t>。</a:t>
            </a:r>
          </a:p>
          <a:p>
            <a:r>
              <a:rPr b="0" sz="1700"/>
              <a:t>Not as production protection.”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アズ プロダクション プロテクション。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[27:20 / 0:40] CLOSING → Q&amp;A — 発話 0:25</a:t>
            </a:r>
          </a:p>
          <a:p>
            <a:r>
              <a:rPr b="0" sz="1700"/>
              <a:t/>
            </a:r>
          </a:p>
          <a:p>
            <a:r>
              <a:rPr b="0" sz="1700"/>
              <a:t>“That’s Phasmid.</a:t>
            </a:r>
          </a:p>
          <a:p>
            <a:r>
              <a:rPr b="0" sz="1700"/>
              <a:t>  ザッツ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Local-only. Coercion-aware. Honest limits included.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。 </a:t>
            </a:r>
            <a:r>
              <a:rPr b="1" sz="1700"/>
              <a:t>コアージョン アウェア</a:t>
            </a:r>
            <a:r>
              <a:rPr b="0" sz="1700"/>
              <a:t>。 </a:t>
            </a:r>
            <a:r>
              <a:rPr b="1" sz="1700"/>
              <a:t>オネスト リミッツ</a:t>
            </a:r>
            <a:r>
              <a:rPr b="0" sz="1700"/>
              <a:t> インクルーディッド。</a:t>
            </a:r>
          </a:p>
          <a:p>
            <a:r>
              <a:rPr b="0" sz="1700"/>
              <a:t>The code, the threat model, and the architecture are all on GitHub, at 01rabbit.</a:t>
            </a:r>
          </a:p>
          <a:p>
            <a:r>
              <a:rPr b="0" sz="1700"/>
              <a:t>  ザ コウド、 ザ スレット モデル、 アンド ジ アーキテクチャー アー オール オン </a:t>
            </a:r>
            <a:r>
              <a:rPr b="1" sz="1700"/>
              <a:t>ギットハブ</a:t>
            </a:r>
            <a:r>
              <a:rPr b="0" sz="1700"/>
              <a:t>、 アット </a:t>
            </a:r>
            <a:r>
              <a:rPr b="1" sz="1700"/>
              <a:t>ゼロワン ラビット</a:t>
            </a:r>
            <a:r>
              <a:rPr b="0" sz="1700"/>
              <a:t>。</a:t>
            </a:r>
          </a:p>
          <a:p>
            <a:r>
              <a:rPr b="0" sz="1700"/>
              <a:t>The device is right here on the table.</a:t>
            </a:r>
          </a:p>
          <a:p>
            <a:r>
              <a:rPr b="0" sz="1700"/>
              <a:t>  ザ デバイス イズ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try it. And please — come and break it.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。 アンド プリーズ — </a:t>
            </a:r>
            <a:r>
              <a:rPr b="1" sz="1700"/>
              <a:t>カム アンド ブレイク イット</a:t>
            </a:r>
            <a:r>
              <a:rPr b="0" sz="1700"/>
              <a:t>。</a:t>
            </a:r>
          </a:p>
          <a:p>
            <a:r>
              <a:rPr b="0" sz="1700"/>
              <a:t>I’ve got time for questions.”</a:t>
            </a:r>
          </a:p>
          <a:p>
            <a:r>
              <a:rPr b="0" sz="1700"/>
              <a:t>  アイヴ ゴット </a:t>
            </a:r>
            <a:r>
              <a:rPr b="1" sz="1700"/>
              <a:t>タイム</a:t>
            </a:r>
            <a:r>
              <a:rPr b="0" sz="1700"/>
              <a:t> フォー クエスチョンズ。</a:t>
            </a:r>
          </a:p>
          <a:p>
            <a:r>
              <a:rPr b="0" sz="1700"/>
              <a:t/>
            </a:r>
          </a:p>
          <a:p>
            <a:r>
              <a:rPr b="0" sz="120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Engineer, SOC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penetration tester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Python 3.10+    Interfaces CLI · TUI · local WebUI    License Apache-2.0    Ver v0.6.0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→ Bind → Two passwords, two files → Refused → Audit → Silent Standby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object +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object +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same tab, same password → refused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