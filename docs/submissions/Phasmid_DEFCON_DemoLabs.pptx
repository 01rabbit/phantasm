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[00:00 / 0:30] TITLE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200"/>
              <a:t>【読み方】</a:t>
            </a:r>
          </a:p>
          <a:p>
            <a:r>
              <a:rPr b="0" sz="1200"/>
              <a:t>・英文1行＝1息。行末で必ず一度切る。</a:t>
            </a:r>
          </a:p>
          <a:p>
            <a:r>
              <a:rPr b="0" sz="120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 sz="1200"/>
              <a:t>・カタカナは普段のカタカナ語のまま。無理に英語風に崩していない。</a:t>
            </a:r>
          </a:p>
          <a:p>
            <a:r>
              <a:rPr b="0" sz="1200"/>
              <a:t>・ゥ付き（ゥロング／ゥライト／コゥレクト）は3語だけ。そのまま読むと long／light／collect に聞こえるため。</a:t>
            </a:r>
          </a:p>
          <a:p>
            <a:r>
              <a:rPr b="0" sz="1200"/>
              <a:t>・ヴ＝V（ヴォルト=vault。ボルト=bolt と区別）。 ス・ズ＝th。</a:t>
            </a:r>
          </a:p>
          <a:p>
            <a:r>
              <a:rPr b="0" sz="1700"/>
              <a:t/>
            </a:r>
          </a:p>
          <a:p>
            <a:r>
              <a:rPr b="0" sz="1700"/>
              <a:t>“Hi. Thank you for coming.</a:t>
            </a:r>
          </a:p>
          <a:p>
            <a:r>
              <a:rPr b="0" sz="1700"/>
              <a:t>  </a:t>
            </a:r>
            <a:r>
              <a:rPr b="1" sz="1700"/>
              <a:t>ハイ</a:t>
            </a:r>
            <a:r>
              <a:rPr b="0" sz="1700"/>
              <a:t>。 サンキュー フォー </a:t>
            </a:r>
            <a:r>
              <a:rPr b="1" sz="1700"/>
              <a:t>カミング</a:t>
            </a:r>
            <a:r>
              <a:rPr b="0" sz="1700"/>
              <a:t>。</a:t>
            </a:r>
          </a:p>
          <a:p>
            <a:r>
              <a:rPr b="0" sz="1700"/>
              <a:t>This is Phasmid.</a:t>
            </a:r>
          </a:p>
          <a:p>
            <a:r>
              <a:rPr b="0" sz="1700"/>
              <a:t>  ディス イズ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It’s the reference build of the Janus Eidolon System.</a:t>
            </a:r>
          </a:p>
          <a:p>
            <a:r>
              <a:rPr b="0" sz="1700"/>
              <a:t>  イッツ ザ レファレンス ビルド オヴ ザ </a:t>
            </a:r>
            <a:r>
              <a:rPr b="1" sz="1700"/>
              <a:t>ジェイナス アイドウロン システム</a:t>
            </a:r>
            <a:r>
              <a:rPr b="0" sz="1700"/>
              <a:t>。</a:t>
            </a:r>
          </a:p>
          <a:p>
            <a:r>
              <a:rPr b="0" sz="1700"/>
              <a:t>Storage that stays local — and expects coercion.</a:t>
            </a:r>
          </a:p>
          <a:p>
            <a:r>
              <a:rPr b="0" sz="1700"/>
              <a:t>  ストレージ ザット ステイズ </a:t>
            </a:r>
            <a:r>
              <a:rPr b="1" sz="1700"/>
              <a:t>ローカル</a:t>
            </a:r>
            <a:r>
              <a:rPr b="0" sz="1700"/>
              <a:t> — アンド イクスペクツ コアージョン。</a:t>
            </a:r>
          </a:p>
          <a:p>
            <a:r>
              <a:rPr b="0" sz="1700"/>
              <a:t>It’s built for one moment.</a:t>
            </a:r>
          </a:p>
          <a:p>
            <a:r>
              <a:rPr b="0" sz="1700"/>
              <a:t>  イッツ ビルト フォー </a:t>
            </a:r>
            <a:r>
              <a:rPr b="1" sz="1700"/>
              <a:t>ワン モウメント</a:t>
            </a:r>
            <a:r>
              <a:rPr b="0" sz="1700"/>
              <a:t>。</a:t>
            </a:r>
          </a:p>
          <a:p>
            <a:r>
              <a:rPr b="0" sz="1700"/>
              <a:t>Someone has your device… and they have you.</a:t>
            </a:r>
          </a:p>
          <a:p>
            <a:r>
              <a:rPr b="0" sz="1700"/>
              <a:t>  サムワン ハズ ユア </a:t>
            </a:r>
            <a:r>
              <a:rPr b="1" sz="1700"/>
              <a:t>デバイス</a:t>
            </a:r>
            <a:r>
              <a:rPr b="0" sz="1700"/>
              <a:t>… アンド ゼイ ハヴ </a:t>
            </a:r>
            <a:r>
              <a:rPr b="1" sz="1700"/>
              <a:t>ユー</a:t>
            </a:r>
            <a:r>
              <a:rPr b="0" sz="1700"/>
              <a:t>。</a:t>
            </a:r>
          </a:p>
          <a:p>
            <a:r>
              <a:rPr b="0" sz="1700"/>
              <a:t>I’m Makoto Sugita, from GMO Cybersecurity by Ierae, in Tokyo.</a:t>
            </a:r>
          </a:p>
          <a:p>
            <a:r>
              <a:rPr b="0" sz="1700"/>
              <a:t>  アイム </a:t>
            </a:r>
            <a:r>
              <a:rPr b="1" sz="1700"/>
              <a:t>マコト スギタ</a:t>
            </a:r>
            <a:r>
              <a:rPr b="0" sz="1700"/>
              <a:t>、 フロム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Online — Mr. Rabbit.”</a:t>
            </a:r>
          </a:p>
          <a:p>
            <a:r>
              <a:rPr b="0" sz="1700"/>
              <a:t>  オンライン — </a:t>
            </a:r>
            <a:r>
              <a:rPr b="1" sz="1700"/>
              <a:t>ミスター ラビット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[00:30 / 1:00] WHOAMI — 発話 0:45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“Quick background.</a:t>
            </a:r>
          </a:p>
          <a:p>
            <a:r>
              <a:rPr b="0" sz="1700"/>
              <a:t>  クイック </a:t>
            </a:r>
            <a:r>
              <a:rPr b="1" sz="1700"/>
              <a:t>バックグラウンド</a:t>
            </a:r>
            <a:r>
              <a:rPr b="0" sz="1700"/>
              <a:t>。</a:t>
            </a:r>
          </a:p>
          <a:p>
            <a:r>
              <a:rPr b="0" sz="1700"/>
              <a:t>I’m a senior engineer at GMO Cybersecurity by Ierae.</a:t>
            </a:r>
          </a:p>
          <a:p>
            <a:r>
              <a:rPr b="0" sz="1700"/>
              <a:t>  アイム ア </a:t>
            </a:r>
            <a:r>
              <a:rPr b="1" sz="1700"/>
              <a:t>シニア エンジニア</a:t>
            </a:r>
            <a:r>
              <a:rPr b="0" sz="1700"/>
              <a:t> アット ジーエムオー サイバーセキュリティ バイ </a:t>
            </a:r>
            <a:r>
              <a:rPr b="1" sz="1700"/>
              <a:t>イエラエ</a:t>
            </a:r>
            <a:r>
              <a:rPr b="0" sz="1700"/>
              <a:t>。</a:t>
            </a:r>
          </a:p>
          <a:p>
            <a:r>
              <a:rPr b="0" sz="1700"/>
              <a:t>I work in the SOC. Defense, every day.</a:t>
            </a:r>
          </a:p>
          <a:p>
            <a:r>
              <a:rPr b="0" sz="1700"/>
              <a:t>  アイ ワーク イン ザ </a:t>
            </a:r>
            <a:r>
              <a:rPr b="1" sz="1700"/>
              <a:t>エス オー シー</a:t>
            </a:r>
            <a:r>
              <a:rPr b="0" sz="1700"/>
              <a:t>。 </a:t>
            </a:r>
            <a:r>
              <a:rPr b="1" sz="1700"/>
              <a:t>ディフェンス</a:t>
            </a:r>
            <a:r>
              <a:rPr b="0" sz="1700"/>
              <a:t>、 エヴリ デイ。</a:t>
            </a:r>
          </a:p>
          <a:p>
            <a:r>
              <a:rPr b="0" sz="1700"/>
              <a:t>Before that — a penetration tester. CISSP.</a:t>
            </a:r>
          </a:p>
          <a:p>
            <a:r>
              <a:rPr b="0" sz="1700"/>
              <a:t>  ビフォー ザット — ア </a:t>
            </a:r>
            <a:r>
              <a:rPr b="1" sz="1700"/>
              <a:t>ペネトレイション テスター</a:t>
            </a:r>
            <a:r>
              <a:rPr b="0" sz="1700"/>
              <a:t>。 シー アイ エス エス ピー。</a:t>
            </a:r>
          </a:p>
          <a:p>
            <a:r>
              <a:rPr b="0" sz="1700"/>
              <a:t>And before that, in uniform — a Japan Ground Self-Defense Force officer, in a cyber unit.</a:t>
            </a:r>
          </a:p>
          <a:p>
            <a:r>
              <a:rPr b="0" sz="1700"/>
              <a:t>  アンド ビフォー ザット、 イン </a:t>
            </a:r>
            <a:r>
              <a:rPr b="1" sz="1700"/>
              <a:t>ユニフォーム</a:t>
            </a:r>
            <a:r>
              <a:rPr b="0" sz="1700"/>
              <a:t> — ア ジャパン グラウンド セルフディフェンス フォース </a:t>
            </a:r>
            <a:r>
              <a:rPr b="1" sz="1700"/>
              <a:t>オフィサー</a:t>
            </a:r>
            <a:r>
              <a:rPr b="0" sz="1700"/>
              <a:t>、 イン ア サイバー ユニット。</a:t>
            </a:r>
          </a:p>
          <a:p>
            <a:r>
              <a:rPr b="0" sz="1700"/>
              <a:t>Offensive work taught me the weak link is the person, not the algorithm.</a:t>
            </a:r>
          </a:p>
          <a:p>
            <a:r>
              <a:rPr b="0" sz="1700"/>
              <a:t>  オフェンシヴ ワーク トート ミー ザ ウィーク リンク イズ ザ </a:t>
            </a:r>
            <a:r>
              <a:rPr b="1" sz="1700"/>
              <a:t>パーソン</a:t>
            </a:r>
            <a:r>
              <a:rPr b="0" sz="1700"/>
              <a:t>、 ナット ジ アルゴリズム。</a:t>
            </a:r>
          </a:p>
          <a:p>
            <a:r>
              <a:rPr b="0" sz="1700"/>
              <a:t>So I turn offensive experience into defensive tools.</a:t>
            </a:r>
          </a:p>
          <a:p>
            <a:r>
              <a:rPr b="0" sz="1700"/>
              <a:t>  ソウ アイ ターン オフェンシヴ エクスピアリエンス イントゥ </a:t>
            </a:r>
            <a:r>
              <a:rPr b="1" sz="1700"/>
              <a:t>ディフェンシヴ ツールズ</a:t>
            </a:r>
            <a:r>
              <a:rPr b="0" sz="1700"/>
              <a:t>。</a:t>
            </a:r>
          </a:p>
          <a:p>
            <a:r>
              <a:rPr b="0" sz="1700"/>
              <a:t>Deception. Delay. Coercion-aware design.</a:t>
            </a:r>
          </a:p>
          <a:p>
            <a:r>
              <a:rPr b="0" sz="1700"/>
              <a:t>  ディセプション。 ディレイ。 </a:t>
            </a:r>
            <a:r>
              <a:rPr b="1" sz="1700"/>
              <a:t>コアージョン アウェア デザイン</a:t>
            </a:r>
            <a:r>
              <a:rPr b="0" sz="1700"/>
              <a:t>。</a:t>
            </a:r>
          </a:p>
          <a:p>
            <a:r>
              <a:rPr b="0" sz="1700"/>
              <a:t>Alongside that — security research, and open-source tools.</a:t>
            </a:r>
          </a:p>
          <a:p>
            <a:r>
              <a:rPr b="0" sz="1700"/>
              <a:t>  アロングサイド ザット — セキュリティ </a:t>
            </a:r>
            <a:r>
              <a:rPr b="1" sz="1700"/>
              <a:t>リサーチ</a:t>
            </a:r>
            <a:r>
              <a:rPr b="0" sz="1700"/>
              <a:t>、 アンド </a:t>
            </a:r>
            <a:r>
              <a:rPr b="1" sz="1700"/>
              <a:t>オープンソース ツールズ</a:t>
            </a:r>
            <a:r>
              <a:rPr b="0" sz="1700"/>
              <a:t>。</a:t>
            </a:r>
          </a:p>
          <a:p>
            <a:r>
              <a:rPr b="0" sz="1700"/>
              <a:t>Black Hat Arsenal. BSides. SecTor. CODE BLUE.</a:t>
            </a:r>
          </a:p>
          <a:p>
            <a:r>
              <a:rPr b="0" sz="1700"/>
              <a:t>  ブラック ハット アーサナル。 ビーサイズ。 セクター。 コウド ブルー。</a:t>
            </a:r>
          </a:p>
          <a:p>
            <a:r>
              <a:rPr b="0" sz="1700"/>
              <a:t>I’m 01rabbit on GitHub.”</a:t>
            </a:r>
          </a:p>
          <a:p>
            <a:r>
              <a:rPr b="0" sz="1700"/>
              <a:t>  アイム </a:t>
            </a:r>
            <a:r>
              <a:rPr b="1" sz="1700"/>
              <a:t>ゼロワン ラビット</a:t>
            </a:r>
            <a:r>
              <a:rPr b="0" sz="1700"/>
              <a:t> オン ギットハブ。</a:t>
            </a:r>
          </a:p>
          <a:p>
            <a:r>
              <a:rPr b="0" sz="1700"/>
              <a:t/>
            </a:r>
          </a:p>
          <a:p>
            <a:r>
              <a:rPr b="0" sz="120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[01:10 / 0:30] AGENDA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the plan for the next half hour.</a:t>
            </a:r>
          </a:p>
          <a:p>
            <a:r>
              <a:rPr b="0" sz="1700"/>
              <a:t>  ヒアズ ザ </a:t>
            </a:r>
            <a:r>
              <a:rPr b="1" sz="1700"/>
              <a:t>プラン</a:t>
            </a:r>
            <a:r>
              <a:rPr b="0" sz="1700"/>
              <a:t> フォー ザ ネクスト ハーフ アウア。</a:t>
            </a:r>
          </a:p>
          <a:p>
            <a:r>
              <a:rPr b="0" sz="1700"/>
              <a:t>First, the problem: compelled access.</a:t>
            </a:r>
          </a:p>
          <a:p>
            <a:r>
              <a:rPr b="0" sz="1700"/>
              <a:t>  ファースト、 ザ プロブレム: </a:t>
            </a:r>
            <a:r>
              <a:rPr b="1" sz="1700"/>
              <a:t>コンペルド アクセス</a:t>
            </a:r>
            <a:r>
              <a:rPr b="0" sz="1700"/>
              <a:t>。</a:t>
            </a:r>
          </a:p>
          <a:p>
            <a:r>
              <a:rPr b="0" sz="1700"/>
              <a:t>Then the core idea — Janus.</a:t>
            </a:r>
          </a:p>
          <a:p>
            <a:r>
              <a:rPr b="0" sz="1700"/>
              <a:t>  ゼン ザ コア アイディア — </a:t>
            </a:r>
            <a:r>
              <a:rPr b="1" sz="1700"/>
              <a:t>ジェイナス</a:t>
            </a:r>
            <a:r>
              <a:rPr b="0" sz="1700"/>
              <a:t>。</a:t>
            </a:r>
          </a:p>
          <a:p>
            <a:r>
              <a:rPr b="0" sz="1700"/>
              <a:t>Then how it works: the object cue, and coercion-safe delay.</a:t>
            </a:r>
          </a:p>
          <a:p>
            <a:r>
              <a:rPr b="0" sz="1700"/>
              <a:t>  ゼン ハウ イット ワークス: ジ </a:t>
            </a:r>
            <a:r>
              <a:rPr b="1" sz="1700"/>
              <a:t>オブジェクト キュー</a:t>
            </a:r>
            <a:r>
              <a:rPr b="0" sz="1700"/>
              <a:t>、 アンド コアージョンセイフ ディレイ。</a:t>
            </a:r>
          </a:p>
          <a:p>
            <a:r>
              <a:rPr b="0" sz="1700"/>
              <a:t>Then under the hood — crypto, guards, and the hardware itself.</a:t>
            </a:r>
          </a:p>
          <a:p>
            <a:r>
              <a:rPr b="0" sz="1700"/>
              <a:t>  ゼン アンダー ザ </a:t>
            </a:r>
            <a:r>
              <a:rPr b="1" sz="1700"/>
              <a:t>フッド</a:t>
            </a:r>
            <a:r>
              <a:rPr b="0" sz="1700"/>
              <a:t> — クリプト、 ガーズ、 アンド ザ ハードウェア イットセルフ。</a:t>
            </a:r>
          </a:p>
          <a:p>
            <a:r>
              <a:rPr b="0" sz="1700"/>
              <a:t>Then the honest limits. Ethics, and scope.</a:t>
            </a:r>
          </a:p>
          <a:p>
            <a:r>
              <a:rPr b="0" sz="1700"/>
              <a:t>  ゼン ジ </a:t>
            </a:r>
            <a:r>
              <a:rPr b="1" sz="1700"/>
              <a:t>オネスト</a:t>
            </a:r>
            <a:r>
              <a:rPr b="0" sz="1700"/>
              <a:t> リミッツ。 エシックス、 アンド スコープ。</a:t>
            </a:r>
          </a:p>
          <a:p>
            <a:r>
              <a:rPr b="0" sz="1700"/>
              <a:t>I finish with a live demo, and how to run it yourself.</a:t>
            </a:r>
          </a:p>
          <a:p>
            <a:r>
              <a:rPr b="0" sz="1700"/>
              <a:t>  アイ フィニッシュ ウィズ ア </a:t>
            </a:r>
            <a:r>
              <a:rPr b="1" sz="1700"/>
              <a:t>ライヴ デモ</a:t>
            </a:r>
            <a:r>
              <a:rPr b="0" sz="1700"/>
              <a:t>、 アンド ハウ トゥ ラン イット ユアセルフ。</a:t>
            </a:r>
          </a:p>
          <a:p>
            <a:r>
              <a:rPr b="0" sz="1700"/>
              <a:t>And I’ll keep time for questions at the end.”</a:t>
            </a:r>
          </a:p>
          <a:p>
            <a:r>
              <a:rPr b="0" sz="1700"/>
              <a:t>  アンド アイル キープ </a:t>
            </a:r>
            <a:r>
              <a:rPr b="1" sz="1700"/>
              <a:t>タイム</a:t>
            </a:r>
            <a:r>
              <a:rPr b="0" sz="1700"/>
              <a:t> フォー クエスチョンズ アット ジ エンド。</a:t>
            </a:r>
          </a:p>
          <a:p>
            <a:r>
              <a:rPr b="0" sz="1700"/>
              <a:t/>
            </a:r>
          </a:p>
          <a:p>
            <a:r>
              <a:rPr b="0" sz="120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[01:40 / 1:00] THE PROBLEM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what Phasmid is built for.</a:t>
            </a:r>
          </a:p>
          <a:p>
            <a:r>
              <a:rPr b="0" sz="1700"/>
              <a:t>  ヒアズ ワット </a:t>
            </a:r>
            <a:r>
              <a:rPr b="1" sz="1700"/>
              <a:t>ファズミッド</a:t>
            </a:r>
            <a:r>
              <a:rPr b="0" sz="1700"/>
              <a:t> イズ ビルト フォー。</a:t>
            </a:r>
          </a:p>
          <a:p>
            <a:r>
              <a:rPr b="0" sz="1700"/>
              <a:t>Attackers today don’t break your crypto.</a:t>
            </a:r>
          </a:p>
          <a:p>
            <a:r>
              <a:rPr b="0" sz="1700"/>
              <a:t>  アタッカーズ トゥデイ ドウント ブレイク ユア </a:t>
            </a:r>
            <a:r>
              <a:rPr b="1" sz="1700"/>
              <a:t>クリプト</a:t>
            </a:r>
            <a:r>
              <a:rPr b="0" sz="1700"/>
              <a:t>。</a:t>
            </a:r>
          </a:p>
          <a:p>
            <a:r>
              <a:rPr b="0" sz="1700"/>
              <a:t>They take the device.</a:t>
            </a:r>
          </a:p>
          <a:p>
            <a:r>
              <a:rPr b="0" sz="1700"/>
              <a:t>  ゼイ テイク ザ </a:t>
            </a:r>
            <a:r>
              <a:rPr b="1" sz="1700"/>
              <a:t>デバイス</a:t>
            </a:r>
            <a:r>
              <a:rPr b="0" sz="1700"/>
              <a:t>。</a:t>
            </a:r>
          </a:p>
          <a:p>
            <a:r>
              <a:rPr b="0" sz="1700"/>
              <a:t>At a border. At a checkpoint. At an arrest.</a:t>
            </a:r>
          </a:p>
          <a:p>
            <a:r>
              <a:rPr b="0" sz="1700"/>
              <a:t>  アッタ </a:t>
            </a:r>
            <a:r>
              <a:rPr b="1" sz="1700"/>
              <a:t>ボーダー</a:t>
            </a:r>
            <a:r>
              <a:rPr b="0" sz="1700"/>
              <a:t>。 アッタ </a:t>
            </a:r>
            <a:r>
              <a:rPr b="1" sz="1700"/>
              <a:t>チェックポイント</a:t>
            </a:r>
            <a:r>
              <a:rPr b="0" sz="1700"/>
              <a:t>。 アッタン </a:t>
            </a:r>
            <a:r>
              <a:rPr b="1" sz="1700"/>
              <a:t>アレスト</a:t>
            </a:r>
            <a:r>
              <a:rPr b="0" sz="1700"/>
              <a:t>。</a:t>
            </a:r>
          </a:p>
          <a:p>
            <a:r>
              <a:rPr b="0" sz="1700"/>
              <a:t>And then they ask you to unlock it.</a:t>
            </a:r>
          </a:p>
          <a:p>
            <a:r>
              <a:rPr b="0" sz="1700"/>
              <a:t>  アンド ゼン ゼイ アスク ユー トゥ </a:t>
            </a:r>
            <a:r>
              <a:rPr b="1" sz="1700"/>
              <a:t>アンロック</a:t>
            </a:r>
            <a:r>
              <a:rPr b="0" sz="1700"/>
              <a:t> イット。</a:t>
            </a:r>
          </a:p>
          <a:p>
            <a:r>
              <a:rPr b="0" sz="1700"/>
              <a:t>Full-disk encryption is all or nothing.</a:t>
            </a:r>
          </a:p>
          <a:p>
            <a:r>
              <a:rPr b="0" sz="1700"/>
              <a:t>  フルディスク インクリプション イズ </a:t>
            </a:r>
            <a:r>
              <a:rPr b="1" sz="1700"/>
              <a:t>オール オア ナッシング</a:t>
            </a:r>
            <a:r>
              <a:rPr b="0" sz="1700"/>
              <a:t>。</a:t>
            </a:r>
          </a:p>
          <a:p>
            <a:r>
              <a:rPr b="0" sz="1700"/>
              <a:t>You open it once, under pressure — and everything is exposed.</a:t>
            </a:r>
          </a:p>
          <a:p>
            <a:r>
              <a:rPr b="0" sz="1700"/>
              <a:t>  ユー オウプン イット </a:t>
            </a:r>
            <a:r>
              <a:rPr b="1" sz="1700"/>
              <a:t>ワンス</a:t>
            </a:r>
            <a:r>
              <a:rPr b="0" sz="1700"/>
              <a:t>、 アンダー プレッシャー — アンド </a:t>
            </a:r>
            <a:r>
              <a:rPr b="1" sz="1700"/>
              <a:t>エヴリシング</a:t>
            </a:r>
            <a:r>
              <a:rPr b="0" sz="1700"/>
              <a:t> イズ エクスポウズド。</a:t>
            </a:r>
          </a:p>
          <a:p>
            <a:r>
              <a:rPr b="0" sz="1700"/>
              <a:t>That’s over-disclosure.”</a:t>
            </a:r>
          </a:p>
          <a:p>
            <a:r>
              <a:rPr b="0" sz="1700"/>
              <a:t>  ザッツ </a:t>
            </a:r>
            <a:r>
              <a:rPr b="1" sz="1700"/>
              <a:t>オウヴァー ディスクロージャー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[02:40 / 0:30] MEME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“So you get three bad options.</a:t>
            </a:r>
          </a:p>
          <a:p>
            <a:r>
              <a:rPr b="0" sz="1700"/>
              <a:t>  ソウ ユー ゲット </a:t>
            </a:r>
            <a:r>
              <a:rPr b="1" sz="1700"/>
              <a:t>スリー バッド オプションズ</a:t>
            </a:r>
            <a:r>
              <a:rPr b="0" sz="1700"/>
              <a:t>。</a:t>
            </a:r>
          </a:p>
          <a:p>
            <a:r>
              <a:rPr b="0" sz="1700"/>
              <a:t>Refuse — and you escalate.</a:t>
            </a:r>
          </a:p>
          <a:p>
            <a:r>
              <a:rPr b="0" sz="1700"/>
              <a:t>  </a:t>
            </a:r>
            <a:r>
              <a:rPr b="1" sz="1700"/>
              <a:t>リフューズ</a:t>
            </a:r>
            <a:r>
              <a:rPr b="0" sz="1700"/>
              <a:t> — アンド ユー </a:t>
            </a:r>
            <a:r>
              <a:rPr b="1" sz="1700"/>
              <a:t>エスカレイト</a:t>
            </a:r>
            <a:r>
              <a:rPr b="0" sz="1700"/>
              <a:t>。</a:t>
            </a:r>
          </a:p>
          <a:p>
            <a:r>
              <a:rPr b="0" sz="1700"/>
              <a:t>Comply, with full-disk encryption — and you hand over everything.</a:t>
            </a:r>
          </a:p>
          <a:p>
            <a:r>
              <a:rPr b="0" sz="1700"/>
              <a:t>  </a:t>
            </a:r>
            <a:r>
              <a:rPr b="1" sz="1700"/>
              <a:t>コンプライ</a:t>
            </a:r>
            <a:r>
              <a:rPr b="0" sz="1700"/>
              <a:t>、 ウィズ フルディスク インクリプション — アンド ユー ハンド オウヴァー </a:t>
            </a:r>
            <a:r>
              <a:rPr b="1" sz="1700"/>
              <a:t>エヴリシング</a:t>
            </a:r>
            <a:r>
              <a:rPr b="0" sz="1700"/>
              <a:t>。</a:t>
            </a:r>
          </a:p>
          <a:p>
            <a:r>
              <a:rPr b="0" sz="1700"/>
              <a:t>Or… controlled disclosure.</a:t>
            </a:r>
          </a:p>
          <a:p>
            <a:r>
              <a:rPr b="0" sz="1700"/>
              <a:t>  オア… </a:t>
            </a:r>
            <a:r>
              <a:rPr b="1" sz="1700"/>
              <a:t>コントロールド ディスクロージャー</a:t>
            </a:r>
            <a:r>
              <a:rPr b="0" sz="1700"/>
              <a:t>。</a:t>
            </a:r>
          </a:p>
          <a:p>
            <a:r>
              <a:rPr b="0" sz="1700"/>
              <a:t>Show what’s visible. Protect the rest.</a:t>
            </a:r>
          </a:p>
          <a:p>
            <a:r>
              <a:rPr b="0" sz="1700"/>
              <a:t>  ショウ ワッツ </a:t>
            </a:r>
            <a:r>
              <a:rPr b="1" sz="1700"/>
              <a:t>ヴィジブル</a:t>
            </a:r>
            <a:r>
              <a:rPr b="0" sz="1700"/>
              <a:t>。 プロテクト ザ </a:t>
            </a:r>
            <a:r>
              <a:rPr b="1" sz="1700"/>
              <a:t>レスト</a:t>
            </a:r>
            <a:r>
              <a:rPr b="0" sz="1700"/>
              <a:t>。</a:t>
            </a:r>
          </a:p>
          <a:p>
            <a:r>
              <a:rPr b="0" sz="1700"/>
              <a:t>Same demand. Very different blast radius.”</a:t>
            </a:r>
          </a:p>
          <a:p>
            <a:r>
              <a:rPr b="0" sz="1700"/>
              <a:t>  セイム </a:t>
            </a:r>
            <a:r>
              <a:rPr b="1" sz="1700"/>
              <a:t>ディマンド</a:t>
            </a:r>
            <a:r>
              <a:rPr b="0" sz="1700"/>
              <a:t>。 ヴェリー ディファレント </a:t>
            </a:r>
            <a:r>
              <a:rPr b="1" sz="1700"/>
              <a:t>ブラスト レイディアス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[03:10 / 0:50] WHAT IT IS / ISN'T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“Let me be precise.</a:t>
            </a:r>
          </a:p>
          <a:p>
            <a:r>
              <a:rPr b="0" sz="1700"/>
              <a:t>  レット ミー ビー </a:t>
            </a:r>
            <a:r>
              <a:rPr b="1" sz="1700"/>
              <a:t>プリサイス</a:t>
            </a:r>
            <a:r>
              <a:rPr b="0" sz="1700"/>
              <a:t>。</a:t>
            </a:r>
          </a:p>
          <a:p>
            <a:r>
              <a:rPr b="0" sz="1700"/>
              <a:t>Phasmid is a field-evaluation research prototype for disclosure control.</a:t>
            </a:r>
          </a:p>
          <a:p>
            <a:r>
              <a:rPr b="0" sz="1700"/>
              <a:t>  ファズミッド イズ ア フィールド イヴァリュエイション リサーチ </a:t>
            </a:r>
            <a:r>
              <a:rPr b="1" sz="1700"/>
              <a:t>プロウトタイプ</a:t>
            </a:r>
            <a:r>
              <a:rPr b="0" sz="1700"/>
              <a:t> フォー ディスクロージャー コントロール。</a:t>
            </a:r>
          </a:p>
          <a:p>
            <a:r>
              <a:rPr b="0" sz="1700"/>
              <a:t>Local-only by default. Not casual file encryption.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 バイ ディフォルト。 </a:t>
            </a:r>
            <a:r>
              <a:rPr b="1" sz="1700"/>
              <a:t>ナット</a:t>
            </a:r>
            <a:r>
              <a:rPr b="0" sz="1700"/>
              <a:t> キャジュアル ファイル インクリプション。</a:t>
            </a:r>
          </a:p>
          <a:p>
            <a:r>
              <a:rPr b="0" sz="1700"/>
              <a:t>And it is not a replacement for audited full-disk encryption.</a:t>
            </a:r>
          </a:p>
          <a:p>
            <a:r>
              <a:rPr b="0" sz="1700"/>
              <a:t>  アンド イット イズ </a:t>
            </a:r>
            <a:r>
              <a:rPr b="1" sz="1700"/>
              <a:t>ナット</a:t>
            </a:r>
            <a:r>
              <a:rPr b="0" sz="1700"/>
              <a:t> ア リプレイスメント フォー オーディティッド フルディスク インクリプション。</a:t>
            </a:r>
          </a:p>
          <a:p>
            <a:r>
              <a:rPr b="0" sz="1700"/>
              <a:t>Not hardware-backed keys.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ハードウェアバックト キーズ。</a:t>
            </a:r>
          </a:p>
          <a:p>
            <a:r>
              <a:rPr b="0" sz="1700"/>
              <a:t>Not a magic delete button.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マジック ディリート バトゥン。</a:t>
            </a:r>
          </a:p>
          <a:p>
            <a:r>
              <a:rPr b="0" sz="1700"/>
              <a:t>Not a complete answer to compelled disclosure.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コンプリート アンサー トゥ コンペルド ディスクロージャー。</a:t>
            </a:r>
          </a:p>
          <a:p>
            <a:r>
              <a:rPr b="0" sz="1700"/>
              <a:t>I’ll keep drawing that line, the whole way through.”</a:t>
            </a:r>
          </a:p>
          <a:p>
            <a:r>
              <a:rPr b="0" sz="1700"/>
              <a:t>  アイル キープ ドローイング </a:t>
            </a:r>
            <a:r>
              <a:rPr b="1" sz="1700"/>
              <a:t>ザット ライン</a:t>
            </a:r>
            <a:r>
              <a:rPr b="0" sz="1700"/>
              <a:t>、 ザ ホウル ウェイ スルー。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[04:00 / 1:10] CORE IDEA — JANUS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core idea is Janus. Two faces.</a:t>
            </a:r>
          </a:p>
          <a:p>
            <a:r>
              <a:rPr b="0" sz="1700"/>
              <a:t>  ザ コア アイディア イズ </a:t>
            </a:r>
            <a:r>
              <a:rPr b="1" sz="1700"/>
              <a:t>ジェイナス</a:t>
            </a:r>
            <a:r>
              <a:rPr b="0" sz="1700"/>
              <a:t>。 </a:t>
            </a:r>
            <a:r>
              <a:rPr b="1" sz="1700"/>
              <a:t>トゥー フェイシズ</a:t>
            </a:r>
            <a:r>
              <a:rPr b="0" sz="1700"/>
              <a:t>。</a:t>
            </a:r>
          </a:p>
          <a:p>
            <a:r>
              <a:rPr b="0" sz="1700"/>
              <a:t>A two-slot model.</a:t>
            </a:r>
          </a:p>
          <a:p>
            <a:r>
              <a:rPr b="0" sz="1700"/>
              <a:t>  ア </a:t>
            </a:r>
            <a:r>
              <a:rPr b="1" sz="1700"/>
              <a:t>トゥースロット</a:t>
            </a:r>
            <a:r>
              <a:rPr b="0" sz="1700"/>
              <a:t> モデル。</a:t>
            </a:r>
          </a:p>
          <a:p>
            <a:r>
              <a:rPr b="0" sz="1700"/>
              <a:t>Slot A is what the visible surface shows.</a:t>
            </a:r>
          </a:p>
          <a:p>
            <a:r>
              <a:rPr b="0" sz="1700"/>
              <a:t>  スロット </a:t>
            </a:r>
            <a:r>
              <a:rPr b="1" sz="1700"/>
              <a:t>エイ</a:t>
            </a:r>
            <a:r>
              <a:rPr b="0" sz="1700"/>
              <a:t> イズ ワット ザ ヴィジブル サーフィス ショウズ。</a:t>
            </a:r>
          </a:p>
          <a:p>
            <a:r>
              <a:rPr b="0" sz="1700"/>
              <a:t>Plausible. Ordinary. Disclosed under pressure.</a:t>
            </a:r>
          </a:p>
          <a:p>
            <a:r>
              <a:rPr b="0" sz="1700"/>
              <a:t>  </a:t>
            </a:r>
            <a:r>
              <a:rPr b="1" sz="1700"/>
              <a:t>プローザブル</a:t>
            </a:r>
            <a:r>
              <a:rPr b="0" sz="1700"/>
              <a:t>。 </a:t>
            </a:r>
            <a:r>
              <a:rPr b="1" sz="1700"/>
              <a:t>オーディナリー</a:t>
            </a:r>
            <a:r>
              <a:rPr b="0" sz="1700"/>
              <a:t>。 ディスクロウズド アンダー プレッシャー。</a:t>
            </a:r>
          </a:p>
          <a:p>
            <a:r>
              <a:rPr b="0" sz="1700"/>
              <a:t>Slot B is protected local state. It stays off the visible path.</a:t>
            </a:r>
          </a:p>
          <a:p>
            <a:r>
              <a:rPr b="0" sz="1700"/>
              <a:t>  スロット </a:t>
            </a:r>
            <a:r>
              <a:rPr b="1" sz="1700"/>
              <a:t>ビー</a:t>
            </a:r>
            <a:r>
              <a:rPr b="0" sz="1700"/>
              <a:t> イズ プロテクティッド ローカル ステイト。 イット ステイズ </a:t>
            </a:r>
            <a:r>
              <a:rPr b="1" sz="1700"/>
              <a:t>オフ</a:t>
            </a:r>
            <a:r>
              <a:rPr b="0" sz="1700"/>
              <a:t> ザ ヴィジブル パス。</a:t>
            </a:r>
          </a:p>
          <a:p>
            <a:r>
              <a:rPr b="0" sz="1700"/>
              <a:t>And it’s bound to local conditions — not to a password alone.</a:t>
            </a:r>
          </a:p>
          <a:p>
            <a:r>
              <a:rPr b="0" sz="1700"/>
              <a:t>  アンド イッツ バウンド トゥ </a:t>
            </a:r>
            <a:r>
              <a:rPr b="1" sz="1700"/>
              <a:t>ローカル コンディションズ</a:t>
            </a:r>
            <a:r>
              <a:rPr b="0" sz="1700"/>
              <a:t> — ナット トゥ ア パスワード アロウン。</a:t>
            </a:r>
          </a:p>
          <a:p>
            <a:r>
              <a:rPr b="0" sz="1700"/>
              <a:t>What you show is not all there is.”</a:t>
            </a:r>
          </a:p>
          <a:p>
            <a:r>
              <a:rPr b="0" sz="1700"/>
              <a:t>  ワット ユー ショウ イズ </a:t>
            </a:r>
            <a:r>
              <a:rPr b="1" sz="1700"/>
              <a:t>ナット オール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“Slot A is what you show. Slot B is not on the visible path.”</a:t>
            </a:r>
          </a:p>
          <a:p>
            <a:r>
              <a:rPr b="0" sz="1700"/>
              <a:t>  スロット エイ イズ ワット ユー </a:t>
            </a:r>
            <a:r>
              <a:rPr b="1" sz="1700"/>
              <a:t>ショウ</a:t>
            </a:r>
            <a:r>
              <a:rPr b="0" sz="1700"/>
              <a:t>。 スロット ビー イズ </a:t>
            </a:r>
            <a:r>
              <a:rPr b="1" sz="1700"/>
              <a:t>ナット</a:t>
            </a:r>
            <a:r>
              <a:rPr b="0" sz="1700"/>
              <a:t> オン ザ ヴィジブル パス。</a:t>
            </a:r>
          </a:p>
          <a:p>
            <a:r>
              <a:rPr b="0" sz="1700"/>
              <a:t/>
            </a:r>
          </a:p>
          <a:p>
            <a:r>
              <a:rPr b="0" sz="120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[05:10 / 1:15] ADVERSARY MODEL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“Who does it defend against?</a:t>
            </a:r>
          </a:p>
          <a:p>
            <a:r>
              <a:rPr b="0" sz="1700"/>
              <a:t>  フー ダズ イット </a:t>
            </a:r>
            <a:r>
              <a:rPr b="1" sz="1700"/>
              <a:t>ディフェンド</a:t>
            </a:r>
            <a:r>
              <a:rPr b="0" sz="1700"/>
              <a:t> アゲンスト?</a:t>
            </a:r>
          </a:p>
          <a:p>
            <a:r>
              <a:rPr b="0" sz="1700"/>
              <a:t>Five adversaries in scope.</a:t>
            </a:r>
          </a:p>
          <a:p>
            <a:r>
              <a:rPr b="0" sz="1700"/>
              <a:t>  </a:t>
            </a:r>
            <a:r>
              <a:rPr b="1" sz="1700"/>
              <a:t>ファイヴ</a:t>
            </a:r>
            <a:r>
              <a:rPr b="0" sz="1700"/>
              <a:t> アドヴァサリーズ イン スコープ。</a:t>
            </a:r>
          </a:p>
          <a:p>
            <a:r>
              <a:rPr b="0" sz="1700"/>
              <a:t>A physical captor. A passive observer. A local active attacker.</a:t>
            </a:r>
          </a:p>
          <a:p>
            <a:r>
              <a:rPr b="0" sz="1700"/>
              <a:t>  ア フィジカル キャプター。 ア パッシヴ オブザーヴァー。 ア ローカル アクティヴ アタッカー。</a:t>
            </a:r>
          </a:p>
          <a:p>
            <a:r>
              <a:rPr b="0" sz="1700"/>
              <a:t>A local-network attacker. And a coercing authority.</a:t>
            </a:r>
          </a:p>
          <a:p>
            <a:r>
              <a:rPr b="0" sz="1700"/>
              <a:t>  ア ローカルネットワーク アタッカー。 アンド ア </a:t>
            </a:r>
            <a:r>
              <a:rPr b="1" sz="1700"/>
              <a:t>コアーシング オーソリティ</a:t>
            </a:r>
            <a:r>
              <a:rPr b="0" sz="1700"/>
              <a:t>。</a:t>
            </a:r>
          </a:p>
          <a:p>
            <a:r>
              <a:rPr b="0" sz="1700"/>
              <a:t>And five explicitly out of scope.</a:t>
            </a:r>
          </a:p>
          <a:p>
            <a:r>
              <a:rPr b="0" sz="1700"/>
              <a:t>  アンド ファイヴ エクスプリシットリー </a:t>
            </a:r>
            <a:r>
              <a:rPr b="1" sz="1700"/>
              <a:t>アウト オヴ スコープ</a:t>
            </a:r>
            <a:r>
              <a:rPr b="0" sz="1700"/>
              <a:t>。</a:t>
            </a:r>
          </a:p>
          <a:p>
            <a:r>
              <a:rPr b="0" sz="1700"/>
              <a:t>A compromised kernel. Hardware implants. Remote attackers.</a:t>
            </a:r>
          </a:p>
          <a:p>
            <a:r>
              <a:rPr b="0" sz="1700"/>
              <a:t>  ア コンプロマイズド カーネル。 ハードウェア インプランツ。 リモウト アタッカーズ。</a:t>
            </a:r>
          </a:p>
          <a:p>
            <a:r>
              <a:rPr b="0" sz="1700"/>
              <a:t>Supply chain. And breaking the crypto itself.</a:t>
            </a:r>
          </a:p>
          <a:p>
            <a:r>
              <a:rPr b="0" sz="1700"/>
              <a:t>  サプライ チェイン。 アンド ブレイキング ザ </a:t>
            </a:r>
            <a:r>
              <a:rPr b="1" sz="1700"/>
              <a:t>クリプト イットセルフ</a:t>
            </a:r>
            <a:r>
              <a:rPr b="0" sz="1700"/>
              <a:t>。</a:t>
            </a:r>
          </a:p>
          <a:p>
            <a:r>
              <a:rPr b="0" sz="1700"/>
              <a:t>If the host is owned, no user-space tool saves you.</a:t>
            </a:r>
          </a:p>
          <a:p>
            <a:r>
              <a:rPr b="0" sz="1700"/>
              <a:t>  イフ ザ ホウスト イズ </a:t>
            </a:r>
            <a:r>
              <a:rPr b="1" sz="1700"/>
              <a:t>オウンド</a:t>
            </a:r>
            <a:r>
              <a:rPr b="0" sz="1700"/>
              <a:t>、 ノウ ユーザースペイス ツール </a:t>
            </a:r>
            <a:r>
              <a:rPr b="1" sz="1700"/>
              <a:t>セイヴズ</a:t>
            </a:r>
            <a:r>
              <a:rPr b="0" sz="1700"/>
              <a:t> ユー。</a:t>
            </a:r>
          </a:p>
          <a:p>
            <a:r>
              <a:rPr b="0" sz="1700"/>
              <a:t>I won’t pretend otherwise.”</a:t>
            </a:r>
          </a:p>
          <a:p>
            <a:r>
              <a:rPr b="0" sz="1700"/>
              <a:t>  アイ ウォウント </a:t>
            </a:r>
            <a:r>
              <a:rPr b="1" sz="1700"/>
              <a:t>プリテンド</a:t>
            </a:r>
            <a:r>
              <a:rPr b="0" sz="1700"/>
              <a:t> アザワイズ。</a:t>
            </a:r>
          </a:p>
          <a:p>
            <a:r>
              <a:rPr b="0" sz="1700"/>
              <a:t/>
            </a:r>
          </a:p>
          <a:p>
            <a:r>
              <a:rPr b="0" sz="120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[06:25 / 0:45] STRIDE + LINDDUN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“I didn’t hand-wave the threats.</a:t>
            </a:r>
          </a:p>
          <a:p>
            <a:r>
              <a:rPr b="0" sz="1700"/>
              <a:t>  アイ ディドゥント </a:t>
            </a:r>
            <a:r>
              <a:rPr b="1" sz="1700"/>
              <a:t>ハンドウェイヴ</a:t>
            </a:r>
            <a:r>
              <a:rPr b="0" sz="1700"/>
              <a:t> ザ スレッツ。</a:t>
            </a:r>
          </a:p>
          <a:p>
            <a:r>
              <a:rPr b="0" sz="1700"/>
              <a:t>Eighteen scenarios. Each one tagged with STRIDE and LINDDUN.</a:t>
            </a:r>
          </a:p>
          <a:p>
            <a:r>
              <a:rPr b="0" sz="1700"/>
              <a:t>  </a:t>
            </a:r>
            <a:r>
              <a:rPr b="1" sz="1700"/>
              <a:t>エイティーン</a:t>
            </a:r>
            <a:r>
              <a:rPr b="0" sz="1700"/>
              <a:t> シナリオズ。 イーチ ワン タグド ウィズ </a:t>
            </a:r>
            <a:r>
              <a:rPr b="1" sz="1700"/>
              <a:t>ストライド</a:t>
            </a:r>
            <a:r>
              <a:rPr b="0" sz="1700"/>
              <a:t> アンド </a:t>
            </a:r>
            <a:r>
              <a:rPr b="1" sz="1700"/>
              <a:t>リンダン</a:t>
            </a:r>
            <a:r>
              <a:rPr b="0" sz="1700"/>
              <a:t>。</a:t>
            </a:r>
          </a:p>
          <a:p>
            <a:r>
              <a:rPr b="0" sz="1700"/>
              <a:t>Offline cracking. Session replay. Header leakage.</a:t>
            </a:r>
          </a:p>
          <a:p>
            <a:r>
              <a:rPr b="0" sz="1700"/>
              <a:t>  オフライン クラッキング。 セッション リプレイ。 ヘダー リーキッジ。</a:t>
            </a:r>
          </a:p>
          <a:p>
            <a:r>
              <a:rPr b="0" sz="1700"/>
              <a:t>Timing side-channels. Object-cue spoofing. Coerced disclosure.</a:t>
            </a:r>
          </a:p>
          <a:p>
            <a:r>
              <a:rPr b="0" sz="1700"/>
              <a:t>  タイミング サイドチャネルズ。 オブジェクトキュー スプーフィング。 コアースト ディスクロージャー。</a:t>
            </a:r>
          </a:p>
          <a:p>
            <a:r>
              <a:rPr b="0" sz="1700"/>
              <a:t>Here are a few. The full matrix is in the repo.</a:t>
            </a:r>
          </a:p>
          <a:p>
            <a:r>
              <a:rPr b="0" sz="1700"/>
              <a:t>  ヒア アー ア </a:t>
            </a:r>
            <a:r>
              <a:rPr b="1" sz="1700"/>
              <a:t>フュー</a:t>
            </a:r>
            <a:r>
              <a:rPr b="0" sz="1700"/>
              <a:t>。 ザ フル メイトリクス イズ イン ザ </a:t>
            </a:r>
            <a:r>
              <a:rPr b="1" sz="1700"/>
              <a:t>リーポウ</a:t>
            </a:r>
            <a:r>
              <a:rPr b="0" sz="1700"/>
              <a:t>。</a:t>
            </a:r>
          </a:p>
          <a:p>
            <a:r>
              <a:rPr b="0" sz="1700"/>
              <a:t>And if you want to argue with any of them — find me after.</a:t>
            </a:r>
          </a:p>
          <a:p>
            <a:r>
              <a:rPr b="0" sz="1700"/>
              <a:t>  アンド イフ ユー ワナ </a:t>
            </a:r>
            <a:r>
              <a:rPr b="1" sz="1700"/>
              <a:t>アーギュー</a:t>
            </a:r>
            <a:r>
              <a:rPr b="0" sz="1700"/>
              <a:t> ウィズ エニー オヴ ゼム — </a:t>
            </a:r>
            <a:r>
              <a:rPr b="1" sz="1700"/>
              <a:t>ファインド ミー アフター</a:t>
            </a:r>
            <a:r>
              <a:rPr b="0" sz="1700"/>
              <a:t>。</a:t>
            </a:r>
          </a:p>
          <a:p>
            <a:r>
              <a:rPr b="0" sz="1700"/>
              <a:t>I’d enjoy that.”</a:t>
            </a:r>
          </a:p>
          <a:p>
            <a:r>
              <a:rPr b="0" sz="1700"/>
              <a:t>  アイド </a:t>
            </a:r>
            <a:r>
              <a:rPr b="1" sz="1700"/>
              <a:t>エンジョイ</a:t>
            </a:r>
            <a:r>
              <a:rPr b="0" sz="1700"/>
              <a:t> ザット。</a:t>
            </a:r>
          </a:p>
          <a:p>
            <a:r>
              <a:rPr b="0" sz="1700"/>
              <a:t/>
            </a:r>
          </a:p>
          <a:p>
            <a:r>
              <a:rPr b="0" sz="120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[07:10 / 1:00] ARCHITECTURE BOUNDARY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“Architecturally, four things stay explicit.</a:t>
            </a:r>
          </a:p>
          <a:p>
            <a:r>
              <a:rPr b="0" sz="1700"/>
              <a:t>  アーキテクチャリー、 フォー シングズ ステイ </a:t>
            </a:r>
            <a:r>
              <a:rPr b="1" sz="1700"/>
              <a:t>エクスプリシット</a:t>
            </a:r>
            <a:r>
              <a:rPr b="0" sz="1700"/>
              <a:t>。</a:t>
            </a:r>
          </a:p>
          <a:p>
            <a:r>
              <a:rPr b="0" sz="1700"/>
              <a:t>One. Two-slot storage.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。 トゥースロット </a:t>
            </a:r>
            <a:r>
              <a:rPr b="1" sz="1700"/>
              <a:t>ストレージ</a:t>
            </a:r>
            <a:r>
              <a:rPr b="0" sz="1700"/>
              <a:t>。</a:t>
            </a:r>
          </a:p>
          <a:p>
            <a:r>
              <a:rPr b="0" sz="1700"/>
              <a:t>Two. Local access-key mixing — keys come from local state, not from a passphrase alone.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。 ローカル アクセスキー ミキシング — キーズ カム フロム </a:t>
            </a:r>
            <a:r>
              <a:rPr b="1" sz="1700"/>
              <a:t>ローカル ステイト</a:t>
            </a:r>
            <a:r>
              <a:rPr b="0" sz="1700"/>
              <a:t>、 ナット フロム ア パスフレイズ アロウン。</a:t>
            </a:r>
          </a:p>
          <a:p>
            <a:r>
              <a:rPr b="0" sz="1700"/>
              <a:t>Three. A restricted-action policy. It gates anything sensitive, and anything about recovery.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。 ア リストリクティッドアクション ポリシー。 イット ゲイツ エニシング </a:t>
            </a:r>
            <a:r>
              <a:rPr b="1" sz="1700"/>
              <a:t>センシティヴ</a:t>
            </a:r>
            <a:r>
              <a:rPr b="0" sz="1700"/>
              <a:t>、 アンド エニシング アバウト リカヴァリー。</a:t>
            </a:r>
          </a:p>
          <a:p>
            <a:r>
              <a:rPr b="0" sz="1700"/>
              <a:t>Four. Capture-visible discipline.</a:t>
            </a:r>
          </a:p>
          <a:p>
            <a:r>
              <a:rPr b="0" sz="1700"/>
              <a:t>  </a:t>
            </a:r>
            <a:r>
              <a:rPr b="1" sz="1700"/>
              <a:t>フォー</a:t>
            </a:r>
            <a:r>
              <a:rPr b="0" sz="1700"/>
              <a:t>。 キャプチャーヴィジブル </a:t>
            </a:r>
            <a:r>
              <a:rPr b="1" sz="1700"/>
              <a:t>ディシプリン</a:t>
            </a:r>
            <a:r>
              <a:rPr b="0" sz="1700"/>
              <a:t>。</a:t>
            </a:r>
          </a:p>
          <a:p>
            <a:r>
              <a:rPr b="0" sz="1700"/>
              <a:t>Normal flows never show the structure, the recovery path, or the order you’d try things in.</a:t>
            </a:r>
          </a:p>
          <a:p>
            <a:r>
              <a:rPr b="0" sz="1700"/>
              <a:t>  ノーマル フロウズ </a:t>
            </a:r>
            <a:r>
              <a:rPr b="1" sz="1700"/>
              <a:t>ネヴァー</a:t>
            </a:r>
            <a:r>
              <a:rPr b="0" sz="1700"/>
              <a:t> ショウ ザ ストラクチャー、 ザ リカヴァリー パス、 オア ジ オーダー ユード トライ シングズ イン。</a:t>
            </a:r>
          </a:p>
          <a:p>
            <a:r>
              <a:rPr b="0" sz="1700"/>
              <a:t/>
            </a:r>
          </a:p>
          <a:p>
            <a:r>
              <a:rPr b="0" sz="120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[08:10 / 0:40] LAYERS + DOCS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Underneath are narrow local layers.</a:t>
            </a:r>
          </a:p>
          <a:p>
            <a:r>
              <a:rPr b="0" sz="1700"/>
              <a:t>  アンダニース アー </a:t>
            </a:r>
            <a:r>
              <a:rPr b="1" sz="1700"/>
              <a:t>ナロウ ローカル レイヤーズ</a:t>
            </a:r>
            <a:r>
              <a:rPr b="0" sz="1700"/>
              <a:t>。</a:t>
            </a:r>
          </a:p>
          <a:p>
            <a:r>
              <a:rPr b="0" sz="1700"/>
              <a:t>Entry points, policy, crypto core, local state, deployment.</a:t>
            </a:r>
          </a:p>
          <a:p>
            <a:r>
              <a:rPr b="0" sz="1700"/>
              <a:t>  エントリー ポインツ、 ポリシー、 クリプト コア、 ローカル ステイト、 ディプロイメント。</a:t>
            </a:r>
          </a:p>
          <a:p>
            <a:r>
              <a:rPr b="0" sz="1700"/>
              <a:t>None of this is folklore. It’s documented.</a:t>
            </a:r>
          </a:p>
          <a:p>
            <a:r>
              <a:rPr b="0" sz="1700"/>
              <a:t>  </a:t>
            </a:r>
            <a:r>
              <a:rPr b="1" sz="1700"/>
              <a:t>ナン</a:t>
            </a:r>
            <a:r>
              <a:rPr b="0" sz="1700"/>
              <a:t> オヴ ディス イズ フォウクロー。 イッツ </a:t>
            </a:r>
            <a:r>
              <a:rPr b="1" sz="1700"/>
              <a:t>ドキュメンティッド</a:t>
            </a:r>
            <a:r>
              <a:rPr b="0" sz="1700"/>
              <a:t>。</a:t>
            </a:r>
          </a:p>
          <a:p>
            <a:r>
              <a:rPr b="0" sz="1700"/>
              <a:t>Read it — and poke holes in it.”</a:t>
            </a:r>
          </a:p>
          <a:p>
            <a:r>
              <a:rPr b="0" sz="1700"/>
              <a:t>  </a:t>
            </a:r>
            <a:r>
              <a:rPr b="1" sz="1700"/>
              <a:t>リード</a:t>
            </a:r>
            <a:r>
              <a:rPr b="0" sz="1700"/>
              <a:t> イット — アンド </a:t>
            </a:r>
            <a:r>
              <a:rPr b="1" sz="1700"/>
              <a:t>ポウク ホウルズ</a:t>
            </a:r>
            <a:r>
              <a:rPr b="0" sz="170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[08:50 / 0:50] THREE PILLARS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“Three moving parts.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ムーヴィング パーツ。</a:t>
            </a:r>
          </a:p>
          <a:p>
            <a:r>
              <a:rPr b="0" sz="1700"/>
              <a:t>One — an encrypted local vessel. Authenticated encryption, password-derived keys.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 — アン インクリプティッド ローカル </a:t>
            </a:r>
            <a:r>
              <a:rPr b="1" sz="1700"/>
              <a:t>ヴェッセル</a:t>
            </a:r>
            <a:r>
              <a:rPr b="0" sz="1700"/>
              <a:t>。 オーセンティケイティッド インクリプション、 パスワードディライヴド キーズ。</a:t>
            </a:r>
          </a:p>
          <a:p>
            <a:r>
              <a:rPr b="0" sz="1700"/>
              <a:t>Two — object-cue operation. I’ll come right back to this. It’s the fun part.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 — オブジェクトキュー オペレイション。 アイル カム ゥライト バック トゥ ディス。 イッツ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Three — controlled disclosure.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— コントロールド ディスクロージャー。</a:t>
            </a:r>
          </a:p>
          <a:p>
            <a:r>
              <a:rPr b="0" sz="1700"/>
              <a:t>And that third one is concrete, not a slogan.</a:t>
            </a:r>
          </a:p>
          <a:p>
            <a:r>
              <a:rPr b="0" sz="1700"/>
              <a:t>  アンド ザット サード ワン イズ </a:t>
            </a:r>
            <a:r>
              <a:rPr b="1" sz="1700"/>
              <a:t>コンクリート</a:t>
            </a:r>
            <a:r>
              <a:rPr b="0" sz="1700"/>
              <a:t>、 ナット ア スロウガン。</a:t>
            </a:r>
          </a:p>
          <a:p>
            <a:r>
              <a:rPr b="0" sz="1700"/>
              <a:t>You set three credentials.</a:t>
            </a:r>
          </a:p>
          <a:p>
            <a:r>
              <a:rPr b="0" sz="1700"/>
              <a:t>  ユー セット </a:t>
            </a:r>
            <a:r>
              <a:rPr b="1" sz="1700"/>
              <a:t>スリー クリデンシャルズ</a:t>
            </a:r>
            <a:r>
              <a:rPr b="0" sz="1700"/>
              <a:t>。</a:t>
            </a:r>
          </a:p>
          <a:p>
            <a:r>
              <a:rPr b="0" sz="1700"/>
              <a:t>One opens the real file.</a:t>
            </a:r>
          </a:p>
          <a:p>
            <a:r>
              <a:rPr b="0" sz="1700"/>
              <a:t>  ワン </a:t>
            </a:r>
            <a:r>
              <a:rPr b="1" sz="1700"/>
              <a:t>オウプンズ</a:t>
            </a:r>
            <a:r>
              <a:rPr b="0" sz="1700"/>
              <a:t> ザ リアル ファイル。</a:t>
            </a:r>
          </a:p>
          <a:p>
            <a:r>
              <a:rPr b="0" sz="1700"/>
              <a:t>One opens the decoy.</a:t>
            </a:r>
          </a:p>
          <a:p>
            <a:r>
              <a:rPr b="0" sz="1700"/>
              <a:t>  ワン オウプンズ ザ </a:t>
            </a:r>
            <a:r>
              <a:rPr b="1" sz="1700"/>
              <a:t>ディーコイ</a:t>
            </a:r>
            <a:r>
              <a:rPr b="0" sz="1700"/>
              <a:t>。</a:t>
            </a:r>
          </a:p>
          <a:p>
            <a:r>
              <a:rPr b="0" sz="1700"/>
              <a:t>And one destroys the real file.</a:t>
            </a:r>
          </a:p>
          <a:p>
            <a:r>
              <a:rPr b="0" sz="1700"/>
              <a:t>  アンド ワン </a:t>
            </a:r>
            <a:r>
              <a:rPr b="1" sz="1700"/>
              <a:t>ディストロイズ</a:t>
            </a:r>
            <a:r>
              <a:rPr b="0" sz="1700"/>
              <a:t> ザ リアル ファイル。</a:t>
            </a:r>
          </a:p>
          <a:p>
            <a:r>
              <a:rPr b="0" sz="1700"/>
              <a:t>Three passwords. Three very different outcomes.</a:t>
            </a:r>
          </a:p>
          <a:p>
            <a:r>
              <a:rPr b="0" sz="1700"/>
              <a:t>  スリー パスワーズ。 スリー ヴェリー </a:t>
            </a:r>
            <a:r>
              <a:rPr b="1" sz="1700"/>
              <a:t>ディファレント アウトカムズ</a:t>
            </a:r>
            <a:r>
              <a:rPr b="0" sz="1700"/>
              <a:t>。</a:t>
            </a:r>
          </a:p>
          <a:p>
            <a:r>
              <a:rPr b="0" sz="1700"/>
              <a:t>And only you know which is which.”</a:t>
            </a:r>
          </a:p>
          <a:p>
            <a:r>
              <a:rPr b="0" sz="1700"/>
              <a:t>  アンド </a:t>
            </a:r>
            <a:r>
              <a:rPr b="1" sz="1700"/>
              <a:t>オウンリー ユー</a:t>
            </a:r>
            <a:r>
              <a:rPr b="0" sz="1700"/>
              <a:t> ノウ ウィッチ イズ ウィッチ。</a:t>
            </a:r>
          </a:p>
          <a:p>
            <a:r>
              <a:rPr b="0" sz="1700"/>
              <a:t/>
            </a:r>
          </a:p>
          <a:p>
            <a:r>
              <a:rPr b="0" sz="120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[09:40 / 1:20] OBJECT-CUE  ★見せ場 — 発話 0:50</a:t>
            </a:r>
          </a:p>
          <a:p>
            <a:r>
              <a:rPr b="0" sz="1700"/>
              <a:t/>
            </a:r>
          </a:p>
          <a:p>
            <a:r>
              <a:rPr b="0" sz="1700"/>
              <a:t>“Here’s the fun part.</a:t>
            </a:r>
          </a:p>
          <a:p>
            <a:r>
              <a:rPr b="0" sz="1700"/>
              <a:t>  ヒアズ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You show an everyday object to the camera, and that operates the access gate.</a:t>
            </a:r>
          </a:p>
          <a:p>
            <a:r>
              <a:rPr b="0" sz="1700"/>
              <a:t>  ユー ショウ アン エヴリデイ </a:t>
            </a:r>
            <a:r>
              <a:rPr b="1" sz="1700"/>
              <a:t>オブジェクト</a:t>
            </a:r>
            <a:r>
              <a:rPr b="0" sz="1700"/>
              <a:t> トゥ ザ カメラ、 アンド ザット オペレイツ ジ </a:t>
            </a:r>
            <a:r>
              <a:rPr b="1" sz="1700"/>
              <a:t>アクセス ゲイト</a:t>
            </a:r>
            <a:r>
              <a:rPr b="0" sz="1700"/>
              <a:t>。</a:t>
            </a:r>
          </a:p>
          <a:p>
            <a:r>
              <a:rPr b="0" sz="1700"/>
              <a:t>Nothing to type. Nothing that looks like a secret.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トゥ タイプ。 </a:t>
            </a:r>
            <a:r>
              <a:rPr b="1" sz="1700"/>
              <a:t>ナッシング</a:t>
            </a:r>
            <a:r>
              <a:rPr b="0" sz="1700"/>
              <a:t> ザット ルックス ライク ア シークレット。</a:t>
            </a:r>
          </a:p>
          <a:p>
            <a:r>
              <a:rPr b="0" sz="1700"/>
              <a:t>Now — this is the part people get wrong. So let me be clear.</a:t>
            </a:r>
          </a:p>
          <a:p>
            <a:r>
              <a:rPr b="0" sz="1700"/>
              <a:t>  ナウ — ディス イズ ザ パート ピープル ゲット </a:t>
            </a:r>
            <a:r>
              <a:rPr b="1" sz="1700"/>
              <a:t>ゥロング</a:t>
            </a:r>
            <a:r>
              <a:rPr b="0" sz="1700"/>
              <a:t>。 ソウ レット ミー ビー </a:t>
            </a:r>
            <a:r>
              <a:rPr b="1" sz="1700"/>
              <a:t>クリア</a:t>
            </a:r>
            <a:r>
              <a:rPr b="0" sz="1700"/>
              <a:t>。</a:t>
            </a:r>
          </a:p>
          <a:p>
            <a:r>
              <a:rPr b="0" sz="1700"/>
              <a:t>The object is a cue, not a key.</a:t>
            </a:r>
          </a:p>
          <a:p>
            <a:r>
              <a:rPr b="0" sz="1700"/>
              <a:t>  ジ オブジェクト イズ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drives operation, and policy checks.</a:t>
            </a:r>
          </a:p>
          <a:p>
            <a:r>
              <a:rPr b="0" sz="1700"/>
              <a:t>  イット ドライヴズ </a:t>
            </a:r>
            <a:r>
              <a:rPr b="1" sz="1700"/>
              <a:t>オペレイション</a:t>
            </a:r>
            <a:r>
              <a:rPr b="0" sz="1700"/>
              <a:t>、 アンド ポリシー チェックス。</a:t>
            </a:r>
          </a:p>
          <a:p>
            <a:r>
              <a:rPr b="0" sz="1700"/>
              <a:t>It is not the encryption key.</a:t>
            </a:r>
          </a:p>
          <a:p>
            <a:r>
              <a:rPr b="0" sz="1700"/>
              <a:t> 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 of the object unlocks nothing.</a:t>
            </a:r>
          </a:p>
          <a:p>
            <a:r>
              <a:rPr b="0" sz="1700"/>
              <a:t>  ア フォウトウ オヴ ジ オブジェクト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The crypto stays with Argon2id and AES-GCM.</a:t>
            </a:r>
          </a:p>
          <a:p>
            <a:r>
              <a:rPr b="0" sz="1700"/>
              <a:t>  ザ クリプト ステイズ ウィズ </a:t>
            </a:r>
            <a:r>
              <a:rPr b="1" sz="1700"/>
              <a:t>アーゴン トゥー アイディー</a:t>
            </a:r>
            <a:r>
              <a:rPr b="0" sz="1700"/>
              <a:t> アンド </a:t>
            </a:r>
            <a:r>
              <a:rPr b="1" sz="1700"/>
              <a:t>エイ イー エス ジー シー エム</a:t>
            </a:r>
            <a:r>
              <a:rPr b="0" sz="1700"/>
              <a:t>。</a:t>
            </a:r>
          </a:p>
          <a:p>
            <a:r>
              <a:rPr b="0" sz="1700"/>
              <a:t>The object only decides whether you get to act.</a:t>
            </a:r>
          </a:p>
          <a:p>
            <a:r>
              <a:rPr b="0" sz="1700"/>
              <a:t>  ジ オブジェクト オウンリー ディサイズ ウェザー ユー ゲット トゥ </a:t>
            </a:r>
            <a:r>
              <a:rPr b="1" sz="1700"/>
              <a:t>アクト</a:t>
            </a:r>
            <a:r>
              <a:rPr b="0" sz="1700"/>
              <a:t>。</a:t>
            </a:r>
          </a:p>
          <a:p>
            <a:r>
              <a:rPr b="0" sz="1700"/>
              <a:t>And you’ll watch this fail, live, in a few minutes.</a:t>
            </a:r>
          </a:p>
          <a:p>
            <a:r>
              <a:rPr b="0" sz="1700"/>
              <a:t>  アンド ユール ウォッチ ディス </a:t>
            </a:r>
            <a:r>
              <a:rPr b="1" sz="1700"/>
              <a:t>フェイル</a:t>
            </a:r>
            <a:r>
              <a:rPr b="0" sz="1700"/>
              <a:t>、 </a:t>
            </a:r>
            <a:r>
              <a:rPr b="1" sz="1700"/>
              <a:t>ライヴ</a:t>
            </a:r>
            <a:r>
              <a:rPr b="0" sz="1700"/>
              <a:t>、 イン ア フュー ミニッツ。</a:t>
            </a:r>
          </a:p>
          <a:p>
            <a:r>
              <a:rPr b="0" sz="1700"/>
              <a:t>Same file. Same password. No object.”</a:t>
            </a:r>
          </a:p>
          <a:p>
            <a:r>
              <a:rPr b="0" sz="1700"/>
              <a:t>  セイム ファイル。 セイム パスワード。 </a:t>
            </a:r>
            <a:r>
              <a:rPr b="1" sz="1700"/>
              <a:t>ノウ オブジェクト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“A cue, not a key. A photo of it unlocks nothing.”</a:t>
            </a:r>
          </a:p>
          <a:p>
            <a:r>
              <a:rPr b="0" sz="1700"/>
              <a:t> 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 ア フォウトウ オヴ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ゆっくり。手元の物体を掲げると効果的。最後の一文で Step 4 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[11:00 / 1:20] COERCION-SAFE DELAYING — 発話 1:20</a:t>
            </a:r>
          </a:p>
          <a:p>
            <a:r>
              <a:rPr b="0" sz="1700"/>
              <a:t/>
            </a:r>
          </a:p>
          <a:p>
            <a:r>
              <a:rPr b="0" sz="1700"/>
              <a:t>“This is what makes it coercion-safe.</a:t>
            </a:r>
          </a:p>
          <a:p>
            <a:r>
              <a:rPr b="0" sz="1700"/>
              <a:t>  ディス イズ ワット メイクス イット </a:t>
            </a:r>
            <a:r>
              <a:rPr b="1" sz="1700"/>
              <a:t>コアージョン セイフ</a:t>
            </a:r>
            <a:r>
              <a:rPr b="0" sz="1700"/>
              <a:t>。</a:t>
            </a:r>
          </a:p>
          <a:p>
            <a:r>
              <a:rPr b="0" sz="1700"/>
              <a:t>First, Silent Standby.</a:t>
            </a:r>
          </a:p>
          <a:p>
            <a:r>
              <a:rPr b="0" sz="1700"/>
              <a:t>  ファースト、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One hotkey drops the sensitive interface into a harmless state.</a:t>
            </a:r>
          </a:p>
          <a:p>
            <a:r>
              <a:rPr b="0" sz="1700"/>
              <a:t>  ワン ホットキー ドロップス ザ センシティヴ インターフェイス イントゥ ア </a:t>
            </a:r>
            <a:r>
              <a:rPr b="1" sz="1700"/>
              <a:t>ハームレス ステイト</a:t>
            </a:r>
            <a:r>
              <a:rPr b="0" sz="1700"/>
              <a:t>。</a:t>
            </a:r>
          </a:p>
          <a:p>
            <a:r>
              <a:rPr b="0" sz="1700"/>
              <a:t>Coming back needs re-authentication.</a:t>
            </a:r>
          </a:p>
          <a:p>
            <a:r>
              <a:rPr b="0" sz="1700"/>
              <a:t>  カミング バック ニーズ </a:t>
            </a:r>
            <a:r>
              <a:rPr b="1" sz="1700"/>
              <a:t>リーオーセンティケイション</a:t>
            </a:r>
            <a:r>
              <a:rPr b="0" sz="1700"/>
              <a:t>。</a:t>
            </a:r>
          </a:p>
          <a:p>
            <a:r>
              <a:rPr b="0" sz="1700"/>
              <a:t>Second — the material itself. And I want to be exact here.</a:t>
            </a:r>
          </a:p>
          <a:p>
            <a:r>
              <a:rPr b="0" sz="1700"/>
              <a:t>  セカンド — ザ マテリアル </a:t>
            </a:r>
            <a:r>
              <a:rPr b="1" sz="1700"/>
              <a:t>イットセルフ</a:t>
            </a:r>
            <a:r>
              <a:rPr b="0" sz="1700"/>
              <a:t>。 アンド アイ ワナ ビー </a:t>
            </a:r>
            <a:r>
              <a:rPr b="1" sz="1700"/>
              <a:t>イグザクト</a:t>
            </a:r>
            <a:r>
              <a:rPr b="0" sz="1700"/>
              <a:t> ヒア。</a:t>
            </a:r>
          </a:p>
          <a:p>
            <a:r>
              <a:rPr b="0" sz="1700"/>
              <a:t>The file you would hand over is a file you wrote and stored yourself.</a:t>
            </a:r>
          </a:p>
          <a:p>
            <a:r>
              <a:rPr b="0" sz="1700"/>
              <a:t>  ザ ファイル ユー ウド ハンド オウヴァー イズ ア ファイル ユー </a:t>
            </a:r>
            <a:r>
              <a:rPr b="1" sz="1700"/>
              <a:t>ロウト アンド ストード ユアセルフ</a:t>
            </a:r>
            <a:r>
              <a:rPr b="0" sz="1700"/>
              <a:t>。</a:t>
            </a:r>
          </a:p>
          <a:p>
            <a:r>
              <a:rPr b="0" sz="1700"/>
              <a:t>Before any coercion.</a:t>
            </a:r>
          </a:p>
          <a:p>
            <a:r>
              <a:rPr b="0" sz="1700"/>
              <a:t>  ビフォー </a:t>
            </a:r>
            <a:r>
              <a:rPr b="1" sz="1700"/>
              <a:t>エニー</a:t>
            </a:r>
            <a:r>
              <a:rPr b="0" sz="1700"/>
              <a:t> コアージョン。</a:t>
            </a:r>
          </a:p>
          <a:p>
            <a:r>
              <a:rPr b="0" sz="1700"/>
              <a:t>Phasmid does not manufacture your cover story.</a:t>
            </a:r>
          </a:p>
          <a:p>
            <a:r>
              <a:rPr b="0" sz="1700"/>
              <a:t>  ファズミッド ダズ </a:t>
            </a:r>
            <a:r>
              <a:rPr b="1" sz="1700"/>
              <a:t>ナット</a:t>
            </a:r>
            <a:r>
              <a:rPr b="0" sz="1700"/>
              <a:t> マニュファクチャー ユア カヴァー ストーリー。</a:t>
            </a:r>
          </a:p>
          <a:p>
            <a:r>
              <a:rPr b="0" sz="1700"/>
              <a:t>Generated data would not survive five minutes of questioning.</a:t>
            </a:r>
          </a:p>
          <a:p>
            <a:r>
              <a:rPr b="0" sz="1700"/>
              <a:t>  ジェネレイティッド データ ウド ナット </a:t>
            </a:r>
            <a:r>
              <a:rPr b="1" sz="1700"/>
              <a:t>サヴァイヴ</a:t>
            </a:r>
            <a:r>
              <a:rPr b="0" sz="1700"/>
              <a:t> ファイヴ ミニッツ オヴ クエスチョニング。</a:t>
            </a:r>
          </a:p>
          <a:p>
            <a:r>
              <a:rPr b="0" sz="1700"/>
              <a:t>Not from someone holding your passport.</a:t>
            </a:r>
          </a:p>
          <a:p>
            <a:r>
              <a:rPr b="0" sz="1700"/>
              <a:t>  ナット フロム サムワン ホウルディング ユア </a:t>
            </a:r>
            <a:r>
              <a:rPr b="1" sz="1700"/>
              <a:t>パスポート</a:t>
            </a:r>
            <a:r>
              <a:rPr b="0" sz="1700"/>
              <a:t>。</a:t>
            </a:r>
          </a:p>
          <a:p>
            <a:r>
              <a:rPr b="0" sz="1700"/>
              <a:t>Realism has to come from your own material — not from my random-text generator.</a:t>
            </a:r>
          </a:p>
          <a:p>
            <a:r>
              <a:rPr b="0" sz="1700"/>
              <a:t>  </a:t>
            </a:r>
            <a:r>
              <a:rPr b="1" sz="1700"/>
              <a:t>リアリズム</a:t>
            </a:r>
            <a:r>
              <a:rPr b="0" sz="1700"/>
              <a:t> ハズ トゥ カム フロム ユア オウン マテリアル — ナット フロム マイ ランダムテクスト ジェネレイター。</a:t>
            </a:r>
          </a:p>
          <a:p>
            <a:r>
              <a:rPr b="0" sz="1700"/>
              <a:t>What the tool does give you is filler.</a:t>
            </a:r>
          </a:p>
          <a:p>
            <a:r>
              <a:rPr b="0" sz="1700"/>
              <a:t>  ワット ザ ツール ダズ ギヴ ユー イズ </a:t>
            </a:r>
            <a:r>
              <a:rPr b="1" sz="1700"/>
              <a:t>フィラー</a:t>
            </a:r>
            <a:r>
              <a:rPr b="0" sz="1700"/>
              <a:t>。</a:t>
            </a:r>
          </a:p>
          <a:p>
            <a:r>
              <a:rPr b="0" sz="1700"/>
              <a:t>It occupies free space, so an empty container doesn’t read as empty.</a:t>
            </a:r>
          </a:p>
          <a:p>
            <a:r>
              <a:rPr b="0" sz="1700"/>
              <a:t>  イット オキュパイズ </a:t>
            </a:r>
            <a:r>
              <a:rPr b="1" sz="1700"/>
              <a:t>フリー スペイス</a:t>
            </a:r>
            <a:r>
              <a:rPr b="0" sz="1700"/>
              <a:t>、 ソウ アン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That’s a volume problem. And volume is something software can actually solve.</a:t>
            </a:r>
          </a:p>
          <a:p>
            <a:r>
              <a:rPr b="0" sz="1700"/>
              <a:t>  ザッツ ア </a:t>
            </a:r>
            <a:r>
              <a:rPr b="1" sz="1700"/>
              <a:t>ヴォリューム プロブレム</a:t>
            </a:r>
            <a:r>
              <a:rPr b="0" sz="1700"/>
              <a:t>。 アンド ヴォリューム イズ サムシング ソフトウェア キャン </a:t>
            </a:r>
            <a:r>
              <a:rPr b="1" sz="1700"/>
              <a:t>アクチュアリー ソルヴ</a:t>
            </a:r>
            <a:r>
              <a:rPr b="0" sz="1700"/>
              <a:t>。</a:t>
            </a:r>
          </a:p>
          <a:p>
            <a:r>
              <a:rPr b="0" sz="1700"/>
              <a:t>Third — context profiles. Travel. Field engineer. Researcher.</a:t>
            </a:r>
          </a:p>
          <a:p>
            <a:r>
              <a:rPr b="0" sz="1700"/>
              <a:t>  サード — </a:t>
            </a:r>
            <a:r>
              <a:rPr b="1" sz="1700"/>
              <a:t>コンテクスト プロウファイルズ</a:t>
            </a:r>
            <a:r>
              <a:rPr b="0" sz="1700"/>
              <a:t>。 トラヴル。 フィールド エンジニア。 リサーチャー。</a:t>
            </a:r>
          </a:p>
          <a:p>
            <a:r>
              <a:rPr b="0" sz="1700"/>
              <a:t>They tell you what ‘normal’ should look like, so you know what to prepare.</a:t>
            </a:r>
          </a:p>
          <a:p>
            <a:r>
              <a:rPr b="0" sz="1700"/>
              <a:t>  ゼイ テル ユー ワット </a:t>
            </a:r>
            <a:r>
              <a:rPr b="1" sz="1700"/>
              <a:t>ノーマル</a:t>
            </a:r>
            <a:r>
              <a:rPr b="0" sz="1700"/>
              <a:t> シュド ルック ライク、 ソウ ユー ノウ ワット トゥ プリペア。</a:t>
            </a:r>
          </a:p>
          <a:p>
            <a:r>
              <a:rPr b="0" sz="1700"/>
              <a:t>And in coercion-safe mode, a low-confidence match goes to the disclosure face, instead of failing loudly.</a:t>
            </a:r>
          </a:p>
          <a:p>
            <a:r>
              <a:rPr b="0" sz="1700"/>
              <a:t>  アンド イン コアージョンセイフ モウド、 ア ロウ コンフィデンス マッチ ゴウズ トゥ ザ </a:t>
            </a:r>
            <a:r>
              <a:rPr b="1" sz="1700"/>
              <a:t>ディスクロージャー フェイス</a:t>
            </a:r>
            <a:r>
              <a:rPr b="0" sz="1700"/>
              <a:t>、 インステッド オヴ フェイリング ラウドリー。</a:t>
            </a:r>
          </a:p>
          <a:p>
            <a:r>
              <a:rPr b="0" sz="1700"/>
              <a:t>The goal isn’t magic invisibility.</a:t>
            </a:r>
          </a:p>
          <a:p>
            <a:r>
              <a:rPr b="0" sz="1700"/>
              <a:t>  ザ ゴウル イズント </a:t>
            </a:r>
            <a:r>
              <a:rPr b="1" sz="1700"/>
              <a:t>マジック インヴィジビリティ</a:t>
            </a:r>
            <a:r>
              <a:rPr b="0" sz="1700"/>
              <a:t>。</a:t>
            </a:r>
          </a:p>
          <a:p>
            <a:r>
              <a:rPr b="0" sz="1700"/>
              <a:t>The goal is uncertainty, and delay.”</a:t>
            </a:r>
          </a:p>
          <a:p>
            <a:r>
              <a:rPr b="0" sz="1700"/>
              <a:t>  ザ ゴウル イズ </a:t>
            </a:r>
            <a:r>
              <a:rPr b="1" sz="1700"/>
              <a:t>アンサートゥンティ</a:t>
            </a:r>
            <a:r>
              <a:rPr b="0" sz="1700"/>
              <a:t>、 アンド </a:t>
            </a:r>
            <a:r>
              <a:rPr b="1" sz="1700"/>
              <a:t>ディレイ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はデモで見せると予告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[12:20 / 0:45] DESIGN PRINCIPLES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design principle is restraint.</a:t>
            </a:r>
          </a:p>
          <a:p>
            <a:r>
              <a:rPr b="0" sz="1700"/>
              <a:t>  ザ デザイン プリンシプル イズ </a:t>
            </a:r>
            <a:r>
              <a:rPr b="1" sz="1700"/>
              <a:t>リストレイント</a:t>
            </a:r>
            <a:r>
              <a:rPr b="0" sz="1700"/>
              <a:t>。</a:t>
            </a:r>
          </a:p>
          <a:p>
            <a:r>
              <a:rPr b="0" sz="1700"/>
              <a:t>The vault file alone isn’t meant to be enough.</a:t>
            </a:r>
          </a:p>
          <a:p>
            <a:r>
              <a:rPr b="0" sz="1700"/>
              <a:t>  ザ ヴォルト ファイル </a:t>
            </a:r>
            <a:r>
              <a:rPr b="1" sz="1700"/>
              <a:t>アロウン</a:t>
            </a:r>
            <a:r>
              <a:rPr b="0" sz="1700"/>
              <a:t> イズント メント トゥ ビー イナフ。</a:t>
            </a:r>
          </a:p>
          <a:p>
            <a:r>
              <a:rPr b="0" sz="1700"/>
              <a:t>Normal flows don’t reveal structure, or recovery.</a:t>
            </a:r>
          </a:p>
          <a:p>
            <a:r>
              <a:rPr b="0" sz="1700"/>
              <a:t>  ノーマル フロウズ ドウント </a:t>
            </a:r>
            <a:r>
              <a:rPr b="1" sz="1700"/>
              <a:t>リヴィール</a:t>
            </a:r>
            <a:r>
              <a:rPr b="0" sz="1700"/>
              <a:t> ストラクチャー、 オア リカヴァリー。</a:t>
            </a:r>
          </a:p>
          <a:p>
            <a:r>
              <a:rPr b="0" sz="1700"/>
              <a:t>And metadata reduction is best-effort. Support — not sanitization.</a:t>
            </a:r>
          </a:p>
          <a:p>
            <a:r>
              <a:rPr b="0" sz="1700"/>
              <a:t>  アンド メタデータ リダクション イズ </a:t>
            </a:r>
            <a:r>
              <a:rPr b="1" sz="1700"/>
              <a:t>ベスト エフォート</a:t>
            </a:r>
            <a:r>
              <a:rPr b="0" sz="1700"/>
              <a:t>。 サポート — </a:t>
            </a:r>
            <a:r>
              <a:rPr b="1" sz="1700"/>
              <a:t>ナット</a:t>
            </a:r>
            <a:r>
              <a:rPr b="0" sz="1700"/>
              <a:t> サニタイゼイション。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[13:05 / 0:45] OPERATING FLOW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Operationally, it’s four steps.</a:t>
            </a:r>
          </a:p>
          <a:p>
            <a:r>
              <a:rPr b="0" sz="1700"/>
              <a:t>  オペレイショナリー、 イッツ </a:t>
            </a:r>
            <a:r>
              <a:rPr b="1" sz="1700"/>
              <a:t>フォー ステップス</a:t>
            </a:r>
            <a:r>
              <a:rPr b="0" sz="1700"/>
              <a:t>。</a:t>
            </a:r>
          </a:p>
          <a:p>
            <a:r>
              <a:rPr b="0" sz="1700"/>
              <a:t>Prepare a vessel.</a:t>
            </a:r>
          </a:p>
          <a:p>
            <a:r>
              <a:rPr b="0" sz="1700"/>
              <a:t>  </a:t>
            </a:r>
            <a:r>
              <a:rPr b="1" sz="1700"/>
              <a:t>プリペア</a:t>
            </a:r>
            <a:r>
              <a:rPr b="0" sz="1700"/>
              <a:t> ア ヴェッセル。</a:t>
            </a:r>
          </a:p>
          <a:p>
            <a:r>
              <a:rPr b="0" sz="1700"/>
              <a:t>Bind it — to local state, and to the object cue.</a:t>
            </a:r>
          </a:p>
          <a:p>
            <a:r>
              <a:rPr b="0" sz="1700"/>
              <a:t>  </a:t>
            </a:r>
            <a:r>
              <a:rPr b="1" sz="1700"/>
              <a:t>バインド</a:t>
            </a:r>
            <a:r>
              <a:rPr b="0" sz="1700"/>
              <a:t> イット — トゥ ローカル ステイト、 アンド トゥ ジ オブジェクト キュー。</a:t>
            </a:r>
          </a:p>
          <a:p>
            <a:r>
              <a:rPr b="0" sz="1700"/>
              <a:t>Operate it — through the CLI, the TUI, or the local web interface.</a:t>
            </a:r>
          </a:p>
          <a:p>
            <a:r>
              <a:rPr b="0" sz="1700"/>
              <a:t>  </a:t>
            </a:r>
            <a:r>
              <a:rPr b="1" sz="1700"/>
              <a:t>オペレイト</a:t>
            </a:r>
            <a:r>
              <a:rPr b="0" sz="1700"/>
              <a:t> イット — スルー ザ シー エル アイ、 ザ ティー ユー アイ、 オア ザ ローカル ウェブ インターフェイス。</a:t>
            </a:r>
          </a:p>
          <a:p>
            <a:r>
              <a:rPr b="0" sz="1700"/>
              <a:t>Disclose — controlled, under documented assumptions.</a:t>
            </a:r>
          </a:p>
          <a:p>
            <a:r>
              <a:rPr b="0" sz="1700"/>
              <a:t>  </a:t>
            </a:r>
            <a:r>
              <a:rPr b="1" sz="1700"/>
              <a:t>ディスクロウズ</a:t>
            </a:r>
            <a:r>
              <a:rPr b="0" sz="1700"/>
              <a:t> — コントロールド、 アンダー ドキュメンティッド アサンプションズ。</a:t>
            </a:r>
          </a:p>
          <a:p>
            <a:r>
              <a:rPr b="0" sz="1700"/>
              <a:t>Keep those four in your head. They’re the map for the demo.”</a:t>
            </a:r>
          </a:p>
          <a:p>
            <a:r>
              <a:rPr b="0" sz="1700"/>
              <a:t>  キープ ゾウズ </a:t>
            </a:r>
            <a:r>
              <a:rPr b="1" sz="1700"/>
              <a:t>フォー</a:t>
            </a:r>
            <a:r>
              <a:rPr b="0" sz="1700"/>
              <a:t> イン ユア ヘッド。 ゼア ザ </a:t>
            </a:r>
            <a:r>
              <a:rPr b="1" sz="1700"/>
              <a:t>マップ</a:t>
            </a:r>
            <a:r>
              <a:rPr b="0" sz="170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[13:50 / 0:50] TECH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“Small. Local. Boring by design.</a:t>
            </a:r>
          </a:p>
          <a:p>
            <a:r>
              <a:rPr b="0" sz="1700"/>
              <a:t>  </a:t>
            </a:r>
            <a:r>
              <a:rPr b="1" sz="1700"/>
              <a:t>スモール</a:t>
            </a:r>
            <a:r>
              <a:rPr b="0" sz="1700"/>
              <a:t>。 </a:t>
            </a:r>
            <a:r>
              <a:rPr b="1" sz="1700"/>
              <a:t>ローカル</a:t>
            </a:r>
            <a:r>
              <a:rPr b="0" sz="1700"/>
              <a:t>。 </a:t>
            </a:r>
            <a:r>
              <a:rPr b="1" sz="1700"/>
              <a:t>ボーリング</a:t>
            </a:r>
            <a:r>
              <a:rPr b="0" sz="1700"/>
              <a:t> バイ デザイン。</a:t>
            </a:r>
          </a:p>
          <a:p>
            <a:r>
              <a:rPr b="0" sz="1700"/>
              <a:t>Argon2id for key derivation.</a:t>
            </a:r>
          </a:p>
          <a:p>
            <a:r>
              <a:rPr b="0" sz="1700"/>
              <a:t>  </a:t>
            </a:r>
            <a:r>
              <a:rPr b="1" sz="1700"/>
              <a:t>アーゴン トゥー アイディー</a:t>
            </a:r>
            <a:r>
              <a:rPr b="0" sz="1700"/>
              <a:t> フォー キー デリヴェイション。</a:t>
            </a:r>
          </a:p>
          <a:p>
            <a:r>
              <a:rPr b="0" sz="1700"/>
              <a:t>AES-GCM for authenticated encryption.</a:t>
            </a:r>
          </a:p>
          <a:p>
            <a:r>
              <a:rPr b="0" sz="1700"/>
              <a:t>  </a:t>
            </a:r>
            <a:r>
              <a:rPr b="1" sz="1700"/>
              <a:t>エイ イー エス ジー シー エム</a:t>
            </a:r>
            <a:r>
              <a:rPr b="0" sz="1700"/>
              <a:t> フォー オーセンティケイティッド インクリプション。</a:t>
            </a:r>
          </a:p>
          <a:p>
            <a:r>
              <a:rPr b="0" sz="1700"/>
              <a:t>The web interface bound to localhost.</a:t>
            </a:r>
          </a:p>
          <a:p>
            <a:r>
              <a:rPr b="0" sz="1700"/>
              <a:t>  ザ ウェブ インターフェイス バウンド トゥ </a:t>
            </a:r>
            <a:r>
              <a:rPr b="1" sz="1700"/>
              <a:t>ローカルホウスト</a:t>
            </a:r>
            <a:r>
              <a:rPr b="0" sz="1700"/>
              <a:t>。</a:t>
            </a:r>
          </a:p>
          <a:p>
            <a:r>
              <a:rPr b="0" sz="1700"/>
              <a:t>All of it on a Pi Zero 2 W.</a:t>
            </a:r>
          </a:p>
          <a:p>
            <a:r>
              <a:rPr b="0" sz="1700"/>
              <a:t>  オール オヴ イット オン ア </a:t>
            </a:r>
            <a:r>
              <a:rPr b="1" sz="1700"/>
              <a:t>パイ ズィーロウ トゥー ダブリュー</a:t>
            </a:r>
            <a:r>
              <a:rPr b="0" sz="1700"/>
              <a:t>。</a:t>
            </a:r>
          </a:p>
          <a:p>
            <a:r>
              <a:rPr b="0" sz="1700"/>
              <a:t>Parameters tuned for that little board. Per-record encryption. No plaintext header.</a:t>
            </a:r>
          </a:p>
          <a:p>
            <a:r>
              <a:rPr b="0" sz="1700"/>
              <a:t>  パラミターズ </a:t>
            </a:r>
            <a:r>
              <a:rPr b="1" sz="1700"/>
              <a:t>チューンド</a:t>
            </a:r>
            <a:r>
              <a:rPr b="0" sz="1700"/>
              <a:t> フォー ザット リトル ボード。 パーレコード インクリプション。 </a:t>
            </a:r>
            <a:r>
              <a:rPr b="1" sz="1700"/>
              <a:t>ノウ プレインテクスト ヘダー</a:t>
            </a:r>
            <a:r>
              <a:rPr b="0" sz="1700"/>
              <a:t>。</a:t>
            </a:r>
          </a:p>
          <a:p>
            <a:r>
              <a:rPr b="0" sz="1700"/>
              <a:t>Boring is good. Boring is auditable.”</a:t>
            </a:r>
          </a:p>
          <a:p>
            <a:r>
              <a:rPr b="0" sz="1700"/>
              <a:t>  ボーリング イズ </a:t>
            </a:r>
            <a:r>
              <a:rPr b="1" sz="1700"/>
              <a:t>グッド</a:t>
            </a:r>
            <a:r>
              <a:rPr b="0" sz="1700"/>
              <a:t>。 ボーリング イズ </a:t>
            </a:r>
            <a:r>
              <a:rPr b="1" sz="1700"/>
              <a:t>オーディタブル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[14:40 / 1:00] FIELD HARDWARE  ★エンゲージ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“And here’s the actual thing.</a:t>
            </a:r>
          </a:p>
          <a:p>
            <a:r>
              <a:rPr b="0" sz="1700"/>
              <a:t>  アンド ヒアズ ジ </a:t>
            </a:r>
            <a:r>
              <a:rPr b="1" sz="1700"/>
              <a:t>アクチュアル シング</a:t>
            </a:r>
            <a:r>
              <a:rPr b="0" sz="1700"/>
              <a:t>。</a:t>
            </a:r>
          </a:p>
          <a:p>
            <a:r>
              <a:rPr b="0" sz="1700"/>
              <a:t>A Pi Zero 2 W, in a 3D-printed case.</a:t>
            </a:r>
          </a:p>
          <a:p>
            <a:r>
              <a:rPr b="0" sz="1700"/>
              <a:t>  ア パイ ズィーロウ トゥー ダブリュー、 イン ア </a:t>
            </a:r>
            <a:r>
              <a:rPr b="1" sz="1700"/>
              <a:t>スリーディー プリンティッド ケイス</a:t>
            </a:r>
            <a:r>
              <a:rPr b="0" sz="1700"/>
              <a:t>。</a:t>
            </a:r>
          </a:p>
          <a:p>
            <a:r>
              <a:rPr b="0" sz="1700"/>
              <a:t>A camera for the object cue. On a small tripod.</a:t>
            </a:r>
          </a:p>
          <a:p>
            <a:r>
              <a:rPr b="0" sz="1700"/>
              <a:t>  ア </a:t>
            </a:r>
            <a:r>
              <a:rPr b="1" sz="1700"/>
              <a:t>カメラ</a:t>
            </a:r>
            <a:r>
              <a:rPr b="0" sz="1700"/>
              <a:t> フォー ジ オブジェクト キュー。 オン ア スモール </a:t>
            </a:r>
            <a:r>
              <a:rPr b="1" sz="1700"/>
              <a:t>トライポッド</a:t>
            </a:r>
            <a:r>
              <a:rPr b="0" sz="1700"/>
              <a:t>。</a:t>
            </a:r>
          </a:p>
          <a:p>
            <a:r>
              <a:rPr b="0" sz="1700"/>
              <a:t>You reach the web interface over USB, at localhost.</a:t>
            </a:r>
          </a:p>
          <a:p>
            <a:r>
              <a:rPr b="0" sz="1700"/>
              <a:t>  ユー リーチ ザ ウェブ インターフェイス オウヴァー </a:t>
            </a:r>
            <a:r>
              <a:rPr b="1" sz="1700"/>
              <a:t>ユー エス ビー</a:t>
            </a:r>
            <a:r>
              <a:rPr b="0" sz="1700"/>
              <a:t>、 アット ローカルホウスト。</a:t>
            </a:r>
          </a:p>
          <a:p>
            <a:r>
              <a:rPr b="0" sz="1700"/>
              <a:t>It never touches a network.</a:t>
            </a:r>
          </a:p>
          <a:p>
            <a:r>
              <a:rPr b="0" sz="1700"/>
              <a:t>  イット </a:t>
            </a:r>
            <a:r>
              <a:rPr b="1" sz="1700"/>
              <a:t>ネヴァー</a:t>
            </a:r>
            <a:r>
              <a:rPr b="0" sz="1700"/>
              <a:t> タッチィズ ア ネットワーク。</a:t>
            </a:r>
          </a:p>
          <a:p>
            <a:r>
              <a:rPr b="0" sz="1700"/>
              <a:t>It’s meant to read as an unremarkable little gadget.</a:t>
            </a:r>
          </a:p>
          <a:p>
            <a:r>
              <a:rPr b="0" sz="1700"/>
              <a:t>  イッツ メント トゥ リード アズ アン アンリマーカブル リトル </a:t>
            </a:r>
            <a:r>
              <a:rPr b="1" sz="1700"/>
              <a:t>ガジェット</a:t>
            </a:r>
            <a:r>
              <a:rPr b="0" sz="1700"/>
              <a:t>。</a:t>
            </a:r>
          </a:p>
          <a:p>
            <a:r>
              <a:rPr b="0" sz="1700"/>
              <a:t>And it’s right here on the table.</a:t>
            </a:r>
          </a:p>
          <a:p>
            <a:r>
              <a:rPr b="0" sz="1700"/>
              <a:t>  アンド イッツ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look — and try it — after the talk.”</a:t>
            </a:r>
          </a:p>
          <a:p>
            <a:r>
              <a:rPr b="0" sz="1700"/>
              <a:t>  </a:t>
            </a:r>
            <a:r>
              <a:rPr b="1" sz="1700"/>
              <a:t>カム アンド ルック</a:t>
            </a:r>
            <a:r>
              <a:rPr b="0" sz="1700"/>
              <a:t> — アンド </a:t>
            </a:r>
            <a:r>
              <a:rPr b="1" sz="1700"/>
              <a:t>トライ イット</a:t>
            </a:r>
            <a:r>
              <a:rPr b="0" sz="1700"/>
              <a:t> — アフター ザ トーク。</a:t>
            </a:r>
          </a:p>
          <a:p>
            <a:r>
              <a:rPr b="0" sz="1700"/>
              <a:t/>
            </a:r>
          </a:p>
          <a:p>
            <a:r>
              <a:rPr b="0" sz="120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[15:40 / 0:45] CRYPTO CORE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“For the crypto people.</a:t>
            </a:r>
          </a:p>
          <a:p>
            <a:r>
              <a:rPr b="0" sz="1700"/>
              <a:t>  フォー ザ </a:t>
            </a:r>
            <a:r>
              <a:rPr b="1" sz="1700"/>
              <a:t>クリプト ピープル</a:t>
            </a:r>
            <a:r>
              <a:rPr b="0" sz="1700"/>
              <a:t>。</a:t>
            </a:r>
          </a:p>
          <a:p>
            <a:r>
              <a:rPr b="0" sz="1700"/>
              <a:t>Argon2id, with local access-key material mixed in, and device binding.</a:t>
            </a:r>
          </a:p>
          <a:p>
            <a:r>
              <a:rPr b="0" sz="1700"/>
              <a:t>  アーゴン トゥー アイディー、 ウィズ </a:t>
            </a:r>
            <a:r>
              <a:rPr b="1" sz="1700"/>
              <a:t>ローカル アクセスキー マテリアル</a:t>
            </a:r>
            <a:r>
              <a:rPr b="0" sz="1700"/>
              <a:t> ミクスト イン、 アンド デバイス バインディング。</a:t>
            </a:r>
          </a:p>
          <a:p>
            <a:r>
              <a:rPr b="0" sz="1700"/>
              <a:t>An optional external secret, as a third factor.</a:t>
            </a:r>
          </a:p>
          <a:p>
            <a:r>
              <a:rPr b="0" sz="1700"/>
              <a:t>  アン オプショナル エクスターナル </a:t>
            </a:r>
            <a:r>
              <a:rPr b="1" sz="1700"/>
              <a:t>シークレット</a:t>
            </a:r>
            <a:r>
              <a:rPr b="0" sz="1700"/>
              <a:t>、 アズ ア </a:t>
            </a:r>
            <a:r>
              <a:rPr b="1" sz="1700"/>
              <a:t>サード ファクター</a:t>
            </a:r>
            <a:r>
              <a:rPr b="0" sz="1700"/>
              <a:t>。</a:t>
            </a:r>
          </a:p>
          <a:p>
            <a:r>
              <a:rPr b="0" sz="1700"/>
              <a:t>AES-GCM per record, with authenticated metadata.</a:t>
            </a:r>
          </a:p>
          <a:p>
            <a:r>
              <a:rPr b="0" sz="1700"/>
              <a:t>  エイ イー エス ジー シー エム パー </a:t>
            </a:r>
            <a:r>
              <a:rPr b="1" sz="1700"/>
              <a:t>レコード</a:t>
            </a:r>
            <a:r>
              <a:rPr b="0" sz="1700"/>
              <a:t>、 ウィズ オーセンティケイティッド メタデータ。</a:t>
            </a:r>
          </a:p>
          <a:p>
            <a:r>
              <a:rPr b="0" sz="1700"/>
              <a:t>No plaintext marker in the vault.</a:t>
            </a:r>
          </a:p>
          <a:p>
            <a:r>
              <a:rPr b="0" sz="1700"/>
              <a:t>  </a:t>
            </a:r>
            <a:r>
              <a:rPr b="1" sz="1700"/>
              <a:t>ノウ プレインテクスト マーカー</a:t>
            </a:r>
            <a:r>
              <a:rPr b="0" sz="1700"/>
              <a:t> イン ザ ヴォルト。</a:t>
            </a:r>
          </a:p>
          <a:p>
            <a:r>
              <a:rPr b="0" sz="1700"/>
              <a:t>Startup self-tests check the primitives first.</a:t>
            </a:r>
          </a:p>
          <a:p>
            <a:r>
              <a:rPr b="0" sz="1700"/>
              <a:t>  スタートアップ セルフテスツ チェック ザ プリミティヴズ </a:t>
            </a:r>
            <a:r>
              <a:rPr b="1" sz="1700"/>
              <a:t>ファースト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[16:25 / 0:40] OPERATIONAL GUARDS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And the web interface is hardened — not an afterthought.</a:t>
            </a:r>
          </a:p>
          <a:p>
            <a:r>
              <a:rPr b="0" sz="1700"/>
              <a:t>  アンド ザ ウェブ インターフェイス イズ </a:t>
            </a:r>
            <a:r>
              <a:rPr b="1" sz="1700"/>
              <a:t>ハードゥンド</a:t>
            </a:r>
            <a:r>
              <a:rPr b="0" sz="1700"/>
              <a:t> — ナット アン アフターソート。</a:t>
            </a:r>
          </a:p>
          <a:p>
            <a:r>
              <a:rPr b="0" sz="1700"/>
              <a:t>Localhost binding. Per-process tokens.</a:t>
            </a:r>
          </a:p>
          <a:p>
            <a:r>
              <a:rPr b="0" sz="1700"/>
              <a:t>  ローカルホウスト バインディング。 パープロセス トウクンズ。</a:t>
            </a:r>
          </a:p>
          <a:p>
            <a:r>
              <a:rPr b="0" sz="1700"/>
              <a:t>A restricted-confirmation session: HttpOnly, and short-lived.</a:t>
            </a:r>
          </a:p>
          <a:p>
            <a:r>
              <a:rPr b="0" sz="1700"/>
              <a:t>  ア リストリクティッド コンファメイション セッション: </a:t>
            </a:r>
            <a:r>
              <a:rPr b="1" sz="1700"/>
              <a:t>エイチ ティー ティー ピー オウンリー</a:t>
            </a:r>
            <a:r>
              <a:rPr b="0" sz="1700"/>
              <a:t>、 アンド ショートリヴド。</a:t>
            </a:r>
          </a:p>
          <a:p>
            <a:r>
              <a:rPr b="0" sz="1700"/>
              <a:t>Attempt limiting. Rate limiting. Inactivity auto-kill. Hardened headers.</a:t>
            </a:r>
          </a:p>
          <a:p>
            <a:r>
              <a:rPr b="0" sz="1700"/>
              <a:t>  アテンプト リミティング。 レイト リミティング。 インアクティヴィティ オートキル。 ハードゥンド ヘダーズ。</a:t>
            </a:r>
          </a:p>
          <a:p>
            <a:r>
              <a:rPr b="0" sz="1700"/>
              <a:t>And an opt-in, HMAC-chained audit log.</a:t>
            </a:r>
          </a:p>
          <a:p>
            <a:r>
              <a:rPr b="0" sz="1700"/>
              <a:t>  アンド アン オプトイン、 </a:t>
            </a:r>
            <a:r>
              <a:rPr b="1" sz="1700"/>
              <a:t>エイチマック チェインド オーディット ログ</a:t>
            </a:r>
            <a:r>
              <a:rPr b="0" sz="1700"/>
              <a:t>。</a:t>
            </a:r>
          </a:p>
          <a:p>
            <a:r>
              <a:rPr b="0" sz="1700"/>
              <a:t>Happy to go deep in Q and A.”</a:t>
            </a:r>
          </a:p>
          <a:p>
            <a:r>
              <a:rPr b="0" sz="1700"/>
              <a:t>  ハッピー トゥ ゴウ </a:t>
            </a:r>
            <a:r>
              <a:rPr b="1" sz="1700"/>
              <a:t>ディープ</a:t>
            </a:r>
            <a:r>
              <a:rPr b="0" sz="170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[17:05 / 1:10] DESIGN ETHICS  ★倫理 — 発話 0:30</a:t>
            </a:r>
          </a:p>
          <a:p>
            <a:r>
              <a:rPr b="0" sz="1700"/>
              <a:t/>
            </a:r>
          </a:p>
          <a:p>
            <a:r>
              <a:rPr b="0" sz="1700"/>
              <a:t>“Now the ethics. And this matters — especially in this room.</a:t>
            </a:r>
          </a:p>
          <a:p>
            <a:r>
              <a:rPr b="0" sz="1700"/>
              <a:t>  ナウ ジ </a:t>
            </a:r>
            <a:r>
              <a:rPr b="1" sz="1700"/>
              <a:t>エシックス</a:t>
            </a:r>
            <a:r>
              <a:rPr b="0" sz="1700"/>
              <a:t>。 アンド ディス </a:t>
            </a:r>
            <a:r>
              <a:rPr b="1" sz="1700"/>
              <a:t>マターズ</a:t>
            </a:r>
            <a:r>
              <a:rPr b="0" sz="1700"/>
              <a:t> — イスペシャリー イン ディス ルーム。</a:t>
            </a:r>
          </a:p>
          <a:p>
            <a:r>
              <a:rPr b="0" sz="1700"/>
              <a:t>Phasmid allows plausible controlled disclosure.</a:t>
            </a:r>
          </a:p>
          <a:p>
            <a:r>
              <a:rPr b="0" sz="1700"/>
              <a:t>  ファズミッド </a:t>
            </a:r>
            <a:r>
              <a:rPr b="1" sz="1700"/>
              <a:t>アラウズ</a:t>
            </a:r>
            <a:r>
              <a:rPr b="0" sz="1700"/>
              <a:t> プローザブル コントロールド ディスクロージャー。</a:t>
            </a:r>
          </a:p>
          <a:p>
            <a:r>
              <a:rPr b="0" sz="1700"/>
              <a:t>Standby. Workflows that preserve ambiguity.</a:t>
            </a:r>
          </a:p>
          <a:p>
            <a:r>
              <a:rPr b="0" sz="1700"/>
              <a:t>  スタンドバイ。 ワークフロウズ ザット プリザーヴ </a:t>
            </a:r>
            <a:r>
              <a:rPr b="1" sz="1700"/>
              <a:t>アンビギューイティ</a:t>
            </a:r>
            <a:r>
              <a:rPr b="0" sz="1700"/>
              <a:t>。</a:t>
            </a:r>
          </a:p>
          <a:p>
            <a:r>
              <a:rPr b="0" sz="1700"/>
              <a:t>It explicitly disallows rootkits. Kernel-level hiding.</a:t>
            </a:r>
          </a:p>
          <a:p>
            <a:r>
              <a:rPr b="0" sz="1700"/>
              <a:t>  イット エクスプリシットリー </a:t>
            </a:r>
            <a:r>
              <a:rPr b="1" sz="1700"/>
              <a:t>ディサラウズ</a:t>
            </a:r>
            <a:r>
              <a:rPr b="0" sz="1700"/>
              <a:t> ルートキッツ。 カーネルレヴル ハイディング。</a:t>
            </a:r>
          </a:p>
          <a:p>
            <a:r>
              <a:rPr b="0" sz="1700"/>
              <a:t>Anti-forensic destruction. Forensic-tool bypass.</a:t>
            </a:r>
          </a:p>
          <a:p>
            <a:r>
              <a:rPr b="0" sz="1700"/>
              <a:t>  アンティフォレンシック ディストラクション。 フォレンシック ツール バイパス。</a:t>
            </a:r>
          </a:p>
          <a:p>
            <a:r>
              <a:rPr b="0" sz="1700"/>
              <a:t>And fabricating false events, or false timestamps.</a:t>
            </a:r>
          </a:p>
          <a:p>
            <a:r>
              <a:rPr b="0" sz="1700"/>
              <a:t>  アンド </a:t>
            </a:r>
            <a:r>
              <a:rPr b="1" sz="1700"/>
              <a:t>ファブリケイティング</a:t>
            </a:r>
            <a:r>
              <a:rPr b="0" sz="1700"/>
              <a:t> フォルス イヴェンツ、 オア フォルス タイムスタンプス。</a:t>
            </a:r>
          </a:p>
          <a:p>
            <a:r>
              <a:rPr b="0" sz="1700"/>
              <a:t>It increases uncertainty. It delays a confident conclusion.</a:t>
            </a:r>
          </a:p>
          <a:p>
            <a:r>
              <a:rPr b="0" sz="1700"/>
              <a:t>  イット </a:t>
            </a:r>
            <a:r>
              <a:rPr b="1" sz="1700"/>
              <a:t>インクリーシズ</a:t>
            </a:r>
            <a:r>
              <a:rPr b="0" sz="1700"/>
              <a:t> アンサートゥンティ。 イット </a:t>
            </a:r>
            <a:r>
              <a:rPr b="1" sz="1700"/>
              <a:t>ディレイズ</a:t>
            </a:r>
            <a:r>
              <a:rPr b="0" sz="1700"/>
              <a:t> ア コンフィデント コンクルージョン。</a:t>
            </a:r>
          </a:p>
          <a:p>
            <a:r>
              <a:rPr b="0" sz="1700"/>
              <a:t>It does not claim forensic invisibility.</a:t>
            </a:r>
          </a:p>
          <a:p>
            <a:r>
              <a:rPr b="0" sz="1700"/>
              <a:t>  イット ダズ </a:t>
            </a:r>
            <a:r>
              <a:rPr b="1" sz="1700"/>
              <a:t>ナット</a:t>
            </a:r>
            <a:r>
              <a:rPr b="0" sz="1700"/>
              <a:t> クレイム フォレンシック インヴィジビリティ。</a:t>
            </a:r>
          </a:p>
          <a:p>
            <a:r>
              <a:rPr b="0" sz="1700"/>
              <a:t>That line is deliberate. And it’s in the code.”</a:t>
            </a:r>
          </a:p>
          <a:p>
            <a:r>
              <a:rPr b="0" sz="1700"/>
              <a:t>  ザット ライン イズ </a:t>
            </a:r>
            <a:r>
              <a:rPr b="1" sz="1700"/>
              <a:t>ディリバレット</a:t>
            </a:r>
            <a:r>
              <a:rPr b="0" sz="1700"/>
              <a:t>。 アンド イッツ イン ザ </a:t>
            </a:r>
            <a:r>
              <a:rPr b="1" sz="1700"/>
              <a:t>コウド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[18:15 / 0:50] SCOPE — 発話 0:45</a:t>
            </a:r>
          </a:p>
          <a:p>
            <a:r>
              <a:rPr b="0" sz="1700"/>
              <a:t/>
            </a:r>
          </a:p>
          <a:p>
            <a:r>
              <a:rPr b="0" sz="1700"/>
              <a:t>“Scope, drawn honestly.</a:t>
            </a:r>
          </a:p>
          <a:p>
            <a:r>
              <a:rPr b="0" sz="1700"/>
              <a:t>  </a:t>
            </a:r>
            <a:r>
              <a:rPr b="1" sz="1700"/>
              <a:t>スコープ</a:t>
            </a:r>
            <a:r>
              <a:rPr b="0" sz="1700"/>
              <a:t>、 ドローン </a:t>
            </a:r>
            <a:r>
              <a:rPr b="1" sz="1700"/>
              <a:t>オネストリー</a:t>
            </a:r>
            <a:r>
              <a:rPr b="0" sz="1700"/>
              <a:t>。</a:t>
            </a:r>
          </a:p>
          <a:p>
            <a:r>
              <a:rPr b="0" sz="1700"/>
              <a:t>Hiding that the software exists — out.</a:t>
            </a:r>
          </a:p>
          <a:p>
            <a:r>
              <a:rPr b="0" sz="1700"/>
              <a:t>  ハイディング ザット ザ ソフトウェア イグズィスツ — </a:t>
            </a:r>
            <a:r>
              <a:rPr b="1" sz="1700"/>
              <a:t>アウト</a:t>
            </a:r>
            <a:r>
              <a:rPr b="0" sz="1700"/>
              <a:t>。</a:t>
            </a:r>
          </a:p>
          <a:p>
            <a:r>
              <a:rPr b="0" sz="1700"/>
              <a:t>Denying that the data exists — partial.</a:t>
            </a:r>
          </a:p>
          <a:p>
            <a:r>
              <a:rPr b="0" sz="1700"/>
              <a:t>  ディナイイング ザット ザ データ イグズィスツ — </a:t>
            </a:r>
            <a:r>
              <a:rPr b="1" sz="1700"/>
              <a:t>パーシャル</a:t>
            </a:r>
            <a:r>
              <a:rPr b="0" sz="1700"/>
              <a:t>。</a:t>
            </a:r>
          </a:p>
          <a:p>
            <a:r>
              <a:rPr b="0" sz="1700"/>
              <a:t>Controlled disclosure — in, and central.</a:t>
            </a:r>
          </a:p>
          <a:p>
            <a:r>
              <a:rPr b="0" sz="1700"/>
              <a:t>  コントロールド ディスクロージャー — </a:t>
            </a:r>
            <a:r>
              <a:rPr b="1" sz="1700"/>
              <a:t>イン</a:t>
            </a:r>
            <a:r>
              <a:rPr b="0" sz="1700"/>
              <a:t>、 アンド </a:t>
            </a:r>
            <a:r>
              <a:rPr b="1" sz="1700"/>
              <a:t>セントラル</a:t>
            </a:r>
            <a:r>
              <a:rPr b="0" sz="1700"/>
              <a:t>。</a:t>
            </a:r>
          </a:p>
          <a:p>
            <a:r>
              <a:rPr b="0" sz="1700"/>
              <a:t>Coercion-aware fallback — in.</a:t>
            </a:r>
          </a:p>
          <a:p>
            <a:r>
              <a:rPr b="0" sz="1700"/>
              <a:t>  コアージョンアウェア フォールバック — </a:t>
            </a:r>
            <a:r>
              <a:rPr b="1" sz="1700"/>
              <a:t>イン</a:t>
            </a:r>
            <a:r>
              <a:rPr b="0" sz="1700"/>
              <a:t>。</a:t>
            </a:r>
          </a:p>
          <a:p>
            <a:r>
              <a:rPr b="0" sz="1700"/>
              <a:t>And here’s what it never claims.</a:t>
            </a:r>
          </a:p>
          <a:p>
            <a:r>
              <a:rPr b="0" sz="1700"/>
              <a:t>  アンド ヒアズ ワット イット </a:t>
            </a:r>
            <a:r>
              <a:rPr b="1" sz="1700"/>
              <a:t>ネヴァー</a:t>
            </a:r>
            <a:r>
              <a:rPr b="0" sz="1700"/>
              <a:t> クレイムズ。</a:t>
            </a:r>
          </a:p>
          <a:p>
            <a:r>
              <a:rPr b="0" sz="1700"/>
              <a:t>Perfect deniability. Forensic immunity.</a:t>
            </a:r>
          </a:p>
          <a:p>
            <a:r>
              <a:rPr b="0" sz="1700"/>
              <a:t>  パーフェクト ディナイアビリティ。 フォレンシック イミューニティ。</a:t>
            </a:r>
          </a:p>
          <a:p>
            <a:r>
              <a:rPr b="0" sz="1700"/>
              <a:t>Secure deletion on flash. Protection from a compromised host.</a:t>
            </a:r>
          </a:p>
          <a:p>
            <a:r>
              <a:rPr b="0" sz="1700"/>
              <a:t>  セキュア ディリーション オン フラッシュ。 プロテクション フロム ア コンプロマイズド ホウスト。</a:t>
            </a:r>
          </a:p>
          <a:p>
            <a:r>
              <a:rPr b="0" sz="1700"/>
              <a:t>And one more thing it never claims: that your cover story is convincing.</a:t>
            </a:r>
          </a:p>
          <a:p>
            <a:r>
              <a:rPr b="0" sz="1700"/>
              <a:t>  アンド ワン モア シング イット ネヴァー クレイムズ: ザット ユア カヴァー ストーリー イズ </a:t>
            </a:r>
            <a:r>
              <a:rPr b="1" sz="1700"/>
              <a:t>コンヴィンシング</a:t>
            </a:r>
            <a:r>
              <a:rPr b="0" sz="1700"/>
              <a:t>。</a:t>
            </a:r>
          </a:p>
          <a:p>
            <a:r>
              <a:rPr b="0" sz="1700"/>
              <a:t>It can tell you how much space is occupied.</a:t>
            </a:r>
          </a:p>
          <a:p>
            <a:r>
              <a:rPr b="0" sz="1700"/>
              <a:t>  イット キャン テル ユー ハウ マッチ </a:t>
            </a:r>
            <a:r>
              <a:rPr b="1" sz="1700"/>
              <a:t>スペイス</a:t>
            </a:r>
            <a:r>
              <a:rPr b="0" sz="1700"/>
              <a:t> イズ オキュパイド。</a:t>
            </a:r>
          </a:p>
          <a:p>
            <a:r>
              <a:rPr b="0" sz="1700"/>
              <a:t>It cannot tell you whether anyone will believe you.</a:t>
            </a:r>
          </a:p>
          <a:p>
            <a:r>
              <a:rPr b="0" sz="1700"/>
              <a:t>  イット キャナット テル ユー ウェザー エニワン ウィル </a:t>
            </a:r>
            <a:r>
              <a:rPr b="1" sz="1700"/>
              <a:t>ビリーヴ</a:t>
            </a:r>
            <a:r>
              <a:rPr b="0" sz="1700"/>
              <a:t> ユー。</a:t>
            </a:r>
          </a:p>
          <a:p>
            <a:r>
              <a:rPr b="0" sz="1700"/>
              <a:t>And it doesn’t pretend to. No snake oil.</a:t>
            </a:r>
          </a:p>
          <a:p>
            <a:r>
              <a:rPr b="0" sz="1700"/>
              <a:t>  アンド イット ダズント </a:t>
            </a:r>
            <a:r>
              <a:rPr b="1" sz="1700"/>
              <a:t>プリテンド</a:t>
            </a:r>
            <a:r>
              <a:rPr b="0" sz="1700"/>
              <a:t> トゥ。 </a:t>
            </a:r>
            <a:r>
              <a:rPr b="1" sz="1700"/>
              <a:t>ノウ スネイク オイル</a:t>
            </a:r>
            <a:r>
              <a:rPr b="0" sz="1700"/>
              <a:t>。</a:t>
            </a:r>
          </a:p>
          <a:p>
            <a:r>
              <a:rPr b="0" sz="1700"/>
              <a:t>All right. Enough talk. Let me show you.”</a:t>
            </a:r>
          </a:p>
          <a:p>
            <a:r>
              <a:rPr b="0" sz="1700"/>
              <a:t>  オーライト。 </a:t>
            </a:r>
            <a:r>
              <a:rPr b="1" sz="1700"/>
              <a:t>イナフ</a:t>
            </a:r>
            <a:r>
              <a:rPr b="0" sz="1700"/>
              <a:t> トーク。 レット ミー </a:t>
            </a:r>
            <a:r>
              <a:rPr b="1" sz="1700"/>
              <a:t>ショウ</a:t>
            </a:r>
            <a:r>
              <a:rPr b="0" sz="1700"/>
              <a:t> ユー。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[19:05 / 0:15] LIVE DEMO（章扉）</a:t>
            </a:r>
          </a:p>
          <a:p>
            <a:r>
              <a:rPr b="0" sz="1700"/>
              <a:t/>
            </a:r>
          </a:p>
          <a:p>
            <a:r>
              <a:rPr b="0" sz="1700"/>
              <a:t>“Alright — live demo.”</a:t>
            </a:r>
          </a:p>
          <a:p>
            <a:r>
              <a:rPr b="0" sz="1700"/>
              <a:t>  オールライト — </a:t>
            </a:r>
            <a:r>
              <a:rPr b="1" sz="1700"/>
              <a:t>ライヴ デモ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呼吸を整え実機に向き直る。スペースをターミナル（TUI）へ切替。バックアップ録画の頭出しを確認。以降の切替は SCENE 1→2 の片道1回だけで、TUI には戻らない。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[19:20 / ~8:30] LIVE DEMO  ★中心（12シーン・画面切替は片道1回）</a:t>
            </a:r>
          </a:p>
          <a:p>
            <a:r>
              <a:rPr b="0" sz="1700"/>
              <a:t/>
            </a:r>
          </a:p>
          <a:p>
            <a:r>
              <a:rPr b="0" sz="1200"/>
              <a:t>── 前置き（手を動かしながら）</a:t>
            </a:r>
          </a:p>
          <a:p>
            <a:r>
              <a:rPr b="0" sz="1700"/>
              <a:t>“This is the real system.</a:t>
            </a:r>
          </a:p>
          <a:p>
            <a:r>
              <a:rPr b="0" sz="1700"/>
              <a:t>  ディス イズ ザ </a:t>
            </a:r>
            <a:r>
              <a:rPr b="1" sz="1700"/>
              <a:t>リアル システム</a:t>
            </a:r>
            <a:r>
              <a:rPr b="0" sz="1700"/>
              <a:t>。</a:t>
            </a:r>
          </a:p>
          <a:p>
            <a:r>
              <a:rPr b="0" sz="1700"/>
              <a:t>One file on disk.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 オン ディスク。</a:t>
            </a:r>
          </a:p>
          <a:p>
            <a:r>
              <a:rPr b="0" sz="1700"/>
              <a:t>Two objects, two passwords, two files inside it.</a:t>
            </a:r>
          </a:p>
          <a:p>
            <a:r>
              <a:rPr b="0" sz="1700"/>
              <a:t>  </a:t>
            </a:r>
            <a:r>
              <a:rPr b="1" sz="1700"/>
              <a:t>トゥー オブジェクツ</a:t>
            </a:r>
            <a:r>
              <a:rPr b="0" sz="1700"/>
              <a:t>、 </a:t>
            </a:r>
            <a:r>
              <a:rPr b="1" sz="1700"/>
              <a:t>トゥー パスワーズ</a:t>
            </a:r>
            <a:r>
              <a:rPr b="0" sz="1700"/>
              <a:t>、 </a:t>
            </a:r>
            <a:r>
              <a:rPr b="1" sz="1700"/>
              <a:t>トゥー ファイルズ</a:t>
            </a:r>
            <a:r>
              <a:rPr b="0" sz="1700"/>
              <a:t> インサイド イット。</a:t>
            </a:r>
          </a:p>
          <a:p>
            <a:r>
              <a:rPr b="0" sz="1700"/>
              <a:t>And a password that ends one, instead of opening it.”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オヴ </a:t>
            </a:r>
            <a:r>
              <a:rPr b="1" sz="1700"/>
              <a:t>オウプニング</a:t>
            </a:r>
            <a:r>
              <a:rPr b="0" sz="1700"/>
              <a:t> イット。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0 · The console（0:20）</a:t>
            </a:r>
          </a:p>
          <a:p>
            <a:r>
              <a:rPr b="0" sz="1200"/>
              <a:t>DO: Simple Operator 画面を出したまま提示する。</a:t>
            </a:r>
          </a:p>
          <a:p>
            <a:r>
              <a:rPr b="0" sz="1200"/>
              <a:t>DO: 下部のバー（open / new / guided / expert）を指す。</a:t>
            </a:r>
          </a:p>
          <a:p>
            <a:r>
              <a:rPr b="0" sz="1700"/>
              <a:t>This is the real console.</a:t>
            </a:r>
          </a:p>
          <a:p>
            <a:r>
              <a:rPr b="0" sz="1700"/>
              <a:t>  ディス イズ ザ </a:t>
            </a:r>
            <a:r>
              <a:rPr b="1" sz="1700"/>
              <a:t>リアル</a:t>
            </a:r>
            <a:r>
              <a:rPr b="0" sz="1700"/>
              <a:t> コンソール。</a:t>
            </a:r>
          </a:p>
          <a:p>
            <a:r>
              <a:rPr b="0" sz="1700"/>
              <a:t>Local Disclosure Control.</a:t>
            </a:r>
          </a:p>
          <a:p>
            <a:r>
              <a:rPr b="0" sz="1700"/>
              <a:t>  </a:t>
            </a:r>
            <a:r>
              <a:rPr b="1" sz="1700"/>
              <a:t>ローカル ディスクロージャー コントロール</a:t>
            </a:r>
            <a:r>
              <a:rPr b="0" sz="1700"/>
              <a:t>。</a:t>
            </a:r>
          </a:p>
          <a:p>
            <a:r>
              <a:rPr b="0" sz="1700"/>
              <a:t>The home screen is deliberately small.</a:t>
            </a:r>
          </a:p>
          <a:p>
            <a:r>
              <a:rPr b="0" sz="1700"/>
              <a:t>  ザ ホーム スクリーン イズ ディリバレットリー </a:t>
            </a:r>
            <a:r>
              <a:rPr b="1" sz="1700"/>
              <a:t>スモール</a:t>
            </a:r>
            <a:r>
              <a:rPr b="0" sz="1700"/>
              <a:t>。</a:t>
            </a:r>
          </a:p>
          <a:p>
            <a:r>
              <a:rPr b="0" sz="1700"/>
              <a:t>Open. New. Guided. Expert.</a:t>
            </a:r>
          </a:p>
          <a:p>
            <a:r>
              <a:rPr b="0" sz="1700"/>
              <a:t>  オウプン。 ニュー。 ガイデッド。 エクスパート。</a:t>
            </a:r>
          </a:p>
          <a:p>
            <a:r>
              <a:rPr b="0" sz="1700"/>
              <a:t>Under pressure, you do not want a wall of options.</a:t>
            </a:r>
          </a:p>
          <a:p>
            <a:r>
              <a:rPr b="0" sz="1700"/>
              <a:t>  アンダー </a:t>
            </a:r>
            <a:r>
              <a:rPr b="1" sz="1700"/>
              <a:t>プレッシャー</a:t>
            </a:r>
            <a:r>
              <a:rPr b="0" sz="1700"/>
              <a:t>、 ユー ドウント ウォント ア </a:t>
            </a:r>
            <a:r>
              <a:rPr b="1" sz="1700"/>
              <a:t>ウォール オヴ オプションズ</a:t>
            </a:r>
            <a:r>
              <a:rPr b="0" sz="1700"/>
              <a:t>。</a:t>
            </a:r>
          </a:p>
          <a:p>
            <a:r>
              <a:rPr b="0" sz="1700"/>
              <a:t>The full control set is one key away.</a:t>
            </a:r>
          </a:p>
          <a:p>
            <a:r>
              <a:rPr b="0" sz="1700"/>
              <a:t>  ザ フル コントロール セット イズ </a:t>
            </a:r>
            <a:r>
              <a:rPr b="1" sz="1700"/>
              <a:t>ワン キー</a:t>
            </a:r>
            <a:r>
              <a:rPr b="0" sz="1700"/>
              <a:t> アウェイ。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 · One file on disk（1:10）</a:t>
            </a:r>
          </a:p>
          <a:p>
            <a:r>
              <a:rPr b="0" sz="1200"/>
              <a:t>DO: TUI: n (New) → vessel-path に demo.vessel → vessel-size を 64M に変更（既定の 512M のまま作らない）</a:t>
            </a:r>
          </a:p>
          <a:p>
            <a:r>
              <a:rPr b="0" sz="1200"/>
              <a:t>DO: → vessel-label（任意）→ create-btn</a:t>
            </a:r>
          </a:p>
          <a:p>
            <a:r>
              <a:rPr b="0" sz="1200"/>
              <a:t>DO: シェルに切り替えて、実物を見せる:</a:t>
            </a:r>
          </a:p>
          <a:p>
            <a:r>
              <a:rPr b="0" sz="1200"/>
              <a:t>DO: ls -lh demo.vessel</a:t>
            </a:r>
          </a:p>
          <a:p>
            <a:r>
              <a:rPr b="0" sz="1200"/>
              <a:t>DO: file demo.vessel</a:t>
            </a:r>
          </a:p>
          <a:p>
            <a:r>
              <a:rPr b="0" sz="1200"/>
              <a:t>DO: xxd demo.vessel | head -5</a:t>
            </a:r>
          </a:p>
          <a:p>
            <a:r>
              <a:rPr b="0" sz="1700"/>
              <a:t>First, I make a vessel.</a:t>
            </a:r>
          </a:p>
          <a:p>
            <a:r>
              <a:rPr b="0" sz="1700"/>
              <a:t>  ファースト、 アイ メイク ア </a:t>
            </a:r>
            <a:r>
              <a:rPr b="1" sz="1700"/>
              <a:t>ヴェッセル</a:t>
            </a:r>
            <a:r>
              <a:rPr b="0" sz="1700"/>
              <a:t>。</a:t>
            </a:r>
          </a:p>
          <a:p>
            <a:r>
              <a:rPr b="0" sz="1700"/>
              <a:t>A deniable container. One file.</a:t>
            </a:r>
          </a:p>
          <a:p>
            <a:r>
              <a:rPr b="0" sz="1700"/>
              <a:t>  ア ディナイアブル コンテイナー。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>Sixty-four megabytes.</a:t>
            </a:r>
          </a:p>
          <a:p>
            <a:r>
              <a:rPr b="0" sz="1700"/>
              <a:t>  </a:t>
            </a:r>
            <a:r>
              <a:rPr b="1" sz="1700"/>
              <a:t>シクスティフォー</a:t>
            </a:r>
            <a:r>
              <a:rPr b="0" sz="1700"/>
              <a:t> メガバイツ。</a:t>
            </a:r>
          </a:p>
          <a:p>
            <a:r>
              <a:rPr b="0" sz="1700"/>
              <a:t>Let me show you what that looks like on disk.</a:t>
            </a:r>
          </a:p>
          <a:p>
            <a:r>
              <a:rPr b="0" sz="1700"/>
              <a:t>  レット ミー ショウ ユー ワット ザット </a:t>
            </a:r>
            <a:r>
              <a:rPr b="1" sz="1700"/>
              <a:t>ルックス ライク</a:t>
            </a:r>
            <a:r>
              <a:rPr b="0" sz="1700"/>
              <a:t> オン ディスク。</a:t>
            </a:r>
          </a:p>
          <a:p>
            <a:r>
              <a:rPr b="0" sz="1700"/>
              <a:t>ls — one file. That is all there is.</a:t>
            </a:r>
          </a:p>
          <a:p>
            <a:r>
              <a:rPr b="0" sz="1700"/>
              <a:t>  エルエス — </a:t>
            </a:r>
            <a:r>
              <a:rPr b="1" sz="1700"/>
              <a:t>ワン ファイル</a:t>
            </a:r>
            <a:r>
              <a:rPr b="0" sz="1700"/>
              <a:t>。 ザッツ </a:t>
            </a:r>
            <a:r>
              <a:rPr b="1" sz="1700"/>
              <a:t>オール</a:t>
            </a:r>
            <a:r>
              <a:rPr b="0" sz="1700"/>
              <a:t> ゼア イズ。</a:t>
            </a:r>
          </a:p>
          <a:p>
            <a:r>
              <a:rPr b="0" sz="1700"/>
              <a:t>file — it says 'data'.</a:t>
            </a:r>
          </a:p>
          <a:p>
            <a:r>
              <a:rPr b="0" sz="1700"/>
              <a:t>  ファイル — イット セズ </a:t>
            </a:r>
            <a:r>
              <a:rPr b="1" sz="1700"/>
              <a:t>データ</a:t>
            </a:r>
            <a:r>
              <a:rPr b="0" sz="1700"/>
              <a:t>。</a:t>
            </a:r>
          </a:p>
          <a:p>
            <a:r>
              <a:rPr b="0" sz="1700"/>
              <a:t>It has nothing to say, because there is nothing to read.</a:t>
            </a:r>
          </a:p>
          <a:p>
            <a:r>
              <a:rPr b="0" sz="1700"/>
              <a:t>  イット ハズ </a:t>
            </a:r>
            <a:r>
              <a:rPr b="1" sz="1700"/>
              <a:t>ナッシング</a:t>
            </a:r>
            <a:r>
              <a:rPr b="0" sz="1700"/>
              <a:t> トゥ セイ、 ビコーズ ゼアズ </a:t>
            </a:r>
            <a:r>
              <a:rPr b="1" sz="1700"/>
              <a:t>ナッシング</a:t>
            </a:r>
            <a:r>
              <a:rPr b="0" sz="1700"/>
              <a:t> トゥ リード。</a:t>
            </a:r>
          </a:p>
          <a:p>
            <a:r>
              <a:rPr b="0" sz="1700"/>
              <a:t>No header. No magic bytes. No format at all.</a:t>
            </a:r>
          </a:p>
          <a:p>
            <a:r>
              <a:rPr b="0" sz="1700"/>
              <a:t>  ノウ </a:t>
            </a:r>
            <a:r>
              <a:rPr b="1" sz="1700"/>
              <a:t>ヘッダー</a:t>
            </a:r>
            <a:r>
              <a:rPr b="0" sz="1700"/>
              <a:t>。 ノウ </a:t>
            </a:r>
            <a:r>
              <a:rPr b="1" sz="1700"/>
              <a:t>マジック バイツ</a:t>
            </a:r>
            <a:r>
              <a:rPr b="0" sz="1700"/>
              <a:t>。 ノウ フォーマット </a:t>
            </a:r>
            <a:r>
              <a:rPr b="1" sz="1700"/>
              <a:t>アット オール</a:t>
            </a:r>
            <a:r>
              <a:rPr b="0" sz="1700"/>
              <a:t>。</a:t>
            </a:r>
          </a:p>
          <a:p>
            <a:r>
              <a:rPr b="0" sz="1700"/>
              <a:t>On disk, this is random.</a:t>
            </a:r>
          </a:p>
          <a:p>
            <a:r>
              <a:rPr b="0" sz="1700"/>
              <a:t>  オン ディスク、 ディス イズ </a:t>
            </a:r>
            <a:r>
              <a:rPr b="1" sz="1700"/>
              <a:t>ランダム</a:t>
            </a:r>
            <a:r>
              <a:rPr b="0" sz="1700"/>
              <a:t>。</a:t>
            </a:r>
          </a:p>
          <a:p>
            <a:r>
              <a:rPr b="0" sz="1700"/>
              <a:t>Remember the name. Demo dot vessel.</a:t>
            </a:r>
          </a:p>
          <a:p>
            <a:r>
              <a:rPr b="0" sz="1700"/>
              <a:t>  リメンバー ザ </a:t>
            </a:r>
            <a:r>
              <a:rPr b="1" sz="1700"/>
              <a:t>ネイム</a:t>
            </a:r>
            <a:r>
              <a:rPr b="0" sz="1700"/>
              <a:t>。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>Everything from here comes out of this one file.</a:t>
            </a:r>
          </a:p>
          <a:p>
            <a:r>
              <a:rPr b="0" sz="1700"/>
              <a:t>  エヴリシング フロム ヒア カムズ アウト オヴ </a:t>
            </a:r>
            <a:r>
              <a:rPr b="1" sz="1700"/>
              <a:t>ディス 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⟶ 画面切替（—）</a:t>
            </a:r>
          </a:p>
          <a:p>
            <a:r>
              <a:rPr b="0" sz="1200"/>
              <a:t>DO: スペースを「スライド／ターミナル／ブラウザ」の3つに固定し、Ctrl+←→ だけで移動する。</a:t>
            </a:r>
          </a:p>
          <a:p>
            <a:r>
              <a:rPr b="0" sz="1200"/>
              <a:t>DO: 集中モード（おやすみモード）を必ずオンにしておく — 通知が投影画面に出る。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2 · Into the browser（0:50）</a:t>
            </a:r>
          </a:p>
          <a:p>
            <a:r>
              <a:rPr b="0" sz="1200"/>
              <a:t>DO: ブラウザで /unlock を開く（事前にブックマークしておく）</a:t>
            </a:r>
          </a:p>
          <a:p>
            <a:r>
              <a:rPr b="0" sz="1200"/>
              <a:t>DO: store トークンを入力してログイン</a:t>
            </a:r>
          </a:p>
          <a:p>
            <a:r>
              <a:rPr b="0" sz="1700"/>
              <a:t>The device also serves a local web interface.</a:t>
            </a:r>
          </a:p>
          <a:p>
            <a:r>
              <a:rPr b="0" sz="1700"/>
              <a:t>  ザ デバイス オールソウ サーヴズ ア </a:t>
            </a:r>
            <a:r>
              <a:rPr b="1" sz="1700"/>
              <a:t>ローカル ウェブ インターフェイス</a:t>
            </a:r>
            <a:r>
              <a:rPr b="0" sz="1700"/>
              <a:t>。</a:t>
            </a:r>
          </a:p>
          <a:p>
            <a:r>
              <a:rPr b="0" sz="1700"/>
              <a:t>I am logging in now.</a:t>
            </a:r>
          </a:p>
          <a:p>
            <a:r>
              <a:rPr b="0" sz="1700"/>
              <a:t>  アイム </a:t>
            </a:r>
            <a:r>
              <a:rPr b="1" sz="1700"/>
              <a:t>ロギング イン</a:t>
            </a:r>
            <a:r>
              <a:rPr b="0" sz="1700"/>
              <a:t> ナウ。</a:t>
            </a:r>
          </a:p>
          <a:p>
            <a:r>
              <a:rPr b="0" sz="1700"/>
              <a:t>One word about these tokens, because it matters.</a:t>
            </a:r>
          </a:p>
          <a:p>
            <a:r>
              <a:rPr b="0" sz="1700"/>
              <a:t>  ワン ワード アバウト ジーズ </a:t>
            </a:r>
            <a:r>
              <a:rPr b="1" sz="1700"/>
              <a:t>トウクンズ</a:t>
            </a:r>
            <a:r>
              <a:rPr b="0" sz="1700"/>
              <a:t>、 ビコーズ イット </a:t>
            </a:r>
            <a:r>
              <a:rPr b="1" sz="1700"/>
              <a:t>マターズ</a:t>
            </a:r>
            <a:r>
              <a:rPr b="0" sz="1700"/>
              <a:t>。</a:t>
            </a:r>
          </a:p>
          <a:p>
            <a:r>
              <a:rPr b="0" sz="1700"/>
              <a:t>In real use, you issue two of them.</a:t>
            </a:r>
          </a:p>
          <a:p>
            <a:r>
              <a:rPr b="0" sz="1700"/>
              <a:t>  イン リアル ユース、 ユー イシュー </a:t>
            </a:r>
            <a:r>
              <a:rPr b="1" sz="1700"/>
              <a:t>トゥー</a:t>
            </a:r>
            <a:r>
              <a:rPr b="0" sz="1700"/>
              <a:t> オヴ ゼム。</a:t>
            </a:r>
          </a:p>
          <a:p>
            <a:r>
              <a:rPr b="0" sz="1700"/>
              <a:t>A full-control token — used once, somewhere safe, to set things up.</a:t>
            </a:r>
          </a:p>
          <a:p>
            <a:r>
              <a:rPr b="0" sz="1700"/>
              <a:t>  ア </a:t>
            </a:r>
            <a:r>
              <a:rPr b="1" sz="1700"/>
              <a:t>フルコントロール</a:t>
            </a:r>
            <a:r>
              <a:rPr b="0" sz="1700"/>
              <a:t> トウクン — ユーズド </a:t>
            </a:r>
            <a:r>
              <a:rPr b="1" sz="1700"/>
              <a:t>ワンス</a:t>
            </a:r>
            <a:r>
              <a:rPr b="0" sz="1700"/>
              <a:t>、 サムウェア </a:t>
            </a:r>
            <a:r>
              <a:rPr b="1" sz="1700"/>
              <a:t>セイフ</a:t>
            </a:r>
            <a:r>
              <a:rPr b="0" sz="1700"/>
              <a:t>、 トゥ セット シングス アップ。</a:t>
            </a:r>
          </a:p>
          <a:p>
            <a:r>
              <a:rPr b="0" sz="1700"/>
              <a:t>And a recovery token, that can decrypt and nothing else.</a:t>
            </a:r>
          </a:p>
          <a:p>
            <a:r>
              <a:rPr b="0" sz="1700"/>
              <a:t>  アンド ア </a:t>
            </a:r>
            <a:r>
              <a:rPr b="1" sz="1700"/>
              <a:t>リカヴァリー</a:t>
            </a:r>
            <a:r>
              <a:rPr b="0" sz="1700"/>
              <a:t> トウクン、 ザット キャン </a:t>
            </a:r>
            <a:r>
              <a:rPr b="1" sz="1700"/>
              <a:t>ディクリプト</a:t>
            </a:r>
            <a:r>
              <a:rPr b="0" sz="1700"/>
              <a:t> アンド </a:t>
            </a:r>
            <a:r>
              <a:rPr b="1" sz="1700"/>
              <a:t>ナッシング エルス</a:t>
            </a:r>
            <a:r>
              <a:rPr b="0" sz="1700"/>
              <a:t>。</a:t>
            </a:r>
          </a:p>
          <a:p>
            <a:r>
              <a:rPr b="0" sz="1700"/>
              <a:t>That is the one you carry into a bad situation.</a:t>
            </a:r>
          </a:p>
          <a:p>
            <a:r>
              <a:rPr b="0" sz="1700"/>
              <a:t>  ザッツ ザ ワン ユー </a:t>
            </a:r>
            <a:r>
              <a:rPr b="1" sz="1700"/>
              <a:t>キャリー</a:t>
            </a:r>
            <a:r>
              <a:rPr b="0" sz="1700"/>
              <a:t> イントゥ ア </a:t>
            </a:r>
            <a:r>
              <a:rPr b="1" sz="1700"/>
              <a:t>バッド シチュエイション</a:t>
            </a:r>
            <a:r>
              <a:rPr b="0" sz="1700"/>
              <a:t>。</a:t>
            </a:r>
          </a:p>
          <a:p>
            <a:r>
              <a:rPr b="0" sz="1700"/>
              <a:t>It cannot reach setup, so it cannot give setup away.</a:t>
            </a:r>
          </a:p>
          <a:p>
            <a:r>
              <a:rPr b="0" sz="1700"/>
              <a:t>  イット キャナット </a:t>
            </a:r>
            <a:r>
              <a:rPr b="1" sz="1700"/>
              <a:t>リーチ</a:t>
            </a:r>
            <a:r>
              <a:rPr b="0" sz="1700"/>
              <a:t> セットアップ、 ソウ イット キャナット </a:t>
            </a:r>
            <a:r>
              <a:rPr b="1" sz="1700"/>
              <a:t>ギヴ イット アウェイ</a:t>
            </a:r>
            <a:r>
              <a:rPr b="0" sz="1700"/>
              <a:t>。</a:t>
            </a:r>
          </a:p>
          <a:p>
            <a:r>
              <a:rPr b="0" sz="1700"/>
              <a:t>Today I use one token, for time. Just know the split is there.</a:t>
            </a:r>
          </a:p>
          <a:p>
            <a:r>
              <a:rPr b="0" sz="1700"/>
              <a:t>  トゥデイ アイ ユーズ </a:t>
            </a:r>
            <a:r>
              <a:rPr b="1" sz="1700"/>
              <a:t>ワン</a:t>
            </a:r>
            <a:r>
              <a:rPr b="0" sz="1700"/>
              <a:t> トウクン、 フォー </a:t>
            </a:r>
            <a:r>
              <a:rPr b="1" sz="1700"/>
              <a:t>タイム</a:t>
            </a:r>
            <a:r>
              <a:rPr b="0" sz="1700"/>
              <a:t>。 ジャスト ノウ ザ </a:t>
            </a:r>
            <a:r>
              <a:rPr b="1" sz="1700"/>
              <a:t>スプリット</a:t>
            </a:r>
            <a:r>
              <a:rPr b="0" sz="1700"/>
              <a:t> イズ ゼア。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3 · Slot A — the file you would hand over（0:50）</a:t>
            </a:r>
          </a:p>
          <a:p>
            <a:r>
              <a:rPr b="0" sz="1200"/>
              <a:t>DO: Store 画面 → Step 1「Choose the entry」で Entry 1 を選択</a:t>
            </a:r>
          </a:p>
          <a:p>
            <a:r>
              <a:rPr b="0" sz="1200"/>
              <a:t>DO: → 偽装用ファイルを選択 → パスワードA を入力</a:t>
            </a:r>
          </a:p>
          <a:p>
            <a:r>
              <a:rPr b="0" sz="1200"/>
              <a:t>DO: → 物体を手元に置いたまま「1 · Capture empty scene」</a:t>
            </a:r>
          </a:p>
          <a:p>
            <a:r>
              <a:rPr b="0" sz="1200"/>
              <a:t>DO: → 物体A をかざして「2 · Capture access object」</a:t>
            </a:r>
          </a:p>
          <a:p>
            <a:r>
              <a:rPr b="0" sz="1200"/>
              <a:t>DO: → かざしたまま「Protect file」</a:t>
            </a:r>
          </a:p>
          <a:p>
            <a:r>
              <a:rPr b="0" sz="1700"/>
              <a:t>Slot A. This is the file I would hand over.</a:t>
            </a:r>
          </a:p>
          <a:p>
            <a:r>
              <a:rPr b="0" sz="1700"/>
              <a:t>  </a:t>
            </a:r>
            <a:r>
              <a:rPr b="1" sz="1700"/>
              <a:t>スロット エイ</a:t>
            </a:r>
            <a:r>
              <a:rPr b="0" sz="1700"/>
              <a:t>。 ディス イズ ザ ファイル アイ ウッド </a:t>
            </a:r>
            <a:r>
              <a:rPr b="1" sz="1700"/>
              <a:t>ハンド オーヴァー</a:t>
            </a:r>
            <a:r>
              <a:rPr b="0" sz="1700"/>
              <a:t>。</a:t>
            </a:r>
          </a:p>
          <a:p>
            <a:r>
              <a:rPr b="0" sz="1700"/>
              <a:t>Now watch the camera. It takes two shots.</a:t>
            </a:r>
          </a:p>
          <a:p>
            <a:r>
              <a:rPr b="0" sz="1700"/>
              <a:t>  ナウ ウォッチ ザ カメラ。 イット テイクス </a:t>
            </a:r>
            <a:r>
              <a:rPr b="1" sz="1700"/>
              <a:t>トゥー ショッツ</a:t>
            </a:r>
            <a:r>
              <a:rPr b="0" sz="1700"/>
              <a:t>。</a:t>
            </a:r>
          </a:p>
          <a:p>
            <a:r>
              <a:rPr b="0" sz="1700"/>
              <a:t>First, the empty scene. Just my table.</a:t>
            </a:r>
          </a:p>
          <a:p>
            <a:r>
              <a:rPr b="0" sz="1700"/>
              <a:t>  ファースト、 ジ </a:t>
            </a:r>
            <a:r>
              <a:rPr b="1" sz="1700"/>
              <a:t>エンプティ シーン</a:t>
            </a:r>
            <a:r>
              <a:rPr b="0" sz="1700"/>
              <a:t>。 ジャスト マイ </a:t>
            </a:r>
            <a:r>
              <a:rPr b="1" sz="1700"/>
              <a:t>テイブル</a:t>
            </a:r>
            <a:r>
              <a:rPr b="0" sz="1700"/>
              <a:t>。</a:t>
            </a:r>
          </a:p>
          <a:p>
            <a:r>
              <a:rPr b="0" sz="1700"/>
              <a:t>Then the same view, with the object in it.</a:t>
            </a:r>
          </a:p>
          <a:p>
            <a:r>
              <a:rPr b="0" sz="1700"/>
              <a:t>  ゼン ザ </a:t>
            </a:r>
            <a:r>
              <a:rPr b="1" sz="1700"/>
              <a:t>セイム ヴュー</a:t>
            </a:r>
            <a:r>
              <a:rPr b="0" sz="1700"/>
              <a:t>、 ウィズ ジ </a:t>
            </a:r>
            <a:r>
              <a:rPr b="1" sz="1700"/>
              <a:t>オブジェクト</a:t>
            </a:r>
            <a:r>
              <a:rPr b="0" sz="1700"/>
              <a:t> イン イット。</a:t>
            </a:r>
          </a:p>
          <a:p>
            <a:r>
              <a:rPr b="0" sz="1700"/>
              <a:t>The device keeps the difference between them.</a:t>
            </a:r>
          </a:p>
          <a:p>
            <a:r>
              <a:rPr b="0" sz="1700"/>
              <a:t>  ザ デバイス キープス ザ </a:t>
            </a:r>
            <a:r>
              <a:rPr b="1" sz="1700"/>
              <a:t>ディファレンス</a:t>
            </a:r>
            <a:r>
              <a:rPr b="0" sz="1700"/>
              <a:t> ビトウィーン ゼム。</a:t>
            </a:r>
          </a:p>
          <a:p>
            <a:r>
              <a:rPr b="0" sz="1700"/>
              <a:t>Not my table. Not the room. The object.</a:t>
            </a:r>
          </a:p>
          <a:p>
            <a:r>
              <a:rPr b="0" sz="1700"/>
              <a:t>  ナット マイ テイブル。 ナット ザ ルーム。 </a:t>
            </a:r>
            <a:r>
              <a:rPr b="1" sz="1700"/>
              <a:t>ジ オブジェクト</a:t>
            </a:r>
            <a:r>
              <a:rPr b="0" sz="1700"/>
              <a:t>。</a:t>
            </a:r>
          </a:p>
          <a:p>
            <a:r>
              <a:rPr b="0" sz="1700"/>
              <a:t>And this is a cue, not a key.</a:t>
            </a:r>
          </a:p>
          <a:p>
            <a:r>
              <a:rPr b="0" sz="1700"/>
              <a:t>  アンド ディス イズ ア </a:t>
            </a:r>
            <a:r>
              <a:rPr b="1" sz="1700"/>
              <a:t>キュー</a:t>
            </a:r>
            <a:r>
              <a:rPr b="0" sz="1700"/>
              <a:t>、 ナット ア </a:t>
            </a:r>
            <a:r>
              <a:rPr b="1" sz="1700"/>
              <a:t>キー</a:t>
            </a:r>
            <a:r>
              <a:rPr b="0" sz="1700"/>
              <a:t>。</a:t>
            </a:r>
          </a:p>
          <a:p>
            <a:r>
              <a:rPr b="0" sz="1700"/>
              <a:t>It does not encrypt anything.</a:t>
            </a:r>
          </a:p>
          <a:p>
            <a:r>
              <a:rPr b="0" sz="1700"/>
              <a:t>  イット ダズ ナット </a:t>
            </a:r>
            <a:r>
              <a:rPr b="1" sz="1700"/>
              <a:t>エンクリプト</a:t>
            </a:r>
            <a:r>
              <a:rPr b="0" sz="1700"/>
              <a:t> エニシング。</a:t>
            </a:r>
          </a:p>
          <a:p>
            <a:r>
              <a:rPr b="0" sz="1700"/>
              <a:t>It decides whether the operation may start at all.</a:t>
            </a:r>
          </a:p>
          <a:p>
            <a:r>
              <a:rPr b="0" sz="1700"/>
              <a:t>  イット ディサイズ ウェザー ジ オペレイション </a:t>
            </a:r>
            <a:r>
              <a:rPr b="1" sz="1700"/>
              <a:t>メイ スタート</a:t>
            </a:r>
            <a:r>
              <a:rPr b="0" sz="1700"/>
              <a:t> アット オール。</a:t>
            </a:r>
          </a:p>
          <a:p>
            <a:r>
              <a:rPr b="0" sz="1700"/>
              <a:t>A photograph of it opens nothing.</a:t>
            </a:r>
          </a:p>
          <a:p>
            <a:r>
              <a:rPr b="0" sz="1700"/>
              <a:t>  ア </a:t>
            </a:r>
            <a:r>
              <a:rPr b="1" sz="1700"/>
              <a:t>フォトグラフ</a:t>
            </a:r>
            <a:r>
              <a:rPr b="0" sz="1700"/>
              <a:t> オヴ イット オウプンズ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4 · Slot B — the file you would not（1:00）</a:t>
            </a:r>
          </a:p>
          <a:p>
            <a:r>
              <a:rPr b="0" sz="1200"/>
              <a:t>DO: Step 1 を Entry 2 に切り替え → 真のファイルを選択 → パスワードB を入力</a:t>
            </a:r>
          </a:p>
          <a:p>
            <a:r>
              <a:rPr b="0" sz="1200"/>
              <a:t>DO: → Advanced security options で Clearing password（破壊用）を設定</a:t>
            </a:r>
          </a:p>
          <a:p>
            <a:r>
              <a:rPr b="0" sz="1200"/>
              <a:t>DO: → 物体を外して「1 · Capture empty scene」</a:t>
            </a:r>
          </a:p>
          <a:p>
            <a:r>
              <a:rPr b="0" sz="1200"/>
              <a:t>DO: → 物体B をかざして「2 · Capture access object」</a:t>
            </a:r>
          </a:p>
          <a:p>
            <a:r>
              <a:rPr b="0" sz="1200"/>
              <a:t>DO: → かざしたまま「Protect file」</a:t>
            </a:r>
          </a:p>
          <a:p>
            <a:r>
              <a:rPr b="0" sz="1700"/>
              <a:t>Slot B. Same file on disk. Same demo dot vessel.</a:t>
            </a:r>
          </a:p>
          <a:p>
            <a:r>
              <a:rPr b="0" sz="1700"/>
              <a:t>  </a:t>
            </a:r>
            <a:r>
              <a:rPr b="1" sz="1700"/>
              <a:t>スロット ビー</a:t>
            </a:r>
            <a:r>
              <a:rPr b="0" sz="1700"/>
              <a:t>。 セイム ファイル オン ディスク。 セイム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>A different object. A different password.</a:t>
            </a:r>
          </a:p>
          <a:p>
            <a:r>
              <a:rPr b="0" sz="1700"/>
              <a:t>  ア ディファレント </a:t>
            </a:r>
            <a:r>
              <a:rPr b="1" sz="1700"/>
              <a:t>オブジェクト</a:t>
            </a:r>
            <a:r>
              <a:rPr b="0" sz="1700"/>
              <a:t>。 ア ディファレント </a:t>
            </a:r>
            <a:r>
              <a:rPr b="1" sz="1700"/>
              <a:t>パスワード</a:t>
            </a:r>
            <a:r>
              <a:rPr b="0" sz="1700"/>
              <a:t>。</a:t>
            </a:r>
          </a:p>
          <a:p>
            <a:r>
              <a:rPr b="0" sz="1700"/>
              <a:t>And one more thing here, which I will use later.</a:t>
            </a:r>
          </a:p>
          <a:p>
            <a:r>
              <a:rPr b="0" sz="1700"/>
              <a:t>  アンド </a:t>
            </a:r>
            <a:r>
              <a:rPr b="1" sz="1700"/>
              <a:t>ワン モア シング</a:t>
            </a:r>
            <a:r>
              <a:rPr b="0" sz="1700"/>
              <a:t> ヒア、 ウィッチ アイル </a:t>
            </a:r>
            <a:r>
              <a:rPr b="1" sz="1700"/>
              <a:t>ユーズ レイター</a:t>
            </a:r>
            <a:r>
              <a:rPr b="0" sz="1700"/>
              <a:t>。</a:t>
            </a:r>
          </a:p>
          <a:p>
            <a:r>
              <a:rPr b="0" sz="1700"/>
              <a:t>A second password for this slot.</a:t>
            </a:r>
          </a:p>
          <a:p>
            <a:r>
              <a:rPr b="0" sz="1700"/>
              <a:t>  ア </a:t>
            </a:r>
            <a:r>
              <a:rPr b="1" sz="1700"/>
              <a:t>セカンド パスワード</a:t>
            </a:r>
            <a:r>
              <a:rPr b="0" sz="1700"/>
              <a:t> フォー ディス スロット。</a:t>
            </a:r>
          </a:p>
          <a:p>
            <a:r>
              <a:rPr b="0" sz="1700"/>
              <a:t>Not one that opens it.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ワン ザット </a:t>
            </a:r>
            <a:r>
              <a:rPr b="1" sz="1700"/>
              <a:t>オウプンズ</a:t>
            </a:r>
            <a:r>
              <a:rPr b="0" sz="1700"/>
              <a:t> イット。</a:t>
            </a:r>
          </a:p>
          <a:p>
            <a:r>
              <a:rPr b="0" sz="1700"/>
              <a:t>Both slots now live inside that one file.</a:t>
            </a:r>
          </a:p>
          <a:p>
            <a:r>
              <a:rPr b="0" sz="1700"/>
              <a:t>  ボウス スロッツ ナウ リヴ </a:t>
            </a:r>
            <a:r>
              <a:rPr b="1" sz="1700"/>
              <a:t>インサイド</a:t>
            </a:r>
            <a:r>
              <a:rPr b="0" sz="1700"/>
              <a:t> ザット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5 · Slot A opens（0:20）</a:t>
            </a:r>
          </a:p>
          <a:p>
            <a:r>
              <a:rPr b="0" sz="1200"/>
              <a:t>DO: Retrieve 画面 → 物体A をかざす → 一致表示を待つ</a:t>
            </a:r>
          </a:p>
          <a:p>
            <a:r>
              <a:rPr b="0" sz="1200"/>
              <a:t>DO: → パスワードA → Open protected file</a:t>
            </a:r>
          </a:p>
          <a:p>
            <a:r>
              <a:rPr b="0" sz="1200"/>
              <a:t>DO: → 落ちてきたファイルを開いて中身を見せる</a:t>
            </a:r>
          </a:p>
          <a:p>
            <a:r>
              <a:rPr b="0" sz="1700"/>
              <a:t>Object A. Password A.</a:t>
            </a:r>
          </a:p>
          <a:p>
            <a:r>
              <a:rPr b="0" sz="1700"/>
              <a:t>  </a:t>
            </a:r>
            <a:r>
              <a:rPr b="1" sz="1700"/>
              <a:t>オブジェクト エイ</a:t>
            </a:r>
            <a:r>
              <a:rPr b="0" sz="1700"/>
              <a:t>。 </a:t>
            </a:r>
            <a:r>
              <a:rPr b="1" sz="1700"/>
              <a:t>パスワード エイ</a:t>
            </a:r>
            <a:r>
              <a:rPr b="0" sz="1700"/>
              <a:t>。</a:t>
            </a:r>
          </a:p>
          <a:p>
            <a:r>
              <a:rPr b="0" sz="1700"/>
              <a:t>And there it is.</a:t>
            </a:r>
          </a:p>
          <a:p>
            <a:r>
              <a:rPr b="0" sz="1700"/>
              <a:t>  アンド </a:t>
            </a:r>
            <a:r>
              <a:rPr b="1" sz="1700"/>
              <a:t>ゼア イット イズ</a:t>
            </a:r>
            <a:r>
              <a:rPr b="0" sz="1700"/>
              <a:t>。</a:t>
            </a:r>
          </a:p>
          <a:p>
            <a:r>
              <a:rPr b="0" sz="1700"/>
              <a:t>That is Slot A, out of demo dot vessel.</a:t>
            </a:r>
          </a:p>
          <a:p>
            <a:r>
              <a:rPr b="0" sz="1700"/>
              <a:t>  ザッツ </a:t>
            </a:r>
            <a:r>
              <a:rPr b="1" sz="1700"/>
              <a:t>スロット エイ</a:t>
            </a:r>
            <a:r>
              <a:rPr b="0" sz="1700"/>
              <a:t>、 アウト オヴ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6 · The object alone is not enough（1:00）</a:t>
            </a:r>
          </a:p>
          <a:p>
            <a:r>
              <a:rPr b="0" sz="1200"/>
              <a:t>DO: 同じ Retrieve 画面のまま、物体B に持ち替える → 一致表示を待つ（待たずに押すと拒否される）</a:t>
            </a:r>
          </a:p>
          <a:p>
            <a:r>
              <a:rPr b="0" sz="1200"/>
              <a:t>DO: → まず パスワードA を入力 → Open protected file → 失敗</a:t>
            </a:r>
          </a:p>
          <a:p>
            <a:r>
              <a:rPr b="0" sz="1200"/>
              <a:t>DO: → 続けて パスワードB を入力 → Open protected file → 成功</a:t>
            </a:r>
          </a:p>
          <a:p>
            <a:r>
              <a:rPr b="0" sz="1200"/>
              <a:t>DO: → 落ちてきたファイルを開いて、SCENE 5 と中身が違うことを見せる</a:t>
            </a:r>
          </a:p>
          <a:p>
            <a:r>
              <a:rPr b="0" sz="1700"/>
              <a:t>Same screen. I have only changed the object.</a:t>
            </a:r>
          </a:p>
          <a:p>
            <a:r>
              <a:rPr b="0" sz="1700"/>
              <a:t>  </a:t>
            </a:r>
            <a:r>
              <a:rPr b="1" sz="1700"/>
              <a:t>セイム スクリーン</a:t>
            </a:r>
            <a:r>
              <a:rPr b="0" sz="1700"/>
              <a:t>。 アイヴ </a:t>
            </a:r>
            <a:r>
              <a:rPr b="1" sz="1700"/>
              <a:t>オンリー</a:t>
            </a:r>
            <a:r>
              <a:rPr b="0" sz="1700"/>
              <a:t> チェインジド ジ オブジェクト。</a:t>
            </a:r>
          </a:p>
          <a:p>
            <a:r>
              <a:rPr b="0" sz="1700"/>
              <a:t>This is the object for Slot B.</a:t>
            </a:r>
          </a:p>
          <a:p>
            <a:r>
              <a:rPr b="0" sz="1700"/>
              <a:t>  ディス イズ ジ オブジェクト フォー </a:t>
            </a:r>
            <a:r>
              <a:rPr b="1" sz="1700"/>
              <a:t>スロット ビー</a:t>
            </a:r>
            <a:r>
              <a:rPr b="0" sz="1700"/>
              <a:t>。</a:t>
            </a:r>
          </a:p>
          <a:p>
            <a:r>
              <a:rPr b="0" sz="1700"/>
              <a:t>And I will type Slot A's password.</a:t>
            </a:r>
          </a:p>
          <a:p>
            <a:r>
              <a:rPr b="0" sz="1700"/>
              <a:t>  アンド アイル タイプ </a:t>
            </a:r>
            <a:r>
              <a:rPr b="1" sz="1700"/>
              <a:t>スロット エイズ</a:t>
            </a:r>
            <a:r>
              <a:rPr b="0" sz="1700"/>
              <a:t> パスワード。</a:t>
            </a:r>
          </a:p>
          <a:p>
            <a:r>
              <a:rPr b="0" sz="1700"/>
              <a:t>No valid entry found.</a:t>
            </a:r>
          </a:p>
          <a:p>
            <a:r>
              <a:rPr b="0" sz="1700"/>
              <a:t>  </a:t>
            </a:r>
            <a:r>
              <a:rPr b="1" sz="1700"/>
              <a:t>ノウ ヴァリッド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The object is right. The password is not. Nothing opens.</a:t>
            </a:r>
          </a:p>
          <a:p>
            <a:r>
              <a:rPr b="0" sz="1700"/>
              <a:t>  ジ オブジェクト イズ </a:t>
            </a:r>
            <a:r>
              <a:rPr b="1" sz="1700"/>
              <a:t>ゥライト</a:t>
            </a:r>
            <a:r>
              <a:rPr b="0" sz="1700"/>
              <a:t>。 ザ パスワード イズ </a:t>
            </a:r>
            <a:r>
              <a:rPr b="1" sz="1700"/>
              <a:t>ナット</a:t>
            </a:r>
            <a:r>
              <a:rPr b="0" sz="1700"/>
              <a:t>。 </a:t>
            </a:r>
            <a:r>
              <a:rPr b="1" sz="1700"/>
              <a:t>ナッシング</a:t>
            </a:r>
            <a:r>
              <a:rPr b="0" sz="1700"/>
              <a:t> オウプンズ。</a:t>
            </a:r>
          </a:p>
          <a:p>
            <a:r>
              <a:rPr b="0" sz="1700"/>
              <a:t>Now Slot B's own password.</a:t>
            </a:r>
          </a:p>
          <a:p>
            <a:r>
              <a:rPr b="0" sz="1700"/>
              <a:t>  ナウ </a:t>
            </a:r>
            <a:r>
              <a:rPr b="1" sz="1700"/>
              <a:t>スロット ビーズ オウン</a:t>
            </a:r>
            <a:r>
              <a:rPr b="0" sz="1700"/>
              <a:t> パスワード。</a:t>
            </a:r>
          </a:p>
          <a:p>
            <a:r>
              <a:rPr b="0" sz="1700"/>
              <a:t>A different file — out of the same file on disk.</a:t>
            </a:r>
          </a:p>
          <a:p>
            <a:r>
              <a:rPr b="0" sz="1700"/>
              <a:t>  ア </a:t>
            </a:r>
            <a:r>
              <a:rPr b="1" sz="1700"/>
              <a:t>ディファレント ファイル</a:t>
            </a:r>
            <a:r>
              <a:rPr b="0" sz="1700"/>
              <a:t> — アウト オヴ ザ </a:t>
            </a:r>
            <a:r>
              <a:rPr b="1" sz="1700"/>
              <a:t>セイム ファイル</a:t>
            </a:r>
            <a:r>
              <a:rPr b="0" sz="1700"/>
              <a:t> オン ディスク。</a:t>
            </a:r>
          </a:p>
          <a:p>
            <a:r>
              <a:rPr b="0" sz="1700"/>
              <a:t>One vessel. Two objects. Two passwords. Two files.</a:t>
            </a:r>
          </a:p>
          <a:p>
            <a:r>
              <a:rPr b="0" sz="1700"/>
              <a:t>  </a:t>
            </a:r>
            <a:r>
              <a:rPr b="1" sz="1700"/>
              <a:t>ワン ヴェッセル</a:t>
            </a:r>
            <a:r>
              <a:rPr b="0" sz="1700"/>
              <a:t>。 </a:t>
            </a:r>
            <a:r>
              <a:rPr b="1" sz="1700"/>
              <a:t>トゥー オブジェクツ</a:t>
            </a:r>
            <a:r>
              <a:rPr b="0" sz="1700"/>
              <a:t>。 </a:t>
            </a:r>
            <a:r>
              <a:rPr b="1" sz="1700"/>
              <a:t>トゥー パスワーズ</a:t>
            </a:r>
            <a:r>
              <a:rPr b="0" sz="1700"/>
              <a:t>。 </a:t>
            </a:r>
            <a:r>
              <a:rPr b="1" sz="1700"/>
              <a:t>トゥー ファイルズ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7 · The password alone is not enough either（0:40）</a:t>
            </a:r>
          </a:p>
          <a:p>
            <a:r>
              <a:rPr b="0" sz="1200"/>
              <a:t>DO: 同じ Retrieve 画面のまま、物体A に持ち替える → 表示が変わるのを待つ</a:t>
            </a:r>
          </a:p>
          <a:p>
            <a:r>
              <a:rPr b="0" sz="1200"/>
              <a:t>DO: → パスワードB を入力 → Open protected file → 失敗</a:t>
            </a:r>
          </a:p>
          <a:p>
            <a:r>
              <a:rPr b="0" sz="1700"/>
              <a:t>Now the other way around.</a:t>
            </a:r>
          </a:p>
          <a:p>
            <a:r>
              <a:rPr b="0" sz="1700"/>
              <a:t>  ナウ ジ </a:t>
            </a:r>
            <a:r>
              <a:rPr b="1" sz="1700"/>
              <a:t>アザー ウェイ</a:t>
            </a:r>
            <a:r>
              <a:rPr b="0" sz="1700"/>
              <a:t> アラウンド。</a:t>
            </a:r>
          </a:p>
          <a:p>
            <a:r>
              <a:rPr b="0" sz="1700"/>
              <a:t>I keep Slot B's password. I change the object back to A.</a:t>
            </a:r>
          </a:p>
          <a:p>
            <a:r>
              <a:rPr b="0" sz="1700"/>
              <a:t>  アイ </a:t>
            </a:r>
            <a:r>
              <a:rPr b="1" sz="1700"/>
              <a:t>キープ</a:t>
            </a:r>
            <a:r>
              <a:rPr b="0" sz="1700"/>
              <a:t> スロット ビーズ パスワード。 アイ </a:t>
            </a:r>
            <a:r>
              <a:rPr b="1" sz="1700"/>
              <a:t>チェインジ</a:t>
            </a:r>
            <a:r>
              <a:rPr b="0" sz="1700"/>
              <a:t> ジ オブジェクト バック トゥ </a:t>
            </a:r>
            <a:r>
              <a:rPr b="1" sz="1700"/>
              <a:t>エイ</a:t>
            </a:r>
            <a:r>
              <a:rPr b="0" sz="1700"/>
              <a:t>。</a:t>
            </a:r>
          </a:p>
          <a:p>
            <a:r>
              <a:rPr b="0" sz="1700"/>
              <a:t>Same result. No valid entry found.</a:t>
            </a:r>
          </a:p>
          <a:p>
            <a:r>
              <a:rPr b="0" sz="1700"/>
              <a:t>  </a:t>
            </a:r>
            <a:r>
              <a:rPr b="1" sz="1700"/>
              <a:t>セイム リザルト</a:t>
            </a:r>
            <a:r>
              <a:rPr b="0" sz="1700"/>
              <a:t>。 ノウ ヴァリッド エントリー ファウンド。</a:t>
            </a:r>
          </a:p>
          <a:p>
            <a:r>
              <a:rPr b="0" sz="1700"/>
              <a:t>Not 'wrong object'. Not 'object missing'.</a:t>
            </a:r>
          </a:p>
          <a:p>
            <a:r>
              <a:rPr b="0" sz="1700"/>
              <a:t>  ナット </a:t>
            </a:r>
            <a:r>
              <a:rPr b="1" sz="1700"/>
              <a:t>ゥロング オブジェクト</a:t>
            </a:r>
            <a:r>
              <a:rPr b="0" sz="1700"/>
              <a:t>。 ナット </a:t>
            </a:r>
            <a:r>
              <a:rPr b="1" sz="1700"/>
              <a:t>オブジェクト ミッシング</a:t>
            </a:r>
            <a:r>
              <a:rPr b="0" sz="1700"/>
              <a:t>。</a:t>
            </a:r>
          </a:p>
          <a:p>
            <a:r>
              <a:rPr b="0" sz="1700"/>
              <a:t>It will not tell you what it is waiting for.</a:t>
            </a:r>
          </a:p>
          <a:p>
            <a:r>
              <a:rPr b="0" sz="1700"/>
              <a:t>  イット ウィル ナット </a:t>
            </a:r>
            <a:r>
              <a:rPr b="1" sz="1700"/>
              <a:t>テル ユー</a:t>
            </a:r>
            <a:r>
              <a:rPr b="0" sz="1700"/>
              <a:t> ワット イッツ </a:t>
            </a:r>
            <a:r>
              <a:rPr b="1" sz="1700"/>
              <a:t>ウェイティング フォー</a:t>
            </a:r>
            <a:r>
              <a:rPr b="0" sz="1700"/>
              <a:t>。</a:t>
            </a:r>
          </a:p>
          <a:p>
            <a:r>
              <a:rPr b="0" sz="1700"/>
              <a:t>That is what 'the cue gates the operation' means.</a:t>
            </a:r>
          </a:p>
          <a:p>
            <a:r>
              <a:rPr b="0" sz="1700"/>
              <a:t>  ザッツ ワット ザ </a:t>
            </a:r>
            <a:r>
              <a:rPr b="1" sz="1700"/>
              <a:t>キュー ゲイツ ジ オペレイション</a:t>
            </a:r>
            <a:r>
              <a:rPr b="0" sz="1700"/>
              <a:t> ミーンズ。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8 · Coercion — hand over Slot A（0:30）</a:t>
            </a:r>
          </a:p>
          <a:p>
            <a:r>
              <a:rPr b="0" sz="1200"/>
              <a:t>DO: 物体A → パスワードA → Open protected file（SCENE 5 と同一操作）</a:t>
            </a:r>
          </a:p>
          <a:p>
            <a:r>
              <a:rPr b="0" sz="1200"/>
              <a:t>DO: ここは手を速く動かさない。語りで見せる場面。</a:t>
            </a:r>
          </a:p>
          <a:p>
            <a:r>
              <a:rPr b="0" sz="1700"/>
              <a:t>Now change the situation.</a:t>
            </a:r>
          </a:p>
          <a:p>
            <a:r>
              <a:rPr b="0" sz="1700"/>
              <a:t>  ナウ </a:t>
            </a:r>
            <a:r>
              <a:rPr b="1" sz="1700"/>
              <a:t>チェインジ</a:t>
            </a:r>
            <a:r>
              <a:rPr b="0" sz="1700"/>
              <a:t> ザ シチュエイション。</a:t>
            </a:r>
          </a:p>
          <a:p>
            <a:r>
              <a:rPr b="0" sz="1700"/>
              <a:t>Someone has the device. And they have me.</a:t>
            </a:r>
          </a:p>
          <a:p>
            <a:r>
              <a:rPr b="0" sz="1700"/>
              <a:t>  サムワン ハズ ザ </a:t>
            </a:r>
            <a:r>
              <a:rPr b="1" sz="1700"/>
              <a:t>デバイス</a:t>
            </a:r>
            <a:r>
              <a:rPr b="0" sz="1700"/>
              <a:t>。 アンド ゼイ ハヴ </a:t>
            </a:r>
            <a:r>
              <a:rPr b="1" sz="1700"/>
              <a:t>ミー</a:t>
            </a:r>
            <a:r>
              <a:rPr b="0" sz="1700"/>
              <a:t>。</a:t>
            </a:r>
          </a:p>
          <a:p>
            <a:r>
              <a:rPr b="0" sz="1700"/>
              <a:t>'Give us the password.'</a:t>
            </a:r>
          </a:p>
          <a:p>
            <a:r>
              <a:rPr b="0" sz="1700"/>
              <a:t>  </a:t>
            </a:r>
            <a:r>
              <a:rPr b="1" sz="1700"/>
              <a:t>ギヴ アス</a:t>
            </a:r>
            <a:r>
              <a:rPr b="0" sz="1700"/>
              <a:t> ザ パスワード。</a:t>
            </a:r>
          </a:p>
          <a:p>
            <a:r>
              <a:rPr b="0" sz="1700"/>
              <a:t>So I do. Object A. Password A.</a:t>
            </a:r>
          </a:p>
          <a:p>
            <a:r>
              <a:rPr b="0" sz="1700"/>
              <a:t>  ソウ </a:t>
            </a:r>
            <a:r>
              <a:rPr b="1" sz="1700"/>
              <a:t>アイ ドゥー</a:t>
            </a:r>
            <a:r>
              <a:rPr b="0" sz="1700"/>
              <a:t>。 オブジェクト エイ。 パスワード エイ。</a:t>
            </a:r>
          </a:p>
          <a:p>
            <a:r>
              <a:rPr b="0" sz="1700"/>
              <a:t>They get a file. A real file, that really opens.</a:t>
            </a:r>
          </a:p>
          <a:p>
            <a:r>
              <a:rPr b="0" sz="1700"/>
              <a:t>  ゼイ ゲット ア ファイル。 ア </a:t>
            </a:r>
            <a:r>
              <a:rPr b="1" sz="1700"/>
              <a:t>リアル</a:t>
            </a:r>
            <a:r>
              <a:rPr b="0" sz="1700"/>
              <a:t> ファイル、 ザット </a:t>
            </a:r>
            <a:r>
              <a:rPr b="1" sz="1700"/>
              <a:t>リアリー オウプンズ</a:t>
            </a:r>
            <a:r>
              <a:rPr b="0" sz="1700"/>
              <a:t>。</a:t>
            </a:r>
          </a:p>
          <a:p>
            <a:r>
              <a:rPr b="0" sz="1700"/>
              <a:t>Nothing on this screen says there is another one.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オン ディス スクリーン セズ ゼアズ </a:t>
            </a:r>
            <a:r>
              <a:rPr b="1" sz="1700"/>
              <a:t>アナザー ワン</a:t>
            </a:r>
            <a:r>
              <a:rPr b="0" sz="1700"/>
              <a:t>。</a:t>
            </a:r>
          </a:p>
          <a:p>
            <a:r>
              <a:rPr b="0" sz="1700"/>
              <a:t>That is the whole design.</a:t>
            </a:r>
          </a:p>
          <a:p>
            <a:r>
              <a:rPr b="0" sz="1700"/>
              <a:t>  ザッツ ザ </a:t>
            </a:r>
            <a:r>
              <a:rPr b="1" sz="1700"/>
              <a:t>ホウル デザイン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9 · The other password（0:50）</a:t>
            </a:r>
          </a:p>
          <a:p>
            <a:r>
              <a:rPr b="0" sz="1200"/>
              <a:t>DO: 同じ Retrieve 画面。消したい方の物体（物体B）をかざす</a:t>
            </a:r>
          </a:p>
          <a:p>
            <a:r>
              <a:rPr b="0" sz="1200"/>
              <a:t>DO: → パスワード欄に Clearing password（破壊用）を入力 → Open protected file</a:t>
            </a:r>
          </a:p>
          <a:p>
            <a:r>
              <a:rPr b="0" sz="1200"/>
              <a:t>DO: → No valid entry found. と出る</a:t>
            </a:r>
          </a:p>
          <a:p>
            <a:r>
              <a:rPr b="0" sz="1700"/>
              <a:t>Worse case. They already know there is more.</a:t>
            </a:r>
          </a:p>
          <a:p>
            <a:r>
              <a:rPr b="0" sz="1700"/>
              <a:t>  </a:t>
            </a:r>
            <a:r>
              <a:rPr b="1" sz="1700"/>
              <a:t>ワース ケイス</a:t>
            </a:r>
            <a:r>
              <a:rPr b="0" sz="1700"/>
              <a:t>。 ゼイ オールレディ </a:t>
            </a:r>
            <a:r>
              <a:rPr b="1" sz="1700"/>
              <a:t>ノウ</a:t>
            </a:r>
            <a:r>
              <a:rPr b="0" sz="1700"/>
              <a:t> ゼアズ </a:t>
            </a:r>
            <a:r>
              <a:rPr b="1" sz="1700"/>
              <a:t>モア</a:t>
            </a:r>
            <a:r>
              <a:rPr b="0" sz="1700"/>
              <a:t>。</a:t>
            </a:r>
          </a:p>
          <a:p>
            <a:r>
              <a:rPr b="0" sz="1700"/>
              <a:t>Same screen. Same object. Same field. Same button.</a:t>
            </a:r>
          </a:p>
          <a:p>
            <a:r>
              <a:rPr b="0" sz="1700"/>
              <a:t>  セイム スクリーン。 セイム オブジェクト。 セイム フィールド。 セイム ボタン。</a:t>
            </a:r>
          </a:p>
          <a:p>
            <a:r>
              <a:rPr b="0" sz="1700"/>
              <a:t>The only thing I change is which password I type.</a:t>
            </a:r>
          </a:p>
          <a:p>
            <a:r>
              <a:rPr b="0" sz="1700"/>
              <a:t>  ジ </a:t>
            </a:r>
            <a:r>
              <a:rPr b="1" sz="1700"/>
              <a:t>オンリー</a:t>
            </a:r>
            <a:r>
              <a:rPr b="0" sz="1700"/>
              <a:t> シング アイ チェインジ イズ </a:t>
            </a:r>
            <a:r>
              <a:rPr b="1" sz="1700"/>
              <a:t>ウィッチ パスワード</a:t>
            </a:r>
            <a:r>
              <a:rPr b="0" sz="1700"/>
              <a:t> アイ タイプ。</a:t>
            </a:r>
          </a:p>
          <a:p>
            <a:r>
              <a:rPr b="0" sz="1700"/>
              <a:t>And it says — no valid entry found.</a:t>
            </a:r>
          </a:p>
          <a:p>
            <a:r>
              <a:rPr b="0" sz="1700"/>
              <a:t>  アンド イット セズ — </a:t>
            </a:r>
            <a:r>
              <a:rPr b="1" sz="1700"/>
              <a:t>ノウ ヴァリッド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That is the same sentence you get from a typo.</a:t>
            </a:r>
          </a:p>
          <a:p>
            <a:r>
              <a:rPr b="0" sz="1700"/>
              <a:t>  ザッツ ザ </a:t>
            </a:r>
            <a:r>
              <a:rPr b="1" sz="1700"/>
              <a:t>セイム センテンス</a:t>
            </a:r>
            <a:r>
              <a:rPr b="0" sz="1700"/>
              <a:t> ユー ゲット フロム ア </a:t>
            </a:r>
            <a:r>
              <a:rPr b="1" sz="1700"/>
              <a:t>タイポ</a:t>
            </a:r>
            <a:r>
              <a:rPr b="0" sz="1700"/>
              <a:t>。</a:t>
            </a:r>
          </a:p>
          <a:p>
            <a:r>
              <a:rPr b="0" sz="1700"/>
              <a:t>But that entry is not locked. It is gone.</a:t>
            </a:r>
          </a:p>
          <a:p>
            <a:r>
              <a:rPr b="0" sz="1700"/>
              <a:t>  バット ザット エントリー イズ ナット </a:t>
            </a:r>
            <a:r>
              <a:rPr b="1" sz="1700"/>
              <a:t>ロックト</a:t>
            </a:r>
            <a:r>
              <a:rPr b="0" sz="1700"/>
              <a:t>。 イッツ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>The password they can compel is not the only one there is.</a:t>
            </a:r>
          </a:p>
          <a:p>
            <a:r>
              <a:rPr b="0" sz="1700"/>
              <a:t>  ザ パスワード ゼイ キャン </a:t>
            </a:r>
            <a:r>
              <a:rPr b="1" sz="1700"/>
              <a:t>コンペル</a:t>
            </a:r>
            <a:r>
              <a:rPr b="0" sz="1700"/>
              <a:t> イズ ナット ジ </a:t>
            </a:r>
            <a:r>
              <a:rPr b="1" sz="1700"/>
              <a:t>オンリー ワン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10 · Nothing left to open — and what the tool will not claim（0:50）</a:t>
            </a:r>
          </a:p>
          <a:p>
            <a:r>
              <a:rPr b="0" sz="1200"/>
              <a:t>DO: 物体B → パスワードB（正規のもの）→ Open protected file → 何も出てこない</a:t>
            </a:r>
          </a:p>
          <a:p>
            <a:r>
              <a:rPr b="0" sz="1200"/>
              <a:t>DO: 続けて 物体A → パスワードA → Open protected file → 開く（時間が押していれば口頭のみ）</a:t>
            </a:r>
          </a:p>
          <a:p>
            <a:r>
              <a:rPr b="0" sz="1200"/>
              <a:t>DO: 最後の3行は操作なし。手を止めて、客席を見て言う。</a:t>
            </a:r>
          </a:p>
          <a:p>
            <a:r>
              <a:rPr b="0" sz="1700"/>
              <a:t>Let me prove that.</a:t>
            </a:r>
          </a:p>
          <a:p>
            <a:r>
              <a:rPr b="0" sz="1700"/>
              <a:t>  レット ミー </a:t>
            </a:r>
            <a:r>
              <a:rPr b="1" sz="1700"/>
              <a:t>プルーヴ</a:t>
            </a:r>
            <a:r>
              <a:rPr b="0" sz="1700"/>
              <a:t> ザット。</a:t>
            </a:r>
          </a:p>
          <a:p>
            <a:r>
              <a:rPr b="0" sz="1700"/>
              <a:t>Object B. Slot B's real password. The correct way.</a:t>
            </a:r>
          </a:p>
          <a:p>
            <a:r>
              <a:rPr b="0" sz="1700"/>
              <a:t>  オブジェクト ビー。 スロット ビーズ </a:t>
            </a:r>
            <a:r>
              <a:rPr b="1" sz="1700"/>
              <a:t>リアル</a:t>
            </a:r>
            <a:r>
              <a:rPr b="0" sz="1700"/>
              <a:t> パスワード。 ザ </a:t>
            </a:r>
            <a:r>
              <a:rPr b="1" sz="1700"/>
              <a:t>コゥレクト ウェイ</a:t>
            </a:r>
            <a:r>
              <a:rPr b="0" sz="1700"/>
              <a:t>。</a:t>
            </a:r>
          </a:p>
          <a:p>
            <a:r>
              <a:rPr b="0" sz="1700"/>
              <a:t>Nothing.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I cannot get it back either. That is not a bug.</a:t>
            </a:r>
          </a:p>
          <a:p>
            <a:r>
              <a:rPr b="0" sz="1700"/>
              <a:t>  アイ キャナット ゲット イット バック </a:t>
            </a:r>
            <a:r>
              <a:rPr b="1" sz="1700"/>
              <a:t>アイザー</a:t>
            </a:r>
            <a:r>
              <a:rPr b="0" sz="1700"/>
              <a:t>。 ザッツ </a:t>
            </a:r>
            <a:r>
              <a:rPr b="1" sz="1700"/>
              <a:t>ナット ア バグ</a:t>
            </a:r>
            <a:r>
              <a:rPr b="0" sz="1700"/>
              <a:t>。</a:t>
            </a:r>
          </a:p>
          <a:p>
            <a:r>
              <a:rPr b="0" sz="1700"/>
              <a:t>And Slot A still opens, exactly as before.</a:t>
            </a:r>
          </a:p>
          <a:p>
            <a:r>
              <a:rPr b="0" sz="1700"/>
              <a:t>  アンド </a:t>
            </a:r>
            <a:r>
              <a:rPr b="1" sz="1700"/>
              <a:t>スロット エイ</a:t>
            </a:r>
            <a:r>
              <a:rPr b="0" sz="1700"/>
              <a:t> スティル オウプンズ、 イグザクトリー アズ </a:t>
            </a:r>
            <a:r>
              <a:rPr b="1" sz="1700"/>
              <a:t>ビフォー</a:t>
            </a:r>
            <a:r>
              <a:rPr b="0" sz="1700"/>
              <a:t>。</a:t>
            </a:r>
          </a:p>
          <a:p>
            <a:r>
              <a:rPr b="0" sz="1700"/>
              <a:t>One thing this tool will never tell you:</a:t>
            </a:r>
          </a:p>
          <a:p>
            <a:r>
              <a:rPr b="0" sz="1700"/>
              <a:t>  ワン シング ディス ツール ウィル ネヴァー </a:t>
            </a:r>
            <a:r>
              <a:rPr b="1" sz="1700"/>
              <a:t>テル ユー</a:t>
            </a:r>
            <a:r>
              <a:rPr b="0" sz="1700"/>
              <a:t>:</a:t>
            </a:r>
          </a:p>
          <a:p>
            <a:r>
              <a:rPr b="0" sz="1700"/>
              <a:t>whether your cover story is believable.</a:t>
            </a:r>
          </a:p>
          <a:p>
            <a:r>
              <a:rPr b="0" sz="1700"/>
              <a:t>  ウェザー ユア </a:t>
            </a:r>
            <a:r>
              <a:rPr b="1" sz="1700"/>
              <a:t>カヴァー ストーリー</a:t>
            </a:r>
            <a:r>
              <a:rPr b="0" sz="1700"/>
              <a:t> イズ </a:t>
            </a:r>
            <a:r>
              <a:rPr b="1" sz="1700"/>
              <a:t>ビリーヴァブル</a:t>
            </a:r>
            <a:r>
              <a:rPr b="0" sz="1700"/>
              <a:t>。</a:t>
            </a:r>
          </a:p>
          <a:p>
            <a:r>
              <a:rPr b="0" sz="1700"/>
              <a:t>That is your job. It does not pretend otherwise.</a:t>
            </a:r>
          </a:p>
          <a:p>
            <a:r>
              <a:rPr b="0" sz="1700"/>
              <a:t>  ザッツ </a:t>
            </a:r>
            <a:r>
              <a:rPr b="1" sz="1700"/>
              <a:t>ユア ジョブ</a:t>
            </a:r>
            <a:r>
              <a:rPr b="0" sz="1700"/>
              <a:t>。 イット ダズ ナット </a:t>
            </a:r>
            <a:r>
              <a:rPr b="1" sz="1700"/>
              <a:t>プリテンド</a:t>
            </a:r>
            <a:r>
              <a:rPr b="0" sz="1700"/>
              <a:t> アザーワイズ。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11 · Wrap（0:10）</a:t>
            </a:r>
          </a:p>
          <a:p>
            <a:r>
              <a:rPr b="0" sz="1200"/>
              <a:t>DO: スライド（Slide 25）へ戻す。</a:t>
            </a:r>
          </a:p>
          <a:p>
            <a:r>
              <a:rPr b="0" sz="1700"/>
              <a:t>One file. Two objects. Two passwords.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。 </a:t>
            </a:r>
            <a:r>
              <a:rPr b="1" sz="1700"/>
              <a:t>トゥー オブジェクツ</a:t>
            </a:r>
            <a:r>
              <a:rPr b="0" sz="1700"/>
              <a:t>。 </a:t>
            </a:r>
            <a:r>
              <a:rPr b="1" sz="1700"/>
              <a:t>トゥー パスワーズ</a:t>
            </a:r>
            <a:r>
              <a:rPr b="0" sz="1700"/>
              <a:t>。</a:t>
            </a:r>
          </a:p>
          <a:p>
            <a:r>
              <a:rPr b="0" sz="1700"/>
              <a:t>And a password that ends one, instead of opening it.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オヴ </a:t>
            </a:r>
            <a:r>
              <a:rPr b="1" sz="1700"/>
              <a:t>オウプニング</a:t>
            </a:r>
            <a:r>
              <a:rPr b="0" sz="1700"/>
              <a:t> イット。</a:t>
            </a:r>
          </a:p>
          <a:p>
            <a:r>
              <a:rPr b="0" sz="1700"/>
              <a:t>On real hardware. Come and try it at the table.</a:t>
            </a:r>
          </a:p>
          <a:p>
            <a:r>
              <a:rPr b="0" sz="1700"/>
              <a:t>  オン </a:t>
            </a:r>
            <a:r>
              <a:rPr b="1" sz="1700"/>
              <a:t>リアル ハードウェア</a:t>
            </a:r>
            <a:r>
              <a:rPr b="0" sz="1700"/>
              <a:t>。 カム アンド </a:t>
            </a:r>
            <a:r>
              <a:rPr b="1" sz="1700"/>
              <a:t>トライ イット</a:t>
            </a:r>
            <a:r>
              <a:rPr b="0" sz="1700"/>
              <a:t> アット ザ テイブル。</a:t>
            </a:r>
          </a:p>
          <a:p>
            <a:r>
              <a:rPr b="0" sz="1700"/>
              <a:t/>
            </a:r>
          </a:p>
          <a:p>
            <a:r>
              <a:rPr b="0" sz="1200"/>
              <a:t>── フォールバック（録画に切り替えたとき）</a:t>
            </a:r>
          </a:p>
          <a:p>
            <a:r>
              <a:rPr b="0" sz="1200"/>
              <a:t>JA: 「1つの容器・2つの物体・2つのパスワード・そして開くのではなく終わらせるパスワード」を口頭で辿る。個別シーンは最大15秒で見切り、止まらず前進。</a:t>
            </a:r>
          </a:p>
          <a:p>
            <a:r>
              <a:rPr b="0" sz="1700"/>
              <a:t/>
            </a:r>
          </a:p>
          <a:p>
            <a:r>
              <a:rPr b="0" sz="1200"/>
              <a:t>JA: 26:00 到達で SCENE 5 と SCENE 8 を落とす。SCENE 1・6・7・9・10 は何があっても実機で見せる。Audit と Silent Standby は実演しない — Audit は卓上デモと質疑の持ち札に回す。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[26:50 / 0:30] QUICK START — 発話 0:20</a:t>
            </a:r>
          </a:p>
          <a:p>
            <a:r>
              <a:rPr b="0" sz="1700"/>
              <a:t/>
            </a:r>
          </a:p>
          <a:p>
            <a:r>
              <a:rPr b="0" sz="1700"/>
              <a:t>“Want to try it?</a:t>
            </a:r>
          </a:p>
          <a:p>
            <a:r>
              <a:rPr b="0" sz="1700"/>
              <a:t>  </a:t>
            </a:r>
            <a:r>
              <a:rPr b="1" sz="1700"/>
              <a:t>ワナ トライ イット</a:t>
            </a:r>
            <a:r>
              <a:rPr b="0" sz="1700"/>
              <a:t>?</a:t>
            </a:r>
          </a:p>
          <a:p>
            <a:r>
              <a:rPr b="0" sz="1700"/>
              <a:t>Clone the repo. Change into it. Run ./phasmid</a:t>
            </a:r>
          </a:p>
          <a:p>
            <a:r>
              <a:rPr b="0" sz="1700"/>
              <a:t>  </a:t>
            </a:r>
            <a:r>
              <a:rPr b="1" sz="1700"/>
              <a:t>クロウン</a:t>
            </a:r>
            <a:r>
              <a:rPr b="0" sz="1700"/>
              <a:t> ザ リーポウ。 </a:t>
            </a:r>
            <a:r>
              <a:rPr b="1" sz="1700"/>
              <a:t>チェインジ</a:t>
            </a:r>
            <a:r>
              <a:rPr b="0" sz="1700"/>
              <a:t> イントゥ イット。 </a:t>
            </a:r>
            <a:r>
              <a:rPr b="1" sz="1700"/>
              <a:t>ラン</a:t>
            </a:r>
            <a:r>
              <a:rPr b="0" sz="1700"/>
              <a:t> ドット スラッシュ ファズミッド。</a:t>
            </a:r>
          </a:p>
          <a:p>
            <a:r>
              <a:rPr b="0" sz="1700"/>
              <a:t>The first run sets up a virtual environment and opens the console.</a:t>
            </a:r>
          </a:p>
          <a:p>
            <a:r>
              <a:rPr b="0" sz="1700"/>
              <a:t>  ザ ファースト ラン セッツ アップ ア </a:t>
            </a:r>
            <a:r>
              <a:rPr b="1" sz="1700"/>
              <a:t>ヴァーチュアル インヴァイロンメント</a:t>
            </a:r>
            <a:r>
              <a:rPr b="0" sz="1700"/>
              <a:t> アンド オウプンズ ザ コンソウル。</a:t>
            </a:r>
          </a:p>
          <a:p>
            <a:r>
              <a:rPr b="0" sz="1700"/>
              <a:t>Research software. Apache 2.0.</a:t>
            </a:r>
          </a:p>
          <a:p>
            <a:r>
              <a:rPr b="0" sz="1700"/>
              <a:t>  </a:t>
            </a:r>
            <a:r>
              <a:rPr b="1" sz="1700"/>
              <a:t>リサーチ ソフトウェア</a:t>
            </a:r>
            <a:r>
              <a:rPr b="0" sz="1700"/>
              <a:t>。 </a:t>
            </a:r>
            <a:r>
              <a:rPr b="1" sz="1700"/>
              <a:t>アパッチ トゥー ポイント ズィーロウ</a:t>
            </a:r>
            <a:r>
              <a:rPr b="0" sz="1700"/>
              <a:t>。</a:t>
            </a:r>
          </a:p>
          <a:p>
            <a:r>
              <a:rPr b="0" sz="1700"/>
              <a:t>Evaluate it locally, in field-test conditions.</a:t>
            </a:r>
          </a:p>
          <a:p>
            <a:r>
              <a:rPr b="0" sz="1700"/>
              <a:t>  イヴァリュエイト イット </a:t>
            </a:r>
            <a:r>
              <a:rPr b="1" sz="1700"/>
              <a:t>ローカリー</a:t>
            </a:r>
            <a:r>
              <a:rPr b="0" sz="1700"/>
              <a:t>、 イン </a:t>
            </a:r>
            <a:r>
              <a:rPr b="1" sz="1700"/>
              <a:t>フィールドテスト コンディションズ</a:t>
            </a:r>
            <a:r>
              <a:rPr b="0" sz="1700"/>
              <a:t>。</a:t>
            </a:r>
          </a:p>
          <a:p>
            <a:r>
              <a:rPr b="0" sz="1700"/>
              <a:t>Not as production protection.”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アズ プロダクション プロテクション。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[27:20 / 0:40] CLOSING → Q&amp;A — 発話 0:25</a:t>
            </a:r>
          </a:p>
          <a:p>
            <a:r>
              <a:rPr b="0" sz="1700"/>
              <a:t/>
            </a:r>
          </a:p>
          <a:p>
            <a:r>
              <a:rPr b="0" sz="1700"/>
              <a:t>“That’s Phasmid.</a:t>
            </a:r>
          </a:p>
          <a:p>
            <a:r>
              <a:rPr b="0" sz="1700"/>
              <a:t>  ザッツ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Local-only. Coercion-aware. Honest limits included.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。 </a:t>
            </a:r>
            <a:r>
              <a:rPr b="1" sz="1700"/>
              <a:t>コアージョン アウェア</a:t>
            </a:r>
            <a:r>
              <a:rPr b="0" sz="1700"/>
              <a:t>。 </a:t>
            </a:r>
            <a:r>
              <a:rPr b="1" sz="1700"/>
              <a:t>オネスト リミッツ</a:t>
            </a:r>
            <a:r>
              <a:rPr b="0" sz="1700"/>
              <a:t> インクルーディッド。</a:t>
            </a:r>
          </a:p>
          <a:p>
            <a:r>
              <a:rPr b="0" sz="1700"/>
              <a:t>The code, the threat model, and the architecture are all on GitHub, at 01rabbit.</a:t>
            </a:r>
          </a:p>
          <a:p>
            <a:r>
              <a:rPr b="0" sz="1700"/>
              <a:t>  ザ コウド、 ザ スレット モデル、 アンド ジ アーキテクチャー アー オール オン </a:t>
            </a:r>
            <a:r>
              <a:rPr b="1" sz="1700"/>
              <a:t>ギットハブ</a:t>
            </a:r>
            <a:r>
              <a:rPr b="0" sz="1700"/>
              <a:t>、 アット </a:t>
            </a:r>
            <a:r>
              <a:rPr b="1" sz="1700"/>
              <a:t>ゼロワン ラビット</a:t>
            </a:r>
            <a:r>
              <a:rPr b="0" sz="1700"/>
              <a:t>。</a:t>
            </a:r>
          </a:p>
          <a:p>
            <a:r>
              <a:rPr b="0" sz="1700"/>
              <a:t>The device is right here on the table.</a:t>
            </a:r>
          </a:p>
          <a:p>
            <a:r>
              <a:rPr b="0" sz="1700"/>
              <a:t>  ザ デバイス イズ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try it. And please — come and break it.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。 アンド プリーズ — </a:t>
            </a:r>
            <a:r>
              <a:rPr b="1" sz="1700"/>
              <a:t>カム アンド ブレイク イット</a:t>
            </a:r>
            <a:r>
              <a:rPr b="0" sz="1700"/>
              <a:t>。</a:t>
            </a:r>
          </a:p>
          <a:p>
            <a:r>
              <a:rPr b="0" sz="1700"/>
              <a:t>I’ve got time for questions.”</a:t>
            </a:r>
          </a:p>
          <a:p>
            <a:r>
              <a:rPr b="0" sz="1700"/>
              <a:t>  アイヴ ゴット </a:t>
            </a:r>
            <a:r>
              <a:rPr b="1" sz="1700"/>
              <a:t>タイム</a:t>
            </a:r>
            <a:r>
              <a:rPr b="0" sz="1700"/>
              <a:t> フォー クエスチョンズ。</a:t>
            </a:r>
          </a:p>
          <a:p>
            <a:r>
              <a:rPr b="0" sz="1700"/>
              <a:t/>
            </a:r>
          </a:p>
          <a:p>
            <a:r>
              <a:rPr b="0" sz="120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Engineer, SOC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penetration tester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Python 3.10+    Interfaces CLI · TUI · local WebUI    License Apache-2.0    Ver v0.6.0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file → Two objects, two passwords, two files → Refused, both ways → Compelled → Gone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object +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object +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same tab, same password → refused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