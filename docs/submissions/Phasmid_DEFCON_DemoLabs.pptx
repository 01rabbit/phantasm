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[00:00 / 0:30] TITLE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【読み方】</a:t>
            </a:r>
          </a:p>
          <a:p>
            <a:r>
              <a:rPr b="0"/>
              <a:t>・英文1行＝1息。行末で必ず一度切る。</a:t>
            </a:r>
          </a:p>
          <a:p>
            <a:r>
              <a:rPr b="0"/>
              <a:t>・カタカナの太字＝その文で一番強く言う語。そこだけ高く長く言えば通じる。英語は一音ずつの正確さではなく強弱で伝わるので、この1語だけ意識すればよい。</a:t>
            </a:r>
          </a:p>
          <a:p>
            <a:r>
              <a:rPr b="0"/>
              <a:t>・カタカナは普段のカタカナ語のまま。無理に英語風に崩していない。</a:t>
            </a:r>
          </a:p>
          <a:p>
            <a:r>
              <a:rPr b="0"/>
              <a:t>・ゥ付き（ゥロング／ゥライト／コゥレクト）は3語だけ。そのまま読むと long／light／collect に聞こえるため。</a:t>
            </a:r>
          </a:p>
          <a:p>
            <a:r>
              <a:rPr b="0"/>
              <a:t>・ヴ＝V（ヴォルト=vault。ボルト=bolt と区別）。 ス・ズ＝th。</a:t>
            </a:r>
          </a:p>
          <a:p>
            <a:r>
              <a:rPr b="0"/>
              <a:t/>
            </a:r>
          </a:p>
          <a:p>
            <a:r>
              <a:rPr b="0"/>
              <a:t>“Hi. Thank you for coming.</a:t>
            </a:r>
          </a:p>
          <a:p>
            <a:r>
              <a:rPr b="0"/>
              <a:t>  </a:t>
            </a:r>
            <a:r>
              <a:rPr b="1"/>
              <a:t>ハイ</a:t>
            </a:r>
            <a:r>
              <a:rPr b="0"/>
              <a:t>。 サンキュー フォー </a:t>
            </a:r>
            <a:r>
              <a:rPr b="1"/>
              <a:t>カミング</a:t>
            </a:r>
            <a:r>
              <a:rPr b="0"/>
              <a:t>。</a:t>
            </a:r>
          </a:p>
          <a:p>
            <a:r>
              <a:rPr b="0"/>
              <a:t>This is Phasmid.</a:t>
            </a:r>
          </a:p>
          <a:p>
            <a:r>
              <a:rPr b="0"/>
              <a:t>  ディス イズ </a:t>
            </a:r>
            <a:r>
              <a:rPr b="1"/>
              <a:t>ファズミッド</a:t>
            </a:r>
            <a:r>
              <a:rPr b="0"/>
              <a:t>。</a:t>
            </a:r>
          </a:p>
          <a:p>
            <a:r>
              <a:rPr b="0"/>
              <a:t>It’s the reference build of the Janus Eidolon System.</a:t>
            </a:r>
          </a:p>
          <a:p>
            <a:r>
              <a:rPr b="0"/>
              <a:t>  イッツ ザ レファレンス ビルド オヴ ザ </a:t>
            </a:r>
            <a:r>
              <a:rPr b="1"/>
              <a:t>ジェイナス アイドウロン システム</a:t>
            </a:r>
            <a:r>
              <a:rPr b="0"/>
              <a:t>。</a:t>
            </a:r>
          </a:p>
          <a:p>
            <a:r>
              <a:rPr b="0"/>
              <a:t>Storage that stays local — and expects coercion.</a:t>
            </a:r>
          </a:p>
          <a:p>
            <a:r>
              <a:rPr b="0"/>
              <a:t>  ストレージ ザット ステイズ </a:t>
            </a:r>
            <a:r>
              <a:rPr b="1"/>
              <a:t>ローカル</a:t>
            </a:r>
            <a:r>
              <a:rPr b="0"/>
              <a:t> — アンド イクスペクツ コアージョン。</a:t>
            </a:r>
          </a:p>
          <a:p>
            <a:r>
              <a:rPr b="0"/>
              <a:t>It’s built for one moment.</a:t>
            </a:r>
          </a:p>
          <a:p>
            <a:r>
              <a:rPr b="0"/>
              <a:t>  イッツ ビルト フォー </a:t>
            </a:r>
            <a:r>
              <a:rPr b="1"/>
              <a:t>ワン モウメント</a:t>
            </a:r>
            <a:r>
              <a:rPr b="0"/>
              <a:t>。</a:t>
            </a:r>
          </a:p>
          <a:p>
            <a:r>
              <a:rPr b="0"/>
              <a:t>Someone has your device… and they have you.</a:t>
            </a:r>
          </a:p>
          <a:p>
            <a:r>
              <a:rPr b="0"/>
              <a:t>  サムワン ハズ ユア </a:t>
            </a:r>
            <a:r>
              <a:rPr b="1"/>
              <a:t>デバイス</a:t>
            </a:r>
            <a:r>
              <a:rPr b="0"/>
              <a:t>… アンド ゼイ ハヴ </a:t>
            </a:r>
            <a:r>
              <a:rPr b="1"/>
              <a:t>ユー</a:t>
            </a:r>
            <a:r>
              <a:rPr b="0"/>
              <a:t>。</a:t>
            </a:r>
          </a:p>
          <a:p>
            <a:r>
              <a:rPr b="0"/>
              <a:t>I’m Makoto Sugita, from GMO Cybersecurity by Ierae, in Tokyo.</a:t>
            </a:r>
          </a:p>
          <a:p>
            <a:r>
              <a:rPr b="0"/>
              <a:t>  アイム </a:t>
            </a:r>
            <a:r>
              <a:rPr b="1"/>
              <a:t>マコト スギタ</a:t>
            </a:r>
            <a:r>
              <a:rPr b="0"/>
              <a:t>、 フロム ジーエムオー サイバーセキュリティ バイ </a:t>
            </a:r>
            <a:r>
              <a:rPr b="1"/>
              <a:t>イエラエ</a:t>
            </a:r>
            <a:r>
              <a:rPr b="0"/>
              <a:t>、 イン トウキョウ。</a:t>
            </a:r>
          </a:p>
          <a:p>
            <a:r>
              <a:rPr b="0"/>
              <a:t>Online — Mr. Rabbit.”</a:t>
            </a:r>
          </a:p>
          <a:p>
            <a:r>
              <a:rPr b="0"/>
              <a:t>  オンライン — </a:t>
            </a:r>
            <a:r>
              <a:rPr b="1"/>
              <a:t>ミスター ラビット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掴みは短く。バナーを一度指す。時計スタート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[00:30 / 0:55] WHOAMI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“Quick background.</a:t>
            </a:r>
          </a:p>
          <a:p>
            <a:r>
              <a:rPr b="0"/>
              <a:t>  クイック </a:t>
            </a:r>
            <a:r>
              <a:rPr b="1"/>
              <a:t>バックグラウンド</a:t>
            </a:r>
            <a:r>
              <a:rPr b="0"/>
              <a:t>。</a:t>
            </a:r>
          </a:p>
          <a:p>
            <a:r>
              <a:rPr b="0"/>
              <a:t>I’m a senior engineer at GMO Cybersecurity by Ierae, in Tokyo.</a:t>
            </a:r>
          </a:p>
          <a:p>
            <a:r>
              <a:rPr b="0"/>
              <a:t>  アイム ア </a:t>
            </a:r>
            <a:r>
              <a:rPr b="1"/>
              <a:t>シニア エンジニア</a:t>
            </a:r>
            <a:r>
              <a:rPr b="0"/>
              <a:t> アット ジーエムオー サイバーセキュリティ バイ </a:t>
            </a:r>
            <a:r>
              <a:rPr b="1"/>
              <a:t>イエラエ</a:t>
            </a:r>
            <a:r>
              <a:rPr b="0"/>
              <a:t>、 イン トウキョウ。</a:t>
            </a:r>
          </a:p>
          <a:p>
            <a:r>
              <a:rPr b="0"/>
              <a:t>Security research, and open-source tools.</a:t>
            </a:r>
          </a:p>
          <a:p>
            <a:r>
              <a:rPr b="0"/>
              <a:t>  セキュリティ </a:t>
            </a:r>
            <a:r>
              <a:rPr b="1"/>
              <a:t>リサーチ</a:t>
            </a:r>
            <a:r>
              <a:rPr b="0"/>
              <a:t>、 アンド </a:t>
            </a:r>
            <a:r>
              <a:rPr b="1"/>
              <a:t>オープンソース ツールズ</a:t>
            </a:r>
            <a:r>
              <a:rPr b="0"/>
              <a:t>。</a:t>
            </a:r>
          </a:p>
          <a:p>
            <a:r>
              <a:rPr b="0"/>
              <a:t>Penetration tester by trade. CISSP.</a:t>
            </a:r>
          </a:p>
          <a:p>
            <a:r>
              <a:rPr b="0"/>
              <a:t>  ペネトレイション テスター バイ </a:t>
            </a:r>
            <a:r>
              <a:rPr b="1"/>
              <a:t>トレイド</a:t>
            </a:r>
            <a:r>
              <a:rPr b="0"/>
              <a:t>。 シー アイ エス エス ピー。</a:t>
            </a:r>
          </a:p>
          <a:p>
            <a:r>
              <a:rPr b="0"/>
              <a:t>I turn offensive experience into defensive tools.</a:t>
            </a:r>
          </a:p>
          <a:p>
            <a:r>
              <a:rPr b="0"/>
              <a:t>  アイ ターン オフェンシヴ エクスピアリエンス イントゥ </a:t>
            </a:r>
            <a:r>
              <a:rPr b="1"/>
              <a:t>ディフェンシヴ ツールズ</a:t>
            </a:r>
            <a:r>
              <a:rPr b="0"/>
              <a:t>。</a:t>
            </a:r>
          </a:p>
          <a:p>
            <a:r>
              <a:rPr b="0"/>
              <a:t>Deception. Delay. Coercion-aware design.</a:t>
            </a:r>
          </a:p>
          <a:p>
            <a:r>
              <a:rPr b="0"/>
              <a:t>  ディセプション。 ディレイ。 </a:t>
            </a:r>
            <a:r>
              <a:rPr b="1"/>
              <a:t>コアージョン アウェア デザイン</a:t>
            </a:r>
            <a:r>
              <a:rPr b="0"/>
              <a:t>。</a:t>
            </a:r>
          </a:p>
          <a:p>
            <a:r>
              <a:rPr b="0"/>
              <a:t>You may know my other work — Azazel, and the PAKURI family.</a:t>
            </a:r>
          </a:p>
          <a:p>
            <a:r>
              <a:rPr b="0"/>
              <a:t>  ユー メイ ノウ マイ アザー ワーク — </a:t>
            </a:r>
            <a:r>
              <a:rPr b="1"/>
              <a:t>アザゼル</a:t>
            </a:r>
            <a:r>
              <a:rPr b="0"/>
              <a:t>、 アンド ザ </a:t>
            </a:r>
            <a:r>
              <a:rPr b="1"/>
              <a:t>パクリ</a:t>
            </a:r>
            <a:r>
              <a:rPr b="0"/>
              <a:t> ファミリー。</a:t>
            </a:r>
          </a:p>
          <a:p>
            <a:r>
              <a:rPr b="0"/>
              <a:t>Black Hat Arsenal. BSides. SecTor. CODE BLUE.</a:t>
            </a:r>
          </a:p>
          <a:p>
            <a:r>
              <a:rPr b="0"/>
              <a:t>  ブラック ハット アーサナル。 ビーサイズ。 セクター。 コウド ブルー。</a:t>
            </a:r>
          </a:p>
          <a:p>
            <a:r>
              <a:rPr b="0"/>
              <a:t>I’m 01rabbit on GitHub.”</a:t>
            </a:r>
          </a:p>
          <a:p>
            <a:r>
              <a:rPr b="0"/>
              <a:t>  アイム </a:t>
            </a:r>
            <a:r>
              <a:rPr b="1"/>
              <a:t>ゼロワン ラビット</a:t>
            </a:r>
            <a:r>
              <a:rPr b="0"/>
              <a:t> オン ギットハブ。</a:t>
            </a:r>
          </a:p>
          <a:p>
            <a:r>
              <a:rPr b="0"/>
              <a:t/>
            </a:r>
          </a:p>
          <a:p>
            <a:r>
              <a:rPr b="0"/>
              <a:t>JA: 経歴は流す。ハンドルを指す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[01:10 / 0:30] AGENDA — 発話 0:35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“Here’s the plan for the next half hour.</a:t>
            </a:r>
          </a:p>
          <a:p>
            <a:r>
              <a:rPr b="0"/>
              <a:t>  ヒアズ ザ </a:t>
            </a:r>
            <a:r>
              <a:rPr b="1"/>
              <a:t>プラン</a:t>
            </a:r>
            <a:r>
              <a:rPr b="0"/>
              <a:t> フォー ザ ネクスト ハーフ アウア。</a:t>
            </a:r>
          </a:p>
          <a:p>
            <a:r>
              <a:rPr b="0"/>
              <a:t>First, the problem: compelled access.</a:t>
            </a:r>
          </a:p>
          <a:p>
            <a:r>
              <a:rPr b="0"/>
              <a:t>  ファースト、 ザ プロブレム: </a:t>
            </a:r>
            <a:r>
              <a:rPr b="1"/>
              <a:t>コンペルド アクセス</a:t>
            </a:r>
            <a:r>
              <a:rPr b="0"/>
              <a:t>。</a:t>
            </a:r>
          </a:p>
          <a:p>
            <a:r>
              <a:rPr b="0"/>
              <a:t>Then the core idea — Janus.</a:t>
            </a:r>
          </a:p>
          <a:p>
            <a:r>
              <a:rPr b="0"/>
              <a:t>  ゼン ザ コア アイディア — </a:t>
            </a:r>
            <a:r>
              <a:rPr b="1"/>
              <a:t>ジェイナス</a:t>
            </a:r>
            <a:r>
              <a:rPr b="0"/>
              <a:t>。</a:t>
            </a:r>
          </a:p>
          <a:p>
            <a:r>
              <a:rPr b="0"/>
              <a:t>Then how it works: the object cue, and coercion-safe delay.</a:t>
            </a:r>
          </a:p>
          <a:p>
            <a:r>
              <a:rPr b="0"/>
              <a:t>  ゼン ハウ イット ワークス: ジ </a:t>
            </a:r>
            <a:r>
              <a:rPr b="1"/>
              <a:t>オブジェクト キュー</a:t>
            </a:r>
            <a:r>
              <a:rPr b="0"/>
              <a:t>、 アンド コアージョンセイフ ディレイ。</a:t>
            </a:r>
          </a:p>
          <a:p>
            <a:r>
              <a:rPr b="0"/>
              <a:t>Then under the hood — crypto, guards, and the hardware itself.</a:t>
            </a:r>
          </a:p>
          <a:p>
            <a:r>
              <a:rPr b="0"/>
              <a:t>  ゼン アンダー ザ </a:t>
            </a:r>
            <a:r>
              <a:rPr b="1"/>
              <a:t>フッド</a:t>
            </a:r>
            <a:r>
              <a:rPr b="0"/>
              <a:t> — クリプト、 ガーズ、 アンド ザ ハードウェア イットセルフ。</a:t>
            </a:r>
          </a:p>
          <a:p>
            <a:r>
              <a:rPr b="0"/>
              <a:t>Then the honest limits. Ethics, and scope.</a:t>
            </a:r>
          </a:p>
          <a:p>
            <a:r>
              <a:rPr b="0"/>
              <a:t>  ゼン ジ </a:t>
            </a:r>
            <a:r>
              <a:rPr b="1"/>
              <a:t>オネスト</a:t>
            </a:r>
            <a:r>
              <a:rPr b="0"/>
              <a:t> リミッツ。 エシックス、 アンド スコープ。</a:t>
            </a:r>
          </a:p>
          <a:p>
            <a:r>
              <a:rPr b="0"/>
              <a:t>I finish with a live demo, and how to run it yourself.</a:t>
            </a:r>
          </a:p>
          <a:p>
            <a:r>
              <a:rPr b="0"/>
              <a:t>  アイ フィニッシュ ウィズ ア </a:t>
            </a:r>
            <a:r>
              <a:rPr b="1"/>
              <a:t>ライヴ デモ</a:t>
            </a:r>
            <a:r>
              <a:rPr b="0"/>
              <a:t>、 アンド ハウ トゥ ラン イット ユアセルフ。</a:t>
            </a:r>
          </a:p>
          <a:p>
            <a:r>
              <a:rPr b="0"/>
              <a:t>And I’ll keep time for questions at the end.”</a:t>
            </a:r>
          </a:p>
          <a:p>
            <a:r>
              <a:rPr b="0"/>
              <a:t>  アンド アイル キープ </a:t>
            </a:r>
            <a:r>
              <a:rPr b="1"/>
              <a:t>タイム</a:t>
            </a:r>
            <a:r>
              <a:rPr b="0"/>
              <a:t> フォー クエスチョンズ アット ジ エンド。</a:t>
            </a:r>
          </a:p>
          <a:p>
            <a:r>
              <a:rPr b="0"/>
              <a:t/>
            </a:r>
          </a:p>
          <a:p>
            <a:r>
              <a:rPr b="0"/>
              <a:t>JA: 6項目を指でなぞる。期待値を固定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[01:40 / 1:00] THE PROBLEM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“Here’s what Phasmid is built for.</a:t>
            </a:r>
          </a:p>
          <a:p>
            <a:r>
              <a:rPr b="0"/>
              <a:t>  ヒアズ ワット </a:t>
            </a:r>
            <a:r>
              <a:rPr b="1"/>
              <a:t>ファズミッド</a:t>
            </a:r>
            <a:r>
              <a:rPr b="0"/>
              <a:t> イズ ビルト フォー。</a:t>
            </a:r>
          </a:p>
          <a:p>
            <a:r>
              <a:rPr b="0"/>
              <a:t>Attackers today don’t break your crypto.</a:t>
            </a:r>
          </a:p>
          <a:p>
            <a:r>
              <a:rPr b="0"/>
              <a:t>  アタッカーズ トゥデイ ドウント ブレイク ユア </a:t>
            </a:r>
            <a:r>
              <a:rPr b="1"/>
              <a:t>クリプト</a:t>
            </a:r>
            <a:r>
              <a:rPr b="0"/>
              <a:t>。</a:t>
            </a:r>
          </a:p>
          <a:p>
            <a:r>
              <a:rPr b="0"/>
              <a:t>They take the device.</a:t>
            </a:r>
          </a:p>
          <a:p>
            <a:r>
              <a:rPr b="0"/>
              <a:t>  ゼイ テイク ザ </a:t>
            </a:r>
            <a:r>
              <a:rPr b="1"/>
              <a:t>デバイス</a:t>
            </a:r>
            <a:r>
              <a:rPr b="0"/>
              <a:t>。</a:t>
            </a:r>
          </a:p>
          <a:p>
            <a:r>
              <a:rPr b="0"/>
              <a:t>At a border. At a checkpoint. At an arrest.</a:t>
            </a:r>
          </a:p>
          <a:p>
            <a:r>
              <a:rPr b="0"/>
              <a:t>  アッタ </a:t>
            </a:r>
            <a:r>
              <a:rPr b="1"/>
              <a:t>ボーダー</a:t>
            </a:r>
            <a:r>
              <a:rPr b="0"/>
              <a:t>。 アッタ </a:t>
            </a:r>
            <a:r>
              <a:rPr b="1"/>
              <a:t>チェックポイント</a:t>
            </a:r>
            <a:r>
              <a:rPr b="0"/>
              <a:t>。 アッタン </a:t>
            </a:r>
            <a:r>
              <a:rPr b="1"/>
              <a:t>アレスト</a:t>
            </a:r>
            <a:r>
              <a:rPr b="0"/>
              <a:t>。</a:t>
            </a:r>
          </a:p>
          <a:p>
            <a:r>
              <a:rPr b="0"/>
              <a:t>And then they ask you to unlock it.</a:t>
            </a:r>
          </a:p>
          <a:p>
            <a:r>
              <a:rPr b="0"/>
              <a:t>  アンド ゼン ゼイ アスク ユー トゥ </a:t>
            </a:r>
            <a:r>
              <a:rPr b="1"/>
              <a:t>アンロック</a:t>
            </a:r>
            <a:r>
              <a:rPr b="0"/>
              <a:t> イット。</a:t>
            </a:r>
          </a:p>
          <a:p>
            <a:r>
              <a:rPr b="0"/>
              <a:t>Full-disk encryption is all or nothing.</a:t>
            </a:r>
          </a:p>
          <a:p>
            <a:r>
              <a:rPr b="0"/>
              <a:t>  フルディスク インクリプション イズ </a:t>
            </a:r>
            <a:r>
              <a:rPr b="1"/>
              <a:t>オール オア ナッシング</a:t>
            </a:r>
            <a:r>
              <a:rPr b="0"/>
              <a:t>。</a:t>
            </a:r>
          </a:p>
          <a:p>
            <a:r>
              <a:rPr b="0"/>
              <a:t>You open it once, under pressure — and everything is exposed.</a:t>
            </a:r>
          </a:p>
          <a:p>
            <a:r>
              <a:rPr b="0"/>
              <a:t>  ユー オウプン イット </a:t>
            </a:r>
            <a:r>
              <a:rPr b="1"/>
              <a:t>ワンス</a:t>
            </a:r>
            <a:r>
              <a:rPr b="0"/>
              <a:t>、 アンダー プレッシャー — アンド </a:t>
            </a:r>
            <a:r>
              <a:rPr b="1"/>
              <a:t>エヴリシング</a:t>
            </a:r>
            <a:r>
              <a:rPr b="0"/>
              <a:t> イズ エクスポウズド。</a:t>
            </a:r>
          </a:p>
          <a:p>
            <a:r>
              <a:rPr b="0"/>
              <a:t>That’s over-disclosure.”</a:t>
            </a:r>
          </a:p>
          <a:p>
            <a:r>
              <a:rPr b="0"/>
              <a:t>  ザッツ </a:t>
            </a:r>
            <a:r>
              <a:rPr b="1"/>
              <a:t>オウヴァー ディスクロージャー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3枚を左→右で指す。淡々と、しかし重く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[02:40 / 0:30] MEME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“So you get three bad options.</a:t>
            </a:r>
          </a:p>
          <a:p>
            <a:r>
              <a:rPr b="0"/>
              <a:t>  ソウ ユー ゲット </a:t>
            </a:r>
            <a:r>
              <a:rPr b="1"/>
              <a:t>スリー バッド オプションズ</a:t>
            </a:r>
            <a:r>
              <a:rPr b="0"/>
              <a:t>。</a:t>
            </a:r>
          </a:p>
          <a:p>
            <a:r>
              <a:rPr b="0"/>
              <a:t>Refuse — and you escalate.</a:t>
            </a:r>
          </a:p>
          <a:p>
            <a:r>
              <a:rPr b="0"/>
              <a:t>  </a:t>
            </a:r>
            <a:r>
              <a:rPr b="1"/>
              <a:t>リフューズ</a:t>
            </a:r>
            <a:r>
              <a:rPr b="0"/>
              <a:t> — アンド ユー </a:t>
            </a:r>
            <a:r>
              <a:rPr b="1"/>
              <a:t>エスカレイト</a:t>
            </a:r>
            <a:r>
              <a:rPr b="0"/>
              <a:t>。</a:t>
            </a:r>
          </a:p>
          <a:p>
            <a:r>
              <a:rPr b="0"/>
              <a:t>Comply, with full-disk encryption — and you hand over everything.</a:t>
            </a:r>
          </a:p>
          <a:p>
            <a:r>
              <a:rPr b="0"/>
              <a:t>  </a:t>
            </a:r>
            <a:r>
              <a:rPr b="1"/>
              <a:t>コンプライ</a:t>
            </a:r>
            <a:r>
              <a:rPr b="0"/>
              <a:t>、 ウィズ フルディスク インクリプション — アンド ユー ハンド オウヴァー </a:t>
            </a:r>
            <a:r>
              <a:rPr b="1"/>
              <a:t>エヴリシング</a:t>
            </a:r>
            <a:r>
              <a:rPr b="0"/>
              <a:t>。</a:t>
            </a:r>
          </a:p>
          <a:p>
            <a:r>
              <a:rPr b="0"/>
              <a:t>Or… controlled disclosure.</a:t>
            </a:r>
          </a:p>
          <a:p>
            <a:r>
              <a:rPr b="0"/>
              <a:t>  オア… </a:t>
            </a:r>
            <a:r>
              <a:rPr b="1"/>
              <a:t>コントロールド ディスクロージャー</a:t>
            </a:r>
            <a:r>
              <a:rPr b="0"/>
              <a:t>。</a:t>
            </a:r>
          </a:p>
          <a:p>
            <a:r>
              <a:rPr b="0"/>
              <a:t>Show what’s visible. Protect the rest.</a:t>
            </a:r>
          </a:p>
          <a:p>
            <a:r>
              <a:rPr b="0"/>
              <a:t>  ショウ ワッツ </a:t>
            </a:r>
            <a:r>
              <a:rPr b="1"/>
              <a:t>ヴィジブル</a:t>
            </a:r>
            <a:r>
              <a:rPr b="0"/>
              <a:t>。 プロテクト ザ </a:t>
            </a:r>
            <a:r>
              <a:rPr b="1"/>
              <a:t>レスト</a:t>
            </a:r>
            <a:r>
              <a:rPr b="0"/>
              <a:t>。</a:t>
            </a:r>
          </a:p>
          <a:p>
            <a:r>
              <a:rPr b="0"/>
              <a:t>Same demand. Very different blast radius.”</a:t>
            </a:r>
          </a:p>
          <a:p>
            <a:r>
              <a:rPr b="0"/>
              <a:t>  セイム </a:t>
            </a:r>
            <a:r>
              <a:rPr b="1"/>
              <a:t>ディマンド</a:t>
            </a:r>
            <a:r>
              <a:rPr b="0"/>
              <a:t>。 ヴェリー ディファレント </a:t>
            </a:r>
            <a:r>
              <a:rPr b="1"/>
              <a:t>ブラスト レイディアス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軽く笑いを取る。緊張を一度ほぐす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[03:10 / 0:50] WHAT IT IS / ISN'T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“Let me be precise.</a:t>
            </a:r>
          </a:p>
          <a:p>
            <a:r>
              <a:rPr b="0"/>
              <a:t>  レット ミー ビー </a:t>
            </a:r>
            <a:r>
              <a:rPr b="1"/>
              <a:t>プリサイス</a:t>
            </a:r>
            <a:r>
              <a:rPr b="0"/>
              <a:t>。</a:t>
            </a:r>
          </a:p>
          <a:p>
            <a:r>
              <a:rPr b="0"/>
              <a:t>Phasmid is a field-evaluation research prototype for disclosure control.</a:t>
            </a:r>
          </a:p>
          <a:p>
            <a:r>
              <a:rPr b="0"/>
              <a:t>  ファズミッド イズ ア フィールド イヴァリュエイション リサーチ </a:t>
            </a:r>
            <a:r>
              <a:rPr b="1"/>
              <a:t>プロウトタイプ</a:t>
            </a:r>
            <a:r>
              <a:rPr b="0"/>
              <a:t> フォー ディスクロージャー コントロール。</a:t>
            </a:r>
          </a:p>
          <a:p>
            <a:r>
              <a:rPr b="0"/>
              <a:t>Local-only by default. Not casual file encryption.</a:t>
            </a:r>
          </a:p>
          <a:p>
            <a:r>
              <a:rPr b="0"/>
              <a:t>  </a:t>
            </a:r>
            <a:r>
              <a:rPr b="1"/>
              <a:t>ローカル オウンリー</a:t>
            </a:r>
            <a:r>
              <a:rPr b="0"/>
              <a:t> バイ ディフォルト。 </a:t>
            </a:r>
            <a:r>
              <a:rPr b="1"/>
              <a:t>ナット</a:t>
            </a:r>
            <a:r>
              <a:rPr b="0"/>
              <a:t> キャジュアル ファイル インクリプション。</a:t>
            </a:r>
          </a:p>
          <a:p>
            <a:r>
              <a:rPr b="0"/>
              <a:t>And it is not a replacement for audited full-disk encryption.</a:t>
            </a:r>
          </a:p>
          <a:p>
            <a:r>
              <a:rPr b="0"/>
              <a:t>  アンド イット イズ </a:t>
            </a:r>
            <a:r>
              <a:rPr b="1"/>
              <a:t>ナット</a:t>
            </a:r>
            <a:r>
              <a:rPr b="0"/>
              <a:t> ア リプレイスメント フォー オーディティッド フルディスク インクリプション。</a:t>
            </a:r>
          </a:p>
          <a:p>
            <a:r>
              <a:rPr b="0"/>
              <a:t>Not hardware-backed keys.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ハードウェアバックト キーズ。</a:t>
            </a:r>
          </a:p>
          <a:p>
            <a:r>
              <a:rPr b="0"/>
              <a:t>Not a magic delete button.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 マジック ディリート バトゥン。</a:t>
            </a:r>
          </a:p>
          <a:p>
            <a:r>
              <a:rPr b="0"/>
              <a:t>Not a complete answer to compelled disclosure.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 コンプリート アンサー トゥ コンペルド ディスクロージャー。</a:t>
            </a:r>
          </a:p>
          <a:p>
            <a:r>
              <a:rPr b="0"/>
              <a:t>I’ll keep drawing that line, the whole way through.”</a:t>
            </a:r>
          </a:p>
          <a:p>
            <a:r>
              <a:rPr b="0"/>
              <a:t>  アイル キープ ドローイング </a:t>
            </a:r>
            <a:r>
              <a:rPr b="1"/>
              <a:t>ザット ライン</a:t>
            </a:r>
            <a:r>
              <a:rPr b="0"/>
              <a:t>、 ザ ホウル ウェイ スルー。</a:t>
            </a:r>
          </a:p>
          <a:p>
            <a:r>
              <a:rPr b="0"/>
              <a:t/>
            </a:r>
          </a:p>
          <a:p>
            <a:r>
              <a:rPr b="0"/>
              <a:t>JA: 誠実さを最初に宣言。IS / NOT を左右で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[04:00 / 1:10] CORE IDEA — JANUS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“The core idea is Janus. Two faces.</a:t>
            </a:r>
          </a:p>
          <a:p>
            <a:r>
              <a:rPr b="0"/>
              <a:t>  ザ コア アイディア イズ </a:t>
            </a:r>
            <a:r>
              <a:rPr b="1"/>
              <a:t>ジェイナス</a:t>
            </a:r>
            <a:r>
              <a:rPr b="0"/>
              <a:t>。 </a:t>
            </a:r>
            <a:r>
              <a:rPr b="1"/>
              <a:t>トゥー フェイシズ</a:t>
            </a:r>
            <a:r>
              <a:rPr b="0"/>
              <a:t>。</a:t>
            </a:r>
          </a:p>
          <a:p>
            <a:r>
              <a:rPr b="0"/>
              <a:t>A two-slot model.</a:t>
            </a:r>
          </a:p>
          <a:p>
            <a:r>
              <a:rPr b="0"/>
              <a:t>  ア </a:t>
            </a:r>
            <a:r>
              <a:rPr b="1"/>
              <a:t>トゥースロット</a:t>
            </a:r>
            <a:r>
              <a:rPr b="0"/>
              <a:t> モデル。</a:t>
            </a:r>
          </a:p>
          <a:p>
            <a:r>
              <a:rPr b="0"/>
              <a:t>Slot A is what the visible surface shows.</a:t>
            </a:r>
          </a:p>
          <a:p>
            <a:r>
              <a:rPr b="0"/>
              <a:t>  スロット </a:t>
            </a:r>
            <a:r>
              <a:rPr b="1"/>
              <a:t>エイ</a:t>
            </a:r>
            <a:r>
              <a:rPr b="0"/>
              <a:t> イズ ワット ザ ヴィジブル サーフィス ショウズ。</a:t>
            </a:r>
          </a:p>
          <a:p>
            <a:r>
              <a:rPr b="0"/>
              <a:t>Plausible. Ordinary. Disclosed under pressure.</a:t>
            </a:r>
          </a:p>
          <a:p>
            <a:r>
              <a:rPr b="0"/>
              <a:t>  </a:t>
            </a:r>
            <a:r>
              <a:rPr b="1"/>
              <a:t>プローザブル</a:t>
            </a:r>
            <a:r>
              <a:rPr b="0"/>
              <a:t>。 </a:t>
            </a:r>
            <a:r>
              <a:rPr b="1"/>
              <a:t>オーディナリー</a:t>
            </a:r>
            <a:r>
              <a:rPr b="0"/>
              <a:t>。 ディスクロウズド アンダー プレッシャー。</a:t>
            </a:r>
          </a:p>
          <a:p>
            <a:r>
              <a:rPr b="0"/>
              <a:t>Slot B is protected local state. It stays off the visible path.</a:t>
            </a:r>
          </a:p>
          <a:p>
            <a:r>
              <a:rPr b="0"/>
              <a:t>  スロット </a:t>
            </a:r>
            <a:r>
              <a:rPr b="1"/>
              <a:t>ビー</a:t>
            </a:r>
            <a:r>
              <a:rPr b="0"/>
              <a:t> イズ プロテクティッド ローカル ステイト。 イット ステイズ </a:t>
            </a:r>
            <a:r>
              <a:rPr b="1"/>
              <a:t>オフ</a:t>
            </a:r>
            <a:r>
              <a:rPr b="0"/>
              <a:t> ザ ヴィジブル パス。</a:t>
            </a:r>
          </a:p>
          <a:p>
            <a:r>
              <a:rPr b="0"/>
              <a:t>And it’s bound to local conditions — not to a password alone.</a:t>
            </a:r>
          </a:p>
          <a:p>
            <a:r>
              <a:rPr b="0"/>
              <a:t>  アンド イッツ バウンド トゥ </a:t>
            </a:r>
            <a:r>
              <a:rPr b="1"/>
              <a:t>ローカル コンディションズ</a:t>
            </a:r>
            <a:r>
              <a:rPr b="0"/>
              <a:t> — ナット トゥ ア パスワード アロウン。</a:t>
            </a:r>
          </a:p>
          <a:p>
            <a:r>
              <a:rPr b="0"/>
              <a:t>What you show is not all there is.”</a:t>
            </a:r>
          </a:p>
          <a:p>
            <a:r>
              <a:rPr b="0"/>
              <a:t>  ワット ユー ショウ イズ </a:t>
            </a:r>
            <a:r>
              <a:rPr b="1"/>
              <a:t>ナット オール</a:t>
            </a:r>
            <a:r>
              <a:rPr b="0"/>
              <a:t> ゼア イズ。</a:t>
            </a:r>
          </a:p>
          <a:p>
            <a:r>
              <a:rPr b="0"/>
              <a:t/>
            </a:r>
          </a:p>
          <a:p>
            <a:r>
              <a:rPr b="0"/>
              <a:t>SPEAK（決めゼリフ・間を置いて）</a:t>
            </a:r>
          </a:p>
          <a:p>
            <a:r>
              <a:rPr b="0"/>
              <a:t>“Slot A is what you show. Slot B is not on the visible path.”</a:t>
            </a:r>
          </a:p>
          <a:p>
            <a:r>
              <a:rPr b="0"/>
              <a:t>  スロット エイ イズ ワット ユー </a:t>
            </a:r>
            <a:r>
              <a:rPr b="1"/>
              <a:t>ショウ</a:t>
            </a:r>
            <a:r>
              <a:rPr b="0"/>
              <a:t>。 スロット ビー イズ </a:t>
            </a:r>
            <a:r>
              <a:rPr b="1"/>
              <a:t>ナット</a:t>
            </a:r>
            <a:r>
              <a:rPr b="0"/>
              <a:t> オン ザ ヴィジブル パス。</a:t>
            </a:r>
          </a:p>
          <a:p>
            <a:r>
              <a:rPr b="0"/>
              <a:t/>
            </a:r>
          </a:p>
          <a:p>
            <a:r>
              <a:rPr b="0"/>
              <a:t>JA: 概念の核。左右のスロットを指す。ゆっくり。必ず持ち帰らせる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[05:10 / 1:15] ADVERSARY MODEL — 発話 0:30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“Who does it defend against?</a:t>
            </a:r>
          </a:p>
          <a:p>
            <a:r>
              <a:rPr b="0"/>
              <a:t>  フー ダズ イット </a:t>
            </a:r>
            <a:r>
              <a:rPr b="1"/>
              <a:t>ディフェンド</a:t>
            </a:r>
            <a:r>
              <a:rPr b="0"/>
              <a:t> アゲンスト?</a:t>
            </a:r>
          </a:p>
          <a:p>
            <a:r>
              <a:rPr b="0"/>
              <a:t>Five adversaries in scope.</a:t>
            </a:r>
          </a:p>
          <a:p>
            <a:r>
              <a:rPr b="0"/>
              <a:t>  </a:t>
            </a:r>
            <a:r>
              <a:rPr b="1"/>
              <a:t>ファイヴ</a:t>
            </a:r>
            <a:r>
              <a:rPr b="0"/>
              <a:t> アドヴァサリーズ イン スコープ。</a:t>
            </a:r>
          </a:p>
          <a:p>
            <a:r>
              <a:rPr b="0"/>
              <a:t>A physical captor. A passive observer. A local active attacker.</a:t>
            </a:r>
          </a:p>
          <a:p>
            <a:r>
              <a:rPr b="0"/>
              <a:t>  ア フィジカル キャプター。 ア パッシヴ オブザーヴァー。 ア ローカル アクティヴ アタッカー。</a:t>
            </a:r>
          </a:p>
          <a:p>
            <a:r>
              <a:rPr b="0"/>
              <a:t>A local-network attacker. And a coercing authority.</a:t>
            </a:r>
          </a:p>
          <a:p>
            <a:r>
              <a:rPr b="0"/>
              <a:t>  ア ローカルネットワーク アタッカー。 アンド ア </a:t>
            </a:r>
            <a:r>
              <a:rPr b="1"/>
              <a:t>コアーシング オーソリティ</a:t>
            </a:r>
            <a:r>
              <a:rPr b="0"/>
              <a:t>。</a:t>
            </a:r>
          </a:p>
          <a:p>
            <a:r>
              <a:rPr b="0"/>
              <a:t>And five explicitly out of scope.</a:t>
            </a:r>
          </a:p>
          <a:p>
            <a:r>
              <a:rPr b="0"/>
              <a:t>  アンド ファイヴ エクスプリシットリー </a:t>
            </a:r>
            <a:r>
              <a:rPr b="1"/>
              <a:t>アウト オヴ スコープ</a:t>
            </a:r>
            <a:r>
              <a:rPr b="0"/>
              <a:t>。</a:t>
            </a:r>
          </a:p>
          <a:p>
            <a:r>
              <a:rPr b="0"/>
              <a:t>A compromised kernel. Hardware implants. Remote attackers.</a:t>
            </a:r>
          </a:p>
          <a:p>
            <a:r>
              <a:rPr b="0"/>
              <a:t>  ア コンプロマイズド カーネル。 ハードウェア インプランツ。 リモウト アタッカーズ。</a:t>
            </a:r>
          </a:p>
          <a:p>
            <a:r>
              <a:rPr b="0"/>
              <a:t>Supply chain. And breaking the crypto itself.</a:t>
            </a:r>
          </a:p>
          <a:p>
            <a:r>
              <a:rPr b="0"/>
              <a:t>  サプライ チェイン。 アンド ブレイキング ザ </a:t>
            </a:r>
            <a:r>
              <a:rPr b="1"/>
              <a:t>クリプト イットセルフ</a:t>
            </a:r>
            <a:r>
              <a:rPr b="0"/>
              <a:t>。</a:t>
            </a:r>
          </a:p>
          <a:p>
            <a:r>
              <a:rPr b="0"/>
              <a:t>If the host is owned, no user-space tool saves you.</a:t>
            </a:r>
          </a:p>
          <a:p>
            <a:r>
              <a:rPr b="0"/>
              <a:t>  イフ ザ ホウスト イズ </a:t>
            </a:r>
            <a:r>
              <a:rPr b="1"/>
              <a:t>オウンド</a:t>
            </a:r>
            <a:r>
              <a:rPr b="0"/>
              <a:t>、 ノウ ユーザースペイス ツール </a:t>
            </a:r>
            <a:r>
              <a:rPr b="1"/>
              <a:t>セイヴズ</a:t>
            </a:r>
            <a:r>
              <a:rPr b="0"/>
              <a:t> ユー。</a:t>
            </a:r>
          </a:p>
          <a:p>
            <a:r>
              <a:rPr b="0"/>
              <a:t>I won’t pretend otherwise.”</a:t>
            </a:r>
          </a:p>
          <a:p>
            <a:r>
              <a:rPr b="0"/>
              <a:t>  アイ ウォウント </a:t>
            </a:r>
            <a:r>
              <a:rPr b="1"/>
              <a:t>プリテンド</a:t>
            </a:r>
            <a:r>
              <a:rPr b="0"/>
              <a:t> アザワイズ。</a:t>
            </a:r>
          </a:p>
          <a:p>
            <a:r>
              <a:rPr b="0"/>
              <a:t/>
            </a:r>
          </a:p>
          <a:p>
            <a:r>
              <a:rPr b="0"/>
              <a:t>JA: 左=戦う相手、右=戦わない相手。誠実さの要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[06:25 / 0:45] STRIDE + LINDDUN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“I didn’t hand-wave the threats.</a:t>
            </a:r>
          </a:p>
          <a:p>
            <a:r>
              <a:rPr b="0"/>
              <a:t>  アイ ディドゥント </a:t>
            </a:r>
            <a:r>
              <a:rPr b="1"/>
              <a:t>ハンドウェイヴ</a:t>
            </a:r>
            <a:r>
              <a:rPr b="0"/>
              <a:t> ザ スレッツ。</a:t>
            </a:r>
          </a:p>
          <a:p>
            <a:r>
              <a:rPr b="0"/>
              <a:t>Eighteen scenarios. Each one tagged with STRIDE and LINDDUN.</a:t>
            </a:r>
          </a:p>
          <a:p>
            <a:r>
              <a:rPr b="0"/>
              <a:t>  </a:t>
            </a:r>
            <a:r>
              <a:rPr b="1"/>
              <a:t>エイティーン</a:t>
            </a:r>
            <a:r>
              <a:rPr b="0"/>
              <a:t> シナリオズ。 イーチ ワン タグド ウィズ </a:t>
            </a:r>
            <a:r>
              <a:rPr b="1"/>
              <a:t>ストライド</a:t>
            </a:r>
            <a:r>
              <a:rPr b="0"/>
              <a:t> アンド </a:t>
            </a:r>
            <a:r>
              <a:rPr b="1"/>
              <a:t>リンダン</a:t>
            </a:r>
            <a:r>
              <a:rPr b="0"/>
              <a:t>。</a:t>
            </a:r>
          </a:p>
          <a:p>
            <a:r>
              <a:rPr b="0"/>
              <a:t>Offline cracking. Session replay. Header leakage.</a:t>
            </a:r>
          </a:p>
          <a:p>
            <a:r>
              <a:rPr b="0"/>
              <a:t>  オフライン クラッキング。 セッション リプレイ。 ヘダー リーキッジ。</a:t>
            </a:r>
          </a:p>
          <a:p>
            <a:r>
              <a:rPr b="0"/>
              <a:t>Timing side-channels. Object-cue spoofing. Coerced disclosure.</a:t>
            </a:r>
          </a:p>
          <a:p>
            <a:r>
              <a:rPr b="0"/>
              <a:t>  タイミング サイドチャネルズ。 オブジェクトキュー スプーフィング。 コアースト ディスクロージャー。</a:t>
            </a:r>
          </a:p>
          <a:p>
            <a:r>
              <a:rPr b="0"/>
              <a:t>Here are a few. The full matrix is in the repo.</a:t>
            </a:r>
          </a:p>
          <a:p>
            <a:r>
              <a:rPr b="0"/>
              <a:t>  ヒア アー ア </a:t>
            </a:r>
            <a:r>
              <a:rPr b="1"/>
              <a:t>フュー</a:t>
            </a:r>
            <a:r>
              <a:rPr b="0"/>
              <a:t>。 ザ フル メイトリクス イズ イン ザ </a:t>
            </a:r>
            <a:r>
              <a:rPr b="1"/>
              <a:t>リーポウ</a:t>
            </a:r>
            <a:r>
              <a:rPr b="0"/>
              <a:t>。</a:t>
            </a:r>
          </a:p>
          <a:p>
            <a:r>
              <a:rPr b="0"/>
              <a:t>And if you want to argue with any of them — find me after.</a:t>
            </a:r>
          </a:p>
          <a:p>
            <a:r>
              <a:rPr b="0"/>
              <a:t>  アンド イフ ユー ワナ </a:t>
            </a:r>
            <a:r>
              <a:rPr b="1"/>
              <a:t>アーギュー</a:t>
            </a:r>
            <a:r>
              <a:rPr b="0"/>
              <a:t> ウィズ エニー オヴ ゼム — </a:t>
            </a:r>
            <a:r>
              <a:rPr b="1"/>
              <a:t>ファインド ミー アフター</a:t>
            </a:r>
            <a:r>
              <a:rPr b="0"/>
              <a:t>。</a:t>
            </a:r>
          </a:p>
          <a:p>
            <a:r>
              <a:rPr b="0"/>
              <a:t>I’d enjoy that.”</a:t>
            </a:r>
          </a:p>
          <a:p>
            <a:r>
              <a:rPr b="0"/>
              <a:t>  アイド </a:t>
            </a:r>
            <a:r>
              <a:rPr b="1"/>
              <a:t>エンジョイ</a:t>
            </a:r>
            <a:r>
              <a:rPr b="0"/>
              <a:t> ザット。</a:t>
            </a:r>
          </a:p>
          <a:p>
            <a:r>
              <a:rPr b="0"/>
              <a:t/>
            </a:r>
          </a:p>
          <a:p>
            <a:r>
              <a:rPr b="0"/>
              <a:t>JA: 表は全部読まない。代表2–3行を指す。遅れていたらここを最短で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[07:10 / 1:00] ARCHITECTURE BOUNDARY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“Architecturally, four things stay explicit.</a:t>
            </a:r>
          </a:p>
          <a:p>
            <a:r>
              <a:rPr b="0"/>
              <a:t>  アーキテクチャリー、 フォー シングズ ステイ </a:t>
            </a:r>
            <a:r>
              <a:rPr b="1"/>
              <a:t>エクスプリシット</a:t>
            </a:r>
            <a:r>
              <a:rPr b="0"/>
              <a:t>。</a:t>
            </a:r>
          </a:p>
          <a:p>
            <a:r>
              <a:rPr b="0"/>
              <a:t>One. Two-slot storage.</a:t>
            </a:r>
          </a:p>
          <a:p>
            <a:r>
              <a:rPr b="0"/>
              <a:t>  </a:t>
            </a:r>
            <a:r>
              <a:rPr b="1"/>
              <a:t>ワン</a:t>
            </a:r>
            <a:r>
              <a:rPr b="0"/>
              <a:t>。 トゥースロット </a:t>
            </a:r>
            <a:r>
              <a:rPr b="1"/>
              <a:t>ストレージ</a:t>
            </a:r>
            <a:r>
              <a:rPr b="0"/>
              <a:t>。</a:t>
            </a:r>
          </a:p>
          <a:p>
            <a:r>
              <a:rPr b="0"/>
              <a:t>Two. Local access-key mixing — keys come from local state, not from a passphrase alone.</a:t>
            </a:r>
          </a:p>
          <a:p>
            <a:r>
              <a:rPr b="0"/>
              <a:t>  </a:t>
            </a:r>
            <a:r>
              <a:rPr b="1"/>
              <a:t>トゥー</a:t>
            </a:r>
            <a:r>
              <a:rPr b="0"/>
              <a:t>。 ローカル アクセスキー ミキシング — キーズ カム フロム </a:t>
            </a:r>
            <a:r>
              <a:rPr b="1"/>
              <a:t>ローカル ステイト</a:t>
            </a:r>
            <a:r>
              <a:rPr b="0"/>
              <a:t>、 ナット フロム ア パスフレイズ アロウン。</a:t>
            </a:r>
          </a:p>
          <a:p>
            <a:r>
              <a:rPr b="0"/>
              <a:t>Three. A restricted-action policy. It gates anything sensitive, and anything about recovery.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。 ア リストリクティッドアクション ポリシー。 イット ゲイツ エニシング </a:t>
            </a:r>
            <a:r>
              <a:rPr b="1"/>
              <a:t>センシティヴ</a:t>
            </a:r>
            <a:r>
              <a:rPr b="0"/>
              <a:t>、 アンド エニシング アバウト リカヴァリー。</a:t>
            </a:r>
          </a:p>
          <a:p>
            <a:r>
              <a:rPr b="0"/>
              <a:t>Four. Capture-visible discipline.</a:t>
            </a:r>
          </a:p>
          <a:p>
            <a:r>
              <a:rPr b="0"/>
              <a:t>  </a:t>
            </a:r>
            <a:r>
              <a:rPr b="1"/>
              <a:t>フォー</a:t>
            </a:r>
            <a:r>
              <a:rPr b="0"/>
              <a:t>。 キャプチャーヴィジブル </a:t>
            </a:r>
            <a:r>
              <a:rPr b="1"/>
              <a:t>ディシプリン</a:t>
            </a:r>
            <a:r>
              <a:rPr b="0"/>
              <a:t>。</a:t>
            </a:r>
          </a:p>
          <a:p>
            <a:r>
              <a:rPr b="0"/>
              <a:t>Normal flows never show the structure, the recovery path, or the order you’d try things in.</a:t>
            </a:r>
          </a:p>
          <a:p>
            <a:r>
              <a:rPr b="0"/>
              <a:t>  ノーマル フロウズ </a:t>
            </a:r>
            <a:r>
              <a:rPr b="1"/>
              <a:t>ネヴァー</a:t>
            </a:r>
            <a:r>
              <a:rPr b="0"/>
              <a:t> ショウ ザ ストラクチャー、 ザ リカヴァリー パス、 オア ジ オーダー ユード トライ シングズ イン。</a:t>
            </a:r>
          </a:p>
          <a:p>
            <a:r>
              <a:rPr b="0"/>
              <a:t/>
            </a:r>
          </a:p>
          <a:p>
            <a:r>
              <a:rPr b="0"/>
              <a:t>JA: 4点を順に。専門聴衆が頷く箇所。11は流し気味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[08:10 / 0:40] LAYERS + DOCS — 発話 0:15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Underneath are narrow local layers.</a:t>
            </a:r>
          </a:p>
          <a:p>
            <a:r>
              <a:rPr b="0"/>
              <a:t>  アンダニース アー </a:t>
            </a:r>
            <a:r>
              <a:rPr b="1"/>
              <a:t>ナロウ ローカル レイヤーズ</a:t>
            </a:r>
            <a:r>
              <a:rPr b="0"/>
              <a:t>。</a:t>
            </a:r>
          </a:p>
          <a:p>
            <a:r>
              <a:rPr b="0"/>
              <a:t>Entry points, policy, crypto core, local state, deployment.</a:t>
            </a:r>
          </a:p>
          <a:p>
            <a:r>
              <a:rPr b="0"/>
              <a:t>  エントリー ポインツ、 ポリシー、 クリプト コア、 ローカル ステイト、 ディプロイメント。</a:t>
            </a:r>
          </a:p>
          <a:p>
            <a:r>
              <a:rPr b="0"/>
              <a:t>None of this is folklore. It’s documented.</a:t>
            </a:r>
          </a:p>
          <a:p>
            <a:r>
              <a:rPr b="0"/>
              <a:t>  </a:t>
            </a:r>
            <a:r>
              <a:rPr b="1"/>
              <a:t>ナン</a:t>
            </a:r>
            <a:r>
              <a:rPr b="0"/>
              <a:t> オヴ ディス イズ フォウクロー。 イッツ </a:t>
            </a:r>
            <a:r>
              <a:rPr b="1"/>
              <a:t>ドキュメンティッド</a:t>
            </a:r>
            <a:r>
              <a:rPr b="0"/>
              <a:t>。</a:t>
            </a:r>
          </a:p>
          <a:p>
            <a:r>
              <a:rPr b="0"/>
              <a:t>Read it — and poke holes in it.”</a:t>
            </a:r>
          </a:p>
          <a:p>
            <a:r>
              <a:rPr b="0"/>
              <a:t>  </a:t>
            </a:r>
            <a:r>
              <a:rPr b="1"/>
              <a:t>リード</a:t>
            </a:r>
            <a:r>
              <a:rPr b="0"/>
              <a:t> イット — アンド </a:t>
            </a:r>
            <a:r>
              <a:rPr b="1"/>
              <a:t>ポウク ホウルズ</a:t>
            </a:r>
            <a:r>
              <a:rPr b="0"/>
              <a:t> イン イット。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[08:50 / 0:50] THREE PILLARS — 発話 0:35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“Three moving parts.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 ムーヴィング パーツ。</a:t>
            </a:r>
          </a:p>
          <a:p>
            <a:r>
              <a:rPr b="0"/>
              <a:t>One — an encrypted local vessel. Authenticated encryption, password-derived keys.</a:t>
            </a:r>
          </a:p>
          <a:p>
            <a:r>
              <a:rPr b="0"/>
              <a:t>  </a:t>
            </a:r>
            <a:r>
              <a:rPr b="1"/>
              <a:t>ワン</a:t>
            </a:r>
            <a:r>
              <a:rPr b="0"/>
              <a:t> — アン インクリプティッド ローカル </a:t>
            </a:r>
            <a:r>
              <a:rPr b="1"/>
              <a:t>ヴェッセル</a:t>
            </a:r>
            <a:r>
              <a:rPr b="0"/>
              <a:t>。 オーセンティケイティッド インクリプション、 パスワードディライヴド キーズ。</a:t>
            </a:r>
          </a:p>
          <a:p>
            <a:r>
              <a:rPr b="0"/>
              <a:t>Two — object-cue operation. I’ll come right back to this. It’s the fun part.</a:t>
            </a:r>
          </a:p>
          <a:p>
            <a:r>
              <a:rPr b="0"/>
              <a:t>  </a:t>
            </a:r>
            <a:r>
              <a:rPr b="1"/>
              <a:t>トゥー</a:t>
            </a:r>
            <a:r>
              <a:rPr b="0"/>
              <a:t> — オブジェクトキュー オペレイション。 アイル カム ゥライト バック トゥ ディス。 イッツ ザ </a:t>
            </a:r>
            <a:r>
              <a:rPr b="1"/>
              <a:t>ファン パート</a:t>
            </a:r>
            <a:r>
              <a:rPr b="0"/>
              <a:t>。</a:t>
            </a:r>
          </a:p>
          <a:p>
            <a:r>
              <a:rPr b="0"/>
              <a:t>Three — controlled disclosure.</a:t>
            </a:r>
          </a:p>
          <a:p>
            <a:r>
              <a:rPr b="0"/>
              <a:t>  </a:t>
            </a:r>
            <a:r>
              <a:rPr b="1"/>
              <a:t>スリー</a:t>
            </a:r>
            <a:r>
              <a:rPr b="0"/>
              <a:t> — コントロールド ディスクロージャー。</a:t>
            </a:r>
          </a:p>
          <a:p>
            <a:r>
              <a:rPr b="0"/>
              <a:t>And that third one is concrete, not a slogan.</a:t>
            </a:r>
          </a:p>
          <a:p>
            <a:r>
              <a:rPr b="0"/>
              <a:t>  アンド ザット サード ワン イズ </a:t>
            </a:r>
            <a:r>
              <a:rPr b="1"/>
              <a:t>コンクリート</a:t>
            </a:r>
            <a:r>
              <a:rPr b="0"/>
              <a:t>、 ナット ア スロウガン。</a:t>
            </a:r>
          </a:p>
          <a:p>
            <a:r>
              <a:rPr b="0"/>
              <a:t>You set three credentials.</a:t>
            </a:r>
          </a:p>
          <a:p>
            <a:r>
              <a:rPr b="0"/>
              <a:t>  ユー セット </a:t>
            </a:r>
            <a:r>
              <a:rPr b="1"/>
              <a:t>スリー クリデンシャルズ</a:t>
            </a:r>
            <a:r>
              <a:rPr b="0"/>
              <a:t>。</a:t>
            </a:r>
          </a:p>
          <a:p>
            <a:r>
              <a:rPr b="0"/>
              <a:t>One opens the real file.</a:t>
            </a:r>
          </a:p>
          <a:p>
            <a:r>
              <a:rPr b="0"/>
              <a:t>  ワン </a:t>
            </a:r>
            <a:r>
              <a:rPr b="1"/>
              <a:t>オウプンズ</a:t>
            </a:r>
            <a:r>
              <a:rPr b="0"/>
              <a:t> ザ リアル ファイル。</a:t>
            </a:r>
          </a:p>
          <a:p>
            <a:r>
              <a:rPr b="0"/>
              <a:t>One opens the decoy.</a:t>
            </a:r>
          </a:p>
          <a:p>
            <a:r>
              <a:rPr b="0"/>
              <a:t>  ワン オウプンズ ザ </a:t>
            </a:r>
            <a:r>
              <a:rPr b="1"/>
              <a:t>ディーコイ</a:t>
            </a:r>
            <a:r>
              <a:rPr b="0"/>
              <a:t>。</a:t>
            </a:r>
          </a:p>
          <a:p>
            <a:r>
              <a:rPr b="0"/>
              <a:t>And one destroys the real file.</a:t>
            </a:r>
          </a:p>
          <a:p>
            <a:r>
              <a:rPr b="0"/>
              <a:t>  アンド ワン </a:t>
            </a:r>
            <a:r>
              <a:rPr b="1"/>
              <a:t>ディストロイズ</a:t>
            </a:r>
            <a:r>
              <a:rPr b="0"/>
              <a:t> ザ リアル ファイル。</a:t>
            </a:r>
          </a:p>
          <a:p>
            <a:r>
              <a:rPr b="0"/>
              <a:t>Three passwords. Three very different outcomes.</a:t>
            </a:r>
          </a:p>
          <a:p>
            <a:r>
              <a:rPr b="0"/>
              <a:t>  スリー パスワーズ。 スリー ヴェリー </a:t>
            </a:r>
            <a:r>
              <a:rPr b="1"/>
              <a:t>ディファレント アウトカムズ</a:t>
            </a:r>
            <a:r>
              <a:rPr b="0"/>
              <a:t>。</a:t>
            </a:r>
          </a:p>
          <a:p>
            <a:r>
              <a:rPr b="0"/>
              <a:t>And only you know which is which.”</a:t>
            </a:r>
          </a:p>
          <a:p>
            <a:r>
              <a:rPr b="0"/>
              <a:t>  アンド </a:t>
            </a:r>
            <a:r>
              <a:rPr b="1"/>
              <a:t>オウンリー ユー</a:t>
            </a:r>
            <a:r>
              <a:rPr b="0"/>
              <a:t> ノウ ウィッチ イズ ウィッチ。</a:t>
            </a:r>
          </a:p>
          <a:p>
            <a:r>
              <a:rPr b="0"/>
              <a:t/>
            </a:r>
          </a:p>
          <a:p>
            <a:r>
              <a:rPr b="0"/>
              <a:t>JA: ② を予告して引っ張る。3パスフレーズはここが初出 — 指で3つ数えて見せると残る。破壊資格の意味は Slide 21 まで引っ張る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[09:40 / 1:20] OBJECT-CUE  ★見せ場 — 発話 0:50</a:t>
            </a:r>
          </a:p>
          <a:p>
            <a:r>
              <a:rPr b="0"/>
              <a:t/>
            </a:r>
          </a:p>
          <a:p>
            <a:r>
              <a:rPr b="0"/>
              <a:t>“Here’s the fun part.</a:t>
            </a:r>
          </a:p>
          <a:p>
            <a:r>
              <a:rPr b="0"/>
              <a:t>  ヒアズ ザ </a:t>
            </a:r>
            <a:r>
              <a:rPr b="1"/>
              <a:t>ファン パート</a:t>
            </a:r>
            <a:r>
              <a:rPr b="0"/>
              <a:t>。</a:t>
            </a:r>
          </a:p>
          <a:p>
            <a:r>
              <a:rPr b="0"/>
              <a:t>You show an everyday object to the camera, and that operates the access gate.</a:t>
            </a:r>
          </a:p>
          <a:p>
            <a:r>
              <a:rPr b="0"/>
              <a:t>  ユー ショウ アン エヴリデイ </a:t>
            </a:r>
            <a:r>
              <a:rPr b="1"/>
              <a:t>オブジェクト</a:t>
            </a:r>
            <a:r>
              <a:rPr b="0"/>
              <a:t> トゥ ザ カメラ、 アンド ザット オペレイツ ジ </a:t>
            </a:r>
            <a:r>
              <a:rPr b="1"/>
              <a:t>アクセス ゲイト</a:t>
            </a:r>
            <a:r>
              <a:rPr b="0"/>
              <a:t>。</a:t>
            </a:r>
          </a:p>
          <a:p>
            <a:r>
              <a:rPr b="0"/>
              <a:t>Nothing to type. Nothing that looks like a secret.</a:t>
            </a:r>
          </a:p>
          <a:p>
            <a:r>
              <a:rPr b="0"/>
              <a:t>  </a:t>
            </a:r>
            <a:r>
              <a:rPr b="1"/>
              <a:t>ナッシング</a:t>
            </a:r>
            <a:r>
              <a:rPr b="0"/>
              <a:t> トゥ タイプ。 </a:t>
            </a:r>
            <a:r>
              <a:rPr b="1"/>
              <a:t>ナッシング</a:t>
            </a:r>
            <a:r>
              <a:rPr b="0"/>
              <a:t> ザット ルックス ライク ア シークレット。</a:t>
            </a:r>
          </a:p>
          <a:p>
            <a:r>
              <a:rPr b="0"/>
              <a:t>Now — this is the part people get wrong. So let me be clear.</a:t>
            </a:r>
          </a:p>
          <a:p>
            <a:r>
              <a:rPr b="0"/>
              <a:t>  ナウ — ディス イズ ザ パート ピープル ゲット </a:t>
            </a:r>
            <a:r>
              <a:rPr b="1"/>
              <a:t>ゥロング</a:t>
            </a:r>
            <a:r>
              <a:rPr b="0"/>
              <a:t>。 ソウ レット ミー ビー </a:t>
            </a:r>
            <a:r>
              <a:rPr b="1"/>
              <a:t>クリア</a:t>
            </a:r>
            <a:r>
              <a:rPr b="0"/>
              <a:t>。</a:t>
            </a:r>
          </a:p>
          <a:p>
            <a:r>
              <a:rPr b="0"/>
              <a:t>The object is a cue, not a key.</a:t>
            </a:r>
          </a:p>
          <a:p>
            <a:r>
              <a:rPr b="0"/>
              <a:t>  ジ オブジェクト イズ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</a:t>
            </a:r>
          </a:p>
          <a:p>
            <a:r>
              <a:rPr b="0"/>
              <a:t>It drives operation, and policy checks.</a:t>
            </a:r>
          </a:p>
          <a:p>
            <a:r>
              <a:rPr b="0"/>
              <a:t>  イット ドライヴズ </a:t>
            </a:r>
            <a:r>
              <a:rPr b="1"/>
              <a:t>オペレイション</a:t>
            </a:r>
            <a:r>
              <a:rPr b="0"/>
              <a:t>、 アンド ポリシー チェックス。</a:t>
            </a:r>
          </a:p>
          <a:p>
            <a:r>
              <a:rPr b="0"/>
              <a:t>It is not the encryption key.</a:t>
            </a:r>
          </a:p>
          <a:p>
            <a:r>
              <a:rPr b="0"/>
              <a:t>  イット イズ </a:t>
            </a:r>
            <a:r>
              <a:rPr b="1"/>
              <a:t>ナット</a:t>
            </a:r>
            <a:r>
              <a:rPr b="0"/>
              <a:t> ジ インクリプション キー。</a:t>
            </a:r>
          </a:p>
          <a:p>
            <a:r>
              <a:rPr b="0"/>
              <a:t>A photo of the object unlocks nothing.</a:t>
            </a:r>
          </a:p>
          <a:p>
            <a:r>
              <a:rPr b="0"/>
              <a:t>  ア フォウトウ オヴ ジ オブジェクト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>The crypto stays with Argon2id and AES-GCM.</a:t>
            </a:r>
          </a:p>
          <a:p>
            <a:r>
              <a:rPr b="0"/>
              <a:t>  ザ クリプト ステイズ ウィズ </a:t>
            </a:r>
            <a:r>
              <a:rPr b="1"/>
              <a:t>アーゴン トゥー アイディー</a:t>
            </a:r>
            <a:r>
              <a:rPr b="0"/>
              <a:t> アンド </a:t>
            </a:r>
            <a:r>
              <a:rPr b="1"/>
              <a:t>エイ イー エス ジー シー エム</a:t>
            </a:r>
            <a:r>
              <a:rPr b="0"/>
              <a:t>。</a:t>
            </a:r>
          </a:p>
          <a:p>
            <a:r>
              <a:rPr b="0"/>
              <a:t>The object only decides whether you get to act.</a:t>
            </a:r>
          </a:p>
          <a:p>
            <a:r>
              <a:rPr b="0"/>
              <a:t>  ジ オブジェクト オウンリー ディサイズ ウェザー ユー ゲット トゥ </a:t>
            </a:r>
            <a:r>
              <a:rPr b="1"/>
              <a:t>アクト</a:t>
            </a:r>
            <a:r>
              <a:rPr b="0"/>
              <a:t>。</a:t>
            </a:r>
          </a:p>
          <a:p>
            <a:r>
              <a:rPr b="0"/>
              <a:t>And you’ll watch this fail, live, in a few minutes.</a:t>
            </a:r>
          </a:p>
          <a:p>
            <a:r>
              <a:rPr b="0"/>
              <a:t>  アンド ユール ウォッチ ディス </a:t>
            </a:r>
            <a:r>
              <a:rPr b="1"/>
              <a:t>フェイル</a:t>
            </a:r>
            <a:r>
              <a:rPr b="0"/>
              <a:t>、 </a:t>
            </a:r>
            <a:r>
              <a:rPr b="1"/>
              <a:t>ライヴ</a:t>
            </a:r>
            <a:r>
              <a:rPr b="0"/>
              <a:t>、 イン ア フュー ミニッツ。</a:t>
            </a:r>
          </a:p>
          <a:p>
            <a:r>
              <a:rPr b="0"/>
              <a:t>Same file. Same password. No object.”</a:t>
            </a:r>
          </a:p>
          <a:p>
            <a:r>
              <a:rPr b="0"/>
              <a:t>  セイム ファイル。 セイム パスワード。 </a:t>
            </a:r>
            <a:r>
              <a:rPr b="1"/>
              <a:t>ノウ オブジェクト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SPEAK（決めゼリフ・間を置いて）</a:t>
            </a:r>
          </a:p>
          <a:p>
            <a:r>
              <a:rPr b="0"/>
              <a:t>“A cue, not a key. A photo of it unlocks nothing.”</a:t>
            </a:r>
          </a:p>
          <a:p>
            <a:r>
              <a:rPr b="0"/>
              <a:t> 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 ア フォウトウ オヴ イット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ゆっくり。手元の物体を掲げると効果的。最後の一文で Step 4 を予告する — 実証を約束しておくとデモの山が強くなる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[11:00 / 1:20] COERCION-SAFE DELAYING — 発話 1:20</a:t>
            </a:r>
          </a:p>
          <a:p>
            <a:r>
              <a:rPr b="0"/>
              <a:t/>
            </a:r>
          </a:p>
          <a:p>
            <a:r>
              <a:rPr b="0"/>
              <a:t>“This is what makes it coercion-safe.</a:t>
            </a:r>
          </a:p>
          <a:p>
            <a:r>
              <a:rPr b="0"/>
              <a:t>  ディス イズ ワット メイクス イット </a:t>
            </a:r>
            <a:r>
              <a:rPr b="1"/>
              <a:t>コアージョン セイフ</a:t>
            </a:r>
            <a:r>
              <a:rPr b="0"/>
              <a:t>。</a:t>
            </a:r>
          </a:p>
          <a:p>
            <a:r>
              <a:rPr b="0"/>
              <a:t>First, Silent Standby.</a:t>
            </a:r>
          </a:p>
          <a:p>
            <a:r>
              <a:rPr b="0"/>
              <a:t>  ファースト、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>One hotkey drops the sensitive interface into a harmless state.</a:t>
            </a:r>
          </a:p>
          <a:p>
            <a:r>
              <a:rPr b="0"/>
              <a:t>  ワン ホットキー ドロップス ザ センシティヴ インターフェイス イントゥ ア </a:t>
            </a:r>
            <a:r>
              <a:rPr b="1"/>
              <a:t>ハームレス ステイト</a:t>
            </a:r>
            <a:r>
              <a:rPr b="0"/>
              <a:t>。</a:t>
            </a:r>
          </a:p>
          <a:p>
            <a:r>
              <a:rPr b="0"/>
              <a:t>Coming back needs re-authentication.</a:t>
            </a:r>
          </a:p>
          <a:p>
            <a:r>
              <a:rPr b="0"/>
              <a:t>  カミング バック ニーズ </a:t>
            </a:r>
            <a:r>
              <a:rPr b="1"/>
              <a:t>リーオーセンティケイション</a:t>
            </a:r>
            <a:r>
              <a:rPr b="0"/>
              <a:t>。</a:t>
            </a:r>
          </a:p>
          <a:p>
            <a:r>
              <a:rPr b="0"/>
              <a:t>Second — the material itself. And I want to be exact here.</a:t>
            </a:r>
          </a:p>
          <a:p>
            <a:r>
              <a:rPr b="0"/>
              <a:t>  セカンド — ザ マテリアル </a:t>
            </a:r>
            <a:r>
              <a:rPr b="1"/>
              <a:t>イットセルフ</a:t>
            </a:r>
            <a:r>
              <a:rPr b="0"/>
              <a:t>。 アンド アイ ワナ ビー </a:t>
            </a:r>
            <a:r>
              <a:rPr b="1"/>
              <a:t>イグザクト</a:t>
            </a:r>
            <a:r>
              <a:rPr b="0"/>
              <a:t> ヒア。</a:t>
            </a:r>
          </a:p>
          <a:p>
            <a:r>
              <a:rPr b="0"/>
              <a:t>The file you would hand over is a file you wrote and stored yourself.</a:t>
            </a:r>
          </a:p>
          <a:p>
            <a:r>
              <a:rPr b="0"/>
              <a:t>  ザ ファイル ユー ウド ハンド オウヴァー イズ ア ファイル ユー </a:t>
            </a:r>
            <a:r>
              <a:rPr b="1"/>
              <a:t>ロウト アンド ストード ユアセルフ</a:t>
            </a:r>
            <a:r>
              <a:rPr b="0"/>
              <a:t>。</a:t>
            </a:r>
          </a:p>
          <a:p>
            <a:r>
              <a:rPr b="0"/>
              <a:t>Before any coercion.</a:t>
            </a:r>
          </a:p>
          <a:p>
            <a:r>
              <a:rPr b="0"/>
              <a:t>  ビフォー </a:t>
            </a:r>
            <a:r>
              <a:rPr b="1"/>
              <a:t>エニー</a:t>
            </a:r>
            <a:r>
              <a:rPr b="0"/>
              <a:t> コアージョン。</a:t>
            </a:r>
          </a:p>
          <a:p>
            <a:r>
              <a:rPr b="0"/>
              <a:t>Phasmid does not manufacture your cover story.</a:t>
            </a:r>
          </a:p>
          <a:p>
            <a:r>
              <a:rPr b="0"/>
              <a:t>  ファズミッド ダズ </a:t>
            </a:r>
            <a:r>
              <a:rPr b="1"/>
              <a:t>ナット</a:t>
            </a:r>
            <a:r>
              <a:rPr b="0"/>
              <a:t> マニュファクチャー ユア カヴァー ストーリー。</a:t>
            </a:r>
          </a:p>
          <a:p>
            <a:r>
              <a:rPr b="0"/>
              <a:t>Generated data would not survive five minutes of questioning.</a:t>
            </a:r>
          </a:p>
          <a:p>
            <a:r>
              <a:rPr b="0"/>
              <a:t>  ジェネレイティッド データ ウド ナット </a:t>
            </a:r>
            <a:r>
              <a:rPr b="1"/>
              <a:t>サヴァイヴ</a:t>
            </a:r>
            <a:r>
              <a:rPr b="0"/>
              <a:t> ファイヴ ミニッツ オヴ クエスチョニング。</a:t>
            </a:r>
          </a:p>
          <a:p>
            <a:r>
              <a:rPr b="0"/>
              <a:t>Not from someone holding your passport.</a:t>
            </a:r>
          </a:p>
          <a:p>
            <a:r>
              <a:rPr b="0"/>
              <a:t>  ナット フロム サムワン ホウルディング ユア </a:t>
            </a:r>
            <a:r>
              <a:rPr b="1"/>
              <a:t>パスポート</a:t>
            </a:r>
            <a:r>
              <a:rPr b="0"/>
              <a:t>。</a:t>
            </a:r>
          </a:p>
          <a:p>
            <a:r>
              <a:rPr b="0"/>
              <a:t>Realism has to come from your own material — not from my random-text generator.</a:t>
            </a:r>
          </a:p>
          <a:p>
            <a:r>
              <a:rPr b="0"/>
              <a:t>  </a:t>
            </a:r>
            <a:r>
              <a:rPr b="1"/>
              <a:t>リアリズム</a:t>
            </a:r>
            <a:r>
              <a:rPr b="0"/>
              <a:t> ハズ トゥ カム フロム ユア オウン マテリアル — ナット フロム マイ ランダムテクスト ジェネレイター。</a:t>
            </a:r>
          </a:p>
          <a:p>
            <a:r>
              <a:rPr b="0"/>
              <a:t>What the tool does give you is filler.</a:t>
            </a:r>
          </a:p>
          <a:p>
            <a:r>
              <a:rPr b="0"/>
              <a:t>  ワット ザ ツール ダズ ギヴ ユー イズ </a:t>
            </a:r>
            <a:r>
              <a:rPr b="1"/>
              <a:t>フィラー</a:t>
            </a:r>
            <a:r>
              <a:rPr b="0"/>
              <a:t>。</a:t>
            </a:r>
          </a:p>
          <a:p>
            <a:r>
              <a:rPr b="0"/>
              <a:t>It occupies free space, so an empty container doesn’t read as empty.</a:t>
            </a:r>
          </a:p>
          <a:p>
            <a:r>
              <a:rPr b="0"/>
              <a:t>  イット オキュパイズ </a:t>
            </a:r>
            <a:r>
              <a:rPr b="1"/>
              <a:t>フリー スペイス</a:t>
            </a:r>
            <a:r>
              <a:rPr b="0"/>
              <a:t>、 ソウ アン エンプティ コンテナ ダズント リード アズ </a:t>
            </a:r>
            <a:r>
              <a:rPr b="1"/>
              <a:t>エンプティ</a:t>
            </a:r>
            <a:r>
              <a:rPr b="0"/>
              <a:t>。</a:t>
            </a:r>
          </a:p>
          <a:p>
            <a:r>
              <a:rPr b="0"/>
              <a:t>That’s a volume problem. And volume is something software can actually solve.</a:t>
            </a:r>
          </a:p>
          <a:p>
            <a:r>
              <a:rPr b="0"/>
              <a:t>  ザッツ ア </a:t>
            </a:r>
            <a:r>
              <a:rPr b="1"/>
              <a:t>ヴォリューム プロブレム</a:t>
            </a:r>
            <a:r>
              <a:rPr b="0"/>
              <a:t>。 アンド ヴォリューム イズ サムシング ソフトウェア キャン </a:t>
            </a:r>
            <a:r>
              <a:rPr b="1"/>
              <a:t>アクチュアリー ソルヴ</a:t>
            </a:r>
            <a:r>
              <a:rPr b="0"/>
              <a:t>。</a:t>
            </a:r>
          </a:p>
          <a:p>
            <a:r>
              <a:rPr b="0"/>
              <a:t>Third — context profiles. Travel. Field engineer. Researcher.</a:t>
            </a:r>
          </a:p>
          <a:p>
            <a:r>
              <a:rPr b="0"/>
              <a:t>  サード — </a:t>
            </a:r>
            <a:r>
              <a:rPr b="1"/>
              <a:t>コンテクスト プロウファイルズ</a:t>
            </a:r>
            <a:r>
              <a:rPr b="0"/>
              <a:t>。 トラヴル。 フィールド エンジニア。 リサーチャー。</a:t>
            </a:r>
          </a:p>
          <a:p>
            <a:r>
              <a:rPr b="0"/>
              <a:t>They tell you what ‘normal’ should look like, so you know what to prepare.</a:t>
            </a:r>
          </a:p>
          <a:p>
            <a:r>
              <a:rPr b="0"/>
              <a:t>  ゼイ テル ユー ワット </a:t>
            </a:r>
            <a:r>
              <a:rPr b="1"/>
              <a:t>ノーマル</a:t>
            </a:r>
            <a:r>
              <a:rPr b="0"/>
              <a:t> シュド ルック ライク、 ソウ ユー ノウ ワット トゥ プリペア。</a:t>
            </a:r>
          </a:p>
          <a:p>
            <a:r>
              <a:rPr b="0"/>
              <a:t>And in coercion-safe mode, a low-confidence match goes to the disclosure face, instead of failing loudly.</a:t>
            </a:r>
          </a:p>
          <a:p>
            <a:r>
              <a:rPr b="0"/>
              <a:t>  アンド イン コアージョンセイフ モウド、 ア ロウ コンフィデンス マッチ ゴウズ トゥ ザ </a:t>
            </a:r>
            <a:r>
              <a:rPr b="1"/>
              <a:t>ディスクロージャー フェイス</a:t>
            </a:r>
            <a:r>
              <a:rPr b="0"/>
              <a:t>、 インステッド オヴ フェイリング ラウドリー。</a:t>
            </a:r>
          </a:p>
          <a:p>
            <a:r>
              <a:rPr b="0"/>
              <a:t>The goal isn’t magic invisibility.</a:t>
            </a:r>
          </a:p>
          <a:p>
            <a:r>
              <a:rPr b="0"/>
              <a:t>  ザ ゴウル イズント </a:t>
            </a:r>
            <a:r>
              <a:rPr b="1"/>
              <a:t>マジック インヴィジビリティ</a:t>
            </a:r>
            <a:r>
              <a:rPr b="0"/>
              <a:t>。</a:t>
            </a:r>
          </a:p>
          <a:p>
            <a:r>
              <a:rPr b="0"/>
              <a:t>The goal is uncertainty, and delay.”</a:t>
            </a:r>
          </a:p>
          <a:p>
            <a:r>
              <a:rPr b="0"/>
              <a:t>  ザ ゴウル イズ </a:t>
            </a:r>
            <a:r>
              <a:rPr b="1"/>
              <a:t>アンサートゥンティ</a:t>
            </a:r>
            <a:r>
              <a:rPr b="0"/>
              <a:t>、 アンド </a:t>
            </a:r>
            <a:r>
              <a:rPr b="1"/>
              <a:t>ディレイ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本トークで最も誤解されやすい点。「ツールが囮を作る」と思われた瞬間に設計の真実味が全部落ちる。「囮は利用者が用意する」と「填充は空き領域対策に過ぎない」を分けて言い切る。Silent Standby はデモで見せると予告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[12:20 / 0:45] DESIGN PRINCIPLES — 発話 0:15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“The design principle is restraint.</a:t>
            </a:r>
          </a:p>
          <a:p>
            <a:r>
              <a:rPr b="0"/>
              <a:t>  ザ デザイン プリンシプル イズ </a:t>
            </a:r>
            <a:r>
              <a:rPr b="1"/>
              <a:t>リストレイント</a:t>
            </a:r>
            <a:r>
              <a:rPr b="0"/>
              <a:t>。</a:t>
            </a:r>
          </a:p>
          <a:p>
            <a:r>
              <a:rPr b="0"/>
              <a:t>The vault file alone isn’t meant to be enough.</a:t>
            </a:r>
          </a:p>
          <a:p>
            <a:r>
              <a:rPr b="0"/>
              <a:t>  ザ ヴォルト ファイル </a:t>
            </a:r>
            <a:r>
              <a:rPr b="1"/>
              <a:t>アロウン</a:t>
            </a:r>
            <a:r>
              <a:rPr b="0"/>
              <a:t> イズント メント トゥ ビー イナフ。</a:t>
            </a:r>
          </a:p>
          <a:p>
            <a:r>
              <a:rPr b="0"/>
              <a:t>Normal flows don’t reveal structure, or recovery.</a:t>
            </a:r>
          </a:p>
          <a:p>
            <a:r>
              <a:rPr b="0"/>
              <a:t>  ノーマル フロウズ ドウント </a:t>
            </a:r>
            <a:r>
              <a:rPr b="1"/>
              <a:t>リヴィール</a:t>
            </a:r>
            <a:r>
              <a:rPr b="0"/>
              <a:t> ストラクチャー、 オア リカヴァリー。</a:t>
            </a:r>
          </a:p>
          <a:p>
            <a:r>
              <a:rPr b="0"/>
              <a:t>And metadata reduction is best-effort. Support — not sanitization.</a:t>
            </a:r>
          </a:p>
          <a:p>
            <a:r>
              <a:rPr b="0"/>
              <a:t>  アンド メタデータ リダクション イズ </a:t>
            </a:r>
            <a:r>
              <a:rPr b="1"/>
              <a:t>ベスト エフォート</a:t>
            </a:r>
            <a:r>
              <a:rPr b="0"/>
              <a:t>。 サポート — </a:t>
            </a:r>
            <a:r>
              <a:rPr b="1"/>
              <a:t>ナット</a:t>
            </a:r>
            <a:r>
              <a:rPr b="0"/>
              <a:t> サニタイゼイション。</a:t>
            </a:r>
          </a:p>
          <a:p>
            <a:r>
              <a:rPr b="0"/>
              <a:t/>
            </a:r>
          </a:p>
          <a:p>
            <a:r>
              <a:rPr b="0"/>
              <a:t>JA: 4ステップを順に指す。デモの地図と予告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[13:05 / 0:45] OPERATING FLOW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Operationally, it’s four steps.</a:t>
            </a:r>
          </a:p>
          <a:p>
            <a:r>
              <a:rPr b="0"/>
              <a:t>  オペレイショナリー、 イッツ </a:t>
            </a:r>
            <a:r>
              <a:rPr b="1"/>
              <a:t>フォー ステップス</a:t>
            </a:r>
            <a:r>
              <a:rPr b="0"/>
              <a:t>。</a:t>
            </a:r>
          </a:p>
          <a:p>
            <a:r>
              <a:rPr b="0"/>
              <a:t>Prepare a vessel.</a:t>
            </a:r>
          </a:p>
          <a:p>
            <a:r>
              <a:rPr b="0"/>
              <a:t>  </a:t>
            </a:r>
            <a:r>
              <a:rPr b="1"/>
              <a:t>プリペア</a:t>
            </a:r>
            <a:r>
              <a:rPr b="0"/>
              <a:t> ア ヴェッセル。</a:t>
            </a:r>
          </a:p>
          <a:p>
            <a:r>
              <a:rPr b="0"/>
              <a:t>Bind it — to local state, and to the object cue.</a:t>
            </a:r>
          </a:p>
          <a:p>
            <a:r>
              <a:rPr b="0"/>
              <a:t>  </a:t>
            </a:r>
            <a:r>
              <a:rPr b="1"/>
              <a:t>バインド</a:t>
            </a:r>
            <a:r>
              <a:rPr b="0"/>
              <a:t> イット — トゥ ローカル ステイト、 アンド トゥ ジ オブジェクト キュー。</a:t>
            </a:r>
          </a:p>
          <a:p>
            <a:r>
              <a:rPr b="0"/>
              <a:t>Operate it — through the CLI, the TUI, or the local web interface.</a:t>
            </a:r>
          </a:p>
          <a:p>
            <a:r>
              <a:rPr b="0"/>
              <a:t>  </a:t>
            </a:r>
            <a:r>
              <a:rPr b="1"/>
              <a:t>オペレイト</a:t>
            </a:r>
            <a:r>
              <a:rPr b="0"/>
              <a:t> イット — スルー ザ シー エル アイ、 ザ ティー ユー アイ、 オア ザ ローカル ウェブ インターフェイス。</a:t>
            </a:r>
          </a:p>
          <a:p>
            <a:r>
              <a:rPr b="0"/>
              <a:t>Disclose — controlled, under documented assumptions.</a:t>
            </a:r>
          </a:p>
          <a:p>
            <a:r>
              <a:rPr b="0"/>
              <a:t>  </a:t>
            </a:r>
            <a:r>
              <a:rPr b="1"/>
              <a:t>ディスクロウズ</a:t>
            </a:r>
            <a:r>
              <a:rPr b="0"/>
              <a:t> — コントロールド、 アンダー ドキュメンティッド アサンプションズ。</a:t>
            </a:r>
          </a:p>
          <a:p>
            <a:r>
              <a:rPr b="0"/>
              <a:t>Keep those four in your head. They’re the map for the demo.”</a:t>
            </a:r>
          </a:p>
          <a:p>
            <a:r>
              <a:rPr b="0"/>
              <a:t>  キープ ゾウズ </a:t>
            </a:r>
            <a:r>
              <a:rPr b="1"/>
              <a:t>フォー</a:t>
            </a:r>
            <a:r>
              <a:rPr b="0"/>
              <a:t> イン ユア ヘッド。 ゼア ザ </a:t>
            </a:r>
            <a:r>
              <a:rPr b="1"/>
              <a:t>マップ</a:t>
            </a:r>
            <a:r>
              <a:rPr b="0"/>
              <a:t> フォー ザ デモ。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[13:50 / 0:50] TECH — 発話 0:25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“Small. Local. Boring by design.</a:t>
            </a:r>
          </a:p>
          <a:p>
            <a:r>
              <a:rPr b="0"/>
              <a:t>  </a:t>
            </a:r>
            <a:r>
              <a:rPr b="1"/>
              <a:t>スモール</a:t>
            </a:r>
            <a:r>
              <a:rPr b="0"/>
              <a:t>。 </a:t>
            </a:r>
            <a:r>
              <a:rPr b="1"/>
              <a:t>ローカル</a:t>
            </a:r>
            <a:r>
              <a:rPr b="0"/>
              <a:t>。 </a:t>
            </a:r>
            <a:r>
              <a:rPr b="1"/>
              <a:t>ボーリング</a:t>
            </a:r>
            <a:r>
              <a:rPr b="0"/>
              <a:t> バイ デザイン。</a:t>
            </a:r>
          </a:p>
          <a:p>
            <a:r>
              <a:rPr b="0"/>
              <a:t>Argon2id for key derivation.</a:t>
            </a:r>
          </a:p>
          <a:p>
            <a:r>
              <a:rPr b="0"/>
              <a:t>  </a:t>
            </a:r>
            <a:r>
              <a:rPr b="1"/>
              <a:t>アーゴン トゥー アイディー</a:t>
            </a:r>
            <a:r>
              <a:rPr b="0"/>
              <a:t> フォー キー デリヴェイション。</a:t>
            </a:r>
          </a:p>
          <a:p>
            <a:r>
              <a:rPr b="0"/>
              <a:t>AES-GCM for authenticated encryption.</a:t>
            </a:r>
          </a:p>
          <a:p>
            <a:r>
              <a:rPr b="0"/>
              <a:t>  </a:t>
            </a:r>
            <a:r>
              <a:rPr b="1"/>
              <a:t>エイ イー エス ジー シー エム</a:t>
            </a:r>
            <a:r>
              <a:rPr b="0"/>
              <a:t> フォー オーセンティケイティッド インクリプション。</a:t>
            </a:r>
          </a:p>
          <a:p>
            <a:r>
              <a:rPr b="0"/>
              <a:t>The web interface bound to localhost.</a:t>
            </a:r>
          </a:p>
          <a:p>
            <a:r>
              <a:rPr b="0"/>
              <a:t>  ザ ウェブ インターフェイス バウンド トゥ </a:t>
            </a:r>
            <a:r>
              <a:rPr b="1"/>
              <a:t>ローカルホウスト</a:t>
            </a:r>
            <a:r>
              <a:rPr b="0"/>
              <a:t>。</a:t>
            </a:r>
          </a:p>
          <a:p>
            <a:r>
              <a:rPr b="0"/>
              <a:t>All of it on a Pi Zero 2 W.</a:t>
            </a:r>
          </a:p>
          <a:p>
            <a:r>
              <a:rPr b="0"/>
              <a:t>  オール オヴ イット オン ア </a:t>
            </a:r>
            <a:r>
              <a:rPr b="1"/>
              <a:t>パイ ズィーロウ トゥー ダブリュー</a:t>
            </a:r>
            <a:r>
              <a:rPr b="0"/>
              <a:t>。</a:t>
            </a:r>
          </a:p>
          <a:p>
            <a:r>
              <a:rPr b="0"/>
              <a:t>Parameters tuned for that little board. Per-record encryption. No plaintext header.</a:t>
            </a:r>
          </a:p>
          <a:p>
            <a:r>
              <a:rPr b="0"/>
              <a:t>  パラミターズ </a:t>
            </a:r>
            <a:r>
              <a:rPr b="1"/>
              <a:t>チューンド</a:t>
            </a:r>
            <a:r>
              <a:rPr b="0"/>
              <a:t> フォー ザット リトル ボード。 パーレコード インクリプション。 </a:t>
            </a:r>
            <a:r>
              <a:rPr b="1"/>
              <a:t>ノウ プレインテクスト ヘダー</a:t>
            </a:r>
            <a:r>
              <a:rPr b="0"/>
              <a:t>。</a:t>
            </a:r>
          </a:p>
          <a:p>
            <a:r>
              <a:rPr b="0"/>
              <a:t>Boring is good. Boring is auditable.”</a:t>
            </a:r>
          </a:p>
          <a:p>
            <a:r>
              <a:rPr b="0"/>
              <a:t>  ボーリング イズ </a:t>
            </a:r>
            <a:r>
              <a:rPr b="1"/>
              <a:t>グッド</a:t>
            </a:r>
            <a:r>
              <a:rPr b="0"/>
              <a:t>。 ボーリング イズ </a:t>
            </a:r>
            <a:r>
              <a:rPr b="1"/>
              <a:t>オーディタブル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数値は帯を指す程度。詳細は次 /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[14:40 / 1:00] FIELD HARDWARE  ★エンゲージ — 発話 0:30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“And here’s the actual thing.</a:t>
            </a:r>
          </a:p>
          <a:p>
            <a:r>
              <a:rPr b="0"/>
              <a:t>  アンド ヒアズ ジ </a:t>
            </a:r>
            <a:r>
              <a:rPr b="1"/>
              <a:t>アクチュアル シング</a:t>
            </a:r>
            <a:r>
              <a:rPr b="0"/>
              <a:t>。</a:t>
            </a:r>
          </a:p>
          <a:p>
            <a:r>
              <a:rPr b="0"/>
              <a:t>A Pi Zero 2 W, in a 3D-printed case.</a:t>
            </a:r>
          </a:p>
          <a:p>
            <a:r>
              <a:rPr b="0"/>
              <a:t>  ア パイ ズィーロウ トゥー ダブリュー、 イン ア </a:t>
            </a:r>
            <a:r>
              <a:rPr b="1"/>
              <a:t>スリーディー プリンティッド ケイス</a:t>
            </a:r>
            <a:r>
              <a:rPr b="0"/>
              <a:t>。</a:t>
            </a:r>
          </a:p>
          <a:p>
            <a:r>
              <a:rPr b="0"/>
              <a:t>A camera for the object cue. On a small tripod.</a:t>
            </a:r>
          </a:p>
          <a:p>
            <a:r>
              <a:rPr b="0"/>
              <a:t>  ア </a:t>
            </a:r>
            <a:r>
              <a:rPr b="1"/>
              <a:t>カメラ</a:t>
            </a:r>
            <a:r>
              <a:rPr b="0"/>
              <a:t> フォー ジ オブジェクト キュー。 オン ア スモール </a:t>
            </a:r>
            <a:r>
              <a:rPr b="1"/>
              <a:t>トライポッド</a:t>
            </a:r>
            <a:r>
              <a:rPr b="0"/>
              <a:t>。</a:t>
            </a:r>
          </a:p>
          <a:p>
            <a:r>
              <a:rPr b="0"/>
              <a:t>You reach the web interface over USB, at localhost.</a:t>
            </a:r>
          </a:p>
          <a:p>
            <a:r>
              <a:rPr b="0"/>
              <a:t>  ユー リーチ ザ ウェブ インターフェイス オウヴァー </a:t>
            </a:r>
            <a:r>
              <a:rPr b="1"/>
              <a:t>ユー エス ビー</a:t>
            </a:r>
            <a:r>
              <a:rPr b="0"/>
              <a:t>、 アット ローカルホウスト。</a:t>
            </a:r>
          </a:p>
          <a:p>
            <a:r>
              <a:rPr b="0"/>
              <a:t>It never touches a network.</a:t>
            </a:r>
          </a:p>
          <a:p>
            <a:r>
              <a:rPr b="0"/>
              <a:t>  イット </a:t>
            </a:r>
            <a:r>
              <a:rPr b="1"/>
              <a:t>ネヴァー</a:t>
            </a:r>
            <a:r>
              <a:rPr b="0"/>
              <a:t> タッチィズ ア ネットワーク。</a:t>
            </a:r>
          </a:p>
          <a:p>
            <a:r>
              <a:rPr b="0"/>
              <a:t>It’s meant to read as an unremarkable little gadget.</a:t>
            </a:r>
          </a:p>
          <a:p>
            <a:r>
              <a:rPr b="0"/>
              <a:t>  イッツ メント トゥ リード アズ アン アンリマーカブル リトル </a:t>
            </a:r>
            <a:r>
              <a:rPr b="1"/>
              <a:t>ガジェット</a:t>
            </a:r>
            <a:r>
              <a:rPr b="0"/>
              <a:t>。</a:t>
            </a:r>
          </a:p>
          <a:p>
            <a:r>
              <a:rPr b="0"/>
              <a:t>And it’s right here on the table.</a:t>
            </a:r>
          </a:p>
          <a:p>
            <a:r>
              <a:rPr b="0"/>
              <a:t>  アンド イッツ </a:t>
            </a:r>
            <a:r>
              <a:rPr b="1"/>
              <a:t>ゥライト ヒア</a:t>
            </a:r>
            <a:r>
              <a:rPr b="0"/>
              <a:t> オン ザ テイブル。</a:t>
            </a:r>
          </a:p>
          <a:p>
            <a:r>
              <a:rPr b="0"/>
              <a:t>Come and look — and try it — after the talk.”</a:t>
            </a:r>
          </a:p>
          <a:p>
            <a:r>
              <a:rPr b="0"/>
              <a:t>  </a:t>
            </a:r>
            <a:r>
              <a:rPr b="1"/>
              <a:t>カム アンド ルック</a:t>
            </a:r>
            <a:r>
              <a:rPr b="0"/>
              <a:t> — アンド </a:t>
            </a:r>
            <a:r>
              <a:rPr b="1"/>
              <a:t>トライ イット</a:t>
            </a:r>
            <a:r>
              <a:rPr b="0"/>
              <a:t> — アフター ザ トーク。</a:t>
            </a:r>
          </a:p>
          <a:p>
            <a:r>
              <a:rPr b="0"/>
              <a:t/>
            </a:r>
          </a:p>
          <a:p>
            <a:r>
              <a:rPr b="0"/>
              <a:t>JA: 「ただの小さなガジェットに見える」を強調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[15:40 / 0:45] CRYPTO CORE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“For the crypto people.</a:t>
            </a:r>
          </a:p>
          <a:p>
            <a:r>
              <a:rPr b="0"/>
              <a:t>  フォー ザ </a:t>
            </a:r>
            <a:r>
              <a:rPr b="1"/>
              <a:t>クリプト ピープル</a:t>
            </a:r>
            <a:r>
              <a:rPr b="0"/>
              <a:t>。</a:t>
            </a:r>
          </a:p>
          <a:p>
            <a:r>
              <a:rPr b="0"/>
              <a:t>Argon2id, with local access-key material mixed in, and device binding.</a:t>
            </a:r>
          </a:p>
          <a:p>
            <a:r>
              <a:rPr b="0"/>
              <a:t>  アーゴン トゥー アイディー、 ウィズ </a:t>
            </a:r>
            <a:r>
              <a:rPr b="1"/>
              <a:t>ローカル アクセスキー マテリアル</a:t>
            </a:r>
            <a:r>
              <a:rPr b="0"/>
              <a:t> ミクスト イン、 アンド デバイス バインディング。</a:t>
            </a:r>
          </a:p>
          <a:p>
            <a:r>
              <a:rPr b="0"/>
              <a:t>An optional external secret, as a third factor.</a:t>
            </a:r>
          </a:p>
          <a:p>
            <a:r>
              <a:rPr b="0"/>
              <a:t>  アン オプショナル エクスターナル </a:t>
            </a:r>
            <a:r>
              <a:rPr b="1"/>
              <a:t>シークレット</a:t>
            </a:r>
            <a:r>
              <a:rPr b="0"/>
              <a:t>、 アズ ア </a:t>
            </a:r>
            <a:r>
              <a:rPr b="1"/>
              <a:t>サード ファクター</a:t>
            </a:r>
            <a:r>
              <a:rPr b="0"/>
              <a:t>。</a:t>
            </a:r>
          </a:p>
          <a:p>
            <a:r>
              <a:rPr b="0"/>
              <a:t>AES-GCM per record, with authenticated metadata.</a:t>
            </a:r>
          </a:p>
          <a:p>
            <a:r>
              <a:rPr b="0"/>
              <a:t>  エイ イー エス ジー シー エム パー </a:t>
            </a:r>
            <a:r>
              <a:rPr b="1"/>
              <a:t>レコード</a:t>
            </a:r>
            <a:r>
              <a:rPr b="0"/>
              <a:t>、 ウィズ オーセンティケイティッド メタデータ。</a:t>
            </a:r>
          </a:p>
          <a:p>
            <a:r>
              <a:rPr b="0"/>
              <a:t>No plaintext marker in the vault.</a:t>
            </a:r>
          </a:p>
          <a:p>
            <a:r>
              <a:rPr b="0"/>
              <a:t>  </a:t>
            </a:r>
            <a:r>
              <a:rPr b="1"/>
              <a:t>ノウ プレインテクスト マーカー</a:t>
            </a:r>
            <a:r>
              <a:rPr b="0"/>
              <a:t> イン ザ ヴォルト。</a:t>
            </a:r>
          </a:p>
          <a:p>
            <a:r>
              <a:rPr b="0"/>
              <a:t>Startup self-tests check the primitives first.</a:t>
            </a:r>
          </a:p>
          <a:p>
            <a:r>
              <a:rPr b="0"/>
              <a:t>  スタートアップ セルフテスツ チェック ザ プリミティヴズ </a:t>
            </a:r>
            <a:r>
              <a:rPr b="1"/>
              <a:t>ファースト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全部読まない。左列を指す。個別値は Q&amp;A 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[16:25 / 0:40] OPERATIONAL GUARDS — 発話 0:20</a:t>
            </a:r>
            <a:endParaRPr lang="en-US" dirty="0"/>
          </a:p>
          <a:p>
            <a:r>
              <a:rPr b="0"/>
              <a:t/>
            </a:r>
          </a:p>
          <a:p>
            <a:r>
              <a:rPr b="0"/>
              <a:t>And the web interface is hardened — not an afterthought.</a:t>
            </a:r>
          </a:p>
          <a:p>
            <a:r>
              <a:rPr b="0"/>
              <a:t>  アンド ザ ウェブ インターフェイス イズ </a:t>
            </a:r>
            <a:r>
              <a:rPr b="1"/>
              <a:t>ハードゥンド</a:t>
            </a:r>
            <a:r>
              <a:rPr b="0"/>
              <a:t> — ナット アン アフターソート。</a:t>
            </a:r>
          </a:p>
          <a:p>
            <a:r>
              <a:rPr b="0"/>
              <a:t>Localhost binding. Per-process tokens.</a:t>
            </a:r>
          </a:p>
          <a:p>
            <a:r>
              <a:rPr b="0"/>
              <a:t>  ローカルホウスト バインディング。 パープロセス トウクンズ。</a:t>
            </a:r>
          </a:p>
          <a:p>
            <a:r>
              <a:rPr b="0"/>
              <a:t>A restricted-confirmation session: HttpOnly, and short-lived.</a:t>
            </a:r>
          </a:p>
          <a:p>
            <a:r>
              <a:rPr b="0"/>
              <a:t>  ア リストリクティッド コンファメイション セッション: </a:t>
            </a:r>
            <a:r>
              <a:rPr b="1"/>
              <a:t>エイチ ティー ティー ピー オウンリー</a:t>
            </a:r>
            <a:r>
              <a:rPr b="0"/>
              <a:t>、 アンド ショートリヴド。</a:t>
            </a:r>
          </a:p>
          <a:p>
            <a:r>
              <a:rPr b="0"/>
              <a:t>Attempt limiting. Rate limiting. Inactivity auto-kill. Hardened headers.</a:t>
            </a:r>
          </a:p>
          <a:p>
            <a:r>
              <a:rPr b="0"/>
              <a:t>  アテンプト リミティング。 レイト リミティング。 インアクティヴィティ オートキル。 ハードゥンド ヘダーズ。</a:t>
            </a:r>
          </a:p>
          <a:p>
            <a:r>
              <a:rPr b="0"/>
              <a:t>And an opt-in, HMAC-chained audit log.</a:t>
            </a:r>
          </a:p>
          <a:p>
            <a:r>
              <a:rPr b="0"/>
              <a:t>  アンド アン オプトイン、 </a:t>
            </a:r>
            <a:r>
              <a:rPr b="1"/>
              <a:t>エイチマック チェインド オーディット ログ</a:t>
            </a:r>
            <a:r>
              <a:rPr b="0"/>
              <a:t>。</a:t>
            </a:r>
          </a:p>
          <a:p>
            <a:r>
              <a:rPr b="0"/>
              <a:t>Happy to go deep in Q and A.”</a:t>
            </a:r>
          </a:p>
          <a:p>
            <a:r>
              <a:rPr b="0"/>
              <a:t>  ハッピー トゥ ゴウ </a:t>
            </a:r>
            <a:r>
              <a:rPr b="1"/>
              <a:t>ディープ</a:t>
            </a:r>
            <a:r>
              <a:rPr b="0"/>
              <a:t> イン キュー アンド エイ。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[17:05 / 1:10] DESIGN ETHICS  ★倫理 — 発話 0:30</a:t>
            </a:r>
          </a:p>
          <a:p>
            <a:r>
              <a:rPr b="0"/>
              <a:t/>
            </a:r>
          </a:p>
          <a:p>
            <a:r>
              <a:rPr b="0"/>
              <a:t>“Now the ethics. And this matters — especially in this room.</a:t>
            </a:r>
          </a:p>
          <a:p>
            <a:r>
              <a:rPr b="0"/>
              <a:t>  ナウ ジ </a:t>
            </a:r>
            <a:r>
              <a:rPr b="1"/>
              <a:t>エシックス</a:t>
            </a:r>
            <a:r>
              <a:rPr b="0"/>
              <a:t>。 アンド ディス </a:t>
            </a:r>
            <a:r>
              <a:rPr b="1"/>
              <a:t>マターズ</a:t>
            </a:r>
            <a:r>
              <a:rPr b="0"/>
              <a:t> — イスペシャリー イン ディス ルーム。</a:t>
            </a:r>
          </a:p>
          <a:p>
            <a:r>
              <a:rPr b="0"/>
              <a:t>Phasmid allows plausible controlled disclosure.</a:t>
            </a:r>
          </a:p>
          <a:p>
            <a:r>
              <a:rPr b="0"/>
              <a:t>  ファズミッド </a:t>
            </a:r>
            <a:r>
              <a:rPr b="1"/>
              <a:t>アラウズ</a:t>
            </a:r>
            <a:r>
              <a:rPr b="0"/>
              <a:t> プローザブル コントロールド ディスクロージャー。</a:t>
            </a:r>
          </a:p>
          <a:p>
            <a:r>
              <a:rPr b="0"/>
              <a:t>Standby. Workflows that preserve ambiguity.</a:t>
            </a:r>
          </a:p>
          <a:p>
            <a:r>
              <a:rPr b="0"/>
              <a:t>  スタンドバイ。 ワークフロウズ ザット プリザーヴ </a:t>
            </a:r>
            <a:r>
              <a:rPr b="1"/>
              <a:t>アンビギューイティ</a:t>
            </a:r>
            <a:r>
              <a:rPr b="0"/>
              <a:t>。</a:t>
            </a:r>
          </a:p>
          <a:p>
            <a:r>
              <a:rPr b="0"/>
              <a:t>It explicitly disallows rootkits. Kernel-level hiding.</a:t>
            </a:r>
          </a:p>
          <a:p>
            <a:r>
              <a:rPr b="0"/>
              <a:t>  イット エクスプリシットリー </a:t>
            </a:r>
            <a:r>
              <a:rPr b="1"/>
              <a:t>ディサラウズ</a:t>
            </a:r>
            <a:r>
              <a:rPr b="0"/>
              <a:t> ルートキッツ。 カーネルレヴル ハイディング。</a:t>
            </a:r>
          </a:p>
          <a:p>
            <a:r>
              <a:rPr b="0"/>
              <a:t>Anti-forensic destruction. Forensic-tool bypass.</a:t>
            </a:r>
          </a:p>
          <a:p>
            <a:r>
              <a:rPr b="0"/>
              <a:t>  アンティフォレンシック ディストラクション。 フォレンシック ツール バイパス。</a:t>
            </a:r>
          </a:p>
          <a:p>
            <a:r>
              <a:rPr b="0"/>
              <a:t>And fabricating false events, or false timestamps.</a:t>
            </a:r>
          </a:p>
          <a:p>
            <a:r>
              <a:rPr b="0"/>
              <a:t>  アンド </a:t>
            </a:r>
            <a:r>
              <a:rPr b="1"/>
              <a:t>ファブリケイティング</a:t>
            </a:r>
            <a:r>
              <a:rPr b="0"/>
              <a:t> フォルス イヴェンツ、 オア フォルス タイムスタンプス。</a:t>
            </a:r>
          </a:p>
          <a:p>
            <a:r>
              <a:rPr b="0"/>
              <a:t>It increases uncertainty. It delays a confident conclusion.</a:t>
            </a:r>
          </a:p>
          <a:p>
            <a:r>
              <a:rPr b="0"/>
              <a:t>  イット </a:t>
            </a:r>
            <a:r>
              <a:rPr b="1"/>
              <a:t>インクリーシズ</a:t>
            </a:r>
            <a:r>
              <a:rPr b="0"/>
              <a:t> アンサートゥンティ。 イット </a:t>
            </a:r>
            <a:r>
              <a:rPr b="1"/>
              <a:t>ディレイズ</a:t>
            </a:r>
            <a:r>
              <a:rPr b="0"/>
              <a:t> ア コンフィデント コンクルージョン。</a:t>
            </a:r>
          </a:p>
          <a:p>
            <a:r>
              <a:rPr b="0"/>
              <a:t>It does not claim forensic invisibility.</a:t>
            </a:r>
          </a:p>
          <a:p>
            <a:r>
              <a:rPr b="0"/>
              <a:t>  イット ダズ </a:t>
            </a:r>
            <a:r>
              <a:rPr b="1"/>
              <a:t>ナット</a:t>
            </a:r>
            <a:r>
              <a:rPr b="0"/>
              <a:t> クレイム フォレンシック インヴィジビリティ。</a:t>
            </a:r>
          </a:p>
          <a:p>
            <a:r>
              <a:rPr b="0"/>
              <a:t>That line is deliberate. And it’s in the code.”</a:t>
            </a:r>
          </a:p>
          <a:p>
            <a:r>
              <a:rPr b="0"/>
              <a:t>  ザット ライン イズ </a:t>
            </a:r>
            <a:r>
              <a:rPr b="1"/>
              <a:t>ディリバレット</a:t>
            </a:r>
            <a:r>
              <a:rPr b="0"/>
              <a:t>。 アンド イッツ イン ザ </a:t>
            </a:r>
            <a:r>
              <a:rPr b="1"/>
              <a:t>コウド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フォレンジック/法執行の聴衆へ誠実に。目を合わせる。信頼獲得点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[18:15 / 0:50] SCOPE — 発話 0:45</a:t>
            </a:r>
          </a:p>
          <a:p>
            <a:r>
              <a:rPr b="0"/>
              <a:t/>
            </a:r>
          </a:p>
          <a:p>
            <a:r>
              <a:rPr b="0"/>
              <a:t>“Scope, drawn honestly.</a:t>
            </a:r>
          </a:p>
          <a:p>
            <a:r>
              <a:rPr b="0"/>
              <a:t>  </a:t>
            </a:r>
            <a:r>
              <a:rPr b="1"/>
              <a:t>スコープ</a:t>
            </a:r>
            <a:r>
              <a:rPr b="0"/>
              <a:t>、 ドローン </a:t>
            </a:r>
            <a:r>
              <a:rPr b="1"/>
              <a:t>オネストリー</a:t>
            </a:r>
            <a:r>
              <a:rPr b="0"/>
              <a:t>。</a:t>
            </a:r>
          </a:p>
          <a:p>
            <a:r>
              <a:rPr b="0"/>
              <a:t>Hiding that the software exists — out.</a:t>
            </a:r>
          </a:p>
          <a:p>
            <a:r>
              <a:rPr b="0"/>
              <a:t>  ハイディング ザット ザ ソフトウェア イグズィスツ — </a:t>
            </a:r>
            <a:r>
              <a:rPr b="1"/>
              <a:t>アウト</a:t>
            </a:r>
            <a:r>
              <a:rPr b="0"/>
              <a:t>。</a:t>
            </a:r>
          </a:p>
          <a:p>
            <a:r>
              <a:rPr b="0"/>
              <a:t>Denying that the data exists — partial.</a:t>
            </a:r>
          </a:p>
          <a:p>
            <a:r>
              <a:rPr b="0"/>
              <a:t>  ディナイイング ザット ザ データ イグズィスツ — </a:t>
            </a:r>
            <a:r>
              <a:rPr b="1"/>
              <a:t>パーシャル</a:t>
            </a:r>
            <a:r>
              <a:rPr b="0"/>
              <a:t>。</a:t>
            </a:r>
          </a:p>
          <a:p>
            <a:r>
              <a:rPr b="0"/>
              <a:t>Controlled disclosure — in, and central.</a:t>
            </a:r>
          </a:p>
          <a:p>
            <a:r>
              <a:rPr b="0"/>
              <a:t>  コントロールド ディスクロージャー — </a:t>
            </a:r>
            <a:r>
              <a:rPr b="1"/>
              <a:t>イン</a:t>
            </a:r>
            <a:r>
              <a:rPr b="0"/>
              <a:t>、 アンド </a:t>
            </a:r>
            <a:r>
              <a:rPr b="1"/>
              <a:t>セントラル</a:t>
            </a:r>
            <a:r>
              <a:rPr b="0"/>
              <a:t>。</a:t>
            </a:r>
          </a:p>
          <a:p>
            <a:r>
              <a:rPr b="0"/>
              <a:t>Coercion-aware fallback — in.</a:t>
            </a:r>
          </a:p>
          <a:p>
            <a:r>
              <a:rPr b="0"/>
              <a:t>  コアージョンアウェア フォールバック — </a:t>
            </a:r>
            <a:r>
              <a:rPr b="1"/>
              <a:t>イン</a:t>
            </a:r>
            <a:r>
              <a:rPr b="0"/>
              <a:t>。</a:t>
            </a:r>
          </a:p>
          <a:p>
            <a:r>
              <a:rPr b="0"/>
              <a:t>And here’s what it never claims.</a:t>
            </a:r>
          </a:p>
          <a:p>
            <a:r>
              <a:rPr b="0"/>
              <a:t>  アンド ヒアズ ワット イット </a:t>
            </a:r>
            <a:r>
              <a:rPr b="1"/>
              <a:t>ネヴァー</a:t>
            </a:r>
            <a:r>
              <a:rPr b="0"/>
              <a:t> クレイムズ。</a:t>
            </a:r>
          </a:p>
          <a:p>
            <a:r>
              <a:rPr b="0"/>
              <a:t>Perfect deniability. Forensic immunity.</a:t>
            </a:r>
          </a:p>
          <a:p>
            <a:r>
              <a:rPr b="0"/>
              <a:t>  パーフェクト ディナイアビリティ。 フォレンシック イミューニティ。</a:t>
            </a:r>
          </a:p>
          <a:p>
            <a:r>
              <a:rPr b="0"/>
              <a:t>Secure deletion on flash. Protection from a compromised host.</a:t>
            </a:r>
          </a:p>
          <a:p>
            <a:r>
              <a:rPr b="0"/>
              <a:t>  セキュア ディリーション オン フラッシュ。 プロテクション フロム ア コンプロマイズド ホウスト。</a:t>
            </a:r>
          </a:p>
          <a:p>
            <a:r>
              <a:rPr b="0"/>
              <a:t>And one more thing it never claims: that your cover story is convincing.</a:t>
            </a:r>
          </a:p>
          <a:p>
            <a:r>
              <a:rPr b="0"/>
              <a:t>  アンド ワン モア シング イット ネヴァー クレイムズ: ザット ユア カヴァー ストーリー イズ </a:t>
            </a:r>
            <a:r>
              <a:rPr b="1"/>
              <a:t>コンヴィンシング</a:t>
            </a:r>
            <a:r>
              <a:rPr b="0"/>
              <a:t>。</a:t>
            </a:r>
          </a:p>
          <a:p>
            <a:r>
              <a:rPr b="0"/>
              <a:t>It can tell you how much space is occupied.</a:t>
            </a:r>
          </a:p>
          <a:p>
            <a:r>
              <a:rPr b="0"/>
              <a:t>  イット キャン テル ユー ハウ マッチ </a:t>
            </a:r>
            <a:r>
              <a:rPr b="1"/>
              <a:t>スペイス</a:t>
            </a:r>
            <a:r>
              <a:rPr b="0"/>
              <a:t> イズ オキュパイド。</a:t>
            </a:r>
          </a:p>
          <a:p>
            <a:r>
              <a:rPr b="0"/>
              <a:t>It cannot tell you whether anyone will believe you.</a:t>
            </a:r>
          </a:p>
          <a:p>
            <a:r>
              <a:rPr b="0"/>
              <a:t>  イット キャナット テル ユー ウェザー エニワン ウィル </a:t>
            </a:r>
            <a:r>
              <a:rPr b="1"/>
              <a:t>ビリーヴ</a:t>
            </a:r>
            <a:r>
              <a:rPr b="0"/>
              <a:t> ユー。</a:t>
            </a:r>
          </a:p>
          <a:p>
            <a:r>
              <a:rPr b="0"/>
              <a:t>And it doesn’t pretend to. No snake oil.</a:t>
            </a:r>
          </a:p>
          <a:p>
            <a:r>
              <a:rPr b="0"/>
              <a:t>  アンド イット ダズント </a:t>
            </a:r>
            <a:r>
              <a:rPr b="1"/>
              <a:t>プリテンド</a:t>
            </a:r>
            <a:r>
              <a:rPr b="0"/>
              <a:t> トゥ。 </a:t>
            </a:r>
            <a:r>
              <a:rPr b="1"/>
              <a:t>ノウ スネイク オイル</a:t>
            </a:r>
            <a:r>
              <a:rPr b="0"/>
              <a:t>。</a:t>
            </a:r>
          </a:p>
          <a:p>
            <a:r>
              <a:rPr b="0"/>
              <a:t>All right. Enough talk. Let me show you.”</a:t>
            </a:r>
          </a:p>
          <a:p>
            <a:r>
              <a:rPr b="0"/>
              <a:t>  オーライト。 </a:t>
            </a:r>
            <a:r>
              <a:rPr b="1"/>
              <a:t>イナフ</a:t>
            </a:r>
            <a:r>
              <a:rPr b="0"/>
              <a:t> トーク。 レット ミー </a:t>
            </a:r>
            <a:r>
              <a:rPr b="1"/>
              <a:t>ショウ</a:t>
            </a:r>
            <a:r>
              <a:rPr b="0"/>
              <a:t> ユー。</a:t>
            </a:r>
          </a:p>
          <a:p>
            <a:r>
              <a:rPr b="0"/>
              <a:t/>
            </a:r>
          </a:p>
          <a:p>
            <a:r>
              <a:rPr b="0"/>
              <a:t>JA: 誠実さの締め。最後の一文でデモへ橋渡し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[19:05 / 0:15] LIVE DEMO（章扉）</a:t>
            </a:r>
          </a:p>
          <a:p>
            <a:r>
              <a:rPr b="0"/>
              <a:t/>
            </a:r>
          </a:p>
          <a:p>
            <a:r>
              <a:rPr b="0"/>
              <a:t>“Alright — live demo.”</a:t>
            </a:r>
          </a:p>
          <a:p>
            <a:r>
              <a:rPr b="0"/>
              <a:t>  オーライト — </a:t>
            </a:r>
            <a:r>
              <a:rPr b="1"/>
              <a:t>ライヴ デモ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JA: 呼吸を整え実機に向き直る。プロジェクタ入力を TUI へ切替。バックアップ録画の頭出しを確認。以降の切替は Step 1→2（TUI→ブラウザ）と Step 4→5（ブラウザ→TUI）の1往復だけ。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[19:20 / ~7:30] LIVE DEMO  ★中心（8手＋任意1・TUI+WebUI・切替1往復）</a:t>
            </a:r>
          </a:p>
          <a:p>
            <a:r>
              <a:rPr b="0"/>
              <a:t/>
            </a:r>
          </a:p>
          <a:p>
            <a:r>
              <a:rPr b="0"/>
              <a:t>── 前置き（手を動かしながら）</a:t>
            </a:r>
          </a:p>
          <a:p>
            <a:r>
              <a:rPr b="0"/>
              <a:t>“Here’s what you’re about to see.</a:t>
            </a:r>
          </a:p>
          <a:p>
            <a:r>
              <a:rPr b="0"/>
              <a:t>  ヒアズ ワット ユア アバウト トゥ </a:t>
            </a:r>
            <a:r>
              <a:rPr b="1"/>
              <a:t>シー</a:t>
            </a:r>
            <a:r>
              <a:rPr b="0"/>
              <a:t>。</a:t>
            </a:r>
          </a:p>
          <a:p>
            <a:r>
              <a:rPr b="0"/>
              <a:t>I’ll create one container on the device.</a:t>
            </a:r>
          </a:p>
          <a:p>
            <a:r>
              <a:rPr b="0"/>
              <a:t>  アイル クリエイト </a:t>
            </a:r>
            <a:r>
              <a:rPr b="1"/>
              <a:t>ワン コンテナ</a:t>
            </a:r>
            <a:r>
              <a:rPr b="0"/>
              <a:t> オン ザ デバイス。</a:t>
            </a:r>
          </a:p>
          <a:p>
            <a:r>
              <a:rPr b="0"/>
              <a:t>Then, in the local web interface, I’ll put two different files into it.</a:t>
            </a:r>
          </a:p>
          <a:p>
            <a:r>
              <a:rPr b="0"/>
              <a:t>  ゼン、 イン ザ ローカル ウェブ インターフェイス、 アイル プット </a:t>
            </a:r>
            <a:r>
              <a:rPr b="1"/>
              <a:t>トゥー ディファレント ファイルズ</a:t>
            </a:r>
            <a:r>
              <a:rPr b="0"/>
              <a:t> イントゥ イット。</a:t>
            </a:r>
          </a:p>
          <a:p>
            <a:r>
              <a:rPr b="0"/>
              <a:t>Each one behind its own password, and its own everyday object.</a:t>
            </a:r>
          </a:p>
          <a:p>
            <a:r>
              <a:rPr b="0"/>
              <a:t>  イーチ ワン ビハインド イツ </a:t>
            </a:r>
            <a:r>
              <a:rPr b="1"/>
              <a:t>オウン パスワード</a:t>
            </a:r>
            <a:r>
              <a:rPr b="0"/>
              <a:t>、 アンド イツ </a:t>
            </a:r>
            <a:r>
              <a:rPr b="1"/>
              <a:t>オウン エヴリデイ オブジェクト</a:t>
            </a:r>
            <a:r>
              <a:rPr b="0"/>
              <a:t>。</a:t>
            </a:r>
          </a:p>
          <a:p>
            <a:r>
              <a:rPr b="0"/>
              <a:t>Then I open one of them. Correct object, correct password — the file comes back.</a:t>
            </a:r>
          </a:p>
          <a:p>
            <a:r>
              <a:rPr b="0"/>
              <a:t>  ゼン アイ オウプン ワン オヴ ゼム。 コゥレクト オブジェクト、 コゥレクト パスワード — ザ ファイル </a:t>
            </a:r>
            <a:r>
              <a:rPr b="1"/>
              <a:t>カムズ バック</a:t>
            </a:r>
            <a:r>
              <a:rPr b="0"/>
              <a:t>。</a:t>
            </a:r>
          </a:p>
          <a:p>
            <a:r>
              <a:rPr b="0"/>
              <a:t>And then the part that matters most.</a:t>
            </a:r>
          </a:p>
          <a:p>
            <a:r>
              <a:rPr b="0"/>
              <a:t>  アンド ゼン ザ パート ザット </a:t>
            </a:r>
            <a:r>
              <a:rPr b="1"/>
              <a:t>マターズ モウスト</a:t>
            </a:r>
            <a:r>
              <a:rPr b="0"/>
              <a:t>。</a:t>
            </a:r>
          </a:p>
          <a:p>
            <a:r>
              <a:rPr b="0"/>
              <a:t>I don’t touch the screen.</a:t>
            </a:r>
          </a:p>
          <a:p>
            <a:r>
              <a:rPr b="0"/>
              <a:t>  アイ </a:t>
            </a:r>
            <a:r>
              <a:rPr b="1"/>
              <a:t>ドウント タッチ</a:t>
            </a:r>
            <a:r>
              <a:rPr b="0"/>
              <a:t> ザ スクリーン。</a:t>
            </a:r>
          </a:p>
          <a:p>
            <a:r>
              <a:rPr b="0"/>
              <a:t>Same tab. Same file. Same password. Same button.</a:t>
            </a:r>
          </a:p>
          <a:p>
            <a:r>
              <a:rPr b="0"/>
              <a:t>  セイム タブ。 セイム ファイル。 セイム パスワード。 セイム バトゥン。</a:t>
            </a:r>
          </a:p>
          <a:p>
            <a:r>
              <a:rPr b="0"/>
              <a:t>I simply take the object off the table.</a:t>
            </a:r>
          </a:p>
          <a:p>
            <a:r>
              <a:rPr b="0"/>
              <a:t>  アイ シンプリー </a:t>
            </a:r>
            <a:r>
              <a:rPr b="1"/>
              <a:t>テイク ジ オブジェクト オフ</a:t>
            </a:r>
            <a:r>
              <a:rPr b="0"/>
              <a:t> ザ テイブル。</a:t>
            </a:r>
          </a:p>
          <a:p>
            <a:r>
              <a:rPr b="0"/>
              <a:t>And watch it refuse.</a:t>
            </a:r>
          </a:p>
          <a:p>
            <a:r>
              <a:rPr b="0"/>
              <a:t>  アンド ウォッチ イット </a:t>
            </a:r>
            <a:r>
              <a:rPr b="1"/>
              <a:t>リフューズ</a:t>
            </a:r>
            <a:r>
              <a:rPr b="0"/>
              <a:t>。</a:t>
            </a:r>
          </a:p>
          <a:p>
            <a:r>
              <a:rPr b="0"/>
              <a:t>Then Audit. And Silent Standby.”</a:t>
            </a:r>
          </a:p>
          <a:p>
            <a:r>
              <a:rPr b="0"/>
              <a:t>  ゼン </a:t>
            </a:r>
            <a:r>
              <a:rPr b="1"/>
              <a:t>オーディット</a:t>
            </a:r>
            <a:r>
              <a:rPr b="0"/>
              <a:t>。 アンド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0 · 0:20 · Orientation</a:t>
            </a:r>
          </a:p>
          <a:p>
            <a:r>
              <a:rPr b="0"/>
              <a:t>DO: Simple ホームを提示。下部バーを指す（o · n · g · e · q · w の6つだけ）</a:t>
            </a:r>
          </a:p>
          <a:p>
            <a:r>
              <a:rPr b="0"/>
              <a:t>“This is the real console — Local Disclosure Control.</a:t>
            </a:r>
          </a:p>
          <a:p>
            <a:r>
              <a:rPr b="0"/>
              <a:t>  ディス イズ ザ </a:t>
            </a:r>
            <a:r>
              <a:rPr b="1"/>
              <a:t>リアル コンソウル</a:t>
            </a:r>
            <a:r>
              <a:rPr b="0"/>
              <a:t> — ローカル ディスクロージャー コントロール。</a:t>
            </a:r>
          </a:p>
          <a:p>
            <a:r>
              <a:rPr b="0"/>
              <a:t>The home screen is deliberately small.</a:t>
            </a:r>
          </a:p>
          <a:p>
            <a:r>
              <a:rPr b="0"/>
              <a:t>  ザ ホウム スクリーン イズ </a:t>
            </a:r>
            <a:r>
              <a:rPr b="1"/>
              <a:t>ディリバレットリー スモール</a:t>
            </a:r>
            <a:r>
              <a:rPr b="0"/>
              <a:t>。</a:t>
            </a:r>
          </a:p>
          <a:p>
            <a:r>
              <a:rPr b="0"/>
              <a:t>Open. New. Guided. Expert.</a:t>
            </a:r>
          </a:p>
          <a:p>
            <a:r>
              <a:rPr b="0"/>
              <a:t>  オウプン。 ニュー。 ガイディッド。 エクスパート。</a:t>
            </a:r>
          </a:p>
          <a:p>
            <a:r>
              <a:rPr b="0"/>
              <a:t>Under pressure, you don’t want a wall of options.</a:t>
            </a:r>
          </a:p>
          <a:p>
            <a:r>
              <a:rPr b="0"/>
              <a:t>  アンダー プレッシャー、 ユー ドウント ワント ア </a:t>
            </a:r>
            <a:r>
              <a:rPr b="1"/>
              <a:t>ウォール オヴ オプションズ</a:t>
            </a:r>
            <a:r>
              <a:rPr b="0"/>
              <a:t>。</a:t>
            </a:r>
          </a:p>
          <a:p>
            <a:r>
              <a:rPr b="0"/>
              <a:t>The full control set is one key away.”</a:t>
            </a:r>
          </a:p>
          <a:p>
            <a:r>
              <a:rPr b="0"/>
              <a:t>  ザ フル コントロール セット イズ </a:t>
            </a:r>
            <a:r>
              <a:rPr b="1"/>
              <a:t>ワン キー アウェイ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1 · 0:50 · Create a Vessel — Prepare</a:t>
            </a:r>
          </a:p>
          <a:p>
            <a:r>
              <a:rPr b="0"/>
              <a:t>DO: n New → vessel-path → vessel-size を 64M に変更（Select・既定 512M。既定のまま作らない）→ vessel-label（任意・無害な語）→ create-btn</a:t>
            </a:r>
          </a:p>
          <a:p>
            <a:r>
              <a:rPr b="0"/>
              <a:t>“First I create a vessel — a deniable container file.</a:t>
            </a:r>
          </a:p>
          <a:p>
            <a:r>
              <a:rPr b="0"/>
              <a:t>  ファースト アイ クリエイト ア </a:t>
            </a:r>
            <a:r>
              <a:rPr b="1"/>
              <a:t>ヴェッセル</a:t>
            </a:r>
            <a:r>
              <a:rPr b="0"/>
              <a:t> — ア ディナイアブル コンテナ ファイル。</a:t>
            </a:r>
          </a:p>
          <a:p>
            <a:r>
              <a:rPr b="0"/>
              <a:t>This is the Prepare step.</a:t>
            </a:r>
          </a:p>
          <a:p>
            <a:r>
              <a:rPr b="0"/>
              <a:t>  ディス イズ ザ </a:t>
            </a:r>
            <a:r>
              <a:rPr b="1"/>
              <a:t>プリペア</a:t>
            </a:r>
            <a:r>
              <a:rPr b="0"/>
              <a:t> ステップ。</a:t>
            </a:r>
          </a:p>
          <a:p>
            <a:r>
              <a:rPr b="0"/>
              <a:t>It has no header. No magic bytes.</a:t>
            </a:r>
          </a:p>
          <a:p>
            <a:r>
              <a:rPr b="0"/>
              <a:t>  イット ハズ </a:t>
            </a:r>
            <a:r>
              <a:rPr b="1"/>
              <a:t>ノウ ヘダー</a:t>
            </a:r>
            <a:r>
              <a:rPr b="0"/>
              <a:t>。 </a:t>
            </a:r>
            <a:r>
              <a:rPr b="1"/>
              <a:t>ノウ マジック バイツ</a:t>
            </a:r>
            <a:r>
              <a:rPr b="0"/>
              <a:t>。</a:t>
            </a:r>
          </a:p>
          <a:p>
            <a:r>
              <a:rPr b="0"/>
              <a:t>On disk, it’s indistinguishable from random data.”</a:t>
            </a:r>
          </a:p>
          <a:p>
            <a:r>
              <a:rPr b="0"/>
              <a:t>  オン ディスク、 イッツ </a:t>
            </a:r>
            <a:r>
              <a:rPr b="1"/>
              <a:t>インディスティングウィシャブル</a:t>
            </a:r>
            <a:r>
              <a:rPr b="0"/>
              <a:t> フロム ランダム データ。</a:t>
            </a:r>
          </a:p>
          <a:p>
            <a:r>
              <a:rPr b="0"/>
              <a:t/>
            </a:r>
          </a:p>
          <a:p>
            <a:r>
              <a:rPr b="0"/>
              <a:t>── STEP 2 · 1:30 · Bind — put two different files into one container</a:t>
            </a:r>
          </a:p>
          <a:p>
            <a:r>
              <a:rPr b="0"/>
              <a:t>DO: TUI で w → プロジェクタをラップトップのブラウザへ切替 → 事前ブックマークの /unlock タブに store トークンを入力 → Store 画面。1回目：「Choose the entry」で Entry 1 → ファイル → パスワード → 物体を手元に置いたまま 1 · Capture empty scene → 物体Aをかざして 2 · Capture access object → かざしたまま Protect file2回目：Entry 2 に切替 → 別ファイル → 別パスワード → 物体を外して 1 · Capture empty scene → 物体Bをかざして 2 · Capture access object → Advanced security options → Restricted recovery password に破壊パスワード → かざしたまま Protect file</a:t>
            </a:r>
          </a:p>
          <a:p>
            <a:r>
              <a:rPr b="0"/>
              <a:t>“Now I switch to the browser.</a:t>
            </a:r>
          </a:p>
          <a:p>
            <a:r>
              <a:rPr b="0"/>
              <a:t>  ナウ アイ スウィッチ トゥ ザ </a:t>
            </a:r>
            <a:r>
              <a:rPr b="1"/>
              <a:t>ブラウザ</a:t>
            </a:r>
            <a:r>
              <a:rPr b="0"/>
              <a:t>。</a:t>
            </a:r>
          </a:p>
          <a:p>
            <a:r>
              <a:rPr b="0"/>
              <a:t>The same device serves a local web interface.</a:t>
            </a:r>
          </a:p>
          <a:p>
            <a:r>
              <a:rPr b="0"/>
              <a:t>  ザ セイム デバイス サーヴズ ア </a:t>
            </a:r>
            <a:r>
              <a:rPr b="1"/>
              <a:t>ローカル ウェブ インターフェイス</a:t>
            </a:r>
            <a:r>
              <a:rPr b="0"/>
              <a:t>。</a:t>
            </a:r>
          </a:p>
          <a:p>
            <a:r>
              <a:rPr b="0"/>
              <a:t>I’m logged in with a token scoped to the store role.</a:t>
            </a:r>
          </a:p>
          <a:p>
            <a:r>
              <a:rPr b="0"/>
              <a:t>  アイム ログド イン ウィズ ア トウクン スコウプト トゥ ザ </a:t>
            </a:r>
            <a:r>
              <a:rPr b="1"/>
              <a:t>ストア ロウル</a:t>
            </a:r>
            <a:r>
              <a:rPr b="0"/>
              <a:t>。</a:t>
            </a:r>
          </a:p>
          <a:p>
            <a:r>
              <a:rPr b="0"/>
              <a:t>I’m putting two different files into the one container I just made.</a:t>
            </a:r>
          </a:p>
          <a:p>
            <a:r>
              <a:rPr b="0"/>
              <a:t>  アイム プティング </a:t>
            </a:r>
            <a:r>
              <a:rPr b="1"/>
              <a:t>トゥー ディファレント ファイルズ</a:t>
            </a:r>
            <a:r>
              <a:rPr b="0"/>
              <a:t> イントゥ ザ ワン コンテナ アイ ジャスト メイド。</a:t>
            </a:r>
          </a:p>
          <a:p>
            <a:r>
              <a:rPr b="0"/>
              <a:t>Now watch — it takes two shots.</a:t>
            </a:r>
          </a:p>
          <a:p>
            <a:r>
              <a:rPr b="0"/>
              <a:t>  ナウ </a:t>
            </a:r>
            <a:r>
              <a:rPr b="1"/>
              <a:t>ウォッチ</a:t>
            </a:r>
            <a:r>
              <a:rPr b="0"/>
              <a:t> — イット テイクス </a:t>
            </a:r>
            <a:r>
              <a:rPr b="1"/>
              <a:t>トゥー ショッツ</a:t>
            </a:r>
            <a:r>
              <a:rPr b="0"/>
              <a:t>。</a:t>
            </a:r>
          </a:p>
          <a:p>
            <a:r>
              <a:rPr b="0"/>
              <a:t>First the empty view. Then the object.</a:t>
            </a:r>
          </a:p>
          <a:p>
            <a:r>
              <a:rPr b="0"/>
              <a:t>  ファースト ジ </a:t>
            </a:r>
            <a:r>
              <a:rPr b="1"/>
              <a:t>エンプティ ヴュー</a:t>
            </a:r>
            <a:r>
              <a:rPr b="0"/>
              <a:t>。 ゼン ジ </a:t>
            </a:r>
            <a:r>
              <a:rPr b="1"/>
              <a:t>オブジェクト</a:t>
            </a:r>
            <a:r>
              <a:rPr b="0"/>
              <a:t>。</a:t>
            </a:r>
          </a:p>
          <a:p>
            <a:r>
              <a:rPr b="0"/>
              <a:t>The difference between those two frames is what the device keeps.</a:t>
            </a:r>
          </a:p>
          <a:p>
            <a:r>
              <a:rPr b="0"/>
              <a:t>  ザ </a:t>
            </a:r>
            <a:r>
              <a:rPr b="1"/>
              <a:t>ディファレンス</a:t>
            </a:r>
            <a:r>
              <a:rPr b="0"/>
              <a:t> ビトウィーン ゾウズ トゥー フレイムズ イズ ワット ザ デバイス キープス。</a:t>
            </a:r>
          </a:p>
          <a:p>
            <a:r>
              <a:rPr b="0"/>
              <a:t>Otherwise it would be describing my wall.</a:t>
            </a:r>
          </a:p>
          <a:p>
            <a:r>
              <a:rPr b="0"/>
              <a:t>  アザワイズ イット ウド ビー ディスクライビング マイ </a:t>
            </a:r>
            <a:r>
              <a:rPr b="1"/>
              <a:t>ウォール</a:t>
            </a:r>
            <a:r>
              <a:rPr b="0"/>
              <a:t>。</a:t>
            </a:r>
          </a:p>
          <a:p>
            <a:r>
              <a:rPr b="0"/>
              <a:t>And then my wall would open the file.</a:t>
            </a:r>
          </a:p>
          <a:p>
            <a:r>
              <a:rPr b="0"/>
              <a:t>  アンド ゼン </a:t>
            </a:r>
            <a:r>
              <a:rPr b="1"/>
              <a:t>マイ ウォール</a:t>
            </a:r>
            <a:r>
              <a:rPr b="0"/>
              <a:t> ウド オウプン ザ ファイル。</a:t>
            </a:r>
          </a:p>
          <a:p>
            <a:r>
              <a:rPr b="0"/>
              <a:t>And remember what that object is. A cue, not a key.</a:t>
            </a:r>
          </a:p>
          <a:p>
            <a:r>
              <a:rPr b="0"/>
              <a:t>  アンド リメンバー ワット ザット オブジェクト イズ。 ア </a:t>
            </a:r>
            <a:r>
              <a:rPr b="1"/>
              <a:t>キュー</a:t>
            </a:r>
            <a:r>
              <a:rPr b="0"/>
              <a:t>、 </a:t>
            </a:r>
            <a:r>
              <a:rPr b="1"/>
              <a:t>ナット</a:t>
            </a:r>
            <a:r>
              <a:rPr b="0"/>
              <a:t> ア キー。</a:t>
            </a:r>
          </a:p>
          <a:p>
            <a:r>
              <a:rPr b="0"/>
              <a:t>It gates the operation. It is not the encryption key.</a:t>
            </a:r>
          </a:p>
          <a:p>
            <a:r>
              <a:rPr b="0"/>
              <a:t>  イット </a:t>
            </a:r>
            <a:r>
              <a:rPr b="1"/>
              <a:t>ゲイツ</a:t>
            </a:r>
            <a:r>
              <a:rPr b="0"/>
              <a:t> ジ オペレイション。 イット イズ </a:t>
            </a:r>
            <a:r>
              <a:rPr b="1"/>
              <a:t>ナット</a:t>
            </a:r>
            <a:r>
              <a:rPr b="0"/>
              <a:t> ジ インクリプション キー。</a:t>
            </a:r>
          </a:p>
          <a:p>
            <a:r>
              <a:rPr b="0"/>
              <a:t>A photograph of it unlocks nothing.”</a:t>
            </a:r>
          </a:p>
          <a:p>
            <a:r>
              <a:rPr b="0"/>
              <a:t>  ア フォウトグラフ オヴ イット アンロックス </a:t>
            </a:r>
            <a:r>
              <a:rPr b="1"/>
              <a:t>ナッシング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3 · 0:50 · Operate — the file comes back, and the role boundary</a:t>
            </a:r>
          </a:p>
          <a:p>
            <a:r>
              <a:rPr b="0"/>
              <a:t>DO: 同じ store タブで Retrieve へ。物体Aを提示 → パスワード → Open protected file。続けて役割の境界：別タブで recover トークンで解錠しておいたウィンドウを一瞬提示 — ナビに Store / Maintenance が一切無いことを指す</a:t>
            </a:r>
          </a:p>
          <a:p>
            <a:r>
              <a:rPr b="0"/>
              <a:t>“Same object. Correct password. The file comes back.</a:t>
            </a:r>
          </a:p>
          <a:p>
            <a:r>
              <a:rPr b="0"/>
              <a:t>  セイム オブジェクト。 コゥレクト パスワード。 ザ ファイル </a:t>
            </a:r>
            <a:r>
              <a:rPr b="1"/>
              <a:t>カムズ バック</a:t>
            </a:r>
            <a:r>
              <a:rPr b="0"/>
              <a:t>。</a:t>
            </a:r>
          </a:p>
          <a:p>
            <a:r>
              <a:rPr b="0"/>
              <a:t>And here’s a second session. A narrower one.</a:t>
            </a:r>
          </a:p>
          <a:p>
            <a:r>
              <a:rPr b="0"/>
              <a:t>  アンド ヒアズ ア </a:t>
            </a:r>
            <a:r>
              <a:rPr b="1"/>
              <a:t>セカンド セッション</a:t>
            </a:r>
            <a:r>
              <a:rPr b="0"/>
              <a:t>。 ア </a:t>
            </a:r>
            <a:r>
              <a:rPr b="1"/>
              <a:t>ナロウアー</a:t>
            </a:r>
            <a:r>
              <a:rPr b="0"/>
              <a:t> ワン。</a:t>
            </a:r>
          </a:p>
          <a:p>
            <a:r>
              <a:rPr b="0"/>
              <a:t>Logged in with a different token — a different role.</a:t>
            </a:r>
          </a:p>
          <a:p>
            <a:r>
              <a:rPr b="0"/>
              <a:t>  ログド イン ウィズ ア </a:t>
            </a:r>
            <a:r>
              <a:rPr b="1"/>
              <a:t>ディファレント トウクン</a:t>
            </a:r>
            <a:r>
              <a:rPr b="0"/>
              <a:t> — ア </a:t>
            </a:r>
            <a:r>
              <a:rPr b="1"/>
              <a:t>ディファレント ロウル</a:t>
            </a:r>
            <a:r>
              <a:rPr b="0"/>
              <a:t>。</a:t>
            </a:r>
          </a:p>
          <a:p>
            <a:r>
              <a:rPr b="0"/>
              <a:t>It can decrypt, and it can destroy.</a:t>
            </a:r>
          </a:p>
          <a:p>
            <a:r>
              <a:rPr b="0"/>
              <a:t>  イット キャン </a:t>
            </a:r>
            <a:r>
              <a:rPr b="1"/>
              <a:t>ディクリプト</a:t>
            </a:r>
            <a:r>
              <a:rPr b="0"/>
              <a:t>、 アンド イット キャン </a:t>
            </a:r>
            <a:r>
              <a:rPr b="1"/>
              <a:t>ディストロイ</a:t>
            </a:r>
            <a:r>
              <a:rPr b="0"/>
              <a:t>。</a:t>
            </a:r>
          </a:p>
          <a:p>
            <a:r>
              <a:rPr b="0"/>
              <a:t>It can never reach Face setup at all.</a:t>
            </a:r>
          </a:p>
          <a:p>
            <a:r>
              <a:rPr b="0"/>
              <a:t>  イット キャン </a:t>
            </a:r>
            <a:r>
              <a:rPr b="1"/>
              <a:t>ネヴァー</a:t>
            </a:r>
            <a:r>
              <a:rPr b="0"/>
              <a:t> リーチ フェイス セットアップ アット オール。</a:t>
            </a:r>
          </a:p>
          <a:p>
            <a:r>
              <a:rPr b="0"/>
              <a:t>It can’t even see that there is more than one entry.”</a:t>
            </a:r>
          </a:p>
          <a:p>
            <a:r>
              <a:rPr b="0"/>
              <a:t>  イット キャント </a:t>
            </a:r>
            <a:r>
              <a:rPr b="1"/>
              <a:t>イーヴン シー</a:t>
            </a:r>
            <a:r>
              <a:rPr b="0"/>
              <a:t> ザット ゼア イズ モア ザン ワン エントリー。</a:t>
            </a:r>
          </a:p>
          <a:p>
            <a:r>
              <a:rPr b="0"/>
              <a:t/>
            </a:r>
          </a:p>
          <a:p>
            <a:r>
              <a:rPr b="0"/>
              <a:t>── STEP 4 · 0:50 · Same tab, same password — the object is gone, and it refuses</a:t>
            </a:r>
          </a:p>
          <a:p>
            <a:r>
              <a:rPr b="0"/>
              <a:t>DO: Step 3 と同じ Retrieve 画面のまま。 物体をカメラの視野から完全に外す（手で覆うのではなく卓の下に下ろす）→ オーバーレイが No object cue match に変わるのを待つ → Step 3 と同じパスワード → Open protected file。直後に物体を戻して同じパスワードで再実行し、成功させる（0:15）</a:t>
            </a:r>
          </a:p>
          <a:p>
            <a:r>
              <a:rPr b="0"/>
              <a:t>“Same tab. Same file. Same password. Same everything.</a:t>
            </a:r>
          </a:p>
          <a:p>
            <a:r>
              <a:rPr b="0"/>
              <a:t>  </a:t>
            </a:r>
            <a:r>
              <a:rPr b="1"/>
              <a:t>セイム</a:t>
            </a:r>
            <a:r>
              <a:rPr b="0"/>
              <a:t> タブ。 </a:t>
            </a:r>
            <a:r>
              <a:rPr b="1"/>
              <a:t>セイム</a:t>
            </a:r>
            <a:r>
              <a:rPr b="0"/>
              <a:t> ファイル。 </a:t>
            </a:r>
            <a:r>
              <a:rPr b="1"/>
              <a:t>セイム</a:t>
            </a:r>
            <a:r>
              <a:rPr b="0"/>
              <a:t> パスワード。 </a:t>
            </a:r>
            <a:r>
              <a:rPr b="1"/>
              <a:t>セイム エヴリシング</a:t>
            </a:r>
            <a:r>
              <a:rPr b="0"/>
              <a:t>。</a:t>
            </a:r>
          </a:p>
          <a:p>
            <a:r>
              <a:rPr b="0"/>
              <a:t>I have only taken the object away.</a:t>
            </a:r>
          </a:p>
          <a:p>
            <a:r>
              <a:rPr b="0"/>
              <a:t>  アイ ハヴ </a:t>
            </a:r>
            <a:r>
              <a:rPr b="1"/>
              <a:t>オウンリー</a:t>
            </a:r>
            <a:r>
              <a:rPr b="0"/>
              <a:t> テイクン ジ オブジェクト アウェイ。</a:t>
            </a:r>
          </a:p>
          <a:p>
            <a:r>
              <a:rPr b="0"/>
              <a:t>And look at what it says. ‘No valid entry found.’</a:t>
            </a:r>
          </a:p>
          <a:p>
            <a:r>
              <a:rPr b="0"/>
              <a:t>  アンド ルック アット ワット イット セズ。 </a:t>
            </a:r>
            <a:r>
              <a:rPr b="1"/>
              <a:t>ノウ ヴァリッド エントリー ファウンド</a:t>
            </a:r>
            <a:r>
              <a:rPr b="0"/>
              <a:t>。</a:t>
            </a:r>
          </a:p>
          <a:p>
            <a:r>
              <a:rPr b="0"/>
              <a:t>Not ‘wrong object’. Not ‘object missing’.</a:t>
            </a:r>
          </a:p>
          <a:p>
            <a:r>
              <a:rPr b="0"/>
              <a:t>  ナット </a:t>
            </a:r>
            <a:r>
              <a:rPr b="1"/>
              <a:t>ゥロング オブジェクト</a:t>
            </a:r>
            <a:r>
              <a:rPr b="0"/>
              <a:t>。 ナット </a:t>
            </a:r>
            <a:r>
              <a:rPr b="1"/>
              <a:t>オブジェクト ミッシング</a:t>
            </a:r>
            <a:r>
              <a:rPr b="0"/>
              <a:t>。</a:t>
            </a:r>
          </a:p>
          <a:p>
            <a:r>
              <a:rPr b="0"/>
              <a:t>It won’t even tell you what it’s waiting for.</a:t>
            </a:r>
          </a:p>
          <a:p>
            <a:r>
              <a:rPr b="0"/>
              <a:t>  イット ウォウント イーヴン テル ユー ワット イッツ </a:t>
            </a:r>
            <a:r>
              <a:rPr b="1"/>
              <a:t>ウェイティング</a:t>
            </a:r>
            <a:r>
              <a:rPr b="0"/>
              <a:t> フォー。</a:t>
            </a:r>
          </a:p>
          <a:p>
            <a:r>
              <a:rPr b="0"/>
              <a:t>That is deliberate.</a:t>
            </a:r>
          </a:p>
          <a:p>
            <a:r>
              <a:rPr b="0"/>
              <a:t>  ザット イズ </a:t>
            </a:r>
            <a:r>
              <a:rPr b="1"/>
              <a:t>ディリバレット</a:t>
            </a:r>
            <a:r>
              <a:rPr b="0"/>
              <a:t>。</a:t>
            </a:r>
          </a:p>
          <a:p>
            <a:r>
              <a:rPr b="0"/>
              <a:t>That is what ‘the cue gates the operation’ means.”</a:t>
            </a:r>
          </a:p>
          <a:p>
            <a:r>
              <a:rPr b="0"/>
              <a:t>  </a:t>
            </a:r>
            <a:r>
              <a:rPr b="1"/>
              <a:t>ザット</a:t>
            </a:r>
            <a:r>
              <a:rPr b="0"/>
              <a:t> イズ ワット 「ザ キュー ゲイツ ジ オペレイション」 ミーンズ。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“Only the object is gone. And it refuses.”</a:t>
            </a:r>
          </a:p>
          <a:p>
            <a:r>
              <a:rPr b="0"/>
              <a:t>  </a:t>
            </a:r>
            <a:r>
              <a:rPr b="1"/>
              <a:t>オウンリー ジ オブジェクト</a:t>
            </a:r>
            <a:r>
              <a:rPr b="0"/>
              <a:t> イズ ゴーン。 アンド イット </a:t>
            </a:r>
            <a:r>
              <a:rPr b="1"/>
              <a:t>リフューズィズ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4b · 0:40 · 同じ欄に、違うパスワード — エントリが消える</a:t>
            </a:r>
          </a:p>
          <a:p>
            <a:r>
              <a:rPr b="0"/>
              <a:t>DO: Step 3・4 とまったく同じ Retrieve 画面。 消したい Face の物体をかざす → パスワード欄に、そのアクセスパスワードではなく Clearing password（Store の Advanced security options で設定した2つめ）を入力 → Open protected file</a:t>
            </a:r>
          </a:p>
          <a:p>
            <a:r>
              <a:rPr b="0"/>
              <a:t>“Now watch this screen — because nothing on it is going to change.</a:t>
            </a:r>
          </a:p>
          <a:p>
            <a:r>
              <a:rPr b="0"/>
              <a:t>  ナウ </a:t>
            </a:r>
            <a:r>
              <a:rPr b="1"/>
              <a:t>ウォッチ ディス スクリーン</a:t>
            </a:r>
            <a:r>
              <a:rPr b="0"/>
              <a:t> — ビコズ </a:t>
            </a:r>
            <a:r>
              <a:rPr b="1"/>
              <a:t>ナッシング</a:t>
            </a:r>
            <a:r>
              <a:rPr b="0"/>
              <a:t> オン イット イズ ゴウイング トゥ チェインジ。</a:t>
            </a:r>
          </a:p>
          <a:p>
            <a:r>
              <a:rPr b="0"/>
              <a:t>Same tab. Same object. Same field. Same button.</a:t>
            </a:r>
          </a:p>
          <a:p>
            <a:r>
              <a:rPr b="0"/>
              <a:t>  セイム タブ。 セイム オブジェクト。 セイム フィールド。 セイム バトゥン。</a:t>
            </a:r>
          </a:p>
          <a:p>
            <a:r>
              <a:rPr b="0"/>
              <a:t>The only thing I do differently… is type a different password.</a:t>
            </a:r>
          </a:p>
          <a:p>
            <a:r>
              <a:rPr b="0"/>
              <a:t>  ジ オウンリー シング アイ ドゥー ディファレントリー… イズ タイプ ア </a:t>
            </a:r>
            <a:r>
              <a:rPr b="1"/>
              <a:t>ディファレント パスワード</a:t>
            </a:r>
            <a:r>
              <a:rPr b="0"/>
              <a:t>。</a:t>
            </a:r>
          </a:p>
          <a:p>
            <a:r>
              <a:rPr b="0"/>
              <a:t>And it says what it says when you mistype. No valid entry found.</a:t>
            </a:r>
          </a:p>
          <a:p>
            <a:r>
              <a:rPr b="0"/>
              <a:t>  アンド イット セズ ワット イット セズ ウェン ユー </a:t>
            </a:r>
            <a:r>
              <a:rPr b="1"/>
              <a:t>ミスタイプ</a:t>
            </a:r>
            <a:r>
              <a:rPr b="0"/>
              <a:t>。 ノウ ヴァリッド エントリー ファウンド。</a:t>
            </a:r>
          </a:p>
          <a:p>
            <a:r>
              <a:rPr b="0"/>
              <a:t>Except that entry is not locked.</a:t>
            </a:r>
          </a:p>
          <a:p>
            <a:r>
              <a:rPr b="0"/>
              <a:t>  イクセプト ザット エントリー イズ </a:t>
            </a:r>
            <a:r>
              <a:rPr b="1"/>
              <a:t>ナット ロックト</a:t>
            </a:r>
            <a:r>
              <a:rPr b="0"/>
              <a:t>。</a:t>
            </a:r>
          </a:p>
          <a:p>
            <a:r>
              <a:rPr b="0"/>
              <a:t>It is gone.</a:t>
            </a:r>
          </a:p>
          <a:p>
            <a:r>
              <a:rPr b="0"/>
              <a:t>  イット イズ </a:t>
            </a:r>
            <a:r>
              <a:rPr b="1"/>
              <a:t>ゴーン</a:t>
            </a:r>
            <a:r>
              <a:rPr b="0"/>
              <a:t>。</a:t>
            </a:r>
          </a:p>
          <a:p>
            <a:r>
              <a:rPr b="0"/>
              <a:t>The other one is untouched. And I can still open it.</a:t>
            </a:r>
          </a:p>
          <a:p>
            <a:r>
              <a:rPr b="0"/>
              <a:t>  ジ アザー ワン イズ </a:t>
            </a:r>
            <a:r>
              <a:rPr b="1"/>
              <a:t>アンタッチト</a:t>
            </a:r>
            <a:r>
              <a:rPr b="0"/>
              <a:t>。 アンド アイ キャン </a:t>
            </a:r>
            <a:r>
              <a:rPr b="1"/>
              <a:t>スティル オウプン</a:t>
            </a:r>
            <a:r>
              <a:rPr b="0"/>
              <a:t> イット。</a:t>
            </a:r>
          </a:p>
          <a:p>
            <a:r>
              <a:rPr b="0"/>
              <a:t>That’s my answer to ‘they’ll just make you type the password.’</a:t>
            </a:r>
          </a:p>
          <a:p>
            <a:r>
              <a:rPr b="0"/>
              <a:t>  ザッツ マイ </a:t>
            </a:r>
            <a:r>
              <a:rPr b="1"/>
              <a:t>アンサー</a:t>
            </a:r>
            <a:r>
              <a:rPr b="0"/>
              <a:t> トゥ 「ゼイル ジャスト メイク ユー タイプ ザ パスワード」。</a:t>
            </a:r>
          </a:p>
          <a:p>
            <a:r>
              <a:rPr b="0"/>
              <a:t>The password they can compel is not the only one there is.”</a:t>
            </a:r>
          </a:p>
          <a:p>
            <a:r>
              <a:rPr b="0"/>
              <a:t>  ザ パスワード ゼイ キャン </a:t>
            </a:r>
            <a:r>
              <a:rPr b="1"/>
              <a:t>コンペル</a:t>
            </a:r>
            <a:r>
              <a:rPr b="0"/>
              <a:t> イズ ナット ジ </a:t>
            </a:r>
            <a:r>
              <a:rPr b="1"/>
              <a:t>オウンリー ワン</a:t>
            </a:r>
            <a:r>
              <a:rPr b="0"/>
              <a:t> ゼア イズ。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“Nothing on the screen changed. The entry is gone.”</a:t>
            </a:r>
          </a:p>
          <a:p>
            <a:r>
              <a:rPr b="0"/>
              <a:t>  </a:t>
            </a:r>
            <a:r>
              <a:rPr b="1"/>
              <a:t>ナッシング</a:t>
            </a:r>
            <a:r>
              <a:rPr b="0"/>
              <a:t> オン ザ スクリーン チェインジド。 ジ エントリー イズ </a:t>
            </a:r>
            <a:r>
              <a:rPr b="1"/>
              <a:t>ゴーン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5 · 0:50 · Audit — free space, and what it won’t judge</a:t>
            </a:r>
          </a:p>
          <a:p>
            <a:r>
              <a:rPr b="0"/>
              <a:t>DO: ここでプロジェクタを TUI に戻す（切替②・往復の折り返し。以降は切替なし）。 e Expert → a Audit。Free Space Filler セクションを指す（戻るのは Esc）。a は #169 の非活性化対象から意図的に外してある — この Step でキー1つで直接使うため</a:t>
            </a:r>
          </a:p>
          <a:p>
            <a:r>
              <a:rPr b="0"/>
              <a:t>“Audit reports per face.</a:t>
            </a:r>
          </a:p>
          <a:p>
            <a:r>
              <a:rPr b="0"/>
              <a:t>  </a:t>
            </a:r>
            <a:r>
              <a:rPr b="1"/>
              <a:t>オーディット</a:t>
            </a:r>
            <a:r>
              <a:rPr b="0"/>
              <a:t> リポーツ パー </a:t>
            </a:r>
            <a:r>
              <a:rPr b="1"/>
              <a:t>フェイス</a:t>
            </a:r>
            <a:r>
              <a:rPr b="0"/>
              <a:t>。</a:t>
            </a:r>
          </a:p>
          <a:p>
            <a:r>
              <a:rPr b="0"/>
              <a:t>Now notice what it does not claim.</a:t>
            </a:r>
          </a:p>
          <a:p>
            <a:r>
              <a:rPr b="0"/>
              <a:t>  ナウ ノウティス ワット イット ダズ </a:t>
            </a:r>
            <a:r>
              <a:rPr b="1"/>
              <a:t>ナット</a:t>
            </a:r>
            <a:r>
              <a:rPr b="0"/>
              <a:t> クレイム。</a:t>
            </a:r>
          </a:p>
          <a:p>
            <a:r>
              <a:rPr b="0"/>
              <a:t>It doesn’t tell me my cover story is convincing.</a:t>
            </a:r>
          </a:p>
          <a:p>
            <a:r>
              <a:rPr b="0"/>
              <a:t>  イット ダズント テル ミー マイ カヴァー ストーリー イズ </a:t>
            </a:r>
            <a:r>
              <a:rPr b="1"/>
              <a:t>コンヴィンシング</a:t>
            </a:r>
            <a:r>
              <a:rPr b="0"/>
              <a:t>。</a:t>
            </a:r>
          </a:p>
          <a:p>
            <a:r>
              <a:rPr b="0"/>
              <a:t>The file I would hand over is one I wrote, and stored, myself.</a:t>
            </a:r>
          </a:p>
          <a:p>
            <a:r>
              <a:rPr b="0"/>
              <a:t>  ザ ファイル アイ ウド ハンド オウヴァー イズ ワン アイ </a:t>
            </a:r>
            <a:r>
              <a:rPr b="1"/>
              <a:t>ロウト</a:t>
            </a:r>
            <a:r>
              <a:rPr b="0"/>
              <a:t>、 アンド </a:t>
            </a:r>
            <a:r>
              <a:rPr b="1"/>
              <a:t>ストード</a:t>
            </a:r>
            <a:r>
              <a:rPr b="0"/>
              <a:t>、 マイセルフ。</a:t>
            </a:r>
          </a:p>
          <a:p>
            <a:r>
              <a:rPr b="0"/>
              <a:t>The tool can’t judge whether it’s believable. And it doesn’t pretend to.</a:t>
            </a:r>
          </a:p>
          <a:p>
            <a:r>
              <a:rPr b="0"/>
              <a:t>  ザ ツール キャント </a:t>
            </a:r>
            <a:r>
              <a:rPr b="1"/>
              <a:t>ジャッジ</a:t>
            </a:r>
            <a:r>
              <a:rPr b="0"/>
              <a:t> ウェザー イッツ ビリーヴァブル。 アンド イット ダズント </a:t>
            </a:r>
            <a:r>
              <a:rPr b="1"/>
              <a:t>プリテンド</a:t>
            </a:r>
            <a:r>
              <a:rPr b="0"/>
              <a:t> トゥ。</a:t>
            </a:r>
          </a:p>
          <a:p>
            <a:r>
              <a:rPr b="0"/>
              <a:t>All it reports here is how much free space is filled —</a:t>
            </a:r>
          </a:p>
          <a:p>
            <a:r>
              <a:rPr b="0"/>
              <a:t>  オール イット リポーツ ヒア イズ ハウ マッチ </a:t>
            </a:r>
            <a:r>
              <a:rPr b="1"/>
              <a:t>フリー スペイス</a:t>
            </a:r>
            <a:r>
              <a:rPr b="0"/>
              <a:t> イズ フィルド —</a:t>
            </a:r>
          </a:p>
          <a:p>
            <a:r>
              <a:rPr b="0"/>
              <a:t>so an otherwise empty container doesn’t read as empty.</a:t>
            </a:r>
          </a:p>
          <a:p>
            <a:r>
              <a:rPr b="0"/>
              <a:t>  ソウ アン アザワイズ エンプティ コンテナ ダズント リード アズ </a:t>
            </a:r>
            <a:r>
              <a:rPr b="1"/>
              <a:t>エンプティ</a:t>
            </a:r>
            <a:r>
              <a:rPr b="0"/>
              <a:t>。</a:t>
            </a:r>
          </a:p>
          <a:p>
            <a:r>
              <a:rPr b="0"/>
              <a:t>Judging the cover story is the operator’s job.</a:t>
            </a:r>
          </a:p>
          <a:p>
            <a:r>
              <a:rPr b="0"/>
              <a:t>  ジャッジング ザ カヴァー ストーリー イズ ジ </a:t>
            </a:r>
            <a:r>
              <a:rPr b="1"/>
              <a:t>オペレイターズ ジョブ</a:t>
            </a:r>
            <a:r>
              <a:rPr b="0"/>
              <a:t>。</a:t>
            </a:r>
          </a:p>
          <a:p>
            <a:r>
              <a:rPr b="0"/>
              <a:t>And the tool is honest about that boundary.”</a:t>
            </a:r>
          </a:p>
          <a:p>
            <a:r>
              <a:rPr b="0"/>
              <a:t>  アンド ザ ツール イズ </a:t>
            </a:r>
            <a:r>
              <a:rPr b="1"/>
              <a:t>オネスト</a:t>
            </a:r>
            <a:r>
              <a:rPr b="0"/>
              <a:t> アバウト ザット バウンダリー。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“It reports what it can measure. It refuses to score what it can’t.”</a:t>
            </a:r>
          </a:p>
          <a:p>
            <a:r>
              <a:rPr b="0"/>
              <a:t>  イット リポーツ ワット イット キャン </a:t>
            </a:r>
            <a:r>
              <a:rPr b="1"/>
              <a:t>メジャー</a:t>
            </a:r>
            <a:r>
              <a:rPr b="0"/>
              <a:t>。 イット リフューズィズ トゥ </a:t>
            </a:r>
            <a:r>
              <a:rPr b="1"/>
              <a:t>スコア</a:t>
            </a:r>
            <a:r>
              <a:rPr b="0"/>
              <a:t> ワット イット キャント。</a:t>
            </a:r>
          </a:p>
          <a:p>
            <a:r>
              <a:rPr b="0"/>
              <a:t/>
            </a:r>
          </a:p>
          <a:p>
            <a:r>
              <a:rPr b="0"/>
              <a:t>── STEP 6 · 1:20 · Silent Standby — Disclose</a:t>
            </a:r>
          </a:p>
          <a:p>
            <a:r>
              <a:rPr b="0"/>
              <a:t>DO: Ctrl+S を押下。復帰は Ctrl+R または Esc。フッタに出ないので指で覚えておく</a:t>
            </a:r>
          </a:p>
          <a:p>
            <a:r>
              <a:rPr b="0"/>
              <a:t>“Now — the moment it’s built for.</a:t>
            </a:r>
          </a:p>
          <a:p>
            <a:r>
              <a:rPr b="0"/>
              <a:t>  ナウ — ザ </a:t>
            </a:r>
            <a:r>
              <a:rPr b="1"/>
              <a:t>モウメント</a:t>
            </a:r>
            <a:r>
              <a:rPr b="0"/>
              <a:t> イッツ ビルト フォー。</a:t>
            </a:r>
          </a:p>
          <a:p>
            <a:r>
              <a:rPr b="0"/>
              <a:t>One hotkey. Silent Standby.</a:t>
            </a:r>
          </a:p>
          <a:p>
            <a:r>
              <a:rPr b="0"/>
              <a:t>  </a:t>
            </a:r>
            <a:r>
              <a:rPr b="1"/>
              <a:t>ワン ホットキー</a:t>
            </a:r>
            <a:r>
              <a:rPr b="0"/>
              <a:t>。 </a:t>
            </a:r>
            <a:r>
              <a:rPr b="1"/>
              <a:t>サイレント スタンドバイ</a:t>
            </a:r>
            <a:r>
              <a:rPr b="0"/>
              <a:t>。</a:t>
            </a:r>
          </a:p>
          <a:p>
            <a:r>
              <a:rPr b="0"/>
              <a:t>The sensitive surface drops away.</a:t>
            </a:r>
          </a:p>
          <a:p>
            <a:r>
              <a:rPr b="0"/>
              <a:t>  ザ センシティヴ サーフィス </a:t>
            </a:r>
            <a:r>
              <a:rPr b="1"/>
              <a:t>ドロップス アウェイ</a:t>
            </a:r>
            <a:r>
              <a:rPr b="0"/>
              <a:t>。</a:t>
            </a:r>
          </a:p>
          <a:p>
            <a:r>
              <a:rPr b="0"/>
              <a:t>And it’s not only this screen. The web interface goes down with it.</a:t>
            </a:r>
          </a:p>
          <a:p>
            <a:r>
              <a:rPr b="0"/>
              <a:t>  アンド イッツ </a:t>
            </a:r>
            <a:r>
              <a:rPr b="1"/>
              <a:t>ナット オウンリー</a:t>
            </a:r>
            <a:r>
              <a:rPr b="0"/>
              <a:t> ディス スクリーン。 ザ ウェブ インターフェイス </a:t>
            </a:r>
            <a:r>
              <a:rPr b="1"/>
              <a:t>ゴウズ ダウン</a:t>
            </a:r>
            <a:r>
              <a:rPr b="0"/>
              <a:t> ウィズ イット。</a:t>
            </a:r>
          </a:p>
          <a:p>
            <a:r>
              <a:rPr b="0"/>
              <a:t>A laptop tethered to this device loses access at the same instant —</a:t>
            </a:r>
          </a:p>
          <a:p>
            <a:r>
              <a:rPr b="0"/>
              <a:t>  ア ラップトップ テザード トゥ ディス デバイス </a:t>
            </a:r>
            <a:r>
              <a:rPr b="1"/>
              <a:t>ルーズィズ アクセス</a:t>
            </a:r>
            <a:r>
              <a:rPr b="0"/>
              <a:t> アット ザ セイム インスタント —</a:t>
            </a:r>
          </a:p>
          <a:p>
            <a:r>
              <a:rPr b="0"/>
              <a:t>including the two browser tabs I just used.</a:t>
            </a:r>
          </a:p>
          <a:p>
            <a:r>
              <a:rPr b="0"/>
              <a:t>  インクルーディング ザ </a:t>
            </a:r>
            <a:r>
              <a:rPr b="1"/>
              <a:t>トゥー ブラウザ タブズ</a:t>
            </a:r>
            <a:r>
              <a:rPr b="0"/>
              <a:t> アイ ジャスト ユーズド。</a:t>
            </a:r>
          </a:p>
          <a:p>
            <a:r>
              <a:rPr b="0"/>
              <a:t>Coming back needs re-authentication.</a:t>
            </a:r>
          </a:p>
          <a:p>
            <a:r>
              <a:rPr b="0"/>
              <a:t>  カミング バック ニーズ </a:t>
            </a:r>
            <a:r>
              <a:rPr b="1"/>
              <a:t>リーオーセンティケイション</a:t>
            </a:r>
            <a:r>
              <a:rPr b="0"/>
              <a:t>。</a:t>
            </a:r>
          </a:p>
          <a:p>
            <a:r>
              <a:rPr b="0"/>
              <a:t>I’m not hiding from forensics.</a:t>
            </a:r>
          </a:p>
          <a:p>
            <a:r>
              <a:rPr b="0"/>
              <a:t>  アイム </a:t>
            </a:r>
            <a:r>
              <a:rPr b="1"/>
              <a:t>ナット ハイディング</a:t>
            </a:r>
            <a:r>
              <a:rPr b="0"/>
              <a:t> フロム フォレンシックス。</a:t>
            </a:r>
          </a:p>
          <a:p>
            <a:r>
              <a:rPr b="0"/>
              <a:t>I’m buying time, and uncertainty.”</a:t>
            </a:r>
          </a:p>
          <a:p>
            <a:r>
              <a:rPr b="0"/>
              <a:t>  アイム </a:t>
            </a:r>
            <a:r>
              <a:rPr b="1"/>
              <a:t>バイイング タイム</a:t>
            </a:r>
            <a:r>
              <a:rPr b="0"/>
              <a:t>、 アンド </a:t>
            </a:r>
            <a:r>
              <a:rPr b="1"/>
              <a:t>アンサートゥンティ</a:t>
            </a:r>
            <a:r>
              <a:rPr b="0"/>
              <a:t>。</a:t>
            </a:r>
          </a:p>
          <a:p>
            <a:r>
              <a:rPr b="0"/>
              <a:t>SPEAK（間を置いて）</a:t>
            </a:r>
          </a:p>
          <a:p>
            <a:r>
              <a:rPr b="0"/>
              <a:t>“One key. And the second surface goes with it.”</a:t>
            </a:r>
          </a:p>
          <a:p>
            <a:r>
              <a:rPr b="0"/>
              <a:t>  </a:t>
            </a:r>
            <a:r>
              <a:rPr b="1"/>
              <a:t>ワン キー</a:t>
            </a:r>
            <a:r>
              <a:rPr b="0"/>
              <a:t>。 アンド ザ セカンド サーフィス </a:t>
            </a:r>
            <a:r>
              <a:rPr b="1"/>
              <a:t>ゴウズ ウィズ イット</a:t>
            </a:r>
            <a:r>
              <a:rPr b="0"/>
              <a:t>。</a:t>
            </a:r>
          </a:p>
          <a:p>
            <a:r>
              <a:rPr b="0"/>
              <a:t/>
            </a:r>
          </a:p>
          <a:p>
            <a:r>
              <a:rPr b="0"/>
              <a:t>── STEP 7 · 0:10 · Wrap</a:t>
            </a:r>
          </a:p>
          <a:p>
            <a:r>
              <a:rPr b="0"/>
              <a:t>DO: Esc で Simple Operator へ戻す → プロジェクタ入力をスライドへ復帰（Slide 25）</a:t>
            </a:r>
          </a:p>
          <a:p>
            <a:r>
              <a:rPr b="0"/>
              <a:t>“That’s Prepare, Bind, Operate, Disclose. On real hardware.</a:t>
            </a:r>
          </a:p>
          <a:p>
            <a:r>
              <a:rPr b="0"/>
              <a:t>  ザッツ </a:t>
            </a:r>
            <a:r>
              <a:rPr b="1"/>
              <a:t>プリペア</a:t>
            </a:r>
            <a:r>
              <a:rPr b="0"/>
              <a:t>、 </a:t>
            </a:r>
            <a:r>
              <a:rPr b="1"/>
              <a:t>バインド</a:t>
            </a:r>
            <a:r>
              <a:rPr b="0"/>
              <a:t>、 </a:t>
            </a:r>
            <a:r>
              <a:rPr b="1"/>
              <a:t>オペレイト</a:t>
            </a:r>
            <a:r>
              <a:rPr b="0"/>
              <a:t>、 </a:t>
            </a:r>
            <a:r>
              <a:rPr b="1"/>
              <a:t>ディスクロウズ</a:t>
            </a:r>
            <a:r>
              <a:rPr b="0"/>
              <a:t>。 オン </a:t>
            </a:r>
            <a:r>
              <a:rPr b="1"/>
              <a:t>リアル ハードウェア</a:t>
            </a:r>
            <a:r>
              <a:rPr b="0"/>
              <a:t>。</a:t>
            </a:r>
          </a:p>
          <a:p>
            <a:r>
              <a:rPr b="0"/>
              <a:t>Come and try it at the table.”</a:t>
            </a:r>
          </a:p>
          <a:p>
            <a:r>
              <a:rPr b="0"/>
              <a:t>  </a:t>
            </a:r>
            <a:r>
              <a:rPr b="1"/>
              <a:t>カム アンド トライ イット</a:t>
            </a:r>
            <a:r>
              <a:rPr b="0"/>
              <a:t> アット ザ テイブル。</a:t>
            </a:r>
          </a:p>
          <a:p>
            <a:r>
              <a:rPr b="0"/>
              <a:t/>
            </a:r>
          </a:p>
          <a:p>
            <a:r>
              <a:rPr b="0"/>
              <a:t>── フォールバック（録画に切り替えたとき）</a:t>
            </a:r>
          </a:p>
          <a:p>
            <a:r>
              <a:rPr b="0"/>
              <a:t>“The design points stand either way.”</a:t>
            </a:r>
          </a:p>
          <a:p>
            <a:r>
              <a:rPr b="0"/>
              <a:t>  ザ デザイン ポインツ </a:t>
            </a:r>
            <a:r>
              <a:rPr b="1"/>
              <a:t>スタンド</a:t>
            </a:r>
            <a:r>
              <a:rPr b="0"/>
              <a:t> イーザー ウェイ。</a:t>
            </a:r>
          </a:p>
          <a:p>
            <a:r>
              <a:rPr b="0"/>
              <a:t/>
            </a:r>
          </a:p>
          <a:p>
            <a:r>
              <a:rPr b="0"/>
              <a:t>JA: Step 3→4（物体だけ外す→拒否→戻して成功）と Step 6（Standby）だけは何があっても実機で見せる。26:00 到達で Step 4b と Step 5 Audit を削る。個別ステップは最大15秒で見切り、止まらず前進。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[26:20 / 0:30] QUICK START — 発話 0:20</a:t>
            </a:r>
          </a:p>
          <a:p>
            <a:r>
              <a:rPr b="0"/>
              <a:t/>
            </a:r>
          </a:p>
          <a:p>
            <a:r>
              <a:rPr b="0"/>
              <a:t>“Want to try it?</a:t>
            </a:r>
          </a:p>
          <a:p>
            <a:r>
              <a:rPr b="0"/>
              <a:t>  </a:t>
            </a:r>
            <a:r>
              <a:rPr b="1"/>
              <a:t>ワナ トライ イット</a:t>
            </a:r>
            <a:r>
              <a:rPr b="0"/>
              <a:t>?</a:t>
            </a:r>
          </a:p>
          <a:p>
            <a:r>
              <a:rPr b="0"/>
              <a:t>Clone the repo. Change into it. Run ./phasmid</a:t>
            </a:r>
          </a:p>
          <a:p>
            <a:r>
              <a:rPr b="0"/>
              <a:t>  </a:t>
            </a:r>
            <a:r>
              <a:rPr b="1"/>
              <a:t>クロウン</a:t>
            </a:r>
            <a:r>
              <a:rPr b="0"/>
              <a:t> ザ リーポウ。 </a:t>
            </a:r>
            <a:r>
              <a:rPr b="1"/>
              <a:t>チェインジ</a:t>
            </a:r>
            <a:r>
              <a:rPr b="0"/>
              <a:t> イントゥ イット。 </a:t>
            </a:r>
            <a:r>
              <a:rPr b="1"/>
              <a:t>ラン</a:t>
            </a:r>
            <a:r>
              <a:rPr b="0"/>
              <a:t> ドット スラッシュ ファズミッド。</a:t>
            </a:r>
          </a:p>
          <a:p>
            <a:r>
              <a:rPr b="0"/>
              <a:t>The first run sets up a virtual environment and opens the console.</a:t>
            </a:r>
          </a:p>
          <a:p>
            <a:r>
              <a:rPr b="0"/>
              <a:t>  ザ ファースト ラン セッツ アップ ア </a:t>
            </a:r>
            <a:r>
              <a:rPr b="1"/>
              <a:t>ヴァーチュアル インヴァイロンメント</a:t>
            </a:r>
            <a:r>
              <a:rPr b="0"/>
              <a:t> アンド オウプンズ ザ コンソウル。</a:t>
            </a:r>
          </a:p>
          <a:p>
            <a:r>
              <a:rPr b="0"/>
              <a:t>Research software. Apache 2.0.</a:t>
            </a:r>
          </a:p>
          <a:p>
            <a:r>
              <a:rPr b="0"/>
              <a:t>  </a:t>
            </a:r>
            <a:r>
              <a:rPr b="1"/>
              <a:t>リサーチ ソフトウェア</a:t>
            </a:r>
            <a:r>
              <a:rPr b="0"/>
              <a:t>。 </a:t>
            </a:r>
            <a:r>
              <a:rPr b="1"/>
              <a:t>アパッチ トゥー ポイント ズィーロウ</a:t>
            </a:r>
            <a:r>
              <a:rPr b="0"/>
              <a:t>。</a:t>
            </a:r>
          </a:p>
          <a:p>
            <a:r>
              <a:rPr b="0"/>
              <a:t>Evaluate it locally, in field-test conditions.</a:t>
            </a:r>
          </a:p>
          <a:p>
            <a:r>
              <a:rPr b="0"/>
              <a:t>  イヴァリュエイト イット </a:t>
            </a:r>
            <a:r>
              <a:rPr b="1"/>
              <a:t>ローカリー</a:t>
            </a:r>
            <a:r>
              <a:rPr b="0"/>
              <a:t>、 イン </a:t>
            </a:r>
            <a:r>
              <a:rPr b="1"/>
              <a:t>フィールドテスト コンディションズ</a:t>
            </a:r>
            <a:r>
              <a:rPr b="0"/>
              <a:t>。</a:t>
            </a:r>
          </a:p>
          <a:p>
            <a:r>
              <a:rPr b="0"/>
              <a:t>Not as production protection.”</a:t>
            </a:r>
          </a:p>
          <a:p>
            <a:r>
              <a:rPr b="0"/>
              <a:t>  </a:t>
            </a:r>
            <a:r>
              <a:rPr b="1"/>
              <a:t>ナット</a:t>
            </a:r>
            <a:r>
              <a:rPr b="0"/>
              <a:t> アズ プロダクション プロテクション。</a:t>
            </a:r>
          </a:p>
          <a:p>
            <a:r>
              <a:rPr b="0"/>
              <a:t/>
            </a:r>
          </a:p>
          <a:p>
            <a:r>
              <a:rPr b="0"/>
              <a:t>JA: リポジトリ URL を指す。ステッカーは未作成なので言及しない。卓上デモへ繋ぐ。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0"/>
              <a:t>[26:50 / 0:40] CLOSING → Q&amp;A — 発話 0:25</a:t>
            </a:r>
          </a:p>
          <a:p>
            <a:r>
              <a:rPr b="0"/>
              <a:t/>
            </a:r>
          </a:p>
          <a:p>
            <a:r>
              <a:rPr b="0"/>
              <a:t>“That’s Phasmid.</a:t>
            </a:r>
          </a:p>
          <a:p>
            <a:r>
              <a:rPr b="0"/>
              <a:t>  ザッツ </a:t>
            </a:r>
            <a:r>
              <a:rPr b="1"/>
              <a:t>ファズミッド</a:t>
            </a:r>
            <a:r>
              <a:rPr b="0"/>
              <a:t>。</a:t>
            </a:r>
          </a:p>
          <a:p>
            <a:r>
              <a:rPr b="0"/>
              <a:t>Local-only. Coercion-aware. Honest limits included.</a:t>
            </a:r>
          </a:p>
          <a:p>
            <a:r>
              <a:rPr b="0"/>
              <a:t>  </a:t>
            </a:r>
            <a:r>
              <a:rPr b="1"/>
              <a:t>ローカル オウンリー</a:t>
            </a:r>
            <a:r>
              <a:rPr b="0"/>
              <a:t>。 </a:t>
            </a:r>
            <a:r>
              <a:rPr b="1"/>
              <a:t>コアージョン アウェア</a:t>
            </a:r>
            <a:r>
              <a:rPr b="0"/>
              <a:t>。 </a:t>
            </a:r>
            <a:r>
              <a:rPr b="1"/>
              <a:t>オネスト リミッツ</a:t>
            </a:r>
            <a:r>
              <a:rPr b="0"/>
              <a:t> インクルーディッド。</a:t>
            </a:r>
          </a:p>
          <a:p>
            <a:r>
              <a:rPr b="0"/>
              <a:t>The code, the threat model, and the architecture are all on GitHub, at 01rabbit.</a:t>
            </a:r>
          </a:p>
          <a:p>
            <a:r>
              <a:rPr b="0"/>
              <a:t>  ザ コウド、 ザ スレット モデル、 アンド ジ アーキテクチャー アー オール オン </a:t>
            </a:r>
            <a:r>
              <a:rPr b="1"/>
              <a:t>ギットハブ</a:t>
            </a:r>
            <a:r>
              <a:rPr b="0"/>
              <a:t>、 アット </a:t>
            </a:r>
            <a:r>
              <a:rPr b="1"/>
              <a:t>ゼロワン ラビット</a:t>
            </a:r>
            <a:r>
              <a:rPr b="0"/>
              <a:t>。</a:t>
            </a:r>
          </a:p>
          <a:p>
            <a:r>
              <a:rPr b="0"/>
              <a:t>The device is right here on the table.</a:t>
            </a:r>
          </a:p>
          <a:p>
            <a:r>
              <a:rPr b="0"/>
              <a:t>  ザ デバイス イズ </a:t>
            </a:r>
            <a:r>
              <a:rPr b="1"/>
              <a:t>ゥライト ヒア</a:t>
            </a:r>
            <a:r>
              <a:rPr b="0"/>
              <a:t> オン ザ テイブル。</a:t>
            </a:r>
          </a:p>
          <a:p>
            <a:r>
              <a:rPr b="0"/>
              <a:t>Come and try it. And please — come and break it.</a:t>
            </a:r>
          </a:p>
          <a:p>
            <a:r>
              <a:rPr b="0"/>
              <a:t>  </a:t>
            </a:r>
            <a:r>
              <a:rPr b="1"/>
              <a:t>カム アンド トライ イット</a:t>
            </a:r>
            <a:r>
              <a:rPr b="0"/>
              <a:t>。 アンド プリーズ — </a:t>
            </a:r>
            <a:r>
              <a:rPr b="1"/>
              <a:t>カム アンド ブレイク イット</a:t>
            </a:r>
            <a:r>
              <a:rPr b="0"/>
              <a:t>。</a:t>
            </a:r>
          </a:p>
          <a:p>
            <a:r>
              <a:rPr b="0"/>
              <a:t>I’ve got time for questions.”</a:t>
            </a:r>
          </a:p>
          <a:p>
            <a:r>
              <a:rPr b="0"/>
              <a:t>  アイヴ ゴット </a:t>
            </a:r>
            <a:r>
              <a:rPr b="1"/>
              <a:t>タイム</a:t>
            </a:r>
            <a:r>
              <a:rPr b="0"/>
              <a:t> フォー クエスチョンズ。</a:t>
            </a:r>
          </a:p>
          <a:p>
            <a:r>
              <a:rPr b="0"/>
              <a:t/>
            </a:r>
          </a:p>
          <a:p>
            <a:r>
              <a:rPr b="0"/>
              <a:t>JA: 約27分で着地。残り約18分を Q&amp;A・卓上デモ・交流へ。ステッカーは未作成 — 実機体験への導線に差し替え済み。45分で必ず終了。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47472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CON · DEMO LABS</a:t>
            </a:r>
            <a:endParaRPr lang="en-US" sz="1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731520"/>
            <a:ext cx="7772400" cy="3886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6817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 Eidolon System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0" y="51389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 for controlled disclosure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3108960" y="5596128"/>
            <a:ext cx="594360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742432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 (Mr.Rabbit)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Senior Engineer, GMO Cybersecurity by Ierae, Inc.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github.com/01rabbit/Phasmid</a:t>
            </a:r>
            <a:pPr algn="ctr"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algn="ctr" indent="0" marL="0">
              <a:buNone/>
            </a:pPr>
            <a:r>
              <a:rPr lang="en-US" sz="16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0" y="623620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prototype · Apache-2.0 · v0.6.0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WHOAMI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— a.k.a. Mr.Rabbit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383280" cy="4114800"/>
          </a:xfrm>
          <a:prstGeom prst="roundRect">
            <a:avLst>
              <a:gd name="adj" fmla="val 243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2768" y="2148840"/>
            <a:ext cx="1371600" cy="137160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3664" y="2459736"/>
            <a:ext cx="749808" cy="749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657600"/>
            <a:ext cx="30540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GMO Cybersecurity by Ierae, Inc.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114800"/>
            <a:ext cx="30540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Engineer · Security Researcher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68680" y="4892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99262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48920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/01rabbit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68680" y="5440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5541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5440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297680" y="1783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 do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4343400" y="2331720"/>
            <a:ext cx="7315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Ex-military — former JGSDF officer (2nd Lt.), cyber unit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offensive experience into defensive tools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deception, delaying action, constrained SOC/NOC, coercion-aware design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Penetration tester background · CISSP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of the Azazel System and the PAKURI tool family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29768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you've seen the work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43400" y="4828032"/>
            <a:ext cx="1960474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43400" y="4828032"/>
            <a:ext cx="196047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Hat Arsenal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50178" y="4828032"/>
            <a:ext cx="185806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50178" y="4828032"/>
            <a:ext cx="185806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Las Vegas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8454542" y="4828032"/>
            <a:ext cx="1448410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454542" y="4828032"/>
            <a:ext cx="14484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BSides Tokyo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10049256" y="4828032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9256" y="4828032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4343400" y="5413248"/>
            <a:ext cx="1141171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343400" y="5413248"/>
            <a:ext cx="11411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BLUE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5630875" y="5413248"/>
            <a:ext cx="833933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30875" y="5413248"/>
            <a:ext cx="8339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SECCON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611112" y="5413248"/>
            <a:ext cx="936346" cy="475488"/>
          </a:xfrm>
          <a:prstGeom prst="roundRect">
            <a:avLst>
              <a:gd name="adj" fmla="val 1153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611112" y="5413248"/>
            <a:ext cx="9363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AVTOKYO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we're going — ~30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417320" y="18928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93392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78308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212080" y="178308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Compelled access and over-disclosure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66928" y="2496312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96312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417320" y="26060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70662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057400" y="2496312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212080" y="2496312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 — a two-slot disclosure model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66928" y="3209544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3209544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1417320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3419856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057400" y="3209544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5212080" y="3209544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operation &amp; coercion-safe delaying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66928" y="3922776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22960" y="3922776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19"/>
          <p:cNvSpPr/>
          <p:nvPr/>
        </p:nvSpPr>
        <p:spPr>
          <a:xfrm>
            <a:off x="1417320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4133088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057400" y="3922776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212080" y="3922776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Crypto, operational guards, real hardware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66928" y="4636008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822960" y="4636008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1417320" y="474573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4846320"/>
            <a:ext cx="256032" cy="25603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057400" y="4636008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5212080" y="4636008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ethics &amp; scope drawn carefully</a:t>
            </a:r>
            <a:endParaRPr lang="en-US" sz="1700" dirty="0"/>
          </a:p>
        </p:txBody>
      </p:sp>
      <p:sp>
        <p:nvSpPr>
          <p:cNvPr id="34" name="Shape 27"/>
          <p:cNvSpPr/>
          <p:nvPr/>
        </p:nvSpPr>
        <p:spPr>
          <a:xfrm>
            <a:off x="566928" y="5349240"/>
            <a:ext cx="11018520" cy="676656"/>
          </a:xfrm>
          <a:prstGeom prst="roundRect">
            <a:avLst>
              <a:gd name="adj" fmla="val 12162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22960" y="53492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1417320" y="54589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5559552"/>
            <a:ext cx="256032" cy="25603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2057400" y="5349240"/>
            <a:ext cx="3108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39" name="Text 31"/>
          <p:cNvSpPr/>
          <p:nvPr/>
        </p:nvSpPr>
        <p:spPr>
          <a:xfrm>
            <a:off x="5212080" y="5349240"/>
            <a:ext cx="6126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TUI — then try it yourself</a:t>
            </a:r>
            <a:endParaRPr lang="en-US" sz="1700" dirty="0"/>
          </a:p>
        </p:txBody>
      </p:sp>
      <p:sp>
        <p:nvSpPr>
          <p:cNvPr id="40" name="Text 3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They don't need to break crypto.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just take the device — and ask you to unlock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735" y="2671511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seizure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7782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Border, checkpoint, arrest, or theft. The hardware is now in someone else's hands.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6168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495" y="2671511"/>
            <a:ext cx="399410" cy="3994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7258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7258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"Unlock it." Legal, physical, or coercive pressure to hand over credentials.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56448" y="2194560"/>
            <a:ext cx="3602736" cy="3383280"/>
          </a:xfrm>
          <a:prstGeom prst="roundRect">
            <a:avLst>
              <a:gd name="adj" fmla="val 2432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67344" y="251460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4255" y="2671511"/>
            <a:ext cx="399410" cy="39941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67344" y="340156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Over-disclosure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67344" y="3913632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Full-disk encryption is all-or-nothing: once open, everything is exposed at once.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90" name="RealCase"/>
          <p:cNvSpPr/>
          <p:nvPr/>
        </p:nvSpPr>
        <p:spPr>
          <a:xfrm>
            <a:off x="566928" y="5742432"/>
            <a:ext cx="11064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cs typeface="Courier New" pitchFamily="34" charset="0"/>
              </a:rPr>
              <a:t>REAL CASE (2026): </a:t>
            </a:r>
            <a:r>
              <a:rPr lang="en-US" sz="1500" dirty="0">
                <a:solidFill>
                  <a:srgbClr val="E8EFEA"/>
                </a:solidFill>
                <a:latin typeface="Calibri" pitchFamily="34" charset="0"/>
                <a:cs typeface="Calibri" pitchFamily="34" charset="0"/>
              </a:rPr>
              <a:t>a U.S. citizen was federally charged after a duress-wipe during a border search — the first known prosecution of its kind.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RELATABLE MOMENT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Compelled access: pick your fate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🙅</a:t>
            </a:r>
            <a:endParaRPr lang="en-US" sz="74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won't unlock it."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detained / escalation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6168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36168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😰</a:t>
            </a:r>
            <a:endParaRPr lang="en-US" sz="7400" dirty="0"/>
          </a:p>
        </p:txBody>
      </p:sp>
      <p:sp>
        <p:nvSpPr>
          <p:cNvPr id="11" name="Text 9"/>
          <p:cNvSpPr/>
          <p:nvPr/>
        </p:nvSpPr>
        <p:spPr>
          <a:xfrm>
            <a:off x="436168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Comply (FDE)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54456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"...here's everything."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4456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total over-disclosure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56448" y="2148840"/>
            <a:ext cx="3602736" cy="3566160"/>
          </a:xfrm>
          <a:prstGeom prst="roundRect">
            <a:avLst>
              <a:gd name="adj" fmla="val 230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56448" y="2377440"/>
            <a:ext cx="3602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rgbClr val="000000"/>
                </a:solidFill>
              </a:rPr>
              <a:t>😎</a:t>
            </a:r>
            <a:endParaRPr lang="en-US" sz="7400" dirty="0"/>
          </a:p>
        </p:txBody>
      </p:sp>
      <p:sp>
        <p:nvSpPr>
          <p:cNvPr id="16" name="Text 14"/>
          <p:cNvSpPr/>
          <p:nvPr/>
        </p:nvSpPr>
        <p:spPr>
          <a:xfrm>
            <a:off x="8156448" y="3611880"/>
            <a:ext cx="3602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39328" y="4114800"/>
            <a:ext cx="3236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"Here's what's visible."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39328" y="4892040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controlled disclosure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66928" y="587044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demand. Different blast radius.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 control — not casual file encryption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2140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Phasmid 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914400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field-evaluation research prototype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 by default (127.0.0.1 WebUI)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visible disclosure from protected local state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implementation of the Janus Eidolon System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199632" y="182880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2140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086600" y="212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 NOT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547104" y="278892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audited full-disk encryption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hardware-backed key storage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risk-free delete — destruction is legally hazardous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 answer to compelled disclosure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faces, by design — the Janus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two-slot controlled-disclosure model: what you show is not all there is.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7841" y="2750881"/>
            <a:ext cx="368686" cy="3686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659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A · VISIBLE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188720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capture-visible surface shows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Disclosed under pressure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Plausible, ordinary, unremarkable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611112" y="2286000"/>
            <a:ext cx="4754880" cy="3200400"/>
          </a:xfrm>
          <a:prstGeom prst="roundRect">
            <a:avLst>
              <a:gd name="adj" fmla="val 2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931152" y="26060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993" y="2750881"/>
            <a:ext cx="368686" cy="3686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54112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B · PROTECTED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976872" y="352044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local state, kept off the visible path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local conditions, not just a password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exposed by normal UI / CLI flows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660136" y="3520440"/>
            <a:ext cx="868680" cy="868680"/>
          </a:xfrm>
          <a:prstGeom prst="ellipse">
            <a:avLst/>
          </a:prstGeom>
          <a:solidFill>
            <a:srgbClr val="0C1210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712464"/>
            <a:ext cx="484632" cy="4846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ADVERSARIES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it defends against — and who it doesn't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343400"/>
          </a:xfrm>
          <a:prstGeom prst="roundRect">
            <a:avLst>
              <a:gd name="adj" fmla="val 189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 (5)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22960" y="25420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642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496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captor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7980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at rest → recover payload / confirm state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334670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Passive observer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350215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screen, shell history, files → learn mode/slots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405079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39044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active attacker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42062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OS-level dir access → copy vault, offline crack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822960" y="4654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4754880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71600" y="46085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Local-network attacker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1371600" y="491032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via localhost/USB → replay token, brute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822960" y="535838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5458968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71600" y="531266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Coercing authority</a:t>
            </a:r>
            <a:endParaRPr lang="en-US" sz="1500" dirty="0"/>
          </a:p>
        </p:txBody>
      </p:sp>
      <p:sp>
        <p:nvSpPr>
          <p:cNvPr id="26" name="Text 18"/>
          <p:cNvSpPr/>
          <p:nvPr/>
        </p:nvSpPr>
        <p:spPr>
          <a:xfrm>
            <a:off x="1371600" y="561441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legal/physical coercion → compel disclosure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6236208" y="1783080"/>
            <a:ext cx="5394960" cy="4343400"/>
          </a:xfrm>
          <a:prstGeom prst="roundRect">
            <a:avLst>
              <a:gd name="adj" fmla="val 1895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011680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967728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 (5)</a:t>
            </a:r>
            <a:endParaRPr lang="en-US" sz="19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0528" y="2578608"/>
            <a:ext cx="310896" cy="31089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949440" y="2505456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host kernel / hypervisor — defeats all software controls</a:t>
            </a:r>
            <a:endParaRPr lang="en-US" sz="15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0528" y="3282696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6949440" y="3209544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implant / side-channel — needs HSM or certified enclave</a:t>
            </a:r>
            <a:endParaRPr lang="en-US" sz="15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10528" y="3986784"/>
            <a:ext cx="310896" cy="31089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6949440" y="3913632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attacker over untrusted network — WebUI is localhost / USB only</a:t>
            </a:r>
            <a:endParaRPr lang="en-US" sz="15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0528" y="4690872"/>
            <a:ext cx="310896" cy="31089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6949440" y="4617720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attacker — dependency integrity is operational (SH-22)</a:t>
            </a:r>
            <a:endParaRPr lang="en-US" sz="1500" dirty="0"/>
          </a:p>
        </p:txBody>
      </p:sp>
      <p:pic>
        <p:nvPicPr>
          <p:cNvPr id="3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0528" y="5394960"/>
            <a:ext cx="310896" cy="31089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6949440" y="53218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breaks vs AES-GCM / Argon2id — assumed computationally secure</a:t>
            </a:r>
            <a:endParaRPr lang="en-US" sz="1500" dirty="0"/>
          </a:p>
        </p:txBody>
      </p:sp>
      <p:sp>
        <p:nvSpPr>
          <p:cNvPr id="4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 MODEL · SCENARIOS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scenarios, tagged STRIDE + LINDDUN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Spoofing · Tampering · Repudiation · Info-disclosure · DoS · Elevation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9385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LINDDUN  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Linkability · Identifiability · Non-repudiation · Detectability · Disclosure · Unawareness · Non-compliance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50592"/>
            <a:ext cx="11018520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5146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2514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Representative scenario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0" y="2514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STRIDE / LINDDUN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91693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935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2935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copy + offline cracking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0" y="29352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T, Di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331012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2841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20240" y="33284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session fixation / replay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332841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3703320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2160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TS-08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920240" y="372160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header / filename leakage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69680" y="37216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Di, 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4096512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1148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920240" y="41148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/ lockout bypass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0" y="4114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" y="4489704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5079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920240" y="4507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side-channel: RESTRICTED vs FAILED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869680" y="4507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I, 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2960" y="4882896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901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920240" y="49011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Object-cue spoofing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869680" y="49011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22960" y="5276088"/>
            <a:ext cx="10515600" cy="0"/>
          </a:xfrm>
          <a:prstGeom prst="line">
            <a:avLst/>
          </a:prstGeom>
          <a:noFill/>
          <a:ln w="9525">
            <a:solidFill>
              <a:srgbClr val="2C3A3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2943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TS-18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920240" y="52943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Coerced disclosure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69680" y="52943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Di, U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matrix: docs/THREAT_MODEL.md · docs/THREAT_ANALYSIS_STRIDE.md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BOUNDARY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things the system keeps explicit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77" y="2311969"/>
            <a:ext cx="368686" cy="3686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82496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Two-slot local storage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77824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disclosure separated from protected local state.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199632" y="187452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16712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081" y="2311969"/>
            <a:ext cx="368686" cy="36868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85416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10528" y="2926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derive from local state — not a passphrase alone.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9536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77" y="4351081"/>
            <a:ext cx="368686" cy="36868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82496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Restricted-action policy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77824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checks gate sensitive / recovery behavior.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99632" y="3913632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0624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081" y="4351081"/>
            <a:ext cx="368686" cy="36868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224528"/>
            <a:ext cx="4114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discipline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510528" y="49651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flows don't expose structure, recovery, or trial order.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· LAYERS &amp; DOCS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Narrow local layers &amp; document map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35024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Architectural layers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71600" y="2651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/ WebUI entry points — no internal structure in normal flows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371600" y="329184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Restricted-action policy — confirmation, timing, capability checks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371600" y="393192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core — vault.bin, KDF, layout, access-key mixing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371600" y="457200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state — typed state, attempt limiting, object-cue, audit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868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371600" y="521208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review — operating boundary, appliance hardening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 map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528816" y="2697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SPECIFICATION.md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528816" y="29992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behavior &amp; configuration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528816" y="3364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THREAT_MODEL.md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528816" y="366674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assumptions, residual risk, safety boundary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528816" y="4032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JANUS_EIDOLON_SYSTEM.md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528816" y="433425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two-slot architecture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528816" y="47000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COERCION_SAFE_DELAYING.md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6528816" y="50017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delaying-architecture design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6528816" y="5367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6528816" y="5669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 summary &amp; operational limits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moving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537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1408" y="245059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552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Encrypted local vessel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5953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 live in a local container, sealed with authenticated encryption and password-derived keys.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6168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6013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2450592"/>
            <a:ext cx="493776" cy="4937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Object-cue operation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65429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object matching acts as an operational access cue — an on/off gate, not cryptographic key material.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8156448" y="1874520"/>
            <a:ext cx="3602736" cy="3977640"/>
          </a:xfrm>
          <a:prstGeom prst="roundRect">
            <a:avLst>
              <a:gd name="adj" fmla="val 2284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454896" y="2194560"/>
            <a:ext cx="1005840" cy="1005840"/>
          </a:xfrm>
          <a:prstGeom prst="ellipse">
            <a:avLst/>
          </a:prstGeom>
          <a:solidFill>
            <a:srgbClr val="1C2C24"/>
          </a:solidFill>
          <a:ln w="25400">
            <a:solidFill>
              <a:srgbClr val="7EC4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450592"/>
            <a:ext cx="493776" cy="4937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85048" y="3337560"/>
            <a:ext cx="3145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Controlled disclosure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449056" y="402336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what is shown from what stays protected. Three credentials: open the real file, open the decoy, destroy the real.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INTERESTING BIT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object is a cue — not a key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486400" cy="3977640"/>
          </a:xfrm>
          <a:prstGeom prst="roundRect">
            <a:avLst>
              <a:gd name="adj" fmla="val 20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868680" cy="868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200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right object to the camera to operate the access gate.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68680" y="4434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everyday item becomes an operating gesture — nothing to type, nothing that looks like a secret.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236208" y="1874520"/>
            <a:ext cx="5349240" cy="3977640"/>
          </a:xfrm>
          <a:prstGeom prst="roundRect">
            <a:avLst>
              <a:gd name="adj" fmla="val 2069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that matters</a:t>
            </a:r>
            <a:endParaRPr lang="en-US" sz="2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889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7432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drives operation and policy checks</a:t>
            </a:r>
            <a:endParaRPr lang="en-US" sz="18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015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040880" y="33558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cue is NOT the encryption key</a:t>
            </a:r>
            <a:endParaRPr lang="en-US" sz="1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14216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040880" y="396849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 of the object doesn't unlock the vessel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28816" y="4709160"/>
            <a:ext cx="47548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6528816" y="484632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7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stays with Argon2id + AES-GCM. The object just decides whether you get to act.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COERCION-SAFE DELAYING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Buy time. Avoid obvious failure.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144451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hotkey drops sensitive UI into a non-sensitive state. Recovery needs re-auth.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7782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53235" y="41605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53235" y="41605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standby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911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50911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77824" y="4617720"/>
            <a:ext cx="1470355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4617720"/>
            <a:ext cx="14703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dummy_disclosure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36168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65429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067" y="2144451"/>
            <a:ext cx="337962" cy="33796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38581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Operator-supplied disclosure material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467258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prepare the file you would hand over, before any coercion. Phasmid never fabricates it.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156448" y="1783080"/>
            <a:ext cx="3602736" cy="3246120"/>
          </a:xfrm>
          <a:prstGeom prst="roundRect">
            <a:avLst>
              <a:gd name="adj" fmla="val 253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49056" y="20116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1827" y="2144451"/>
            <a:ext cx="337962" cy="3379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9180576" y="201168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Profiles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8467344" y="27432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 describing what 'normal' looks like for a role — so you know what to prepare.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67344" y="4160520"/>
            <a:ext cx="665683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467344" y="4160520"/>
            <a:ext cx="6656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9242755" y="4160520"/>
            <a:ext cx="1309421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242755" y="4160520"/>
            <a:ext cx="13094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field_engineer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8467344" y="4617720"/>
            <a:ext cx="987552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8467344" y="4617720"/>
            <a:ext cx="987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9564624" y="4617720"/>
            <a:ext cx="1068019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9564624" y="4617720"/>
            <a:ext cx="10680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10742371" y="4617720"/>
            <a:ext cx="746150" cy="365760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10742371" y="4617720"/>
            <a:ext cx="7461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66928" y="5230368"/>
            <a:ext cx="11018520" cy="914400"/>
          </a:xfrm>
          <a:prstGeom prst="roundRect">
            <a:avLst>
              <a:gd name="adj" fmla="val 9000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822960" y="523036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Recognition modes</a:t>
            </a:r>
            <a:endParaRPr lang="en-US" sz="1500" dirty="0"/>
          </a:p>
        </p:txBody>
      </p:sp>
      <p:sp>
        <p:nvSpPr>
          <p:cNvPr id="39" name="Text 34"/>
          <p:cNvSpPr/>
          <p:nvPr/>
        </p:nvSpPr>
        <p:spPr>
          <a:xfrm>
            <a:off x="3017520" y="5230368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mismatch = failure      </a:t>
            </a:r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coercion_safe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low confidence → dummy path     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pPr indent="0" marL="0">
              <a:buNone/>
            </a:pPr>
            <a:r>
              <a:rPr lang="en-US" sz="1500" dirty="0">
                <a:solidFill>
                  <a:srgbClr val="9DB0A4"/>
                </a:solidFill>
              </a:rPr>
              <a:t> safe debug visibility</a:t>
            </a:r>
            <a:endParaRPr lang="en-US" sz="1500" dirty="0"/>
          </a:p>
        </p:txBody>
      </p:sp>
      <p:sp>
        <p:nvSpPr>
          <p:cNvPr id="40" name="Text 3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Restraint is a feature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54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451" y="231818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0574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Local-first boundary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669280" y="20574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vault.bin alone is not meant to be enough for normal recovery when required local state is absent.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2461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5570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451" y="368978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4290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Capture-visible restraint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5669280" y="34290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UI / CLI flows avoid revealing disclosure structure, recovery behavior, or trial order.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1101852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1" y="5061387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0060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Best-effort metadata reduction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5669280" y="4800600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review and reduction are operational support — not guaranteed sanitization.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 → Bind → Operate → Disclose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313432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6203" y="2464491"/>
            <a:ext cx="337962" cy="337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2960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local vessel and define the operational context before field use.</a:t>
            </a:r>
            <a:endParaRPr lang="en-US" sz="17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2044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38144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694176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5184648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419" y="2464491"/>
            <a:ext cx="337962" cy="33796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694176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</a:t>
            </a:r>
            <a:endParaRPr lang="en-US" sz="2100" dirty="0"/>
          </a:p>
        </p:txBody>
      </p:sp>
      <p:sp>
        <p:nvSpPr>
          <p:cNvPr id="16" name="Text 11"/>
          <p:cNvSpPr/>
          <p:nvPr/>
        </p:nvSpPr>
        <p:spPr>
          <a:xfrm>
            <a:off x="3694176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passphrase recovery with local state and the object-cue gate.</a:t>
            </a:r>
            <a:endParaRPr lang="en-US" sz="17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520440"/>
            <a:ext cx="201168" cy="20116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565392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Shape 14"/>
          <p:cNvSpPr/>
          <p:nvPr/>
        </p:nvSpPr>
        <p:spPr>
          <a:xfrm>
            <a:off x="8055864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635" y="2464491"/>
            <a:ext cx="337962" cy="33796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65392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Operate</a:t>
            </a:r>
            <a:endParaRPr lang="en-US" sz="2100" dirty="0"/>
          </a:p>
        </p:txBody>
      </p:sp>
      <p:sp>
        <p:nvSpPr>
          <p:cNvPr id="23" name="Text 16"/>
          <p:cNvSpPr/>
          <p:nvPr/>
        </p:nvSpPr>
        <p:spPr>
          <a:xfrm>
            <a:off x="6565392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CLI, TUI, or local WebUI while keeping visible surfaces restrained.</a:t>
            </a:r>
            <a:endParaRPr lang="en-US" sz="17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3520440"/>
            <a:ext cx="201168" cy="20116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180576" y="2103120"/>
            <a:ext cx="2615184" cy="3246120"/>
          </a:xfrm>
          <a:prstGeom prst="roundRect">
            <a:avLst>
              <a:gd name="adj" fmla="val 314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18"/>
          <p:cNvSpPr/>
          <p:nvPr/>
        </p:nvSpPr>
        <p:spPr>
          <a:xfrm>
            <a:off x="9436608" y="228600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000" dirty="0"/>
          </a:p>
        </p:txBody>
      </p:sp>
      <p:sp>
        <p:nvSpPr>
          <p:cNvPr id="27" name="Shape 19"/>
          <p:cNvSpPr/>
          <p:nvPr/>
        </p:nvSpPr>
        <p:spPr>
          <a:xfrm>
            <a:off x="10927080" y="233172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9851" y="2464491"/>
            <a:ext cx="337962" cy="33796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436608" y="306324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</a:t>
            </a:r>
            <a:endParaRPr lang="en-US" sz="2100" dirty="0"/>
          </a:p>
        </p:txBody>
      </p:sp>
      <p:sp>
        <p:nvSpPr>
          <p:cNvPr id="30" name="Text 21"/>
          <p:cNvSpPr/>
          <p:nvPr/>
        </p:nvSpPr>
        <p:spPr>
          <a:xfrm>
            <a:off x="9436608" y="3611880"/>
            <a:ext cx="2112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controlled disclosure under documented assumptions and residual risk.</a:t>
            </a:r>
            <a:endParaRPr lang="en-US" sz="1700" dirty="0"/>
          </a:p>
        </p:txBody>
      </p:sp>
      <p:sp>
        <p:nvSpPr>
          <p:cNvPr id="31" name="Text 22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 THE HOOD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Small, local, boring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949" y="21323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</a:t>
            </a:r>
            <a:endParaRPr lang="en-US" sz="2300" dirty="0"/>
          </a:p>
        </p:txBody>
      </p:sp>
      <p:sp>
        <p:nvSpPr>
          <p:cNvPr id="8" name="Text 5"/>
          <p:cNvSpPr/>
          <p:nvPr/>
        </p:nvSpPr>
        <p:spPr>
          <a:xfrm>
            <a:off x="786384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password-based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19272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93" y="213238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3538728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071616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45936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637" y="213238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127.0.0.1</a:t>
            </a:r>
            <a:endParaRPr lang="en-US" sz="2300" dirty="0"/>
          </a:p>
        </p:txBody>
      </p:sp>
      <p:sp>
        <p:nvSpPr>
          <p:cNvPr id="18" name="Text 13"/>
          <p:cNvSpPr/>
          <p:nvPr/>
        </p:nvSpPr>
        <p:spPr>
          <a:xfrm>
            <a:off x="6291072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WebUI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8823960" y="1783080"/>
            <a:ext cx="2615184" cy="2331720"/>
          </a:xfrm>
          <a:prstGeom prst="roundRect">
            <a:avLst>
              <a:gd name="adj" fmla="val 352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098280" y="20116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981" y="213238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25128" y="2651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 Zero 2 W</a:t>
            </a:r>
            <a:endParaRPr lang="en-US" sz="2300" dirty="0"/>
          </a:p>
        </p:txBody>
      </p:sp>
      <p:sp>
        <p:nvSpPr>
          <p:cNvPr id="23" name="Text 17"/>
          <p:cNvSpPr/>
          <p:nvPr/>
        </p:nvSpPr>
        <p:spPr>
          <a:xfrm>
            <a:off x="9043416" y="32004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field-evaluation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566928" y="4343400"/>
            <a:ext cx="11018520" cy="960120"/>
          </a:xfrm>
          <a:prstGeom prst="roundRect">
            <a:avLst>
              <a:gd name="adj" fmla="val 857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822960" y="434340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KDF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(m=32768, t=2, p=1)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 access-key mixing  +  device-bind (CPU serial)  → 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per-record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(salt + nonce, AAD, no plaintext header · v3)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22960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3.10+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Interfaces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· TUI · local WebUI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License </a:t>
            </a:r>
            <a:pPr indent="0" marL="0">
              <a:buNone/>
            </a:pPr>
            <a:r>
              <a:rPr lang="en-US" sz="15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</a:t>
            </a:r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 </a:t>
            </a:r>
            <a:pPr indent="0" marL="0">
              <a:buNone/>
            </a:pPr>
            <a:r>
              <a:rPr lang="en-US" sz="15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v0.1.4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 appliance that hides in plain sight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310896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3108960" cy="4142232"/>
          </a:xfrm>
          <a:prstGeom prst="roundRect">
            <a:avLst>
              <a:gd name="adj" fmla="val 1471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977640" y="1874520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60520" y="20116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174" y="2124334"/>
            <a:ext cx="286756" cy="2867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892040" y="19659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Raspberry Pi Zero 2 W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772400" y="19659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compute; the WebUI never needs the network.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2734056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160520" y="2871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74" y="2983870"/>
            <a:ext cx="286756" cy="2867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82549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Camera module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772400" y="28254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the object cue ("Faces") that gates operation.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3977640" y="3593592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160520" y="373075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174" y="3843406"/>
            <a:ext cx="286756" cy="2867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892040" y="368503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3D-printed enclosure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7772400" y="3685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and unremarkable — reads as a small gadget.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3977640" y="4453128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160520" y="459028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3174" y="4702942"/>
            <a:ext cx="286756" cy="2867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892040" y="454456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USB-gadget WebUI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7772400" y="454456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over USB at 127.0.0.1, not over any LAN.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3977640" y="5312664"/>
            <a:ext cx="7589520" cy="786384"/>
          </a:xfrm>
          <a:prstGeom prst="roundRect">
            <a:avLst>
              <a:gd name="adj" fmla="val 10465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4160520" y="544982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3174" y="5562478"/>
            <a:ext cx="286756" cy="286756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892040" y="540410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 tripod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772400" y="54041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Presents an everyday object to the lens on demand.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CRYPTOGRAPHIC CORE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JES v3 record &amp; key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019" y="2226747"/>
            <a:ext cx="337962" cy="337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Argon2id KDF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64208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memory_cost=32768 · iterations=2 · lanes=1 (tuned for Pi Zero 2 W). Fresh random salt per record.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2093976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723" y="2226747"/>
            <a:ext cx="337962" cy="337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96912" y="19476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 access-key mixing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296912" y="2350008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access.bin is mixed into derivation — copying vault.bin alone is insufficient.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66928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1248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019" y="3570915"/>
            <a:ext cx="337962" cy="337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64208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 binding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664208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identifiers (CPU serial, revision) feed the KDF pipeline.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99632" y="312724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3438144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723" y="3570915"/>
            <a:ext cx="337962" cy="33796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96912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 external secret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296912" y="3694176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PHASMID_HARDWARE_SECRET_FILE / _PROMPT adds a third factor for retrieval.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66928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019" y="4915083"/>
            <a:ext cx="337962" cy="33796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64208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AES-GCM per record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1664208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nonce + AAD phasmid-record-v3:&lt;mode&gt;:&lt;role&gt;:&lt;size&gt;; tamper → InvalidTag.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6199632" y="447141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73952" y="4782312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723" y="4915083"/>
            <a:ext cx="337962" cy="3379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296912" y="4636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plaintext marker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7296912" y="5038344"/>
            <a:ext cx="4160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vault.bin has no magic/header; AEAD-authenticated encrypted metadata.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566928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Startup self-tests verify AES-GCM, HMAC-SHA-256, and RNG before normal operation.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 GUARDS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WebUI &amp; access controls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614" y="2115190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Localhost binding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27048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WebUI binds 127.0.0.1 by default; USB-gadget only otherwise.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200253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318" y="2115190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91109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Per-process token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159752" y="22585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Mutations require X-Phasmid-Token; rotatable via restricted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14" y="3185038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27048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Restricted confirmation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27048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cookie, 120 s TTL, IP-bound, + typed confirmation phrase.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99632" y="2852928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3072384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8318" y="3185038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298094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Attempt limiter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159752" y="332841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after 5 failures / 60 s (configurable), per client.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66928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22960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614" y="4254886"/>
            <a:ext cx="286756" cy="2867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27048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28" name="Text 21"/>
          <p:cNvSpPr/>
          <p:nvPr/>
        </p:nvSpPr>
        <p:spPr>
          <a:xfrm>
            <a:off x="1527048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 / 60 s per client; excess returns HTTP 429.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199632" y="3922776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55664" y="4142232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8318" y="4254886"/>
            <a:ext cx="286756" cy="2867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59752" y="405079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Inactivity auto-kill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7159752" y="43982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TUI-managed WebUI terminates after 10 min idle; exposure banner shown.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66928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22960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614" y="5324734"/>
            <a:ext cx="286756" cy="2867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27048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Hardened headers</a:t>
            </a:r>
            <a:endParaRPr lang="en-US" sz="1600" dirty="0"/>
          </a:p>
        </p:txBody>
      </p:sp>
      <p:sp>
        <p:nvSpPr>
          <p:cNvPr id="38" name="Text 29"/>
          <p:cNvSpPr/>
          <p:nvPr/>
        </p:nvSpPr>
        <p:spPr>
          <a:xfrm>
            <a:off x="1527048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frame-ancestors none · no-store · X-Frame-Options · nosniff.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6199632" y="4992624"/>
            <a:ext cx="5394960" cy="960120"/>
          </a:xfrm>
          <a:prstGeom prst="roundRect">
            <a:avLst>
              <a:gd name="adj" fmla="val 8571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6455664" y="5212080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8318" y="5324734"/>
            <a:ext cx="286756" cy="2867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7159752" y="512064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Opt-in audit log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7159752" y="5468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events.log: op/timestamp/length only, HMAC-SHA-256 chained.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45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DESIGN ETHICS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will and won't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94760"/>
          </a:xfrm>
          <a:prstGeom prst="roundRect">
            <a:avLst>
              <a:gd name="adj" fmla="val 2169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1673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 behaviors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9377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controlled disclosure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Privacy-preserving standby transitions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Ambiguity-preserving workflows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Configurable hotkey-triggered standby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Operator-supplied disclosure material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Local free-space reports</a:t>
            </a:r>
          </a:p>
        </p:txBody>
      </p:sp>
      <p:sp>
        <p:nvSpPr>
          <p:cNvPr id="8" name="Shape 5"/>
          <p:cNvSpPr/>
          <p:nvPr/>
        </p:nvSpPr>
        <p:spPr>
          <a:xfrm>
            <a:off x="6199632" y="178308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Disallowed by design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6547104" y="2606040"/>
            <a:ext cx="48463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Rootkits / kernel-level hiding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process persistence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Forensic-tool bypass or interference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system-event fabrication / timestamp forgery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Anti-forensic metadata tampering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566928" y="5742432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destroys but never fabricates — and under coercion the restricted credential destroys rather than discloses. Owner-triggered destruction is real and legally hazardous; the operator decides and bears the risk.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Scope, honestly drawn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4160520"/>
          </a:xfrm>
          <a:prstGeom prst="roundRect">
            <a:avLst>
              <a:gd name="adj" fmla="val 1978"/>
            </a:avLst>
          </a:prstGeom>
          <a:solidFill>
            <a:srgbClr val="16211B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What's in / out of scope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Software-existence concealment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00446" y="2724912"/>
            <a:ext cx="5431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E565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00446" y="2724912"/>
            <a:ext cx="543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65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40156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Data-existence deniability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2002" y="3474720"/>
            <a:ext cx="901598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F0A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2002" y="3474720"/>
            <a:ext cx="90159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41513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disclosure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93946" y="4224528"/>
            <a:ext cx="1349654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3946" y="4224528"/>
            <a:ext cx="13496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central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49011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Coercion-aware fallback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5501" y="4974336"/>
            <a:ext cx="1708099" cy="402336"/>
          </a:xfrm>
          <a:prstGeom prst="roundRect">
            <a:avLst>
              <a:gd name="adj" fmla="val 50000"/>
            </a:avLst>
          </a:prstGeom>
          <a:solidFill>
            <a:srgbClr val="0C12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35501" y="4974336"/>
            <a:ext cx="170809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· operational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2A1714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402336" cy="40233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86016" y="19751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claimed</a:t>
            </a:r>
            <a:endParaRPr lang="en-US" sz="18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9748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040880" y="264261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deniability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447288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040880" y="339242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immunity</a:t>
            </a:r>
            <a:endParaRPr lang="en-US" sz="18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40880" y="414223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deletion on flash media</a:t>
            </a:r>
            <a:endParaRPr lang="en-US" sz="18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946904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040880" y="489204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from a compromised host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566928" y="6089904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documented boundary — no snake oil. Judging your cover story stays your job.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F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50292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33172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76656" y="36118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Disclosure Control — on real hardware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76656" y="4343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passwords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Refused → </a:t>
            </a:r>
            <a:pPr indent="0" marL="0">
              <a:buNone/>
            </a:pPr>
            <a:r>
              <a:rPr lang="en-US" sz="18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→ </a:t>
            </a:r>
            <a:pPr indent="0" marL="0">
              <a:buNone/>
            </a:pPr>
            <a:r>
              <a:rPr lang="en-US" sz="18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Silent Standby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76656" y="5029200"/>
            <a:ext cx="1078992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1663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hardware misbehaves, I'll narrate over the recorded run — the design points stand either way.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container, two passwords, two files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83080"/>
            <a:ext cx="585216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783080"/>
            <a:ext cx="5852160" cy="3968496"/>
          </a:xfrm>
          <a:prstGeom prst="roundRect">
            <a:avLst>
              <a:gd name="adj" fmla="val 1152"/>
            </a:avLst>
          </a:prstGeom>
          <a:ln w="15875">
            <a:solidFill>
              <a:srgbClr val="2C3A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79729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TUI + local WebUI — Local Disclosure Control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Walkthrough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629400" y="246888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container — no header, no magic</a:t>
            </a:r>
            <a:endParaRPr lang="en-US" sz="1700" dirty="0"/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Store two files, two passwords, two objects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First password → the first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Second password → a different file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Object taken away → refused after 10 s</a:t>
            </a:r>
          </a:p>
          <a:p>
            <a:pPr/>
            <a:r>
              <a:rPr sz="1700">
                <a:solidFill>
                  <a:srgbClr val="E8EFEA"/>
                </a:solidFill>
                <a:latin typeface="Calibri"/>
              </a:rPr>
              <a:t>Audit, then Silent Standby</a:t>
            </a:r>
          </a:p>
        </p:txBody>
      </p:sp>
      <p:sp>
        <p:nvSpPr>
          <p:cNvPr id="9" name="Text 6"/>
          <p:cNvSpPr/>
          <p:nvPr/>
        </p:nvSpPr>
        <p:spPr>
          <a:xfrm>
            <a:off x="6629400" y="53492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bar  Open · New · Guided · Expert · Quit · WebUI   (Expert adds Audit)</a:t>
            </a:r>
            <a:pPr indent="0" marL="0">
              <a:buNone/>
            </a:pP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 start — repo-local &amp; simple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6766560" cy="2743200"/>
          </a:xfrm>
          <a:prstGeom prst="roundRect">
            <a:avLst>
              <a:gd name="adj" fmla="val 3000"/>
            </a:avLst>
          </a:prstGeom>
          <a:solidFill>
            <a:srgbClr val="0A0F0D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28600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https://github.com/01rabbit/Phasmid.git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Phasmid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900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./phasmid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creates a venv, installs deps, and opens the TUI Operator Console.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16368" y="1920240"/>
            <a:ext cx="4069080" cy="2743200"/>
          </a:xfrm>
          <a:prstGeom prst="roundRect">
            <a:avLst>
              <a:gd name="adj" fmla="val 3000"/>
            </a:avLst>
          </a:prstGeom>
          <a:solidFill>
            <a:srgbClr val="2A2015"/>
          </a:solidFill>
          <a:ln w="12700">
            <a:solidFill>
              <a:srgbClr val="2C3A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2212848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66760" y="2212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A5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boundary notice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818120" y="2880360"/>
            <a:ext cx="3520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E8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Phasmid is research software. Evaluate it in controlled, local, field-test conditions — not as production-grade protection.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66928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docs:  </a:t>
            </a:r>
            <a:pPr indent="0" marL="0">
              <a:buNone/>
            </a:pPr>
            <a:r>
              <a:rPr lang="en-US" sz="1500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SPECIFICATION · THREAT_MODEL · JANUS_EIDOLON_SYSTEM · COERCION_SAFE_DELAYING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64556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EC4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PHASMID</a:t>
            </a:r>
            <a:pPr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Janus Eidolon System  ·  </a:t>
            </a:r>
            <a:pPr indent="0" marL="0">
              <a:buNone/>
            </a:pPr>
            <a:r>
              <a:rPr lang="en-US" sz="11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C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868680"/>
            <a:ext cx="3383280" cy="3977640"/>
          </a:xfrm>
          <a:prstGeom prst="roundRect">
            <a:avLst>
              <a:gd name="adj" fmla="val 5405"/>
            </a:avLst>
          </a:prstGeom>
          <a:solidFill>
            <a:srgbClr val="16211B"/>
          </a:solidFill>
          <a:ln w="31750">
            <a:solidFill>
              <a:srgbClr val="7EC46B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097280"/>
            <a:ext cx="283464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838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at the table →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Thanks — come break it.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03504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E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Local-only, coercion-aware storage. Honest limits included.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03504" y="3383280"/>
            <a:ext cx="7498080" cy="0"/>
          </a:xfrm>
          <a:prstGeom prst="line">
            <a:avLst/>
          </a:prstGeom>
          <a:noFill/>
          <a:ln w="12700">
            <a:solidFill>
              <a:srgbClr val="2C3A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36118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37325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github.com/01rabbit/Phasmid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1280160" y="392277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· threat model · architecture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03504" y="445312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45738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44165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@01ra66it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1280160" y="4764024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&amp; releases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03504" y="529437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1C2C24"/>
          </a:solidFill>
          <a:ln w="12700">
            <a:solidFill>
              <a:srgbClr val="2C3A3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5415077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5257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F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in/makoto-sugita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1280160" y="56052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0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Makoto Sugita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566928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D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Makoto Sugita · Mr.Rabbit · GMO Cybersecurity by Ierae, Inc. · Apache-2.0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Phasmid — Janus Eidolon System (DEF CON Demo Labs)</dc:title>
  <dc:subject>PptxGenJS Presentation</dc:subject>
  <dc:creator>Makoto Sugita (Mr.Rabbit / 01rabbit)</dc:creator>
  <cp:lastModifiedBy>Makoto Sugita (Mr.Rabbit / 01rabbit)</cp:lastModifiedBy>
  <cp:revision>1</cp:revision>
  <dcterms:created xsi:type="dcterms:W3CDTF">2026-07-21T16:42:37Z</dcterms:created>
  <dcterms:modified xsi:type="dcterms:W3CDTF">2026-07-21T16:42:37Z</dcterms:modified>
</cp:coreProperties>
</file>