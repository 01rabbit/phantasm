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目安 0:30] TITLE
EN: "Hey, thanks for coming. This is Phasmid — the reference build of what I call the Janus Eidolon System. Local-only, coercion-aware storage, built for the moment someone has both your device and you. I'm Makoto Sugita — Mr. Rabbit."
JA: 開始00分。掴みは短く。バナーを一度指してすぐ本題へ。45分ハード停止・目標コンテンツ約28分。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 0:40] whoami
EN: "Quick background: independent security researcher and open-source tool developer, penetration tester by trade, CISSP. I turn offensive experience into defensive tools — deception, delaying action, coercion-aware design. You may have seen my other work, the Azazel system and the PAKURI family, at Black Hat Arsenal, BSides, SecTor, CODE BLUE. Find me at 01rabbit on GitHub."
JA: 経歴は流す。GitHubハンドルを指す。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[01:10 / 0:30] AGENDA
EN: "Here's the plan for the next half hour. First the problem — compelled access. Then the core idea, Janus. How it works — the object cue and coercion-safe delaying. A look under the hood — crypto, guards, the actual hardware. Then the honest limits — ethics and scope. And I'll finish with a live demo and how to run it yourself. I'll leave time for questions at the end."
JA: 全体地図。指で6項目をなぞる。テンポよく。ここで聴衆の期待値を固定。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[01:40 / 1:00] THE PROBLEM
EN: "Here's what Phasmid is built for. Attackers today don't need to break your crypto. They take the device — at a border, a checkpoint, an arrest — and they ask you to unlock it. And full-disk encryption is all-or-nothing: the moment you open it under pressure, everything is exposed. That's over-disclosure — one demand, total exposure."
JA: 3枚を左→右で指す。淡々と、しかし重さを持って。ここで問題意識を共有。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[02:40 / 0:30] MEME
EN: "So you get three bad options. Refuse — and you escalate. Comply with full-disk encryption — and you hand over everything. Or... controlled disclosure — show what's visible, protect the rest. Same demand, very different blast radius."
JA: ここで軽く笑いを取る。テンポよく。緊張を一度ほぐす。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[03:10 / 0:50] WHAT IT IS / ISN'T
EN: "Let me be precise. Phasmid is a field-evaluation research prototype for disclosure control — not casual file encryption, local-only by default. And it is not a replacement for audited full-disk encryption, not hardware-backed keys, not a magic delete button, and not a complete answer to compelled disclosure. I'll keep drawing that line the whole way through."
JA: 誠実さを最初に宣言。IS/NOTを左右で示す。この一貫性が信頼の土台。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 1:10] CORE IDEA — JANUS
EN: "The core idea is Janus — two faces. A two-slot model. Slot A is what a capture-visible surface shows: plausible, ordinary, disclosed under pressure. Slot B is protected local state, kept off the visible path, bound to local conditions — not just a password. The point is simple: what you show is not all there is."
JA: 概念の核。左右のスロットを指す。ゆっくり。ここは聴衆に必ず持ち帰らせる。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[05:10 / 1:15] ADVERSARY MODEL
EN: "Who does it defend against? Five in-scope adversaries — physical captor, passive observer, local active attacker, local-network attacker, and a coercing authority. And, just as important, five explicitly out of scope: a compromised kernel, hardware implants, remote attackers, supply-chain, and breaking the crypto itself. If the host is owned, no user-space tool saves you — and I won't pretend otherwise."
JA: 30分枠なので本編で語る。左=戦う相手、右=戦わない相手。誠実さを示す重要スライド。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[06:25 / 0:45] STRIDE + LINDDUN
EN: "I didn't just hand-wave the threats. Eighteen scenarios, each tagged with STRIDE and LINDDUN — offline cracking, session replay, header leakage, timing side-channels, object-cue spoofing, coerced disclosure. Here are a few representative ones; the full matrix is in the repo. If you want to argue about any of these, find me after — I'd enjoy it."
JA: 表は全部読まない。代表2〜3行を指す。研究の厳密さを示す。深掘りはQ&amp;Aへ誘導。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[07:10 / 1:00] ARCHITECTURE BOUNDARY
EN: "Architecturally, four things stay explicit. Two-slot storage. Local access-key mixing — so keys come from local state, not a passphrase alone. A restricted-action policy that gates anything sensitive or recovery-related. And capture-visible discipline: normal flows never expose the structure, the recovery path, or the order you'd try things in."
JA: 4点を順に指す。専門聴衆はここで頷く。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[08:10 / 0:40] LAYERS + DOCS
EN: "Underneath, the system is built as narrow local layers — entry points, the restricted-action policy, the crypto core, local state, and the deployment boundary. And none of this is folklore: it's documented — a full specification, the threat model, the formal Janus spec, and the delaying-architecture design. Read it, poke holes in it."
JA: 流し気味。文書が揃っていること＝真剣な研究であることを示す。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[08:50 / 0:50] THREE PILLARS
EN: "Three moving parts. One — an encrypted local vessel: authenticated encryption, password-derived keys. Two — object-cue operation; I'll come right back to this, it's the fun part. Three — controlled disclosure: workflows that separate what's shown from what's protected."
JA: ②を予告して次スライドへ引っ張る。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[09:40 / 1:20] OBJECT-CUE  ★見せ場
EN: "Here's the fun part. You show an everyday object to the camera to operate the access gate — nothing to type, nothing that looks like a secret. But this is the part people get wrong, so let me be clear: the object is a cue, not a key. It drives operation and policy checks. It is not the encryption key. A photo of the object unlocks nothing. The crypto stays with Argon2id and AES-GCM — the object just decides whether you get to act."
JA: ゆっくり。最大の差別化点。cue≠key を二度言う。手元の物体を掲げると効果的。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1:20] COERCION-SAFE DELAYING
EN: "This is what makes it coercion-safe. Silent Standby: a hotkey drops the sensitive UI into a harmless state — recovery needs re-auth. A plausible dummy dataset, prepared before any coercion and scored for plausibility. And context profiles — travel, field engineer, researcher — that shape what 'normal' looks like. In coercion-safe mode, a low-confidence match routes to the dummy path instead of failing loudly. The goal isn't magic invisibility — it's uncertainty and delay."
JA: Silent Standby は後のデモで実演する、と予告。認識モードの帯を指す。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 / 0:45] DESIGN PRINCIPLES
EN: "The design principle is restraint. The vault file alone isn't meant to be enough. Normal flows don't reveal structure or recovery. And metadata reduction is best-effort — I call it support, not sanitization. Restraint is the feature, not a limitation."
JA: 流す。誠実トーン維持。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 / 0:45] FLOW
EN: "Operationally it's four steps: Prepare a vessel, Bind it to local state and the object cue, Operate through CLI, TUI or local WebUI, and Disclose — controlled, under documented assumptions. Keep this in your head — it's the map for the demo in a few minutes."
JA: 4ステップを順に指す。デモの地図になると予告。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[13:50 / 0:50] TECH
EN: "Small, local, boring by design. Argon2id for key derivation, AES-GCM for authenticated encryption, WebUI bound to localhost, running on a Pi Zero 2 W. Tuned parameters for that little board, per-record encryption, no plaintext header. Boring is good — boring is auditable."
JA: 数値は帯を指す程度。詳細はQ&amp;A/次スライド。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 / 1:00] FIELD HARDWARE  ★エンゲージ
EN: "And here's the actual thing. A Pi Zero 2 W in a 3D-printed case, a camera for the object cue, on a little tripod. The WebUI is reached over USB at localhost — it never touches a network. It's meant to read as an unremarkable small gadget. It's right here on the table — come look, and try it, after the talk."
JA: 現物を指す/持ち上げる。卓上デモ・Q&amp;Aへの導線を作る。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[15:40 / 0:45] CRYPTO CORE
EN: "For the crypto people: Argon2id with mixed-in local access-key material and device binding, an optional external secret as a third factor, AES-GCM per record with authenticated metadata, and no plaintext marker in the vault. Startup self-tests check the primitives before anything runs. Details are in the repo — happy to go deep in Q&amp;A."
JA: 全部読まない。左列3点を指す。深掘りはQ&amp;Aへ。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[16:25 / 0:40] OPERATIONAL GUARDS
EN: "The WebUI is hardened, not an afterthought: localhost binding, per-process tokens, a restricted-confirmation session that's HttpOnly and short-lived, attempt limiting, rate limiting, inactivity auto-kill, hardened headers, and an opt-in HMAC-chained audit log. Defense in depth around a local surface."
JA: 一覧を俯瞰。個別値はQ&amp;A。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[17:05 / 1:10] DESIGN ETHICS  ★倫理
EN: "Now the ethics — and this matters, especially in this room. Phasmid allows plausible controlled disclosure, standby, ambiguity-preserving workflows. It explicitly disallows rootkits, kernel-level hiding, anti-forensic destruction, forensic-tool bypass, and fabricating false events or timestamps. It increases uncertainty and delays confident conclusions — it does not claim forensic invisibility. This line is deliberate, and it's in the code."
JA: フォレンジック/法執行の聴衆に誠実に。目を合わせて。ここで信頼を勝ち取る。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[18:15 / 0:50] SCOPE
EN: "Scope, drawn honestly. Software-existence concealment: out. Data-existence deniability: partial. Controlled disclosure: in, and central. Coercion-aware fallback: in. And things it never claims — perfect deniability, forensic immunity, secure deletion on flash, protection from a compromised host. No snake oil. Okay — enough talk. Let me show you."
JA: 誠実さの締め。最後の一文でデモへ橋渡し。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[19:05 / 0:15] LIVE DEMO (divider)
EN: "Alright — live demo."
JA: 章扉。ここで呼吸を整え、実機に向き直る。プロジェクタ入力をTUIへ切替。バックアップ録画の頭出しを確認。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[19:20 / ~7:00] LIVE DEMO  ★中心
EN (最小限・手を動かしながら): "This is the real TUI — Local Disclosure Control. The home screen is deliberately small — four actions, nothing else. Under pressure you do not want a wall of options. I'll create protected storage, then open Expert controls with one key: set the object cue under Faces, run the Guided flow, check dummy-profile plausibility in Audit, launch the local WebUI, then trigger Silent Standby and show the dummy disclosure."
JA デモ詳細は別ランブック参照（Phasmid_Demo_Runbook）。キー順（0.3.0 実機確認済）: n New → e Expert → f Faces → g Guided → a Audit → w WebUI → Ctrl+S Silent Standby（復帰 Ctrl+R / Esc）。Ctrl+S はフッタに出ないので指で覚える。要点: 話しすぎない/画面を指す/各ステップで一呼吸。失敗時は録画へ切替し設計点を口頭補強。約7分で切り上げ、Q&amp;Aに15分残す。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[26:20 / 0:30] QUICK START
EN: "Want to try it? Clone the repo, cd in, run ./phasmid — first run sets up a venv and opens the console. Research software, Apache-2.0. Evaluate it locally, in field-test conditions — not as production protection."
JA: リポジトリURLを指す。ステッカーへ繋ぐ。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[26:50 / 0:40] CLOSING → Q&amp;A
EN: "That's Phasmid — local-only, coercion-aware storage, honest limits included. Code, threat model, and architecture are all on GitHub at 01rabbit. Grab a sticker — and please, come break it. I've got time for questions."
JA: 約27分で着地。残り約18分をQ&amp;A・卓上デモ・交流に。45分ハード停止厳守。ステッカー案内→Q&amp;Aへ。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0" y="347472"/>
            <a:ext cx="12188952" cy="365760"/>
          </a:xfrm>
          <a:prstGeom prst="rect">
            <a:avLst/>
          </a:prstGeom>
          <a:noFill/>
          <a:ln/>
        </p:spPr>
        <p:txBody>
          <a:bodyPr wrap="square" lIns="0" tIns="0" rIns="0" bIns="0" rtlCol="0" anchor="ctr"/>
          <a:lstStyle/>
          <a:p>
            <a:pPr algn="ctr" indent="0" marL="0">
              <a:buNone/>
            </a:pPr>
            <a:r>
              <a:rPr lang="en-US" sz="1500" b="1" spc="400" kern="0" dirty="0">
                <a:solidFill>
                  <a:srgbClr val="4ADE80"/>
                </a:solidFill>
                <a:latin typeface="Courier New" pitchFamily="34" charset="0"/>
                <a:ea typeface="Courier New" pitchFamily="34" charset="-122"/>
                <a:cs typeface="Courier New" pitchFamily="34" charset="-120"/>
              </a:rPr>
              <a:t>DEF CON · DEMO LABS</a:t>
            </a:r>
            <a:endParaRPr lang="en-US" sz="1500" dirty="0"/>
          </a:p>
        </p:txBody>
      </p:sp>
      <p:pic>
        <p:nvPicPr>
          <p:cNvPr id="3" name="Image 0" descr="preencoded.png">    </p:cNvPr>
          <p:cNvPicPr>
            <a:picLocks noChangeAspect="1"/>
          </p:cNvPicPr>
          <p:nvPr/>
        </p:nvPicPr>
        <p:blipFill>
          <a:blip r:embed="rId1"/>
          <a:stretch>
            <a:fillRect/>
          </a:stretch>
        </p:blipFill>
        <p:spPr>
          <a:xfrm>
            <a:off x="2212848" y="731520"/>
            <a:ext cx="7772400" cy="3886200"/>
          </a:xfrm>
          <a:prstGeom prst="rect">
            <a:avLst/>
          </a:prstGeom>
        </p:spPr>
      </p:pic>
      <p:sp>
        <p:nvSpPr>
          <p:cNvPr id="4" name="Text 1"/>
          <p:cNvSpPr/>
          <p:nvPr/>
        </p:nvSpPr>
        <p:spPr>
          <a:xfrm>
            <a:off x="0" y="4681728"/>
            <a:ext cx="12188952" cy="384048"/>
          </a:xfrm>
          <a:prstGeom prst="rect">
            <a:avLst/>
          </a:prstGeom>
          <a:noFill/>
          <a:ln/>
        </p:spPr>
        <p:txBody>
          <a:bodyPr wrap="square" lIns="0" tIns="0" rIns="0" bIns="0" rtlCol="0" anchor="ctr"/>
          <a:lstStyle/>
          <a:p>
            <a:pPr algn="ctr" indent="0" marL="0">
              <a:buNone/>
            </a:pPr>
            <a:r>
              <a:rPr lang="en-US" sz="2200" dirty="0">
                <a:solidFill>
                  <a:srgbClr val="7EC46B"/>
                </a:solidFill>
                <a:latin typeface="Courier New" pitchFamily="34" charset="0"/>
                <a:ea typeface="Courier New" pitchFamily="34" charset="-122"/>
                <a:cs typeface="Courier New" pitchFamily="34" charset="-120"/>
              </a:rPr>
              <a:t>Janus Eidolon System</a:t>
            </a:r>
            <a:endParaRPr lang="en-US" sz="2200" dirty="0"/>
          </a:p>
        </p:txBody>
      </p:sp>
      <p:sp>
        <p:nvSpPr>
          <p:cNvPr id="5" name="Text 2"/>
          <p:cNvSpPr/>
          <p:nvPr/>
        </p:nvSpPr>
        <p:spPr>
          <a:xfrm>
            <a:off x="0" y="5138928"/>
            <a:ext cx="12188952" cy="384048"/>
          </a:xfrm>
          <a:prstGeom prst="rect">
            <a:avLst/>
          </a:prstGeom>
          <a:noFill/>
          <a:ln/>
        </p:spPr>
        <p:txBody>
          <a:bodyPr wrap="square" lIns="0" tIns="0" rIns="0" bIns="0" rtlCol="0" anchor="ctr"/>
          <a:lstStyle/>
          <a:p>
            <a:pPr algn="ctr" indent="0" marL="0">
              <a:buNone/>
            </a:pPr>
            <a:r>
              <a:rPr lang="en-US" sz="1900" dirty="0">
                <a:solidFill>
                  <a:srgbClr val="9DB0A4"/>
                </a:solidFill>
                <a:latin typeface="Calibri" pitchFamily="34" charset="0"/>
                <a:ea typeface="Calibri" pitchFamily="34" charset="-122"/>
                <a:cs typeface="Calibri" pitchFamily="34" charset="-120"/>
              </a:rPr>
              <a:t>Local-only, coercion-aware storage for controlled disclosure</a:t>
            </a:r>
            <a:endParaRPr lang="en-US" sz="1900" dirty="0"/>
          </a:p>
        </p:txBody>
      </p:sp>
      <p:sp>
        <p:nvSpPr>
          <p:cNvPr id="6" name="Shape 3"/>
          <p:cNvSpPr/>
          <p:nvPr/>
        </p:nvSpPr>
        <p:spPr>
          <a:xfrm>
            <a:off x="3108960" y="5596128"/>
            <a:ext cx="5943600" cy="0"/>
          </a:xfrm>
          <a:prstGeom prst="line">
            <a:avLst/>
          </a:prstGeom>
          <a:noFill/>
          <a:ln w="12700">
            <a:solidFill>
              <a:srgbClr val="2C3A32"/>
            </a:solidFill>
            <a:prstDash val="solid"/>
          </a:ln>
        </p:spPr>
      </p:sp>
      <p:sp>
        <p:nvSpPr>
          <p:cNvPr id="7" name="Text 4"/>
          <p:cNvSpPr/>
          <p:nvPr/>
        </p:nvSpPr>
        <p:spPr>
          <a:xfrm>
            <a:off x="0" y="5742432"/>
            <a:ext cx="12188952" cy="411480"/>
          </a:xfrm>
          <a:prstGeom prst="rect">
            <a:avLst/>
          </a:prstGeom>
          <a:noFill/>
          <a:ln/>
        </p:spPr>
        <p:txBody>
          <a:bodyPr wrap="square" lIns="0" tIns="0" rIns="0" bIns="0" rtlCol="0" anchor="ctr"/>
          <a:lstStyle/>
          <a:p>
            <a:pPr algn="ctr" indent="0" marL="0">
              <a:buNone/>
            </a:pPr>
            <a:r>
              <a:rPr lang="en-US" sz="1600" b="1" dirty="0">
                <a:solidFill>
                  <a:srgbClr val="E8EFEA"/>
                </a:solidFill>
                <a:latin typeface="Courier New" pitchFamily="34" charset="0"/>
                <a:ea typeface="Courier New" pitchFamily="34" charset="-122"/>
                <a:cs typeface="Courier New" pitchFamily="34" charset="-120"/>
              </a:rPr>
              <a:t>Makoto Sugita</a:t>
            </a:r>
            <a:pPr algn="ctr" indent="0" marL="0">
              <a:buNone/>
            </a:pPr>
            <a:r>
              <a:rPr lang="en-US" sz="1600" dirty="0">
                <a:solidFill>
                  <a:srgbClr val="9DB0A4"/>
                </a:solidFill>
                <a:latin typeface="Courier New" pitchFamily="34" charset="0"/>
                <a:ea typeface="Courier New" pitchFamily="34" charset="-122"/>
                <a:cs typeface="Courier New" pitchFamily="34" charset="-120"/>
              </a:rPr>
              <a:t>  (Mr.Rabbit)</a:t>
            </a:r>
            <a:pPr algn="ctr" indent="0" marL="0">
              <a:buNone/>
            </a:pPr>
            <a:r>
              <a:rPr lang="en-US" sz="1600" b="1" dirty="0">
                <a:solidFill>
                  <a:srgbClr val="7EC46B"/>
                </a:solidFill>
                <a:latin typeface="Courier New" pitchFamily="34" charset="0"/>
                <a:ea typeface="Courier New" pitchFamily="34" charset="-122"/>
                <a:cs typeface="Courier New" pitchFamily="34" charset="-120"/>
              </a:rPr>
              <a:t>     @01ra66it</a:t>
            </a:r>
            <a:pPr algn="ctr" indent="0" marL="0">
              <a:buNone/>
            </a:pPr>
            <a:r>
              <a:rPr lang="en-US" sz="1600" dirty="0">
                <a:solidFill>
                  <a:srgbClr val="9DB0A4"/>
                </a:solidFill>
                <a:latin typeface="Courier New" pitchFamily="34" charset="0"/>
                <a:ea typeface="Courier New" pitchFamily="34" charset="-122"/>
                <a:cs typeface="Courier New" pitchFamily="34" charset="-120"/>
              </a:rPr>
              <a:t>     github.com/01rabbit/Phasmid</a:t>
            </a:r>
            <a:endParaRPr lang="en-US" sz="1600" dirty="0"/>
          </a:p>
        </p:txBody>
      </p:sp>
      <p:sp>
        <p:nvSpPr>
          <p:cNvPr id="8" name="Text 5"/>
          <p:cNvSpPr/>
          <p:nvPr/>
        </p:nvSpPr>
        <p:spPr>
          <a:xfrm>
            <a:off x="0" y="6236208"/>
            <a:ext cx="12188952" cy="320040"/>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Research prototype · Apache-2.0 · v0.1.4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 WHOAMI</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Makoto Sugita — a.k.a. Mr.Rabbit</a:t>
            </a:r>
            <a:endParaRPr lang="en-US" sz="3400" dirty="0"/>
          </a:p>
        </p:txBody>
      </p:sp>
      <p:sp>
        <p:nvSpPr>
          <p:cNvPr id="4" name="Shape 2"/>
          <p:cNvSpPr/>
          <p:nvPr/>
        </p:nvSpPr>
        <p:spPr>
          <a:xfrm>
            <a:off x="566928" y="1783080"/>
            <a:ext cx="3383280" cy="4114800"/>
          </a:xfrm>
          <a:prstGeom prst="roundRect">
            <a:avLst>
              <a:gd name="adj" fmla="val 2432"/>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572768" y="2148840"/>
            <a:ext cx="1371600" cy="137160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1883664" y="2459736"/>
            <a:ext cx="749808" cy="749808"/>
          </a:xfrm>
          <a:prstGeom prst="rect">
            <a:avLst/>
          </a:prstGeom>
        </p:spPr>
      </p:pic>
      <p:sp>
        <p:nvSpPr>
          <p:cNvPr id="7" name="Text 4"/>
          <p:cNvSpPr/>
          <p:nvPr/>
        </p:nvSpPr>
        <p:spPr>
          <a:xfrm>
            <a:off x="731520" y="3657600"/>
            <a:ext cx="3054096" cy="548640"/>
          </a:xfrm>
          <a:prstGeom prst="rect">
            <a:avLst/>
          </a:prstGeom>
          <a:noFill/>
          <a:ln/>
        </p:spPr>
        <p:txBody>
          <a:bodyPr wrap="square" rtlCol="0" anchor="ctr"/>
          <a:lstStyle/>
          <a:p>
            <a:pPr algn="ctr" indent="0" marL="0">
              <a:buNone/>
            </a:pPr>
            <a:r>
              <a:rPr lang="en-US" sz="1800" b="1" dirty="0">
                <a:solidFill>
                  <a:srgbClr val="E8EFEA"/>
                </a:solidFill>
                <a:latin typeface="Calibri" pitchFamily="34" charset="0"/>
                <a:ea typeface="Calibri" pitchFamily="34" charset="-122"/>
                <a:cs typeface="Calibri" pitchFamily="34" charset="-120"/>
              </a:rPr>
              <a:t>Independent Security Researcher</a:t>
            </a:r>
            <a:endParaRPr lang="en-US" sz="1800" dirty="0"/>
          </a:p>
        </p:txBody>
      </p:sp>
      <p:sp>
        <p:nvSpPr>
          <p:cNvPr id="8" name="Text 5"/>
          <p:cNvSpPr/>
          <p:nvPr/>
        </p:nvSpPr>
        <p:spPr>
          <a:xfrm>
            <a:off x="731520" y="4114800"/>
            <a:ext cx="3054096" cy="457200"/>
          </a:xfrm>
          <a:prstGeom prst="rect">
            <a:avLst/>
          </a:prstGeom>
          <a:noFill/>
          <a:ln/>
        </p:spPr>
        <p:txBody>
          <a:bodyPr wrap="square" rtlCol="0" anchor="ctr"/>
          <a:lstStyle/>
          <a:p>
            <a:pPr algn="ctr" indent="0" marL="0">
              <a:buNone/>
            </a:pPr>
            <a:r>
              <a:rPr lang="en-US" sz="1500" dirty="0">
                <a:solidFill>
                  <a:srgbClr val="9DB0A4"/>
                </a:solidFill>
                <a:latin typeface="Calibri" pitchFamily="34" charset="0"/>
                <a:ea typeface="Calibri" pitchFamily="34" charset="-122"/>
                <a:cs typeface="Calibri" pitchFamily="34" charset="-120"/>
              </a:rPr>
              <a:t>Open-source security tool developer</a:t>
            </a:r>
            <a:endParaRPr lang="en-US" sz="1500" dirty="0"/>
          </a:p>
        </p:txBody>
      </p:sp>
      <p:sp>
        <p:nvSpPr>
          <p:cNvPr id="9" name="Shape 6"/>
          <p:cNvSpPr/>
          <p:nvPr/>
        </p:nvSpPr>
        <p:spPr>
          <a:xfrm>
            <a:off x="868680" y="4892040"/>
            <a:ext cx="457200" cy="457200"/>
          </a:xfrm>
          <a:prstGeom prst="roundRect">
            <a:avLst>
              <a:gd name="adj" fmla="val 16000"/>
            </a:avLst>
          </a:prstGeom>
          <a:solidFill>
            <a:srgbClr val="1C2C24"/>
          </a:solidFill>
          <a:ln w="12700">
            <a:solidFill>
              <a:srgbClr val="2C3A32"/>
            </a:solidFill>
            <a:prstDash val="solid"/>
          </a:ln>
        </p:spPr>
      </p:sp>
      <p:pic>
        <p:nvPicPr>
          <p:cNvPr id="10" name="Image 1" descr="preencoded.png">    </p:cNvPr>
          <p:cNvPicPr>
            <a:picLocks noChangeAspect="1"/>
          </p:cNvPicPr>
          <p:nvPr/>
        </p:nvPicPr>
        <p:blipFill>
          <a:blip r:embed="rId2"/>
          <a:stretch>
            <a:fillRect/>
          </a:stretch>
        </p:blipFill>
        <p:spPr>
          <a:xfrm>
            <a:off x="969264" y="4992624"/>
            <a:ext cx="256032" cy="256032"/>
          </a:xfrm>
          <a:prstGeom prst="rect">
            <a:avLst/>
          </a:prstGeom>
        </p:spPr>
      </p:pic>
      <p:sp>
        <p:nvSpPr>
          <p:cNvPr id="11" name="Text 7"/>
          <p:cNvSpPr/>
          <p:nvPr/>
        </p:nvSpPr>
        <p:spPr>
          <a:xfrm>
            <a:off x="1371600" y="489204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/01rabbit</a:t>
            </a:r>
            <a:endParaRPr lang="en-US" sz="1400" dirty="0"/>
          </a:p>
        </p:txBody>
      </p:sp>
      <p:sp>
        <p:nvSpPr>
          <p:cNvPr id="12" name="Shape 8"/>
          <p:cNvSpPr/>
          <p:nvPr/>
        </p:nvSpPr>
        <p:spPr>
          <a:xfrm>
            <a:off x="868680" y="5440680"/>
            <a:ext cx="457200" cy="457200"/>
          </a:xfrm>
          <a:prstGeom prst="roundRect">
            <a:avLst>
              <a:gd name="adj" fmla="val 16000"/>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969264" y="5541264"/>
            <a:ext cx="256032" cy="256032"/>
          </a:xfrm>
          <a:prstGeom prst="rect">
            <a:avLst/>
          </a:prstGeom>
        </p:spPr>
      </p:pic>
      <p:sp>
        <p:nvSpPr>
          <p:cNvPr id="14" name="Text 9"/>
          <p:cNvSpPr/>
          <p:nvPr/>
        </p:nvSpPr>
        <p:spPr>
          <a:xfrm>
            <a:off x="1371600" y="544068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@01ra66it</a:t>
            </a:r>
            <a:endParaRPr lang="en-US" sz="1400" dirty="0"/>
          </a:p>
        </p:txBody>
      </p:sp>
      <p:sp>
        <p:nvSpPr>
          <p:cNvPr id="15" name="Text 10"/>
          <p:cNvSpPr/>
          <p:nvPr/>
        </p:nvSpPr>
        <p:spPr>
          <a:xfrm>
            <a:off x="4297680" y="178308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What I do</a:t>
            </a:r>
            <a:endParaRPr lang="en-US" sz="2000" dirty="0"/>
          </a:p>
        </p:txBody>
      </p:sp>
      <p:sp>
        <p:nvSpPr>
          <p:cNvPr id="16" name="Text 11"/>
          <p:cNvSpPr/>
          <p:nvPr/>
        </p:nvSpPr>
        <p:spPr>
          <a:xfrm>
            <a:off x="4343400" y="2331720"/>
            <a:ext cx="7315200" cy="1737360"/>
          </a:xfrm>
          <a:prstGeom prst="rect">
            <a:avLst/>
          </a:prstGeom>
          <a:noFill/>
          <a:ln/>
        </p:spPr>
        <p:txBody>
          <a:bodyPr wrap="square" rtlCol="0" anchor="ctr"/>
          <a:lstStyle/>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Turn offensive experience into defensive tools</a:t>
            </a:r>
            <a:endParaRPr lang="en-US" sz="1800" dirty="0"/>
          </a:p>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Focus: deception, delaying action, constrained SOC/NOC, coercion-aware design</a:t>
            </a:r>
            <a:endParaRPr lang="en-US" sz="1800" dirty="0"/>
          </a:p>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Penetration tester background · CISSP</a:t>
            </a:r>
            <a:endParaRPr lang="en-US" sz="1800" dirty="0"/>
          </a:p>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Creator of the Azazel System and the PAKURI tool family</a:t>
            </a:r>
            <a:endParaRPr lang="en-US" sz="1800" dirty="0"/>
          </a:p>
        </p:txBody>
      </p:sp>
      <p:sp>
        <p:nvSpPr>
          <p:cNvPr id="17" name="Text 12"/>
          <p:cNvSpPr/>
          <p:nvPr/>
        </p:nvSpPr>
        <p:spPr>
          <a:xfrm>
            <a:off x="4297680" y="425196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Where you've seen the work</a:t>
            </a:r>
            <a:endParaRPr lang="en-US" sz="2000" dirty="0"/>
          </a:p>
        </p:txBody>
      </p:sp>
      <p:sp>
        <p:nvSpPr>
          <p:cNvPr id="18" name="Shape 13"/>
          <p:cNvSpPr/>
          <p:nvPr/>
        </p:nvSpPr>
        <p:spPr>
          <a:xfrm>
            <a:off x="4343400" y="4828032"/>
            <a:ext cx="1960474" cy="475488"/>
          </a:xfrm>
          <a:prstGeom prst="roundRect">
            <a:avLst>
              <a:gd name="adj" fmla="val 11538"/>
            </a:avLst>
          </a:prstGeom>
          <a:solidFill>
            <a:srgbClr val="1C2C24"/>
          </a:solidFill>
          <a:ln w="12700">
            <a:solidFill>
              <a:srgbClr val="2C3A32"/>
            </a:solidFill>
            <a:prstDash val="solid"/>
          </a:ln>
        </p:spPr>
      </p:sp>
      <p:sp>
        <p:nvSpPr>
          <p:cNvPr id="19" name="Text 14"/>
          <p:cNvSpPr/>
          <p:nvPr/>
        </p:nvSpPr>
        <p:spPr>
          <a:xfrm>
            <a:off x="4343400" y="4828032"/>
            <a:ext cx="1960474"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Black Hat Arsenal</a:t>
            </a:r>
            <a:endParaRPr lang="en-US" sz="1500" dirty="0"/>
          </a:p>
        </p:txBody>
      </p:sp>
      <p:sp>
        <p:nvSpPr>
          <p:cNvPr id="20" name="Shape 15"/>
          <p:cNvSpPr/>
          <p:nvPr/>
        </p:nvSpPr>
        <p:spPr>
          <a:xfrm>
            <a:off x="6450178" y="4828032"/>
            <a:ext cx="1858061" cy="475488"/>
          </a:xfrm>
          <a:prstGeom prst="roundRect">
            <a:avLst>
              <a:gd name="adj" fmla="val 11538"/>
            </a:avLst>
          </a:prstGeom>
          <a:solidFill>
            <a:srgbClr val="1C2C24"/>
          </a:solidFill>
          <a:ln w="12700">
            <a:solidFill>
              <a:srgbClr val="2C3A32"/>
            </a:solidFill>
            <a:prstDash val="solid"/>
          </a:ln>
        </p:spPr>
      </p:sp>
      <p:sp>
        <p:nvSpPr>
          <p:cNvPr id="21" name="Text 16"/>
          <p:cNvSpPr/>
          <p:nvPr/>
        </p:nvSpPr>
        <p:spPr>
          <a:xfrm>
            <a:off x="6450178" y="4828032"/>
            <a:ext cx="185806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Las Vegas</a:t>
            </a:r>
            <a:endParaRPr lang="en-US" sz="1500" dirty="0"/>
          </a:p>
        </p:txBody>
      </p:sp>
      <p:sp>
        <p:nvSpPr>
          <p:cNvPr id="22" name="Shape 17"/>
          <p:cNvSpPr/>
          <p:nvPr/>
        </p:nvSpPr>
        <p:spPr>
          <a:xfrm>
            <a:off x="8454542" y="4828032"/>
            <a:ext cx="1448410" cy="475488"/>
          </a:xfrm>
          <a:prstGeom prst="roundRect">
            <a:avLst>
              <a:gd name="adj" fmla="val 11538"/>
            </a:avLst>
          </a:prstGeom>
          <a:solidFill>
            <a:srgbClr val="1C2C24"/>
          </a:solidFill>
          <a:ln w="12700">
            <a:solidFill>
              <a:srgbClr val="2C3A32"/>
            </a:solidFill>
            <a:prstDash val="solid"/>
          </a:ln>
        </p:spPr>
      </p:sp>
      <p:sp>
        <p:nvSpPr>
          <p:cNvPr id="23" name="Text 18"/>
          <p:cNvSpPr/>
          <p:nvPr/>
        </p:nvSpPr>
        <p:spPr>
          <a:xfrm>
            <a:off x="8454542" y="4828032"/>
            <a:ext cx="1448410"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Tokyo</a:t>
            </a:r>
            <a:endParaRPr lang="en-US" sz="1500" dirty="0"/>
          </a:p>
        </p:txBody>
      </p:sp>
      <p:sp>
        <p:nvSpPr>
          <p:cNvPr id="24" name="Shape 19"/>
          <p:cNvSpPr/>
          <p:nvPr/>
        </p:nvSpPr>
        <p:spPr>
          <a:xfrm>
            <a:off x="10049256" y="4828032"/>
            <a:ext cx="833933" cy="475488"/>
          </a:xfrm>
          <a:prstGeom prst="roundRect">
            <a:avLst>
              <a:gd name="adj" fmla="val 11538"/>
            </a:avLst>
          </a:prstGeom>
          <a:solidFill>
            <a:srgbClr val="1C2C24"/>
          </a:solidFill>
          <a:ln w="12700">
            <a:solidFill>
              <a:srgbClr val="2C3A32"/>
            </a:solidFill>
            <a:prstDash val="solid"/>
          </a:ln>
        </p:spPr>
      </p:sp>
      <p:sp>
        <p:nvSpPr>
          <p:cNvPr id="25" name="Text 20"/>
          <p:cNvSpPr/>
          <p:nvPr/>
        </p:nvSpPr>
        <p:spPr>
          <a:xfrm>
            <a:off x="10049256" y="4828032"/>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SecTor</a:t>
            </a:r>
            <a:endParaRPr lang="en-US" sz="1500" dirty="0"/>
          </a:p>
        </p:txBody>
      </p:sp>
      <p:sp>
        <p:nvSpPr>
          <p:cNvPr id="26" name="Shape 21"/>
          <p:cNvSpPr/>
          <p:nvPr/>
        </p:nvSpPr>
        <p:spPr>
          <a:xfrm>
            <a:off x="4343400" y="5413248"/>
            <a:ext cx="1141171" cy="475488"/>
          </a:xfrm>
          <a:prstGeom prst="roundRect">
            <a:avLst>
              <a:gd name="adj" fmla="val 11538"/>
            </a:avLst>
          </a:prstGeom>
          <a:solidFill>
            <a:srgbClr val="1C2C24"/>
          </a:solidFill>
          <a:ln w="12700">
            <a:solidFill>
              <a:srgbClr val="2C3A32"/>
            </a:solidFill>
            <a:prstDash val="solid"/>
          </a:ln>
        </p:spPr>
      </p:sp>
      <p:sp>
        <p:nvSpPr>
          <p:cNvPr id="27" name="Text 22"/>
          <p:cNvSpPr/>
          <p:nvPr/>
        </p:nvSpPr>
        <p:spPr>
          <a:xfrm>
            <a:off x="4343400" y="5413248"/>
            <a:ext cx="114117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CODE BLUE</a:t>
            </a:r>
            <a:endParaRPr lang="en-US" sz="1500" dirty="0"/>
          </a:p>
        </p:txBody>
      </p:sp>
      <p:sp>
        <p:nvSpPr>
          <p:cNvPr id="28" name="Shape 23"/>
          <p:cNvSpPr/>
          <p:nvPr/>
        </p:nvSpPr>
        <p:spPr>
          <a:xfrm>
            <a:off x="5630875" y="5413248"/>
            <a:ext cx="833933" cy="475488"/>
          </a:xfrm>
          <a:prstGeom prst="roundRect">
            <a:avLst>
              <a:gd name="adj" fmla="val 11538"/>
            </a:avLst>
          </a:prstGeom>
          <a:solidFill>
            <a:srgbClr val="1C2C24"/>
          </a:solidFill>
          <a:ln w="12700">
            <a:solidFill>
              <a:srgbClr val="2C3A32"/>
            </a:solidFill>
            <a:prstDash val="solid"/>
          </a:ln>
        </p:spPr>
      </p:sp>
      <p:sp>
        <p:nvSpPr>
          <p:cNvPr id="29" name="Text 24"/>
          <p:cNvSpPr/>
          <p:nvPr/>
        </p:nvSpPr>
        <p:spPr>
          <a:xfrm>
            <a:off x="5630875" y="5413248"/>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SECCON</a:t>
            </a:r>
            <a:endParaRPr lang="en-US" sz="1500" dirty="0"/>
          </a:p>
        </p:txBody>
      </p:sp>
      <p:sp>
        <p:nvSpPr>
          <p:cNvPr id="30" name="Shape 25"/>
          <p:cNvSpPr/>
          <p:nvPr/>
        </p:nvSpPr>
        <p:spPr>
          <a:xfrm>
            <a:off x="6611112" y="5413248"/>
            <a:ext cx="936346" cy="475488"/>
          </a:xfrm>
          <a:prstGeom prst="roundRect">
            <a:avLst>
              <a:gd name="adj" fmla="val 11538"/>
            </a:avLst>
          </a:prstGeom>
          <a:solidFill>
            <a:srgbClr val="1C2C24"/>
          </a:solidFill>
          <a:ln w="12700">
            <a:solidFill>
              <a:srgbClr val="2C3A32"/>
            </a:solidFill>
            <a:prstDash val="solid"/>
          </a:ln>
        </p:spPr>
      </p:sp>
      <p:sp>
        <p:nvSpPr>
          <p:cNvPr id="31" name="Text 26"/>
          <p:cNvSpPr/>
          <p:nvPr/>
        </p:nvSpPr>
        <p:spPr>
          <a:xfrm>
            <a:off x="6611112" y="5413248"/>
            <a:ext cx="936346"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AVTOKYO</a:t>
            </a:r>
            <a:endParaRPr lang="en-US" sz="1500" dirty="0"/>
          </a:p>
        </p:txBody>
      </p:sp>
      <p:sp>
        <p:nvSpPr>
          <p:cNvPr id="32"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3"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AGENDA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Where we're going — ~30 minutes</a:t>
            </a:r>
            <a:endParaRPr lang="en-US" sz="3400" dirty="0"/>
          </a:p>
        </p:txBody>
      </p:sp>
      <p:sp>
        <p:nvSpPr>
          <p:cNvPr id="4" name="Shape 2"/>
          <p:cNvSpPr/>
          <p:nvPr/>
        </p:nvSpPr>
        <p:spPr>
          <a:xfrm>
            <a:off x="566928" y="1783080"/>
            <a:ext cx="11018520" cy="676656"/>
          </a:xfrm>
          <a:prstGeom prst="roundRect">
            <a:avLst>
              <a:gd name="adj" fmla="val 12162"/>
            </a:avLst>
          </a:prstGeom>
          <a:solidFill>
            <a:srgbClr val="16211B"/>
          </a:solidFill>
          <a:ln w="12700">
            <a:solidFill>
              <a:srgbClr val="2C3A32"/>
            </a:solidFill>
            <a:prstDash val="solid"/>
          </a:ln>
        </p:spPr>
      </p:sp>
      <p:sp>
        <p:nvSpPr>
          <p:cNvPr id="5" name="Text 3"/>
          <p:cNvSpPr/>
          <p:nvPr/>
        </p:nvSpPr>
        <p:spPr>
          <a:xfrm>
            <a:off x="822960" y="178308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1</a:t>
            </a:r>
            <a:endParaRPr lang="en-US" sz="2200" dirty="0"/>
          </a:p>
        </p:txBody>
      </p:sp>
      <p:sp>
        <p:nvSpPr>
          <p:cNvPr id="6" name="Shape 4"/>
          <p:cNvSpPr/>
          <p:nvPr/>
        </p:nvSpPr>
        <p:spPr>
          <a:xfrm>
            <a:off x="1417320" y="1892808"/>
            <a:ext cx="457200" cy="457200"/>
          </a:xfrm>
          <a:prstGeom prst="roundRect">
            <a:avLst>
              <a:gd name="adj" fmla="val 16000"/>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517904" y="1993392"/>
            <a:ext cx="256032" cy="256032"/>
          </a:xfrm>
          <a:prstGeom prst="rect">
            <a:avLst/>
          </a:prstGeom>
        </p:spPr>
      </p:pic>
      <p:sp>
        <p:nvSpPr>
          <p:cNvPr id="8" name="Text 5"/>
          <p:cNvSpPr/>
          <p:nvPr/>
        </p:nvSpPr>
        <p:spPr>
          <a:xfrm>
            <a:off x="2057400" y="178308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problem</a:t>
            </a:r>
            <a:endParaRPr lang="en-US" sz="1800" dirty="0"/>
          </a:p>
        </p:txBody>
      </p:sp>
      <p:sp>
        <p:nvSpPr>
          <p:cNvPr id="9" name="Text 6"/>
          <p:cNvSpPr/>
          <p:nvPr/>
        </p:nvSpPr>
        <p:spPr>
          <a:xfrm>
            <a:off x="5212080" y="178308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Compelled access and over-disclosure</a:t>
            </a:r>
            <a:endParaRPr lang="en-US" sz="1700" dirty="0"/>
          </a:p>
        </p:txBody>
      </p:sp>
      <p:sp>
        <p:nvSpPr>
          <p:cNvPr id="10" name="Shape 7"/>
          <p:cNvSpPr/>
          <p:nvPr/>
        </p:nvSpPr>
        <p:spPr>
          <a:xfrm>
            <a:off x="566928" y="2496312"/>
            <a:ext cx="11018520" cy="676656"/>
          </a:xfrm>
          <a:prstGeom prst="roundRect">
            <a:avLst>
              <a:gd name="adj" fmla="val 12162"/>
            </a:avLst>
          </a:prstGeom>
          <a:solidFill>
            <a:srgbClr val="16211B"/>
          </a:solidFill>
          <a:ln w="12700">
            <a:solidFill>
              <a:srgbClr val="2C3A32"/>
            </a:solidFill>
            <a:prstDash val="solid"/>
          </a:ln>
        </p:spPr>
      </p:sp>
      <p:sp>
        <p:nvSpPr>
          <p:cNvPr id="11" name="Text 8"/>
          <p:cNvSpPr/>
          <p:nvPr/>
        </p:nvSpPr>
        <p:spPr>
          <a:xfrm>
            <a:off x="822960" y="2496312"/>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2</a:t>
            </a:r>
            <a:endParaRPr lang="en-US" sz="2200" dirty="0"/>
          </a:p>
        </p:txBody>
      </p:sp>
      <p:sp>
        <p:nvSpPr>
          <p:cNvPr id="12" name="Shape 9"/>
          <p:cNvSpPr/>
          <p:nvPr/>
        </p:nvSpPr>
        <p:spPr>
          <a:xfrm>
            <a:off x="1417320" y="2606040"/>
            <a:ext cx="457200" cy="457200"/>
          </a:xfrm>
          <a:prstGeom prst="roundRect">
            <a:avLst>
              <a:gd name="adj" fmla="val 16000"/>
            </a:avLst>
          </a:prstGeom>
          <a:solidFill>
            <a:srgbClr val="1C2C24"/>
          </a:solidFill>
          <a:ln w="12700">
            <a:solidFill>
              <a:srgbClr val="2C3A32"/>
            </a:solidFill>
            <a:prstDash val="solid"/>
          </a:ln>
        </p:spPr>
      </p:sp>
      <p:pic>
        <p:nvPicPr>
          <p:cNvPr id="13" name="Image 1" descr="preencoded.png">    </p:cNvPr>
          <p:cNvPicPr>
            <a:picLocks noChangeAspect="1"/>
          </p:cNvPicPr>
          <p:nvPr/>
        </p:nvPicPr>
        <p:blipFill>
          <a:blip r:embed="rId2"/>
          <a:stretch>
            <a:fillRect/>
          </a:stretch>
        </p:blipFill>
        <p:spPr>
          <a:xfrm>
            <a:off x="1517904" y="2706624"/>
            <a:ext cx="256032" cy="256032"/>
          </a:xfrm>
          <a:prstGeom prst="rect">
            <a:avLst/>
          </a:prstGeom>
        </p:spPr>
      </p:pic>
      <p:sp>
        <p:nvSpPr>
          <p:cNvPr id="14" name="Text 10"/>
          <p:cNvSpPr/>
          <p:nvPr/>
        </p:nvSpPr>
        <p:spPr>
          <a:xfrm>
            <a:off x="2057400" y="2496312"/>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idea</a:t>
            </a:r>
            <a:endParaRPr lang="en-US" sz="1800" dirty="0"/>
          </a:p>
        </p:txBody>
      </p:sp>
      <p:sp>
        <p:nvSpPr>
          <p:cNvPr id="15" name="Text 11"/>
          <p:cNvSpPr/>
          <p:nvPr/>
        </p:nvSpPr>
        <p:spPr>
          <a:xfrm>
            <a:off x="5212080" y="2496312"/>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Janus — a two-slot disclosure model</a:t>
            </a:r>
            <a:endParaRPr lang="en-US" sz="1700" dirty="0"/>
          </a:p>
        </p:txBody>
      </p:sp>
      <p:sp>
        <p:nvSpPr>
          <p:cNvPr id="16" name="Shape 12"/>
          <p:cNvSpPr/>
          <p:nvPr/>
        </p:nvSpPr>
        <p:spPr>
          <a:xfrm>
            <a:off x="566928" y="3209544"/>
            <a:ext cx="11018520" cy="676656"/>
          </a:xfrm>
          <a:prstGeom prst="roundRect">
            <a:avLst>
              <a:gd name="adj" fmla="val 12162"/>
            </a:avLst>
          </a:prstGeom>
          <a:solidFill>
            <a:srgbClr val="16211B"/>
          </a:solidFill>
          <a:ln w="12700">
            <a:solidFill>
              <a:srgbClr val="2C3A32"/>
            </a:solidFill>
            <a:prstDash val="solid"/>
          </a:ln>
        </p:spPr>
      </p:sp>
      <p:sp>
        <p:nvSpPr>
          <p:cNvPr id="17" name="Text 13"/>
          <p:cNvSpPr/>
          <p:nvPr/>
        </p:nvSpPr>
        <p:spPr>
          <a:xfrm>
            <a:off x="822960" y="3209544"/>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3</a:t>
            </a:r>
            <a:endParaRPr lang="en-US" sz="2200" dirty="0"/>
          </a:p>
        </p:txBody>
      </p:sp>
      <p:sp>
        <p:nvSpPr>
          <p:cNvPr id="18" name="Shape 14"/>
          <p:cNvSpPr/>
          <p:nvPr/>
        </p:nvSpPr>
        <p:spPr>
          <a:xfrm>
            <a:off x="1417320" y="3319272"/>
            <a:ext cx="457200" cy="457200"/>
          </a:xfrm>
          <a:prstGeom prst="roundRect">
            <a:avLst>
              <a:gd name="adj" fmla="val 16000"/>
            </a:avLst>
          </a:prstGeom>
          <a:solidFill>
            <a:srgbClr val="1C2C24"/>
          </a:solidFill>
          <a:ln w="12700">
            <a:solidFill>
              <a:srgbClr val="2C3A32"/>
            </a:solidFill>
            <a:prstDash val="solid"/>
          </a:ln>
        </p:spPr>
      </p:sp>
      <p:pic>
        <p:nvPicPr>
          <p:cNvPr id="19" name="Image 2" descr="preencoded.png">    </p:cNvPr>
          <p:cNvPicPr>
            <a:picLocks noChangeAspect="1"/>
          </p:cNvPicPr>
          <p:nvPr/>
        </p:nvPicPr>
        <p:blipFill>
          <a:blip r:embed="rId3"/>
          <a:stretch>
            <a:fillRect/>
          </a:stretch>
        </p:blipFill>
        <p:spPr>
          <a:xfrm>
            <a:off x="1517904" y="3419856"/>
            <a:ext cx="256032" cy="256032"/>
          </a:xfrm>
          <a:prstGeom prst="rect">
            <a:avLst/>
          </a:prstGeom>
        </p:spPr>
      </p:pic>
      <p:sp>
        <p:nvSpPr>
          <p:cNvPr id="20" name="Text 15"/>
          <p:cNvSpPr/>
          <p:nvPr/>
        </p:nvSpPr>
        <p:spPr>
          <a:xfrm>
            <a:off x="2057400" y="3209544"/>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How it works</a:t>
            </a:r>
            <a:endParaRPr lang="en-US" sz="1800" dirty="0"/>
          </a:p>
        </p:txBody>
      </p:sp>
      <p:sp>
        <p:nvSpPr>
          <p:cNvPr id="21" name="Text 16"/>
          <p:cNvSpPr/>
          <p:nvPr/>
        </p:nvSpPr>
        <p:spPr>
          <a:xfrm>
            <a:off x="5212080" y="3209544"/>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Object-cue operation &amp; coercion-safe delaying</a:t>
            </a:r>
            <a:endParaRPr lang="en-US" sz="1700" dirty="0"/>
          </a:p>
        </p:txBody>
      </p:sp>
      <p:sp>
        <p:nvSpPr>
          <p:cNvPr id="22" name="Shape 17"/>
          <p:cNvSpPr/>
          <p:nvPr/>
        </p:nvSpPr>
        <p:spPr>
          <a:xfrm>
            <a:off x="566928" y="3922776"/>
            <a:ext cx="11018520" cy="676656"/>
          </a:xfrm>
          <a:prstGeom prst="roundRect">
            <a:avLst>
              <a:gd name="adj" fmla="val 12162"/>
            </a:avLst>
          </a:prstGeom>
          <a:solidFill>
            <a:srgbClr val="16211B"/>
          </a:solidFill>
          <a:ln w="12700">
            <a:solidFill>
              <a:srgbClr val="2C3A32"/>
            </a:solidFill>
            <a:prstDash val="solid"/>
          </a:ln>
        </p:spPr>
      </p:sp>
      <p:sp>
        <p:nvSpPr>
          <p:cNvPr id="23" name="Text 18"/>
          <p:cNvSpPr/>
          <p:nvPr/>
        </p:nvSpPr>
        <p:spPr>
          <a:xfrm>
            <a:off x="822960" y="3922776"/>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4</a:t>
            </a:r>
            <a:endParaRPr lang="en-US" sz="2200" dirty="0"/>
          </a:p>
        </p:txBody>
      </p:sp>
      <p:sp>
        <p:nvSpPr>
          <p:cNvPr id="24" name="Shape 19"/>
          <p:cNvSpPr/>
          <p:nvPr/>
        </p:nvSpPr>
        <p:spPr>
          <a:xfrm>
            <a:off x="1417320" y="4032504"/>
            <a:ext cx="457200" cy="457200"/>
          </a:xfrm>
          <a:prstGeom prst="roundRect">
            <a:avLst>
              <a:gd name="adj" fmla="val 16000"/>
            </a:avLst>
          </a:prstGeom>
          <a:solidFill>
            <a:srgbClr val="1C2C24"/>
          </a:solidFill>
          <a:ln w="12700">
            <a:solidFill>
              <a:srgbClr val="2C3A32"/>
            </a:solidFill>
            <a:prstDash val="solid"/>
          </a:ln>
        </p:spPr>
      </p:sp>
      <p:pic>
        <p:nvPicPr>
          <p:cNvPr id="25" name="Image 3" descr="preencoded.png">    </p:cNvPr>
          <p:cNvPicPr>
            <a:picLocks noChangeAspect="1"/>
          </p:cNvPicPr>
          <p:nvPr/>
        </p:nvPicPr>
        <p:blipFill>
          <a:blip r:embed="rId4"/>
          <a:stretch>
            <a:fillRect/>
          </a:stretch>
        </p:blipFill>
        <p:spPr>
          <a:xfrm>
            <a:off x="1517904" y="4133088"/>
            <a:ext cx="256032" cy="256032"/>
          </a:xfrm>
          <a:prstGeom prst="rect">
            <a:avLst/>
          </a:prstGeom>
        </p:spPr>
      </p:pic>
      <p:sp>
        <p:nvSpPr>
          <p:cNvPr id="26" name="Text 20"/>
          <p:cNvSpPr/>
          <p:nvPr/>
        </p:nvSpPr>
        <p:spPr>
          <a:xfrm>
            <a:off x="2057400" y="3922776"/>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Under the hood</a:t>
            </a:r>
            <a:endParaRPr lang="en-US" sz="1800" dirty="0"/>
          </a:p>
        </p:txBody>
      </p:sp>
      <p:sp>
        <p:nvSpPr>
          <p:cNvPr id="27" name="Text 21"/>
          <p:cNvSpPr/>
          <p:nvPr/>
        </p:nvSpPr>
        <p:spPr>
          <a:xfrm>
            <a:off x="5212080" y="3922776"/>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Crypto, operational guards, real hardware</a:t>
            </a:r>
            <a:endParaRPr lang="en-US" sz="1700" dirty="0"/>
          </a:p>
        </p:txBody>
      </p:sp>
      <p:sp>
        <p:nvSpPr>
          <p:cNvPr id="28" name="Shape 22"/>
          <p:cNvSpPr/>
          <p:nvPr/>
        </p:nvSpPr>
        <p:spPr>
          <a:xfrm>
            <a:off x="566928" y="4636008"/>
            <a:ext cx="11018520" cy="676656"/>
          </a:xfrm>
          <a:prstGeom prst="roundRect">
            <a:avLst>
              <a:gd name="adj" fmla="val 12162"/>
            </a:avLst>
          </a:prstGeom>
          <a:solidFill>
            <a:srgbClr val="16211B"/>
          </a:solidFill>
          <a:ln w="12700">
            <a:solidFill>
              <a:srgbClr val="2C3A32"/>
            </a:solidFill>
            <a:prstDash val="solid"/>
          </a:ln>
        </p:spPr>
      </p:sp>
      <p:sp>
        <p:nvSpPr>
          <p:cNvPr id="29" name="Text 23"/>
          <p:cNvSpPr/>
          <p:nvPr/>
        </p:nvSpPr>
        <p:spPr>
          <a:xfrm>
            <a:off x="822960" y="4636008"/>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5</a:t>
            </a:r>
            <a:endParaRPr lang="en-US" sz="2200" dirty="0"/>
          </a:p>
        </p:txBody>
      </p:sp>
      <p:sp>
        <p:nvSpPr>
          <p:cNvPr id="30" name="Shape 24"/>
          <p:cNvSpPr/>
          <p:nvPr/>
        </p:nvSpPr>
        <p:spPr>
          <a:xfrm>
            <a:off x="1417320" y="4745736"/>
            <a:ext cx="457200" cy="457200"/>
          </a:xfrm>
          <a:prstGeom prst="roundRect">
            <a:avLst>
              <a:gd name="adj" fmla="val 16000"/>
            </a:avLst>
          </a:prstGeom>
          <a:solidFill>
            <a:srgbClr val="1C2C24"/>
          </a:solidFill>
          <a:ln w="12700">
            <a:solidFill>
              <a:srgbClr val="2C3A32"/>
            </a:solidFill>
            <a:prstDash val="solid"/>
          </a:ln>
        </p:spPr>
      </p:sp>
      <p:pic>
        <p:nvPicPr>
          <p:cNvPr id="31" name="Image 4" descr="preencoded.png">    </p:cNvPr>
          <p:cNvPicPr>
            <a:picLocks noChangeAspect="1"/>
          </p:cNvPicPr>
          <p:nvPr/>
        </p:nvPicPr>
        <p:blipFill>
          <a:blip r:embed="rId5"/>
          <a:stretch>
            <a:fillRect/>
          </a:stretch>
        </p:blipFill>
        <p:spPr>
          <a:xfrm>
            <a:off x="1517904" y="4846320"/>
            <a:ext cx="256032" cy="256032"/>
          </a:xfrm>
          <a:prstGeom prst="rect">
            <a:avLst/>
          </a:prstGeom>
        </p:spPr>
      </p:pic>
      <p:sp>
        <p:nvSpPr>
          <p:cNvPr id="32" name="Text 25"/>
          <p:cNvSpPr/>
          <p:nvPr/>
        </p:nvSpPr>
        <p:spPr>
          <a:xfrm>
            <a:off x="2057400" y="4636008"/>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Honest limits</a:t>
            </a:r>
            <a:endParaRPr lang="en-US" sz="1800" dirty="0"/>
          </a:p>
        </p:txBody>
      </p:sp>
      <p:sp>
        <p:nvSpPr>
          <p:cNvPr id="33" name="Text 26"/>
          <p:cNvSpPr/>
          <p:nvPr/>
        </p:nvSpPr>
        <p:spPr>
          <a:xfrm>
            <a:off x="5212080" y="4636008"/>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Design ethics &amp; scope drawn carefully</a:t>
            </a:r>
            <a:endParaRPr lang="en-US" sz="1700" dirty="0"/>
          </a:p>
        </p:txBody>
      </p:sp>
      <p:sp>
        <p:nvSpPr>
          <p:cNvPr id="34" name="Shape 27"/>
          <p:cNvSpPr/>
          <p:nvPr/>
        </p:nvSpPr>
        <p:spPr>
          <a:xfrm>
            <a:off x="566928" y="5349240"/>
            <a:ext cx="11018520" cy="676656"/>
          </a:xfrm>
          <a:prstGeom prst="roundRect">
            <a:avLst>
              <a:gd name="adj" fmla="val 12162"/>
            </a:avLst>
          </a:prstGeom>
          <a:solidFill>
            <a:srgbClr val="16211B"/>
          </a:solidFill>
          <a:ln w="12700">
            <a:solidFill>
              <a:srgbClr val="2C3A32"/>
            </a:solidFill>
            <a:prstDash val="solid"/>
          </a:ln>
        </p:spPr>
      </p:sp>
      <p:sp>
        <p:nvSpPr>
          <p:cNvPr id="35" name="Text 28"/>
          <p:cNvSpPr/>
          <p:nvPr/>
        </p:nvSpPr>
        <p:spPr>
          <a:xfrm>
            <a:off x="822960" y="534924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6</a:t>
            </a:r>
            <a:endParaRPr lang="en-US" sz="2200" dirty="0"/>
          </a:p>
        </p:txBody>
      </p:sp>
      <p:sp>
        <p:nvSpPr>
          <p:cNvPr id="36" name="Shape 29"/>
          <p:cNvSpPr/>
          <p:nvPr/>
        </p:nvSpPr>
        <p:spPr>
          <a:xfrm>
            <a:off x="1417320" y="5458968"/>
            <a:ext cx="457200" cy="457200"/>
          </a:xfrm>
          <a:prstGeom prst="roundRect">
            <a:avLst>
              <a:gd name="adj" fmla="val 16000"/>
            </a:avLst>
          </a:prstGeom>
          <a:solidFill>
            <a:srgbClr val="1C2C24"/>
          </a:solidFill>
          <a:ln w="12700">
            <a:solidFill>
              <a:srgbClr val="2C3A32"/>
            </a:solidFill>
            <a:prstDash val="solid"/>
          </a:ln>
        </p:spPr>
      </p:sp>
      <p:pic>
        <p:nvPicPr>
          <p:cNvPr id="37" name="Image 5" descr="preencoded.png">    </p:cNvPr>
          <p:cNvPicPr>
            <a:picLocks noChangeAspect="1"/>
          </p:cNvPicPr>
          <p:nvPr/>
        </p:nvPicPr>
        <p:blipFill>
          <a:blip r:embed="rId6"/>
          <a:stretch>
            <a:fillRect/>
          </a:stretch>
        </p:blipFill>
        <p:spPr>
          <a:xfrm>
            <a:off x="1517904" y="5559552"/>
            <a:ext cx="256032" cy="256032"/>
          </a:xfrm>
          <a:prstGeom prst="rect">
            <a:avLst/>
          </a:prstGeom>
        </p:spPr>
      </p:pic>
      <p:sp>
        <p:nvSpPr>
          <p:cNvPr id="38" name="Text 30"/>
          <p:cNvSpPr/>
          <p:nvPr/>
        </p:nvSpPr>
        <p:spPr>
          <a:xfrm>
            <a:off x="2057400" y="534924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Live demo</a:t>
            </a:r>
            <a:endParaRPr lang="en-US" sz="1800" dirty="0"/>
          </a:p>
        </p:txBody>
      </p:sp>
      <p:sp>
        <p:nvSpPr>
          <p:cNvPr id="39" name="Text 31"/>
          <p:cNvSpPr/>
          <p:nvPr/>
        </p:nvSpPr>
        <p:spPr>
          <a:xfrm>
            <a:off x="5212080" y="534924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The real TUI — then try it yourself</a:t>
            </a:r>
            <a:endParaRPr lang="en-US" sz="1700" dirty="0"/>
          </a:p>
        </p:txBody>
      </p:sp>
      <p:sp>
        <p:nvSpPr>
          <p:cNvPr id="40" name="Text 3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THE PROBLEM</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They don't need to break crypto.</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They just take the device — and ask you to unlock it.</a:t>
            </a:r>
            <a:endParaRPr lang="en-US" sz="2000" dirty="0"/>
          </a:p>
        </p:txBody>
      </p:sp>
      <p:sp>
        <p:nvSpPr>
          <p:cNvPr id="5" name="Shape 3"/>
          <p:cNvSpPr/>
          <p:nvPr/>
        </p:nvSpPr>
        <p:spPr>
          <a:xfrm>
            <a:off x="566928" y="2194560"/>
            <a:ext cx="3602736" cy="3383280"/>
          </a:xfrm>
          <a:prstGeom prst="roundRect">
            <a:avLst>
              <a:gd name="adj" fmla="val 2432"/>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877824" y="2514600"/>
            <a:ext cx="713232" cy="713232"/>
          </a:xfrm>
          <a:prstGeom prst="roundRect">
            <a:avLst>
              <a:gd name="adj" fmla="val 10256"/>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034735" y="2671511"/>
            <a:ext cx="399410" cy="399410"/>
          </a:xfrm>
          <a:prstGeom prst="rect">
            <a:avLst/>
          </a:prstGeom>
        </p:spPr>
      </p:pic>
      <p:sp>
        <p:nvSpPr>
          <p:cNvPr id="8" name="Text 5"/>
          <p:cNvSpPr/>
          <p:nvPr/>
        </p:nvSpPr>
        <p:spPr>
          <a:xfrm>
            <a:off x="877824" y="3401568"/>
            <a:ext cx="301752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Device seizure</a:t>
            </a:r>
            <a:endParaRPr lang="en-US" sz="2100" dirty="0"/>
          </a:p>
        </p:txBody>
      </p:sp>
      <p:sp>
        <p:nvSpPr>
          <p:cNvPr id="9" name="Text 6"/>
          <p:cNvSpPr/>
          <p:nvPr/>
        </p:nvSpPr>
        <p:spPr>
          <a:xfrm>
            <a:off x="87782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Border, checkpoint, arrest, or theft. The hardware is now in someone else's hands.</a:t>
            </a:r>
            <a:endParaRPr lang="en-US" sz="1800" dirty="0"/>
          </a:p>
        </p:txBody>
      </p:sp>
      <p:sp>
        <p:nvSpPr>
          <p:cNvPr id="10" name="Shape 7"/>
          <p:cNvSpPr/>
          <p:nvPr/>
        </p:nvSpPr>
        <p:spPr>
          <a:xfrm>
            <a:off x="436168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4672584" y="2514600"/>
            <a:ext cx="713232" cy="713232"/>
          </a:xfrm>
          <a:prstGeom prst="roundRect">
            <a:avLst>
              <a:gd name="adj" fmla="val 10256"/>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4829495" y="2671511"/>
            <a:ext cx="399410" cy="399410"/>
          </a:xfrm>
          <a:prstGeom prst="rect">
            <a:avLst/>
          </a:prstGeom>
        </p:spPr>
      </p:pic>
      <p:sp>
        <p:nvSpPr>
          <p:cNvPr id="13" name="Text 9"/>
          <p:cNvSpPr/>
          <p:nvPr/>
        </p:nvSpPr>
        <p:spPr>
          <a:xfrm>
            <a:off x="467258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Compelled access</a:t>
            </a:r>
            <a:endParaRPr lang="en-US" sz="2100" dirty="0"/>
          </a:p>
        </p:txBody>
      </p:sp>
      <p:sp>
        <p:nvSpPr>
          <p:cNvPr id="14" name="Text 10"/>
          <p:cNvSpPr/>
          <p:nvPr/>
        </p:nvSpPr>
        <p:spPr>
          <a:xfrm>
            <a:off x="467258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"Unlock it." Legal, physical, or coercive pressure to hand over credentials.</a:t>
            </a:r>
            <a:endParaRPr lang="en-US" sz="1800" dirty="0"/>
          </a:p>
        </p:txBody>
      </p:sp>
      <p:sp>
        <p:nvSpPr>
          <p:cNvPr id="15" name="Shape 11"/>
          <p:cNvSpPr/>
          <p:nvPr/>
        </p:nvSpPr>
        <p:spPr>
          <a:xfrm>
            <a:off x="815644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6" name="Shape 12"/>
          <p:cNvSpPr/>
          <p:nvPr/>
        </p:nvSpPr>
        <p:spPr>
          <a:xfrm>
            <a:off x="8467344" y="2514600"/>
            <a:ext cx="713232" cy="713232"/>
          </a:xfrm>
          <a:prstGeom prst="roundRect">
            <a:avLst>
              <a:gd name="adj" fmla="val 10256"/>
            </a:avLst>
          </a:prstGeom>
          <a:solidFill>
            <a:srgbClr val="0C1210"/>
          </a:solidFill>
          <a:ln w="12700">
            <a:solidFill>
              <a:srgbClr val="2C3A32"/>
            </a:solidFill>
            <a:prstDash val="solid"/>
          </a:ln>
        </p:spPr>
      </p:sp>
      <p:pic>
        <p:nvPicPr>
          <p:cNvPr id="17" name="Image 2" descr="preencoded.png">    </p:cNvPr>
          <p:cNvPicPr>
            <a:picLocks noChangeAspect="1"/>
          </p:cNvPicPr>
          <p:nvPr/>
        </p:nvPicPr>
        <p:blipFill>
          <a:blip r:embed="rId3"/>
          <a:stretch>
            <a:fillRect/>
          </a:stretch>
        </p:blipFill>
        <p:spPr>
          <a:xfrm>
            <a:off x="8624255" y="2671511"/>
            <a:ext cx="399410" cy="399410"/>
          </a:xfrm>
          <a:prstGeom prst="rect">
            <a:avLst/>
          </a:prstGeom>
        </p:spPr>
      </p:pic>
      <p:sp>
        <p:nvSpPr>
          <p:cNvPr id="18" name="Text 13"/>
          <p:cNvSpPr/>
          <p:nvPr/>
        </p:nvSpPr>
        <p:spPr>
          <a:xfrm>
            <a:off x="846734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Over-disclosure</a:t>
            </a:r>
            <a:endParaRPr lang="en-US" sz="2100" dirty="0"/>
          </a:p>
        </p:txBody>
      </p:sp>
      <p:sp>
        <p:nvSpPr>
          <p:cNvPr id="19" name="Text 14"/>
          <p:cNvSpPr/>
          <p:nvPr/>
        </p:nvSpPr>
        <p:spPr>
          <a:xfrm>
            <a:off x="846734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Full-disk encryption is all-or-nothing: once open, everything is exposed at once.</a:t>
            </a:r>
            <a:endParaRPr lang="en-US" sz="1800" dirty="0"/>
          </a:p>
        </p:txBody>
      </p:sp>
      <p:sp>
        <p:nvSpPr>
          <p:cNvPr id="20" name="Text 1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 A RELATABLE MOMENT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Compelled access: pick your fate</a:t>
            </a:r>
            <a:endParaRPr lang="en-US" sz="3400" dirty="0"/>
          </a:p>
        </p:txBody>
      </p:sp>
      <p:sp>
        <p:nvSpPr>
          <p:cNvPr id="4" name="Shape 2"/>
          <p:cNvSpPr/>
          <p:nvPr/>
        </p:nvSpPr>
        <p:spPr>
          <a:xfrm>
            <a:off x="56692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56692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6" name="Text 4"/>
          <p:cNvSpPr/>
          <p:nvPr/>
        </p:nvSpPr>
        <p:spPr>
          <a:xfrm>
            <a:off x="566928" y="3611880"/>
            <a:ext cx="3602736" cy="457200"/>
          </a:xfrm>
          <a:prstGeom prst="rect">
            <a:avLst/>
          </a:prstGeom>
          <a:noFill/>
          <a:ln/>
        </p:spPr>
        <p:txBody>
          <a:bodyPr wrap="square" lIns="0" tIns="0" rIns="0" bIns="0" rtlCol="0" anchor="ctr"/>
          <a:lstStyle/>
          <a:p>
            <a:pPr algn="ctr" indent="0" marL="0">
              <a:buNone/>
            </a:pPr>
            <a:r>
              <a:rPr lang="en-US" sz="2200" b="1" dirty="0">
                <a:solidFill>
                  <a:srgbClr val="E5654B"/>
                </a:solidFill>
                <a:latin typeface="Courier New" pitchFamily="34" charset="0"/>
                <a:ea typeface="Courier New" pitchFamily="34" charset="-122"/>
                <a:cs typeface="Courier New" pitchFamily="34" charset="-120"/>
              </a:rPr>
              <a:t>Refuse</a:t>
            </a:r>
            <a:endParaRPr lang="en-US" sz="2200" dirty="0"/>
          </a:p>
        </p:txBody>
      </p:sp>
      <p:sp>
        <p:nvSpPr>
          <p:cNvPr id="7" name="Text 5"/>
          <p:cNvSpPr/>
          <p:nvPr/>
        </p:nvSpPr>
        <p:spPr>
          <a:xfrm>
            <a:off x="74980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"I won't unlock it."</a:t>
            </a:r>
            <a:endParaRPr lang="en-US" sz="1800" dirty="0"/>
          </a:p>
        </p:txBody>
      </p:sp>
      <p:sp>
        <p:nvSpPr>
          <p:cNvPr id="8" name="Text 6"/>
          <p:cNvSpPr/>
          <p:nvPr/>
        </p:nvSpPr>
        <p:spPr>
          <a:xfrm>
            <a:off x="749808" y="4892040"/>
            <a:ext cx="3236976" cy="457200"/>
          </a:xfrm>
          <a:prstGeom prst="rect">
            <a:avLst/>
          </a:prstGeom>
          <a:noFill/>
          <a:ln/>
        </p:spPr>
        <p:txBody>
          <a:bodyPr wrap="square" lIns="0" tIns="0" rIns="0" bIns="0" rtlCol="0" anchor="ctr"/>
          <a:lstStyle/>
          <a:p>
            <a:pPr algn="ctr" indent="0" marL="0">
              <a:buNone/>
            </a:pPr>
            <a:r>
              <a:rPr lang="en-US" sz="1500" dirty="0">
                <a:solidFill>
                  <a:srgbClr val="E5654B"/>
                </a:solidFill>
                <a:latin typeface="Courier New" pitchFamily="34" charset="0"/>
                <a:ea typeface="Courier New" pitchFamily="34" charset="-122"/>
                <a:cs typeface="Courier New" pitchFamily="34" charset="-120"/>
              </a:rPr>
              <a:t>→ detained / escalation</a:t>
            </a:r>
            <a:endParaRPr lang="en-US" sz="1500" dirty="0"/>
          </a:p>
        </p:txBody>
      </p:sp>
      <p:sp>
        <p:nvSpPr>
          <p:cNvPr id="9" name="Shape 7"/>
          <p:cNvSpPr/>
          <p:nvPr/>
        </p:nvSpPr>
        <p:spPr>
          <a:xfrm>
            <a:off x="436168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436168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1" name="Text 9"/>
          <p:cNvSpPr/>
          <p:nvPr/>
        </p:nvSpPr>
        <p:spPr>
          <a:xfrm>
            <a:off x="4361688" y="3611880"/>
            <a:ext cx="3602736" cy="457200"/>
          </a:xfrm>
          <a:prstGeom prst="rect">
            <a:avLst/>
          </a:prstGeom>
          <a:noFill/>
          <a:ln/>
        </p:spPr>
        <p:txBody>
          <a:bodyPr wrap="square" lIns="0" tIns="0" rIns="0" bIns="0" rtlCol="0" anchor="ctr"/>
          <a:lstStyle/>
          <a:p>
            <a:pPr algn="ctr" indent="0" marL="0">
              <a:buNone/>
            </a:pPr>
            <a:r>
              <a:rPr lang="en-US" sz="2200" b="1" dirty="0">
                <a:solidFill>
                  <a:srgbClr val="F0A55E"/>
                </a:solidFill>
                <a:latin typeface="Courier New" pitchFamily="34" charset="0"/>
                <a:ea typeface="Courier New" pitchFamily="34" charset="-122"/>
                <a:cs typeface="Courier New" pitchFamily="34" charset="-120"/>
              </a:rPr>
              <a:t>Comply (FDE)</a:t>
            </a:r>
            <a:endParaRPr lang="en-US" sz="2200" dirty="0"/>
          </a:p>
        </p:txBody>
      </p:sp>
      <p:sp>
        <p:nvSpPr>
          <p:cNvPr id="12" name="Text 10"/>
          <p:cNvSpPr/>
          <p:nvPr/>
        </p:nvSpPr>
        <p:spPr>
          <a:xfrm>
            <a:off x="454456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everything."</a:t>
            </a:r>
            <a:endParaRPr lang="en-US" sz="1800" dirty="0"/>
          </a:p>
        </p:txBody>
      </p:sp>
      <p:sp>
        <p:nvSpPr>
          <p:cNvPr id="13" name="Text 11"/>
          <p:cNvSpPr/>
          <p:nvPr/>
        </p:nvSpPr>
        <p:spPr>
          <a:xfrm>
            <a:off x="4544568" y="4892040"/>
            <a:ext cx="3236976" cy="457200"/>
          </a:xfrm>
          <a:prstGeom prst="rect">
            <a:avLst/>
          </a:prstGeom>
          <a:noFill/>
          <a:ln/>
        </p:spPr>
        <p:txBody>
          <a:bodyPr wrap="square" lIns="0" tIns="0" rIns="0" bIns="0" rtlCol="0" anchor="ctr"/>
          <a:lstStyle/>
          <a:p>
            <a:pPr algn="ctr" indent="0" marL="0">
              <a:buNone/>
            </a:pPr>
            <a:r>
              <a:rPr lang="en-US" sz="1500" dirty="0">
                <a:solidFill>
                  <a:srgbClr val="F0A55E"/>
                </a:solidFill>
                <a:latin typeface="Courier New" pitchFamily="34" charset="0"/>
                <a:ea typeface="Courier New" pitchFamily="34" charset="-122"/>
                <a:cs typeface="Courier New" pitchFamily="34" charset="-120"/>
              </a:rPr>
              <a:t>→ total over-disclosure</a:t>
            </a:r>
            <a:endParaRPr lang="en-US" sz="1500" dirty="0"/>
          </a:p>
        </p:txBody>
      </p:sp>
      <p:sp>
        <p:nvSpPr>
          <p:cNvPr id="14" name="Shape 12"/>
          <p:cNvSpPr/>
          <p:nvPr/>
        </p:nvSpPr>
        <p:spPr>
          <a:xfrm>
            <a:off x="815644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Text 13"/>
          <p:cNvSpPr/>
          <p:nvPr/>
        </p:nvSpPr>
        <p:spPr>
          <a:xfrm>
            <a:off x="815644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6" name="Text 14"/>
          <p:cNvSpPr/>
          <p:nvPr/>
        </p:nvSpPr>
        <p:spPr>
          <a:xfrm>
            <a:off x="8156448" y="3611880"/>
            <a:ext cx="3602736" cy="457200"/>
          </a:xfrm>
          <a:prstGeom prst="rect">
            <a:avLst/>
          </a:prstGeom>
          <a:noFill/>
          <a:ln/>
        </p:spPr>
        <p:txBody>
          <a:bodyPr wrap="square" lIns="0" tIns="0" rIns="0" bIns="0" rtlCol="0" anchor="ctr"/>
          <a:lstStyle/>
          <a:p>
            <a:pPr algn="ctr" indent="0" marL="0">
              <a:buNone/>
            </a:pPr>
            <a:r>
              <a:rPr lang="en-US" sz="2200" b="1" dirty="0">
                <a:solidFill>
                  <a:srgbClr val="4ADE80"/>
                </a:solidFill>
                <a:latin typeface="Courier New" pitchFamily="34" charset="0"/>
                <a:ea typeface="Courier New" pitchFamily="34" charset="-122"/>
                <a:cs typeface="Courier New" pitchFamily="34" charset="-120"/>
              </a:rPr>
              <a:t>Phasmid</a:t>
            </a:r>
            <a:endParaRPr lang="en-US" sz="2200" dirty="0"/>
          </a:p>
        </p:txBody>
      </p:sp>
      <p:sp>
        <p:nvSpPr>
          <p:cNvPr id="17" name="Text 15"/>
          <p:cNvSpPr/>
          <p:nvPr/>
        </p:nvSpPr>
        <p:spPr>
          <a:xfrm>
            <a:off x="833932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what's visible."</a:t>
            </a:r>
            <a:endParaRPr lang="en-US" sz="1800" dirty="0"/>
          </a:p>
        </p:txBody>
      </p:sp>
      <p:sp>
        <p:nvSpPr>
          <p:cNvPr id="18" name="Text 16"/>
          <p:cNvSpPr/>
          <p:nvPr/>
        </p:nvSpPr>
        <p:spPr>
          <a:xfrm>
            <a:off x="8339328" y="4892040"/>
            <a:ext cx="3236976" cy="457200"/>
          </a:xfrm>
          <a:prstGeom prst="rect">
            <a:avLst/>
          </a:prstGeom>
          <a:noFill/>
          <a:ln/>
        </p:spPr>
        <p:txBody>
          <a:bodyPr wrap="square" lIns="0" tIns="0" rIns="0" bIns="0" rtlCol="0" anchor="ctr"/>
          <a:lstStyle/>
          <a:p>
            <a:pPr algn="ctr" indent="0" marL="0">
              <a:buNone/>
            </a:pPr>
            <a:r>
              <a:rPr lang="en-US" sz="1500" dirty="0">
                <a:solidFill>
                  <a:srgbClr val="4ADE80"/>
                </a:solidFill>
                <a:latin typeface="Courier New" pitchFamily="34" charset="0"/>
                <a:ea typeface="Courier New" pitchFamily="34" charset="-122"/>
                <a:cs typeface="Courier New" pitchFamily="34" charset="-120"/>
              </a:rPr>
              <a:t>→ controlled disclosure</a:t>
            </a:r>
            <a:endParaRPr lang="en-US" sz="1500" dirty="0"/>
          </a:p>
        </p:txBody>
      </p:sp>
      <p:sp>
        <p:nvSpPr>
          <p:cNvPr id="19" name="Text 17"/>
          <p:cNvSpPr/>
          <p:nvPr/>
        </p:nvSpPr>
        <p:spPr>
          <a:xfrm>
            <a:off x="566928" y="5870448"/>
            <a:ext cx="10972800" cy="411480"/>
          </a:xfrm>
          <a:prstGeom prst="rect">
            <a:avLst/>
          </a:prstGeom>
          <a:noFill/>
          <a:ln/>
        </p:spPr>
        <p:txBody>
          <a:bodyPr wrap="square" lIns="0" tIns="0" rIns="0" bIns="0" rtlCol="0" anchor="ctr"/>
          <a:lstStyle/>
          <a:p>
            <a:pPr algn="ctr" indent="0" marL="0">
              <a:buNone/>
            </a:pPr>
            <a:r>
              <a:rPr lang="en-US" sz="1900" i="1" dirty="0">
                <a:solidFill>
                  <a:srgbClr val="9DB0A4"/>
                </a:solidFill>
                <a:latin typeface="Calibri" pitchFamily="34" charset="0"/>
                <a:ea typeface="Calibri" pitchFamily="34" charset="-122"/>
                <a:cs typeface="Calibri" pitchFamily="34" charset="-120"/>
              </a:rPr>
              <a:t>Same demand. Different blast radius.</a:t>
            </a:r>
            <a:endParaRPr lang="en-US" sz="1900" dirty="0"/>
          </a:p>
        </p:txBody>
      </p:sp>
      <p:sp>
        <p:nvSpPr>
          <p:cNvPr id="20"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POSITIONING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Disclosure control — not casual file encryption</a:t>
            </a:r>
            <a:endParaRPr lang="en-US" sz="3400" dirty="0"/>
          </a:p>
        </p:txBody>
      </p:sp>
      <p:sp>
        <p:nvSpPr>
          <p:cNvPr id="4" name="Shape 2"/>
          <p:cNvSpPr/>
          <p:nvPr/>
        </p:nvSpPr>
        <p:spPr>
          <a:xfrm>
            <a:off x="566928"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21408"/>
            <a:ext cx="457200" cy="457200"/>
          </a:xfrm>
          <a:prstGeom prst="rect">
            <a:avLst/>
          </a:prstGeom>
        </p:spPr>
      </p:pic>
      <p:sp>
        <p:nvSpPr>
          <p:cNvPr id="6" name="Text 3"/>
          <p:cNvSpPr/>
          <p:nvPr/>
        </p:nvSpPr>
        <p:spPr>
          <a:xfrm>
            <a:off x="1463040" y="2121408"/>
            <a:ext cx="4297680" cy="457200"/>
          </a:xfrm>
          <a:prstGeom prst="rect">
            <a:avLst/>
          </a:prstGeom>
          <a:noFill/>
          <a:ln/>
        </p:spPr>
        <p:txBody>
          <a:bodyPr wrap="square" lIns="0" tIns="0" rIns="0" bIns="0" rtlCol="0" anchor="ctr"/>
          <a:lstStyle/>
          <a:p>
            <a:pPr indent="0" marL="0">
              <a:buNone/>
            </a:pPr>
            <a:r>
              <a:rPr lang="en-US" sz="2100" b="1" dirty="0">
                <a:solidFill>
                  <a:srgbClr val="4ADE80"/>
                </a:solidFill>
                <a:latin typeface="Courier New" pitchFamily="34" charset="0"/>
                <a:ea typeface="Courier New" pitchFamily="34" charset="-122"/>
                <a:cs typeface="Courier New" pitchFamily="34" charset="-120"/>
              </a:rPr>
              <a:t>What Phasmid IS</a:t>
            </a:r>
            <a:endParaRPr lang="en-US" sz="2100" dirty="0"/>
          </a:p>
        </p:txBody>
      </p:sp>
      <p:sp>
        <p:nvSpPr>
          <p:cNvPr id="7" name="Text 4"/>
          <p:cNvSpPr/>
          <p:nvPr/>
        </p:nvSpPr>
        <p:spPr>
          <a:xfrm>
            <a:off x="914400"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A field-evaluation research prototype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Local-only by default (127.0.0.1 WebUI)</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Separates visible disclosure from protected local state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Reference implementation of the Janus Eidolon System</a:t>
            </a:r>
            <a:endParaRPr lang="en-US" sz="1800" dirty="0"/>
          </a:p>
        </p:txBody>
      </p:sp>
      <p:sp>
        <p:nvSpPr>
          <p:cNvPr id="8" name="Shape 5"/>
          <p:cNvSpPr/>
          <p:nvPr/>
        </p:nvSpPr>
        <p:spPr>
          <a:xfrm>
            <a:off x="6199632"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121408"/>
            <a:ext cx="457200" cy="457200"/>
          </a:xfrm>
          <a:prstGeom prst="rect">
            <a:avLst/>
          </a:prstGeom>
        </p:spPr>
      </p:pic>
      <p:sp>
        <p:nvSpPr>
          <p:cNvPr id="10" name="Text 6"/>
          <p:cNvSpPr/>
          <p:nvPr/>
        </p:nvSpPr>
        <p:spPr>
          <a:xfrm>
            <a:off x="7086600" y="2121408"/>
            <a:ext cx="429768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What it is NOT</a:t>
            </a:r>
            <a:endParaRPr lang="en-US" sz="2100" dirty="0"/>
          </a:p>
        </p:txBody>
      </p:sp>
      <p:sp>
        <p:nvSpPr>
          <p:cNvPr id="11" name="Text 7"/>
          <p:cNvSpPr/>
          <p:nvPr/>
        </p:nvSpPr>
        <p:spPr>
          <a:xfrm>
            <a:off x="6547104"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replacement for audited full-disk encryption</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hardware-backed key storage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magic "delete everything" button</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complete answer to compelled disclosure</a:t>
            </a:r>
            <a:endParaRPr lang="en-US" sz="1800" dirty="0"/>
          </a:p>
        </p:txBody>
      </p:sp>
      <p:sp>
        <p:nvSpPr>
          <p:cNvPr id="12" name="Text 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CORE IDEA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Two faces, by design — the Janus model</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A two-slot controlled-disclosure model: what you show is not all there is.</a:t>
            </a:r>
            <a:endParaRPr lang="en-US" sz="2000" dirty="0"/>
          </a:p>
        </p:txBody>
      </p:sp>
      <p:sp>
        <p:nvSpPr>
          <p:cNvPr id="5" name="Shape 3"/>
          <p:cNvSpPr/>
          <p:nvPr/>
        </p:nvSpPr>
        <p:spPr>
          <a:xfrm>
            <a:off x="822960" y="2286000"/>
            <a:ext cx="4754880" cy="3200400"/>
          </a:xfrm>
          <a:prstGeom prst="roundRect">
            <a:avLst>
              <a:gd name="adj" fmla="val 2571"/>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1143000" y="2606040"/>
            <a:ext cx="658368" cy="658368"/>
          </a:xfrm>
          <a:prstGeom prst="roundRect">
            <a:avLst>
              <a:gd name="adj" fmla="val 11111"/>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287841" y="2750881"/>
            <a:ext cx="368686" cy="368686"/>
          </a:xfrm>
          <a:prstGeom prst="rect">
            <a:avLst/>
          </a:prstGeom>
        </p:spPr>
      </p:pic>
      <p:sp>
        <p:nvSpPr>
          <p:cNvPr id="8" name="Text 5"/>
          <p:cNvSpPr/>
          <p:nvPr/>
        </p:nvSpPr>
        <p:spPr>
          <a:xfrm>
            <a:off x="1965960" y="2651760"/>
            <a:ext cx="3474720" cy="548640"/>
          </a:xfrm>
          <a:prstGeom prst="rect">
            <a:avLst/>
          </a:prstGeom>
          <a:noFill/>
          <a:ln/>
        </p:spPr>
        <p:txBody>
          <a:bodyPr wrap="square" lIns="0" tIns="0" rIns="0" bIns="0" rtlCol="0" anchor="ctr"/>
          <a:lstStyle/>
          <a:p>
            <a:pPr indent="0" marL="0">
              <a:buNone/>
            </a:pPr>
            <a:r>
              <a:rPr lang="en-US" sz="1900" b="1" dirty="0">
                <a:solidFill>
                  <a:srgbClr val="F0A55E"/>
                </a:solidFill>
                <a:latin typeface="Courier New" pitchFamily="34" charset="0"/>
                <a:ea typeface="Courier New" pitchFamily="34" charset="-122"/>
                <a:cs typeface="Courier New" pitchFamily="34" charset="-120"/>
              </a:rPr>
              <a:t>SLOT A · VISIBLE</a:t>
            </a:r>
            <a:endParaRPr lang="en-US" sz="1900" dirty="0"/>
          </a:p>
        </p:txBody>
      </p:sp>
      <p:sp>
        <p:nvSpPr>
          <p:cNvPr id="9" name="Text 6"/>
          <p:cNvSpPr/>
          <p:nvPr/>
        </p:nvSpPr>
        <p:spPr>
          <a:xfrm>
            <a:off x="1188720"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What a capture-visible surface shows</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Disclosed under pressure</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Plausible, ordinary, unremarkable</a:t>
            </a:r>
            <a:endParaRPr lang="en-US" sz="1800" dirty="0"/>
          </a:p>
        </p:txBody>
      </p:sp>
      <p:sp>
        <p:nvSpPr>
          <p:cNvPr id="10" name="Shape 7"/>
          <p:cNvSpPr/>
          <p:nvPr/>
        </p:nvSpPr>
        <p:spPr>
          <a:xfrm>
            <a:off x="6611112" y="2286000"/>
            <a:ext cx="4754880" cy="3200400"/>
          </a:xfrm>
          <a:prstGeom prst="roundRect">
            <a:avLst>
              <a:gd name="adj" fmla="val 2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6931152" y="2606040"/>
            <a:ext cx="658368" cy="658368"/>
          </a:xfrm>
          <a:prstGeom prst="roundRect">
            <a:avLst>
              <a:gd name="adj" fmla="val 11111"/>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7075993" y="2750881"/>
            <a:ext cx="368686" cy="368686"/>
          </a:xfrm>
          <a:prstGeom prst="rect">
            <a:avLst/>
          </a:prstGeom>
        </p:spPr>
      </p:pic>
      <p:sp>
        <p:nvSpPr>
          <p:cNvPr id="13" name="Text 9"/>
          <p:cNvSpPr/>
          <p:nvPr/>
        </p:nvSpPr>
        <p:spPr>
          <a:xfrm>
            <a:off x="7754112" y="2651760"/>
            <a:ext cx="3474720" cy="548640"/>
          </a:xfrm>
          <a:prstGeom prst="rect">
            <a:avLst/>
          </a:prstGeom>
          <a:noFill/>
          <a:ln/>
        </p:spPr>
        <p:txBody>
          <a:bodyPr wrap="square" lIns="0" tIns="0" rIns="0" bIns="0" rtlCol="0" anchor="ctr"/>
          <a:lstStyle/>
          <a:p>
            <a:pPr indent="0" marL="0">
              <a:buNone/>
            </a:pPr>
            <a:r>
              <a:rPr lang="en-US" sz="1900" b="1" dirty="0">
                <a:solidFill>
                  <a:srgbClr val="7EC46B"/>
                </a:solidFill>
                <a:latin typeface="Courier New" pitchFamily="34" charset="0"/>
                <a:ea typeface="Courier New" pitchFamily="34" charset="-122"/>
                <a:cs typeface="Courier New" pitchFamily="34" charset="-120"/>
              </a:rPr>
              <a:t>SLOT B · PROTECTED</a:t>
            </a:r>
            <a:endParaRPr lang="en-US" sz="1900" dirty="0"/>
          </a:p>
        </p:txBody>
      </p:sp>
      <p:sp>
        <p:nvSpPr>
          <p:cNvPr id="14" name="Text 10"/>
          <p:cNvSpPr/>
          <p:nvPr/>
        </p:nvSpPr>
        <p:spPr>
          <a:xfrm>
            <a:off x="6976872"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Protected local state, kept off the visible path</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Bound to local conditions, not just a password</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Not exposed by normal UI / CLI flows</a:t>
            </a:r>
            <a:endParaRPr lang="en-US" sz="1800" dirty="0"/>
          </a:p>
        </p:txBody>
      </p:sp>
      <p:sp>
        <p:nvSpPr>
          <p:cNvPr id="15" name="Shape 11"/>
          <p:cNvSpPr/>
          <p:nvPr/>
        </p:nvSpPr>
        <p:spPr>
          <a:xfrm>
            <a:off x="5660136" y="3520440"/>
            <a:ext cx="868680" cy="868680"/>
          </a:xfrm>
          <a:prstGeom prst="ellipse">
            <a:avLst/>
          </a:prstGeom>
          <a:solidFill>
            <a:srgbClr val="0C1210"/>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5852160" y="3712464"/>
            <a:ext cx="484632" cy="484632"/>
          </a:xfrm>
          <a:prstGeom prst="rect">
            <a:avLst/>
          </a:prstGeom>
        </p:spPr>
      </p:pic>
      <p:sp>
        <p:nvSpPr>
          <p:cNvPr id="17"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8"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ADVERSARIES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Who it defends against — and who it doesn't</a:t>
            </a:r>
            <a:endParaRPr lang="en-US" sz="3400" dirty="0"/>
          </a:p>
        </p:txBody>
      </p:sp>
      <p:sp>
        <p:nvSpPr>
          <p:cNvPr id="4" name="Shape 2"/>
          <p:cNvSpPr/>
          <p:nvPr/>
        </p:nvSpPr>
        <p:spPr>
          <a:xfrm>
            <a:off x="566928" y="1783080"/>
            <a:ext cx="5486400" cy="4343400"/>
          </a:xfrm>
          <a:prstGeom prst="roundRect">
            <a:avLst>
              <a:gd name="adj" fmla="val 189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384048" cy="384048"/>
          </a:xfrm>
          <a:prstGeom prst="rect">
            <a:avLst/>
          </a:prstGeom>
        </p:spPr>
      </p:pic>
      <p:sp>
        <p:nvSpPr>
          <p:cNvPr id="6" name="Text 3"/>
          <p:cNvSpPr/>
          <p:nvPr/>
        </p:nvSpPr>
        <p:spPr>
          <a:xfrm>
            <a:off x="1298448"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In scope (5)</a:t>
            </a:r>
            <a:endParaRPr lang="en-US" sz="1900" dirty="0"/>
          </a:p>
        </p:txBody>
      </p:sp>
      <p:sp>
        <p:nvSpPr>
          <p:cNvPr id="7" name="Shape 4"/>
          <p:cNvSpPr/>
          <p:nvPr/>
        </p:nvSpPr>
        <p:spPr>
          <a:xfrm>
            <a:off x="822960" y="2542032"/>
            <a:ext cx="457200" cy="457200"/>
          </a:xfrm>
          <a:prstGeom prst="roundRect">
            <a:avLst>
              <a:gd name="adj" fmla="val 16000"/>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923544" y="2642616"/>
            <a:ext cx="256032" cy="256032"/>
          </a:xfrm>
          <a:prstGeom prst="rect">
            <a:avLst/>
          </a:prstGeom>
        </p:spPr>
      </p:pic>
      <p:sp>
        <p:nvSpPr>
          <p:cNvPr id="9" name="Text 5"/>
          <p:cNvSpPr/>
          <p:nvPr/>
        </p:nvSpPr>
        <p:spPr>
          <a:xfrm>
            <a:off x="1371600" y="2496312"/>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Physical captor</a:t>
            </a:r>
            <a:endParaRPr lang="en-US" sz="1500" dirty="0"/>
          </a:p>
        </p:txBody>
      </p:sp>
      <p:sp>
        <p:nvSpPr>
          <p:cNvPr id="10" name="Text 6"/>
          <p:cNvSpPr/>
          <p:nvPr/>
        </p:nvSpPr>
        <p:spPr>
          <a:xfrm>
            <a:off x="1371600" y="2798064"/>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device at rest → recover payload / confirm state</a:t>
            </a:r>
            <a:endParaRPr lang="en-US" sz="1400" dirty="0"/>
          </a:p>
        </p:txBody>
      </p:sp>
      <p:sp>
        <p:nvSpPr>
          <p:cNvPr id="11" name="Shape 7"/>
          <p:cNvSpPr/>
          <p:nvPr/>
        </p:nvSpPr>
        <p:spPr>
          <a:xfrm>
            <a:off x="822960" y="3246120"/>
            <a:ext cx="457200" cy="457200"/>
          </a:xfrm>
          <a:prstGeom prst="roundRect">
            <a:avLst>
              <a:gd name="adj" fmla="val 16000"/>
            </a:avLst>
          </a:prstGeom>
          <a:solidFill>
            <a:srgbClr val="1C2C24"/>
          </a:solidFill>
          <a:ln w="12700">
            <a:solidFill>
              <a:srgbClr val="2C3A32"/>
            </a:solidFill>
            <a:prstDash val="solid"/>
          </a:ln>
        </p:spPr>
      </p:sp>
      <p:pic>
        <p:nvPicPr>
          <p:cNvPr id="12" name="Image 2" descr="preencoded.png">    </p:cNvPr>
          <p:cNvPicPr>
            <a:picLocks noChangeAspect="1"/>
          </p:cNvPicPr>
          <p:nvPr/>
        </p:nvPicPr>
        <p:blipFill>
          <a:blip r:embed="rId3"/>
          <a:stretch>
            <a:fillRect/>
          </a:stretch>
        </p:blipFill>
        <p:spPr>
          <a:xfrm>
            <a:off x="923544" y="3346704"/>
            <a:ext cx="256032" cy="256032"/>
          </a:xfrm>
          <a:prstGeom prst="rect">
            <a:avLst/>
          </a:prstGeom>
        </p:spPr>
      </p:pic>
      <p:sp>
        <p:nvSpPr>
          <p:cNvPr id="13" name="Text 8"/>
          <p:cNvSpPr/>
          <p:nvPr/>
        </p:nvSpPr>
        <p:spPr>
          <a:xfrm>
            <a:off x="1371600" y="3200400"/>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Passive observer</a:t>
            </a:r>
            <a:endParaRPr lang="en-US" sz="1500" dirty="0"/>
          </a:p>
        </p:txBody>
      </p:sp>
      <p:sp>
        <p:nvSpPr>
          <p:cNvPr id="14" name="Text 9"/>
          <p:cNvSpPr/>
          <p:nvPr/>
        </p:nvSpPr>
        <p:spPr>
          <a:xfrm>
            <a:off x="1371600" y="3502152"/>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screen, shell history, files → learn mode/slots</a:t>
            </a:r>
            <a:endParaRPr lang="en-US" sz="1400" dirty="0"/>
          </a:p>
        </p:txBody>
      </p:sp>
      <p:sp>
        <p:nvSpPr>
          <p:cNvPr id="15" name="Shape 10"/>
          <p:cNvSpPr/>
          <p:nvPr/>
        </p:nvSpPr>
        <p:spPr>
          <a:xfrm>
            <a:off x="822960" y="3950208"/>
            <a:ext cx="457200" cy="457200"/>
          </a:xfrm>
          <a:prstGeom prst="roundRect">
            <a:avLst>
              <a:gd name="adj" fmla="val 16000"/>
            </a:avLst>
          </a:prstGeom>
          <a:solidFill>
            <a:srgbClr val="1C2C24"/>
          </a:solidFill>
          <a:ln w="12700">
            <a:solidFill>
              <a:srgbClr val="2C3A32"/>
            </a:solidFill>
            <a:prstDash val="solid"/>
          </a:ln>
        </p:spPr>
      </p:sp>
      <p:pic>
        <p:nvPicPr>
          <p:cNvPr id="16" name="Image 3" descr="preencoded.png">    </p:cNvPr>
          <p:cNvPicPr>
            <a:picLocks noChangeAspect="1"/>
          </p:cNvPicPr>
          <p:nvPr/>
        </p:nvPicPr>
        <p:blipFill>
          <a:blip r:embed="rId4"/>
          <a:stretch>
            <a:fillRect/>
          </a:stretch>
        </p:blipFill>
        <p:spPr>
          <a:xfrm>
            <a:off x="923544" y="4050792"/>
            <a:ext cx="256032" cy="256032"/>
          </a:xfrm>
          <a:prstGeom prst="rect">
            <a:avLst/>
          </a:prstGeom>
        </p:spPr>
      </p:pic>
      <p:sp>
        <p:nvSpPr>
          <p:cNvPr id="17" name="Text 11"/>
          <p:cNvSpPr/>
          <p:nvPr/>
        </p:nvSpPr>
        <p:spPr>
          <a:xfrm>
            <a:off x="1371600" y="3904488"/>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 active attacker</a:t>
            </a:r>
            <a:endParaRPr lang="en-US" sz="1500" dirty="0"/>
          </a:p>
        </p:txBody>
      </p:sp>
      <p:sp>
        <p:nvSpPr>
          <p:cNvPr id="18" name="Text 12"/>
          <p:cNvSpPr/>
          <p:nvPr/>
        </p:nvSpPr>
        <p:spPr>
          <a:xfrm>
            <a:off x="1371600" y="4206240"/>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OS-level dir access → copy vault, offline crack</a:t>
            </a:r>
            <a:endParaRPr lang="en-US" sz="1400" dirty="0"/>
          </a:p>
        </p:txBody>
      </p:sp>
      <p:sp>
        <p:nvSpPr>
          <p:cNvPr id="19" name="Shape 13"/>
          <p:cNvSpPr/>
          <p:nvPr/>
        </p:nvSpPr>
        <p:spPr>
          <a:xfrm>
            <a:off x="822960" y="4654296"/>
            <a:ext cx="457200" cy="457200"/>
          </a:xfrm>
          <a:prstGeom prst="roundRect">
            <a:avLst>
              <a:gd name="adj" fmla="val 16000"/>
            </a:avLst>
          </a:prstGeom>
          <a:solidFill>
            <a:srgbClr val="1C2C24"/>
          </a:solidFill>
          <a:ln w="12700">
            <a:solidFill>
              <a:srgbClr val="2C3A32"/>
            </a:solidFill>
            <a:prstDash val="solid"/>
          </a:ln>
        </p:spPr>
      </p:sp>
      <p:pic>
        <p:nvPicPr>
          <p:cNvPr id="20" name="Image 4" descr="preencoded.png">    </p:cNvPr>
          <p:cNvPicPr>
            <a:picLocks noChangeAspect="1"/>
          </p:cNvPicPr>
          <p:nvPr/>
        </p:nvPicPr>
        <p:blipFill>
          <a:blip r:embed="rId5"/>
          <a:stretch>
            <a:fillRect/>
          </a:stretch>
        </p:blipFill>
        <p:spPr>
          <a:xfrm>
            <a:off x="923544" y="4754880"/>
            <a:ext cx="256032" cy="256032"/>
          </a:xfrm>
          <a:prstGeom prst="rect">
            <a:avLst/>
          </a:prstGeom>
        </p:spPr>
      </p:pic>
      <p:sp>
        <p:nvSpPr>
          <p:cNvPr id="21" name="Text 14"/>
          <p:cNvSpPr/>
          <p:nvPr/>
        </p:nvSpPr>
        <p:spPr>
          <a:xfrm>
            <a:off x="1371600" y="4608576"/>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Local-network attacker</a:t>
            </a:r>
            <a:endParaRPr lang="en-US" sz="1500" dirty="0"/>
          </a:p>
        </p:txBody>
      </p:sp>
      <p:sp>
        <p:nvSpPr>
          <p:cNvPr id="22" name="Text 15"/>
          <p:cNvSpPr/>
          <p:nvPr/>
        </p:nvSpPr>
        <p:spPr>
          <a:xfrm>
            <a:off x="1371600" y="4910328"/>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WebUI via localhost/USB → replay token, brute</a:t>
            </a:r>
            <a:endParaRPr lang="en-US" sz="1400" dirty="0"/>
          </a:p>
        </p:txBody>
      </p:sp>
      <p:sp>
        <p:nvSpPr>
          <p:cNvPr id="23" name="Shape 16"/>
          <p:cNvSpPr/>
          <p:nvPr/>
        </p:nvSpPr>
        <p:spPr>
          <a:xfrm>
            <a:off x="822960" y="5358384"/>
            <a:ext cx="457200" cy="457200"/>
          </a:xfrm>
          <a:prstGeom prst="roundRect">
            <a:avLst>
              <a:gd name="adj" fmla="val 16000"/>
            </a:avLst>
          </a:prstGeom>
          <a:solidFill>
            <a:srgbClr val="1C2C24"/>
          </a:solidFill>
          <a:ln w="12700">
            <a:solidFill>
              <a:srgbClr val="2C3A32"/>
            </a:solidFill>
            <a:prstDash val="solid"/>
          </a:ln>
        </p:spPr>
      </p:sp>
      <p:pic>
        <p:nvPicPr>
          <p:cNvPr id="24" name="Image 5" descr="preencoded.png">    </p:cNvPr>
          <p:cNvPicPr>
            <a:picLocks noChangeAspect="1"/>
          </p:cNvPicPr>
          <p:nvPr/>
        </p:nvPicPr>
        <p:blipFill>
          <a:blip r:embed="rId6"/>
          <a:stretch>
            <a:fillRect/>
          </a:stretch>
        </p:blipFill>
        <p:spPr>
          <a:xfrm>
            <a:off x="923544" y="5458968"/>
            <a:ext cx="256032" cy="256032"/>
          </a:xfrm>
          <a:prstGeom prst="rect">
            <a:avLst/>
          </a:prstGeom>
        </p:spPr>
      </p:pic>
      <p:sp>
        <p:nvSpPr>
          <p:cNvPr id="25" name="Text 17"/>
          <p:cNvSpPr/>
          <p:nvPr/>
        </p:nvSpPr>
        <p:spPr>
          <a:xfrm>
            <a:off x="1371600" y="5312664"/>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Coercing authority</a:t>
            </a:r>
            <a:endParaRPr lang="en-US" sz="1500" dirty="0"/>
          </a:p>
        </p:txBody>
      </p:sp>
      <p:sp>
        <p:nvSpPr>
          <p:cNvPr id="26" name="Text 18"/>
          <p:cNvSpPr/>
          <p:nvPr/>
        </p:nvSpPr>
        <p:spPr>
          <a:xfrm>
            <a:off x="1371600" y="5614416"/>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legal/physical coercion → compel disclosure</a:t>
            </a:r>
            <a:endParaRPr lang="en-US" sz="1400" dirty="0"/>
          </a:p>
        </p:txBody>
      </p:sp>
      <p:sp>
        <p:nvSpPr>
          <p:cNvPr id="27" name="Shape 19"/>
          <p:cNvSpPr/>
          <p:nvPr/>
        </p:nvSpPr>
        <p:spPr>
          <a:xfrm>
            <a:off x="6236208" y="1783080"/>
            <a:ext cx="5394960" cy="4343400"/>
          </a:xfrm>
          <a:prstGeom prst="roundRect">
            <a:avLst>
              <a:gd name="adj" fmla="val 1895"/>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28" name="Image 6" descr="preencoded.png">    </p:cNvPr>
          <p:cNvPicPr>
            <a:picLocks noChangeAspect="1"/>
          </p:cNvPicPr>
          <p:nvPr/>
        </p:nvPicPr>
        <p:blipFill>
          <a:blip r:embed="rId7"/>
          <a:stretch>
            <a:fillRect/>
          </a:stretch>
        </p:blipFill>
        <p:spPr>
          <a:xfrm>
            <a:off x="6492240" y="2011680"/>
            <a:ext cx="384048" cy="384048"/>
          </a:xfrm>
          <a:prstGeom prst="rect">
            <a:avLst/>
          </a:prstGeom>
        </p:spPr>
      </p:pic>
      <p:sp>
        <p:nvSpPr>
          <p:cNvPr id="29" name="Text 20"/>
          <p:cNvSpPr/>
          <p:nvPr/>
        </p:nvSpPr>
        <p:spPr>
          <a:xfrm>
            <a:off x="6967728"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Out of scope (5)</a:t>
            </a:r>
            <a:endParaRPr lang="en-US" sz="1900" dirty="0"/>
          </a:p>
        </p:txBody>
      </p:sp>
      <p:pic>
        <p:nvPicPr>
          <p:cNvPr id="30" name="Image 7" descr="preencoded.png">    </p:cNvPr>
          <p:cNvPicPr>
            <a:picLocks noChangeAspect="1"/>
          </p:cNvPicPr>
          <p:nvPr/>
        </p:nvPicPr>
        <p:blipFill>
          <a:blip r:embed="rId8"/>
          <a:stretch>
            <a:fillRect/>
          </a:stretch>
        </p:blipFill>
        <p:spPr>
          <a:xfrm>
            <a:off x="6510528" y="2578608"/>
            <a:ext cx="310896" cy="310896"/>
          </a:xfrm>
          <a:prstGeom prst="rect">
            <a:avLst/>
          </a:prstGeom>
        </p:spPr>
      </p:pic>
      <p:sp>
        <p:nvSpPr>
          <p:cNvPr id="31" name="Text 21"/>
          <p:cNvSpPr/>
          <p:nvPr/>
        </p:nvSpPr>
        <p:spPr>
          <a:xfrm>
            <a:off x="6949440" y="2505456"/>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Compromised host kernel / hypervisor — defeats all software controls</a:t>
            </a:r>
            <a:endParaRPr lang="en-US" sz="1500" dirty="0"/>
          </a:p>
        </p:txBody>
      </p:sp>
      <p:pic>
        <p:nvPicPr>
          <p:cNvPr id="32" name="Image 8" descr="preencoded.png">    </p:cNvPr>
          <p:cNvPicPr>
            <a:picLocks noChangeAspect="1"/>
          </p:cNvPicPr>
          <p:nvPr/>
        </p:nvPicPr>
        <p:blipFill>
          <a:blip r:embed="rId9"/>
          <a:stretch>
            <a:fillRect/>
          </a:stretch>
        </p:blipFill>
        <p:spPr>
          <a:xfrm>
            <a:off x="6510528" y="3282696"/>
            <a:ext cx="310896" cy="310896"/>
          </a:xfrm>
          <a:prstGeom prst="rect">
            <a:avLst/>
          </a:prstGeom>
        </p:spPr>
      </p:pic>
      <p:sp>
        <p:nvSpPr>
          <p:cNvPr id="33" name="Text 22"/>
          <p:cNvSpPr/>
          <p:nvPr/>
        </p:nvSpPr>
        <p:spPr>
          <a:xfrm>
            <a:off x="6949440" y="3209544"/>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Hardware implant / side-channel — needs HSM or certified enclave</a:t>
            </a:r>
            <a:endParaRPr lang="en-US" sz="1500" dirty="0"/>
          </a:p>
        </p:txBody>
      </p:sp>
      <p:pic>
        <p:nvPicPr>
          <p:cNvPr id="34" name="Image 9" descr="preencoded.png">    </p:cNvPr>
          <p:cNvPicPr>
            <a:picLocks noChangeAspect="1"/>
          </p:cNvPicPr>
          <p:nvPr/>
        </p:nvPicPr>
        <p:blipFill>
          <a:blip r:embed="rId10"/>
          <a:stretch>
            <a:fillRect/>
          </a:stretch>
        </p:blipFill>
        <p:spPr>
          <a:xfrm>
            <a:off x="6510528" y="3986784"/>
            <a:ext cx="310896" cy="310896"/>
          </a:xfrm>
          <a:prstGeom prst="rect">
            <a:avLst/>
          </a:prstGeom>
        </p:spPr>
      </p:pic>
      <p:sp>
        <p:nvSpPr>
          <p:cNvPr id="35" name="Text 23"/>
          <p:cNvSpPr/>
          <p:nvPr/>
        </p:nvSpPr>
        <p:spPr>
          <a:xfrm>
            <a:off x="6949440" y="3913632"/>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Remote attacker over untrusted network — WebUI is localhost / USB only</a:t>
            </a:r>
            <a:endParaRPr lang="en-US" sz="1500" dirty="0"/>
          </a:p>
        </p:txBody>
      </p:sp>
      <p:pic>
        <p:nvPicPr>
          <p:cNvPr id="36" name="Image 10" descr="preencoded.png">    </p:cNvPr>
          <p:cNvPicPr>
            <a:picLocks noChangeAspect="1"/>
          </p:cNvPicPr>
          <p:nvPr/>
        </p:nvPicPr>
        <p:blipFill>
          <a:blip r:embed="rId11"/>
          <a:stretch>
            <a:fillRect/>
          </a:stretch>
        </p:blipFill>
        <p:spPr>
          <a:xfrm>
            <a:off x="6510528" y="4690872"/>
            <a:ext cx="310896" cy="310896"/>
          </a:xfrm>
          <a:prstGeom prst="rect">
            <a:avLst/>
          </a:prstGeom>
        </p:spPr>
      </p:pic>
      <p:sp>
        <p:nvSpPr>
          <p:cNvPr id="37" name="Text 24"/>
          <p:cNvSpPr/>
          <p:nvPr/>
        </p:nvSpPr>
        <p:spPr>
          <a:xfrm>
            <a:off x="6949440" y="4617720"/>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Supply-chain attacker — dependency integrity is operational (SH-22)</a:t>
            </a:r>
            <a:endParaRPr lang="en-US" sz="1500" dirty="0"/>
          </a:p>
        </p:txBody>
      </p:sp>
      <p:pic>
        <p:nvPicPr>
          <p:cNvPr id="38" name="Image 11" descr="preencoded.png">    </p:cNvPr>
          <p:cNvPicPr>
            <a:picLocks noChangeAspect="1"/>
          </p:cNvPicPr>
          <p:nvPr/>
        </p:nvPicPr>
        <p:blipFill>
          <a:blip r:embed="rId12"/>
          <a:stretch>
            <a:fillRect/>
          </a:stretch>
        </p:blipFill>
        <p:spPr>
          <a:xfrm>
            <a:off x="6510528" y="5394960"/>
            <a:ext cx="310896" cy="310896"/>
          </a:xfrm>
          <a:prstGeom prst="rect">
            <a:avLst/>
          </a:prstGeom>
        </p:spPr>
      </p:pic>
      <p:sp>
        <p:nvSpPr>
          <p:cNvPr id="39" name="Text 25"/>
          <p:cNvSpPr/>
          <p:nvPr/>
        </p:nvSpPr>
        <p:spPr>
          <a:xfrm>
            <a:off x="6949440" y="5321808"/>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 breaks vs AES-GCM / Argon2id — assumed computationally secure</a:t>
            </a:r>
            <a:endParaRPr lang="en-US" sz="1500" dirty="0"/>
          </a:p>
        </p:txBody>
      </p:sp>
      <p:sp>
        <p:nvSpPr>
          <p:cNvPr id="4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SCENARIOS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18 scenarios, tagged STRIDE + LINDDUN</a:t>
            </a:r>
            <a:endParaRPr lang="en-US" sz="3400" dirty="0"/>
          </a:p>
        </p:txBody>
      </p:sp>
      <p:sp>
        <p:nvSpPr>
          <p:cNvPr id="4" name="Text 2"/>
          <p:cNvSpPr/>
          <p:nvPr/>
        </p:nvSpPr>
        <p:spPr>
          <a:xfrm>
            <a:off x="566928" y="157276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STRIDE  </a:t>
            </a:r>
            <a:pPr indent="0" marL="0">
              <a:buNone/>
            </a:pPr>
            <a:r>
              <a:rPr lang="en-US" sz="1500" dirty="0">
                <a:solidFill>
                  <a:srgbClr val="9DB0A4"/>
                </a:solidFill>
                <a:latin typeface="Calibri" pitchFamily="34" charset="0"/>
                <a:ea typeface="Calibri" pitchFamily="34" charset="-122"/>
                <a:cs typeface="Calibri" pitchFamily="34" charset="-120"/>
              </a:rPr>
              <a:t>Spoofing · Tampering · Repudiation · Info-disclosure · DoS · Elevation</a:t>
            </a:r>
            <a:endParaRPr lang="en-US" sz="1500" dirty="0"/>
          </a:p>
        </p:txBody>
      </p:sp>
      <p:sp>
        <p:nvSpPr>
          <p:cNvPr id="5" name="Text 3"/>
          <p:cNvSpPr/>
          <p:nvPr/>
        </p:nvSpPr>
        <p:spPr>
          <a:xfrm>
            <a:off x="566928" y="193852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LINDDUN  </a:t>
            </a:r>
            <a:pPr indent="0" marL="0">
              <a:buNone/>
            </a:pPr>
            <a:r>
              <a:rPr lang="en-US" sz="1500" dirty="0">
                <a:solidFill>
                  <a:srgbClr val="9DB0A4"/>
                </a:solidFill>
                <a:latin typeface="Calibri" pitchFamily="34" charset="0"/>
                <a:ea typeface="Calibri" pitchFamily="34" charset="-122"/>
                <a:cs typeface="Calibri" pitchFamily="34" charset="-120"/>
              </a:rPr>
              <a:t>Linkability · Identifiability · Non-repudiation · Detectability · Disclosure · Unawareness · Non-compliance</a:t>
            </a:r>
            <a:endParaRPr lang="en-US" sz="1500" dirty="0"/>
          </a:p>
        </p:txBody>
      </p:sp>
      <p:sp>
        <p:nvSpPr>
          <p:cNvPr id="6" name="Shape 4"/>
          <p:cNvSpPr/>
          <p:nvPr/>
        </p:nvSpPr>
        <p:spPr>
          <a:xfrm>
            <a:off x="566928" y="2450592"/>
            <a:ext cx="11018520"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822960" y="2514600"/>
            <a:ext cx="100584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ID</a:t>
            </a:r>
            <a:endParaRPr lang="en-US" sz="1300" dirty="0"/>
          </a:p>
        </p:txBody>
      </p:sp>
      <p:sp>
        <p:nvSpPr>
          <p:cNvPr id="8" name="Text 6"/>
          <p:cNvSpPr/>
          <p:nvPr/>
        </p:nvSpPr>
        <p:spPr>
          <a:xfrm>
            <a:off x="1920240" y="2514600"/>
            <a:ext cx="676656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Representative scenario</a:t>
            </a:r>
            <a:endParaRPr lang="en-US" sz="1300" dirty="0"/>
          </a:p>
        </p:txBody>
      </p:sp>
      <p:sp>
        <p:nvSpPr>
          <p:cNvPr id="9" name="Text 7"/>
          <p:cNvSpPr/>
          <p:nvPr/>
        </p:nvSpPr>
        <p:spPr>
          <a:xfrm>
            <a:off x="8869680" y="2514600"/>
            <a:ext cx="246888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STRIDE / LINDDUN</a:t>
            </a:r>
            <a:endParaRPr lang="en-US" sz="1300" dirty="0"/>
          </a:p>
        </p:txBody>
      </p:sp>
      <p:sp>
        <p:nvSpPr>
          <p:cNvPr id="10" name="Shape 8"/>
          <p:cNvSpPr/>
          <p:nvPr/>
        </p:nvSpPr>
        <p:spPr>
          <a:xfrm>
            <a:off x="822960" y="2916936"/>
            <a:ext cx="10515600" cy="0"/>
          </a:xfrm>
          <a:prstGeom prst="line">
            <a:avLst/>
          </a:prstGeom>
          <a:noFill/>
          <a:ln w="9525">
            <a:solidFill>
              <a:srgbClr val="2C3A32"/>
            </a:solidFill>
            <a:prstDash val="solid"/>
          </a:ln>
        </p:spPr>
      </p:sp>
      <p:sp>
        <p:nvSpPr>
          <p:cNvPr id="11" name="Text 9"/>
          <p:cNvSpPr/>
          <p:nvPr/>
        </p:nvSpPr>
        <p:spPr>
          <a:xfrm>
            <a:off x="822960" y="293522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TS-01</a:t>
            </a:r>
            <a:endParaRPr lang="en-US" sz="1500" dirty="0"/>
          </a:p>
        </p:txBody>
      </p:sp>
      <p:sp>
        <p:nvSpPr>
          <p:cNvPr id="12" name="Text 10"/>
          <p:cNvSpPr/>
          <p:nvPr/>
        </p:nvSpPr>
        <p:spPr>
          <a:xfrm>
            <a:off x="1920240" y="293522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Vault copy + offline cracking</a:t>
            </a:r>
            <a:endParaRPr lang="en-US" sz="1600" dirty="0"/>
          </a:p>
        </p:txBody>
      </p:sp>
      <p:sp>
        <p:nvSpPr>
          <p:cNvPr id="13" name="Text 11"/>
          <p:cNvSpPr/>
          <p:nvPr/>
        </p:nvSpPr>
        <p:spPr>
          <a:xfrm>
            <a:off x="8869680" y="293522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T, Di</a:t>
            </a:r>
            <a:endParaRPr lang="en-US" sz="1400" dirty="0"/>
          </a:p>
        </p:txBody>
      </p:sp>
      <p:sp>
        <p:nvSpPr>
          <p:cNvPr id="14" name="Shape 12"/>
          <p:cNvSpPr/>
          <p:nvPr/>
        </p:nvSpPr>
        <p:spPr>
          <a:xfrm>
            <a:off x="822960" y="3310128"/>
            <a:ext cx="10515600" cy="0"/>
          </a:xfrm>
          <a:prstGeom prst="line">
            <a:avLst/>
          </a:prstGeom>
          <a:noFill/>
          <a:ln w="9525">
            <a:solidFill>
              <a:srgbClr val="2C3A32"/>
            </a:solidFill>
            <a:prstDash val="solid"/>
          </a:ln>
        </p:spPr>
      </p:sp>
      <p:sp>
        <p:nvSpPr>
          <p:cNvPr id="15" name="Text 13"/>
          <p:cNvSpPr/>
          <p:nvPr/>
        </p:nvSpPr>
        <p:spPr>
          <a:xfrm>
            <a:off x="822960" y="332841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TS-04</a:t>
            </a:r>
            <a:endParaRPr lang="en-US" sz="1500" dirty="0"/>
          </a:p>
        </p:txBody>
      </p:sp>
      <p:sp>
        <p:nvSpPr>
          <p:cNvPr id="16" name="Text 14"/>
          <p:cNvSpPr/>
          <p:nvPr/>
        </p:nvSpPr>
        <p:spPr>
          <a:xfrm>
            <a:off x="1920240" y="332841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Restricted session fixation / replay</a:t>
            </a:r>
            <a:endParaRPr lang="en-US" sz="1600" dirty="0"/>
          </a:p>
        </p:txBody>
      </p:sp>
      <p:sp>
        <p:nvSpPr>
          <p:cNvPr id="17" name="Text 15"/>
          <p:cNvSpPr/>
          <p:nvPr/>
        </p:nvSpPr>
        <p:spPr>
          <a:xfrm>
            <a:off x="8869680" y="332841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 E</a:t>
            </a:r>
            <a:endParaRPr lang="en-US" sz="1400" dirty="0"/>
          </a:p>
        </p:txBody>
      </p:sp>
      <p:sp>
        <p:nvSpPr>
          <p:cNvPr id="18" name="Shape 16"/>
          <p:cNvSpPr/>
          <p:nvPr/>
        </p:nvSpPr>
        <p:spPr>
          <a:xfrm>
            <a:off x="822960" y="3703320"/>
            <a:ext cx="10515600" cy="0"/>
          </a:xfrm>
          <a:prstGeom prst="line">
            <a:avLst/>
          </a:prstGeom>
          <a:noFill/>
          <a:ln w="9525">
            <a:solidFill>
              <a:srgbClr val="2C3A32"/>
            </a:solidFill>
            <a:prstDash val="solid"/>
          </a:ln>
        </p:spPr>
      </p:sp>
      <p:sp>
        <p:nvSpPr>
          <p:cNvPr id="19" name="Text 17"/>
          <p:cNvSpPr/>
          <p:nvPr/>
        </p:nvSpPr>
        <p:spPr>
          <a:xfrm>
            <a:off x="822960" y="3721608"/>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TS-08</a:t>
            </a:r>
            <a:endParaRPr lang="en-US" sz="1500" dirty="0"/>
          </a:p>
        </p:txBody>
      </p:sp>
      <p:sp>
        <p:nvSpPr>
          <p:cNvPr id="20" name="Text 18"/>
          <p:cNvSpPr/>
          <p:nvPr/>
        </p:nvSpPr>
        <p:spPr>
          <a:xfrm>
            <a:off x="1920240" y="3721608"/>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Response header / filename leakage</a:t>
            </a:r>
            <a:endParaRPr lang="en-US" sz="1600" dirty="0"/>
          </a:p>
        </p:txBody>
      </p:sp>
      <p:sp>
        <p:nvSpPr>
          <p:cNvPr id="21" name="Text 19"/>
          <p:cNvSpPr/>
          <p:nvPr/>
        </p:nvSpPr>
        <p:spPr>
          <a:xfrm>
            <a:off x="8869680" y="3721608"/>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Di, De</a:t>
            </a:r>
            <a:endParaRPr lang="en-US" sz="1400" dirty="0"/>
          </a:p>
        </p:txBody>
      </p:sp>
      <p:sp>
        <p:nvSpPr>
          <p:cNvPr id="22" name="Shape 20"/>
          <p:cNvSpPr/>
          <p:nvPr/>
        </p:nvSpPr>
        <p:spPr>
          <a:xfrm>
            <a:off x="822960" y="4096512"/>
            <a:ext cx="10515600" cy="0"/>
          </a:xfrm>
          <a:prstGeom prst="line">
            <a:avLst/>
          </a:prstGeom>
          <a:noFill/>
          <a:ln w="9525">
            <a:solidFill>
              <a:srgbClr val="2C3A32"/>
            </a:solidFill>
            <a:prstDash val="solid"/>
          </a:ln>
        </p:spPr>
      </p:sp>
      <p:sp>
        <p:nvSpPr>
          <p:cNvPr id="23" name="Text 21"/>
          <p:cNvSpPr/>
          <p:nvPr/>
        </p:nvSpPr>
        <p:spPr>
          <a:xfrm>
            <a:off x="822960" y="4114800"/>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TS-12</a:t>
            </a:r>
            <a:endParaRPr lang="en-US" sz="1500" dirty="0"/>
          </a:p>
        </p:txBody>
      </p:sp>
      <p:sp>
        <p:nvSpPr>
          <p:cNvPr id="24" name="Text 22"/>
          <p:cNvSpPr/>
          <p:nvPr/>
        </p:nvSpPr>
        <p:spPr>
          <a:xfrm>
            <a:off x="1920240" y="4114800"/>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Repeated failure / lockout bypass</a:t>
            </a:r>
            <a:endParaRPr lang="en-US" sz="1600" dirty="0"/>
          </a:p>
        </p:txBody>
      </p:sp>
      <p:sp>
        <p:nvSpPr>
          <p:cNvPr id="25" name="Text 23"/>
          <p:cNvSpPr/>
          <p:nvPr/>
        </p:nvSpPr>
        <p:spPr>
          <a:xfrm>
            <a:off x="8869680" y="4114800"/>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a:t>
            </a:r>
            <a:endParaRPr lang="en-US" sz="1400" dirty="0"/>
          </a:p>
        </p:txBody>
      </p:sp>
      <p:sp>
        <p:nvSpPr>
          <p:cNvPr id="26" name="Shape 24"/>
          <p:cNvSpPr/>
          <p:nvPr/>
        </p:nvSpPr>
        <p:spPr>
          <a:xfrm>
            <a:off x="822960" y="4489704"/>
            <a:ext cx="10515600" cy="0"/>
          </a:xfrm>
          <a:prstGeom prst="line">
            <a:avLst/>
          </a:prstGeom>
          <a:noFill/>
          <a:ln w="9525">
            <a:solidFill>
              <a:srgbClr val="2C3A32"/>
            </a:solidFill>
            <a:prstDash val="solid"/>
          </a:ln>
        </p:spPr>
      </p:sp>
      <p:sp>
        <p:nvSpPr>
          <p:cNvPr id="27" name="Text 25"/>
          <p:cNvSpPr/>
          <p:nvPr/>
        </p:nvSpPr>
        <p:spPr>
          <a:xfrm>
            <a:off x="822960" y="4507992"/>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TS-13</a:t>
            </a:r>
            <a:endParaRPr lang="en-US" sz="1500" dirty="0"/>
          </a:p>
        </p:txBody>
      </p:sp>
      <p:sp>
        <p:nvSpPr>
          <p:cNvPr id="28" name="Text 26"/>
          <p:cNvSpPr/>
          <p:nvPr/>
        </p:nvSpPr>
        <p:spPr>
          <a:xfrm>
            <a:off x="1920240" y="4507992"/>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Timing side-channel: RESTRICTED vs FAILED</a:t>
            </a:r>
            <a:endParaRPr lang="en-US" sz="1600" dirty="0"/>
          </a:p>
        </p:txBody>
      </p:sp>
      <p:sp>
        <p:nvSpPr>
          <p:cNvPr id="29" name="Text 27"/>
          <p:cNvSpPr/>
          <p:nvPr/>
        </p:nvSpPr>
        <p:spPr>
          <a:xfrm>
            <a:off x="8869680" y="4507992"/>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De</a:t>
            </a:r>
            <a:endParaRPr lang="en-US" sz="1400" dirty="0"/>
          </a:p>
        </p:txBody>
      </p:sp>
      <p:sp>
        <p:nvSpPr>
          <p:cNvPr id="30" name="Shape 28"/>
          <p:cNvSpPr/>
          <p:nvPr/>
        </p:nvSpPr>
        <p:spPr>
          <a:xfrm>
            <a:off x="822960" y="4882896"/>
            <a:ext cx="10515600" cy="0"/>
          </a:xfrm>
          <a:prstGeom prst="line">
            <a:avLst/>
          </a:prstGeom>
          <a:noFill/>
          <a:ln w="9525">
            <a:solidFill>
              <a:srgbClr val="2C3A32"/>
            </a:solidFill>
            <a:prstDash val="solid"/>
          </a:ln>
        </p:spPr>
      </p:sp>
      <p:sp>
        <p:nvSpPr>
          <p:cNvPr id="31" name="Text 29"/>
          <p:cNvSpPr/>
          <p:nvPr/>
        </p:nvSpPr>
        <p:spPr>
          <a:xfrm>
            <a:off x="822960" y="490118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TS-16</a:t>
            </a:r>
            <a:endParaRPr lang="en-US" sz="1500" dirty="0"/>
          </a:p>
        </p:txBody>
      </p:sp>
      <p:sp>
        <p:nvSpPr>
          <p:cNvPr id="32" name="Text 30"/>
          <p:cNvSpPr/>
          <p:nvPr/>
        </p:nvSpPr>
        <p:spPr>
          <a:xfrm>
            <a:off x="1920240" y="490118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Object-cue spoofing</a:t>
            </a:r>
            <a:endParaRPr lang="en-US" sz="1600" dirty="0"/>
          </a:p>
        </p:txBody>
      </p:sp>
      <p:sp>
        <p:nvSpPr>
          <p:cNvPr id="33" name="Text 31"/>
          <p:cNvSpPr/>
          <p:nvPr/>
        </p:nvSpPr>
        <p:spPr>
          <a:xfrm>
            <a:off x="8869680" y="490118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a:t>
            </a:r>
            <a:endParaRPr lang="en-US" sz="1400" dirty="0"/>
          </a:p>
        </p:txBody>
      </p:sp>
      <p:sp>
        <p:nvSpPr>
          <p:cNvPr id="34" name="Shape 32"/>
          <p:cNvSpPr/>
          <p:nvPr/>
        </p:nvSpPr>
        <p:spPr>
          <a:xfrm>
            <a:off x="822960" y="5276088"/>
            <a:ext cx="10515600" cy="0"/>
          </a:xfrm>
          <a:prstGeom prst="line">
            <a:avLst/>
          </a:prstGeom>
          <a:noFill/>
          <a:ln w="9525">
            <a:solidFill>
              <a:srgbClr val="2C3A32"/>
            </a:solidFill>
            <a:prstDash val="solid"/>
          </a:ln>
        </p:spPr>
      </p:sp>
      <p:sp>
        <p:nvSpPr>
          <p:cNvPr id="35" name="Text 33"/>
          <p:cNvSpPr/>
          <p:nvPr/>
        </p:nvSpPr>
        <p:spPr>
          <a:xfrm>
            <a:off x="822960" y="529437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TS-18</a:t>
            </a:r>
            <a:endParaRPr lang="en-US" sz="1500" dirty="0"/>
          </a:p>
        </p:txBody>
      </p:sp>
      <p:sp>
        <p:nvSpPr>
          <p:cNvPr id="36" name="Text 34"/>
          <p:cNvSpPr/>
          <p:nvPr/>
        </p:nvSpPr>
        <p:spPr>
          <a:xfrm>
            <a:off x="1920240" y="529437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Coerced disclosure</a:t>
            </a:r>
            <a:endParaRPr lang="en-US" sz="1600" dirty="0"/>
          </a:p>
        </p:txBody>
      </p:sp>
      <p:sp>
        <p:nvSpPr>
          <p:cNvPr id="37" name="Text 35"/>
          <p:cNvSpPr/>
          <p:nvPr/>
        </p:nvSpPr>
        <p:spPr>
          <a:xfrm>
            <a:off x="8869680" y="529437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Di, U</a:t>
            </a:r>
            <a:endParaRPr lang="en-US" sz="1400" dirty="0"/>
          </a:p>
        </p:txBody>
      </p:sp>
      <p:sp>
        <p:nvSpPr>
          <p:cNvPr id="38" name="Text 36"/>
          <p:cNvSpPr/>
          <p:nvPr/>
        </p:nvSpPr>
        <p:spPr>
          <a:xfrm>
            <a:off x="566928" y="5852160"/>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Full matrix: docs/THREAT_MODEL.md · docs/THREAT_ANALYSIS_STRIDE.md</a:t>
            </a:r>
            <a:endParaRPr lang="en-US" sz="1300" dirty="0"/>
          </a:p>
        </p:txBody>
      </p:sp>
      <p:sp>
        <p:nvSpPr>
          <p:cNvPr id="39" name="Text 3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0" name="Text 3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BOUNDARY</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Four things the system keeps explicit</a:t>
            </a:r>
            <a:endParaRPr lang="en-US" sz="3400" dirty="0"/>
          </a:p>
        </p:txBody>
      </p:sp>
      <p:sp>
        <p:nvSpPr>
          <p:cNvPr id="4" name="Shape 2"/>
          <p:cNvSpPr/>
          <p:nvPr/>
        </p:nvSpPr>
        <p:spPr>
          <a:xfrm>
            <a:off x="566928"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167128"/>
            <a:ext cx="658368" cy="658368"/>
          </a:xfrm>
          <a:prstGeom prst="roundRect">
            <a:avLst>
              <a:gd name="adj" fmla="val 1111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4377" y="2311969"/>
            <a:ext cx="368686" cy="368686"/>
          </a:xfrm>
          <a:prstGeom prst="rect">
            <a:avLst/>
          </a:prstGeom>
        </p:spPr>
      </p:pic>
      <p:sp>
        <p:nvSpPr>
          <p:cNvPr id="7" name="Text 4"/>
          <p:cNvSpPr/>
          <p:nvPr/>
        </p:nvSpPr>
        <p:spPr>
          <a:xfrm>
            <a:off x="1682496"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Two-slot local storage</a:t>
            </a:r>
            <a:endParaRPr lang="en-US" sz="2000" dirty="0"/>
          </a:p>
        </p:txBody>
      </p:sp>
      <p:sp>
        <p:nvSpPr>
          <p:cNvPr id="8" name="Text 5"/>
          <p:cNvSpPr/>
          <p:nvPr/>
        </p:nvSpPr>
        <p:spPr>
          <a:xfrm>
            <a:off x="877824"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Visible disclosure separated from protected local state.</a:t>
            </a:r>
            <a:endParaRPr lang="en-US" sz="1800" dirty="0"/>
          </a:p>
        </p:txBody>
      </p:sp>
      <p:sp>
        <p:nvSpPr>
          <p:cNvPr id="9" name="Shape 6"/>
          <p:cNvSpPr/>
          <p:nvPr/>
        </p:nvSpPr>
        <p:spPr>
          <a:xfrm>
            <a:off x="6199632"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92240" y="2167128"/>
            <a:ext cx="658368" cy="658368"/>
          </a:xfrm>
          <a:prstGeom prst="roundRect">
            <a:avLst>
              <a:gd name="adj" fmla="val 1111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37081" y="2311969"/>
            <a:ext cx="368686" cy="368686"/>
          </a:xfrm>
          <a:prstGeom prst="rect">
            <a:avLst/>
          </a:prstGeom>
        </p:spPr>
      </p:pic>
      <p:sp>
        <p:nvSpPr>
          <p:cNvPr id="12" name="Text 8"/>
          <p:cNvSpPr/>
          <p:nvPr/>
        </p:nvSpPr>
        <p:spPr>
          <a:xfrm>
            <a:off x="7315200"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 access-key mixing</a:t>
            </a:r>
            <a:endParaRPr lang="en-US" sz="2000" dirty="0"/>
          </a:p>
        </p:txBody>
      </p:sp>
      <p:sp>
        <p:nvSpPr>
          <p:cNvPr id="13" name="Text 9"/>
          <p:cNvSpPr/>
          <p:nvPr/>
        </p:nvSpPr>
        <p:spPr>
          <a:xfrm>
            <a:off x="6510528"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Keys derive from local state — not a passphrase alone.</a:t>
            </a:r>
            <a:endParaRPr lang="en-US" sz="1800" dirty="0"/>
          </a:p>
        </p:txBody>
      </p:sp>
      <p:sp>
        <p:nvSpPr>
          <p:cNvPr id="14" name="Shape 10"/>
          <p:cNvSpPr/>
          <p:nvPr/>
        </p:nvSpPr>
        <p:spPr>
          <a:xfrm>
            <a:off x="566928"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59536" y="4206240"/>
            <a:ext cx="658368" cy="658368"/>
          </a:xfrm>
          <a:prstGeom prst="roundRect">
            <a:avLst>
              <a:gd name="adj" fmla="val 1111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4377" y="4351081"/>
            <a:ext cx="368686" cy="368686"/>
          </a:xfrm>
          <a:prstGeom prst="rect">
            <a:avLst/>
          </a:prstGeom>
        </p:spPr>
      </p:pic>
      <p:sp>
        <p:nvSpPr>
          <p:cNvPr id="17" name="Text 12"/>
          <p:cNvSpPr/>
          <p:nvPr/>
        </p:nvSpPr>
        <p:spPr>
          <a:xfrm>
            <a:off x="1682496"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Restricted-action policy</a:t>
            </a:r>
            <a:endParaRPr lang="en-US" sz="2000" dirty="0"/>
          </a:p>
        </p:txBody>
      </p:sp>
      <p:sp>
        <p:nvSpPr>
          <p:cNvPr id="18" name="Text 13"/>
          <p:cNvSpPr/>
          <p:nvPr/>
        </p:nvSpPr>
        <p:spPr>
          <a:xfrm>
            <a:off x="877824"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Explicit checks gate sensitive / recovery behavior.</a:t>
            </a:r>
            <a:endParaRPr lang="en-US" sz="1800" dirty="0"/>
          </a:p>
        </p:txBody>
      </p:sp>
      <p:sp>
        <p:nvSpPr>
          <p:cNvPr id="19" name="Shape 14"/>
          <p:cNvSpPr/>
          <p:nvPr/>
        </p:nvSpPr>
        <p:spPr>
          <a:xfrm>
            <a:off x="6199632"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92240" y="4206240"/>
            <a:ext cx="658368" cy="658368"/>
          </a:xfrm>
          <a:prstGeom prst="roundRect">
            <a:avLst>
              <a:gd name="adj" fmla="val 1111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37081" y="4351081"/>
            <a:ext cx="368686" cy="368686"/>
          </a:xfrm>
          <a:prstGeom prst="rect">
            <a:avLst/>
          </a:prstGeom>
        </p:spPr>
      </p:pic>
      <p:sp>
        <p:nvSpPr>
          <p:cNvPr id="22" name="Text 16"/>
          <p:cNvSpPr/>
          <p:nvPr/>
        </p:nvSpPr>
        <p:spPr>
          <a:xfrm>
            <a:off x="7315200"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discipline</a:t>
            </a:r>
            <a:endParaRPr lang="en-US" sz="2000" dirty="0"/>
          </a:p>
        </p:txBody>
      </p:sp>
      <p:sp>
        <p:nvSpPr>
          <p:cNvPr id="23" name="Text 17"/>
          <p:cNvSpPr/>
          <p:nvPr/>
        </p:nvSpPr>
        <p:spPr>
          <a:xfrm>
            <a:off x="6510528"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flows don't expose structure, recovery, or trial order.</a:t>
            </a:r>
            <a:endParaRPr lang="en-US" sz="1800" dirty="0"/>
          </a:p>
        </p:txBody>
      </p:sp>
      <p:sp>
        <p:nvSpPr>
          <p:cNvPr id="24"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5"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 LAYERS &amp; DOCS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Narrow local layers &amp; document map</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41248" y="2011680"/>
            <a:ext cx="402336" cy="402336"/>
          </a:xfrm>
          <a:prstGeom prst="rect">
            <a:avLst/>
          </a:prstGeom>
        </p:spPr>
      </p:pic>
      <p:sp>
        <p:nvSpPr>
          <p:cNvPr id="6" name="Text 3"/>
          <p:cNvSpPr/>
          <p:nvPr/>
        </p:nvSpPr>
        <p:spPr>
          <a:xfrm>
            <a:off x="1335024"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Architectural layers</a:t>
            </a:r>
            <a:endParaRPr lang="en-US" sz="1800" dirty="0"/>
          </a:p>
        </p:txBody>
      </p:sp>
      <p:sp>
        <p:nvSpPr>
          <p:cNvPr id="7" name="Text 4"/>
          <p:cNvSpPr/>
          <p:nvPr/>
        </p:nvSpPr>
        <p:spPr>
          <a:xfrm>
            <a:off x="868680" y="265176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1</a:t>
            </a:r>
            <a:endParaRPr lang="en-US" sz="1800" dirty="0"/>
          </a:p>
        </p:txBody>
      </p:sp>
      <p:sp>
        <p:nvSpPr>
          <p:cNvPr id="8" name="Text 5"/>
          <p:cNvSpPr/>
          <p:nvPr/>
        </p:nvSpPr>
        <p:spPr>
          <a:xfrm>
            <a:off x="1371600" y="265176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CLI / WebUI entry points — no internal structure in normal flows</a:t>
            </a:r>
            <a:endParaRPr lang="en-US" sz="1500" dirty="0"/>
          </a:p>
        </p:txBody>
      </p:sp>
      <p:sp>
        <p:nvSpPr>
          <p:cNvPr id="9" name="Text 6"/>
          <p:cNvSpPr/>
          <p:nvPr/>
        </p:nvSpPr>
        <p:spPr>
          <a:xfrm>
            <a:off x="868680" y="329184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2</a:t>
            </a:r>
            <a:endParaRPr lang="en-US" sz="1800" dirty="0"/>
          </a:p>
        </p:txBody>
      </p:sp>
      <p:sp>
        <p:nvSpPr>
          <p:cNvPr id="10" name="Text 7"/>
          <p:cNvSpPr/>
          <p:nvPr/>
        </p:nvSpPr>
        <p:spPr>
          <a:xfrm>
            <a:off x="1371600" y="329184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Restricted-action policy — confirmation, timing, capability checks</a:t>
            </a:r>
            <a:endParaRPr lang="en-US" sz="1500" dirty="0"/>
          </a:p>
        </p:txBody>
      </p:sp>
      <p:sp>
        <p:nvSpPr>
          <p:cNvPr id="11" name="Text 8"/>
          <p:cNvSpPr/>
          <p:nvPr/>
        </p:nvSpPr>
        <p:spPr>
          <a:xfrm>
            <a:off x="868680" y="393192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3</a:t>
            </a:r>
            <a:endParaRPr lang="en-US" sz="1800" dirty="0"/>
          </a:p>
        </p:txBody>
      </p:sp>
      <p:sp>
        <p:nvSpPr>
          <p:cNvPr id="12" name="Text 9"/>
          <p:cNvSpPr/>
          <p:nvPr/>
        </p:nvSpPr>
        <p:spPr>
          <a:xfrm>
            <a:off x="1371600" y="393192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Cryptographic core — vault.bin, KDF, layout, access-key mixing</a:t>
            </a:r>
            <a:endParaRPr lang="en-US" sz="1500" dirty="0"/>
          </a:p>
        </p:txBody>
      </p:sp>
      <p:sp>
        <p:nvSpPr>
          <p:cNvPr id="13" name="Text 10"/>
          <p:cNvSpPr/>
          <p:nvPr/>
        </p:nvSpPr>
        <p:spPr>
          <a:xfrm>
            <a:off x="868680" y="457200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4</a:t>
            </a:r>
            <a:endParaRPr lang="en-US" sz="1800" dirty="0"/>
          </a:p>
        </p:txBody>
      </p:sp>
      <p:sp>
        <p:nvSpPr>
          <p:cNvPr id="14" name="Text 11"/>
          <p:cNvSpPr/>
          <p:nvPr/>
        </p:nvSpPr>
        <p:spPr>
          <a:xfrm>
            <a:off x="1371600" y="457200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state — typed state, attempt limiting, object-cue, audit</a:t>
            </a:r>
            <a:endParaRPr lang="en-US" sz="1500" dirty="0"/>
          </a:p>
        </p:txBody>
      </p:sp>
      <p:sp>
        <p:nvSpPr>
          <p:cNvPr id="15" name="Text 12"/>
          <p:cNvSpPr/>
          <p:nvPr/>
        </p:nvSpPr>
        <p:spPr>
          <a:xfrm>
            <a:off x="868680" y="521208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5</a:t>
            </a:r>
            <a:endParaRPr lang="en-US" sz="1800" dirty="0"/>
          </a:p>
        </p:txBody>
      </p:sp>
      <p:sp>
        <p:nvSpPr>
          <p:cNvPr id="16" name="Text 13"/>
          <p:cNvSpPr/>
          <p:nvPr/>
        </p:nvSpPr>
        <p:spPr>
          <a:xfrm>
            <a:off x="1371600" y="521208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Deployment &amp; review — operating boundary, appliance hardening</a:t>
            </a:r>
            <a:endParaRPr lang="en-US" sz="1500" dirty="0"/>
          </a:p>
        </p:txBody>
      </p:sp>
      <p:sp>
        <p:nvSpPr>
          <p:cNvPr id="17" name="Shape 14"/>
          <p:cNvSpPr/>
          <p:nvPr/>
        </p:nvSpPr>
        <p:spPr>
          <a:xfrm>
            <a:off x="6199632" y="1783080"/>
            <a:ext cx="5394960" cy="4160520"/>
          </a:xfrm>
          <a:prstGeom prst="roundRect">
            <a:avLst>
              <a:gd name="adj" fmla="val 1978"/>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8"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9" name="Text 15"/>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Documentation map</a:t>
            </a:r>
            <a:endParaRPr lang="en-US" sz="1800" dirty="0"/>
          </a:p>
        </p:txBody>
      </p:sp>
      <p:sp>
        <p:nvSpPr>
          <p:cNvPr id="20" name="Text 16"/>
          <p:cNvSpPr/>
          <p:nvPr/>
        </p:nvSpPr>
        <p:spPr>
          <a:xfrm>
            <a:off x="6528816" y="2697480"/>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SPECIFICATION.md</a:t>
            </a:r>
            <a:endParaRPr lang="en-US" sz="1500" dirty="0"/>
          </a:p>
        </p:txBody>
      </p:sp>
      <p:sp>
        <p:nvSpPr>
          <p:cNvPr id="21" name="Text 17"/>
          <p:cNvSpPr/>
          <p:nvPr/>
        </p:nvSpPr>
        <p:spPr>
          <a:xfrm>
            <a:off x="6528816" y="2999232"/>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implementation behavior &amp; configuration</a:t>
            </a:r>
            <a:endParaRPr lang="en-US" sz="1300" dirty="0"/>
          </a:p>
        </p:txBody>
      </p:sp>
      <p:sp>
        <p:nvSpPr>
          <p:cNvPr id="22" name="Text 18"/>
          <p:cNvSpPr/>
          <p:nvPr/>
        </p:nvSpPr>
        <p:spPr>
          <a:xfrm>
            <a:off x="6528816" y="3364992"/>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THREAT_MODEL.md</a:t>
            </a:r>
            <a:endParaRPr lang="en-US" sz="1500" dirty="0"/>
          </a:p>
        </p:txBody>
      </p:sp>
      <p:sp>
        <p:nvSpPr>
          <p:cNvPr id="23" name="Text 19"/>
          <p:cNvSpPr/>
          <p:nvPr/>
        </p:nvSpPr>
        <p:spPr>
          <a:xfrm>
            <a:off x="6528816" y="3666744"/>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assumptions, residual risk, safety boundary</a:t>
            </a:r>
            <a:endParaRPr lang="en-US" sz="1300" dirty="0"/>
          </a:p>
        </p:txBody>
      </p:sp>
      <p:sp>
        <p:nvSpPr>
          <p:cNvPr id="24" name="Text 20"/>
          <p:cNvSpPr/>
          <p:nvPr/>
        </p:nvSpPr>
        <p:spPr>
          <a:xfrm>
            <a:off x="6528816" y="4032504"/>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JANUS_EIDOLON_SYSTEM.md</a:t>
            </a:r>
            <a:endParaRPr lang="en-US" sz="1500" dirty="0"/>
          </a:p>
        </p:txBody>
      </p:sp>
      <p:sp>
        <p:nvSpPr>
          <p:cNvPr id="25" name="Text 21"/>
          <p:cNvSpPr/>
          <p:nvPr/>
        </p:nvSpPr>
        <p:spPr>
          <a:xfrm>
            <a:off x="6528816" y="4334256"/>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formal two-slot architecture</a:t>
            </a:r>
            <a:endParaRPr lang="en-US" sz="1300" dirty="0"/>
          </a:p>
        </p:txBody>
      </p:sp>
      <p:sp>
        <p:nvSpPr>
          <p:cNvPr id="26" name="Text 22"/>
          <p:cNvSpPr/>
          <p:nvPr/>
        </p:nvSpPr>
        <p:spPr>
          <a:xfrm>
            <a:off x="6528816" y="4700016"/>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COERCION_SAFE_DELAYING.md</a:t>
            </a:r>
            <a:endParaRPr lang="en-US" sz="1500" dirty="0"/>
          </a:p>
        </p:txBody>
      </p:sp>
      <p:sp>
        <p:nvSpPr>
          <p:cNvPr id="27" name="Text 23"/>
          <p:cNvSpPr/>
          <p:nvPr/>
        </p:nvSpPr>
        <p:spPr>
          <a:xfrm>
            <a:off x="6528816" y="5001768"/>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delaying-architecture design</a:t>
            </a:r>
            <a:endParaRPr lang="en-US" sz="1300" dirty="0"/>
          </a:p>
        </p:txBody>
      </p:sp>
      <p:sp>
        <p:nvSpPr>
          <p:cNvPr id="28" name="Text 24"/>
          <p:cNvSpPr/>
          <p:nvPr/>
        </p:nvSpPr>
        <p:spPr>
          <a:xfrm>
            <a:off x="6528816" y="5367528"/>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README.md</a:t>
            </a:r>
            <a:endParaRPr lang="en-US" sz="1500" dirty="0"/>
          </a:p>
        </p:txBody>
      </p:sp>
      <p:sp>
        <p:nvSpPr>
          <p:cNvPr id="29" name="Text 25"/>
          <p:cNvSpPr/>
          <p:nvPr/>
        </p:nvSpPr>
        <p:spPr>
          <a:xfrm>
            <a:off x="6528816" y="5669280"/>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user-facing summary &amp; operational limits</a:t>
            </a:r>
            <a:endParaRPr lang="en-US" sz="1300" dirty="0"/>
          </a:p>
        </p:txBody>
      </p:sp>
      <p:sp>
        <p:nvSpPr>
          <p:cNvPr id="3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HOW IT WORKS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Three moving parts</a:t>
            </a:r>
            <a:endParaRPr lang="en-US" sz="3400" dirty="0"/>
          </a:p>
        </p:txBody>
      </p:sp>
      <p:sp>
        <p:nvSpPr>
          <p:cNvPr id="4" name="Shape 2"/>
          <p:cNvSpPr/>
          <p:nvPr/>
        </p:nvSpPr>
        <p:spPr>
          <a:xfrm>
            <a:off x="56692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865376" y="2194560"/>
            <a:ext cx="1005840" cy="100584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2121408" y="2450592"/>
            <a:ext cx="493776" cy="493776"/>
          </a:xfrm>
          <a:prstGeom prst="rect">
            <a:avLst/>
          </a:prstGeom>
        </p:spPr>
      </p:pic>
      <p:sp>
        <p:nvSpPr>
          <p:cNvPr id="7" name="Text 4"/>
          <p:cNvSpPr/>
          <p:nvPr/>
        </p:nvSpPr>
        <p:spPr>
          <a:xfrm>
            <a:off x="79552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Encrypted local vessel</a:t>
            </a:r>
            <a:endParaRPr lang="en-US" sz="2000" dirty="0"/>
          </a:p>
        </p:txBody>
      </p:sp>
      <p:sp>
        <p:nvSpPr>
          <p:cNvPr id="8" name="Text 5"/>
          <p:cNvSpPr/>
          <p:nvPr/>
        </p:nvSpPr>
        <p:spPr>
          <a:xfrm>
            <a:off x="85953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Payloads live in a local container, sealed with authenticated encryption and password-derived keys.</a:t>
            </a:r>
            <a:endParaRPr lang="en-US" sz="1800" dirty="0"/>
          </a:p>
        </p:txBody>
      </p:sp>
      <p:sp>
        <p:nvSpPr>
          <p:cNvPr id="9" name="Shape 6"/>
          <p:cNvSpPr/>
          <p:nvPr/>
        </p:nvSpPr>
        <p:spPr>
          <a:xfrm>
            <a:off x="436168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5660136" y="2194560"/>
            <a:ext cx="1005840" cy="1005840"/>
          </a:xfrm>
          <a:prstGeom prst="ellipse">
            <a:avLst/>
          </a:prstGeom>
          <a:solidFill>
            <a:srgbClr val="1C2C24"/>
          </a:solidFill>
          <a:ln w="25400">
            <a:solidFill>
              <a:srgbClr val="7EC46B"/>
            </a:solidFill>
            <a:prstDash val="solid"/>
          </a:ln>
        </p:spPr>
      </p:sp>
      <p:pic>
        <p:nvPicPr>
          <p:cNvPr id="11" name="Image 1" descr="preencoded.png">    </p:cNvPr>
          <p:cNvPicPr>
            <a:picLocks noChangeAspect="1"/>
          </p:cNvPicPr>
          <p:nvPr/>
        </p:nvPicPr>
        <p:blipFill>
          <a:blip r:embed="rId2"/>
          <a:stretch>
            <a:fillRect/>
          </a:stretch>
        </p:blipFill>
        <p:spPr>
          <a:xfrm>
            <a:off x="5916168" y="2450592"/>
            <a:ext cx="493776" cy="493776"/>
          </a:xfrm>
          <a:prstGeom prst="rect">
            <a:avLst/>
          </a:prstGeom>
        </p:spPr>
      </p:pic>
      <p:sp>
        <p:nvSpPr>
          <p:cNvPr id="12" name="Text 8"/>
          <p:cNvSpPr/>
          <p:nvPr/>
        </p:nvSpPr>
        <p:spPr>
          <a:xfrm>
            <a:off x="459028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Object-cue operation</a:t>
            </a:r>
            <a:endParaRPr lang="en-US" sz="2000" dirty="0"/>
          </a:p>
        </p:txBody>
      </p:sp>
      <p:sp>
        <p:nvSpPr>
          <p:cNvPr id="13" name="Text 9"/>
          <p:cNvSpPr/>
          <p:nvPr/>
        </p:nvSpPr>
        <p:spPr>
          <a:xfrm>
            <a:off x="465429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Camera / object matching acts as an operational access cue — an on/off gate, not cryptographic key material.</a:t>
            </a:r>
            <a:endParaRPr lang="en-US" sz="1800" dirty="0"/>
          </a:p>
        </p:txBody>
      </p:sp>
      <p:sp>
        <p:nvSpPr>
          <p:cNvPr id="14" name="Shape 10"/>
          <p:cNvSpPr/>
          <p:nvPr/>
        </p:nvSpPr>
        <p:spPr>
          <a:xfrm>
            <a:off x="815644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9454896" y="2194560"/>
            <a:ext cx="1005840" cy="1005840"/>
          </a:xfrm>
          <a:prstGeom prst="ellipse">
            <a:avLst/>
          </a:prstGeom>
          <a:solidFill>
            <a:srgbClr val="1C2C24"/>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9710928" y="2450592"/>
            <a:ext cx="493776" cy="493776"/>
          </a:xfrm>
          <a:prstGeom prst="rect">
            <a:avLst/>
          </a:prstGeom>
        </p:spPr>
      </p:pic>
      <p:sp>
        <p:nvSpPr>
          <p:cNvPr id="17" name="Text 12"/>
          <p:cNvSpPr/>
          <p:nvPr/>
        </p:nvSpPr>
        <p:spPr>
          <a:xfrm>
            <a:off x="838504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Controlled disclosure</a:t>
            </a:r>
            <a:endParaRPr lang="en-US" sz="2000" dirty="0"/>
          </a:p>
        </p:txBody>
      </p:sp>
      <p:sp>
        <p:nvSpPr>
          <p:cNvPr id="18" name="Text 13"/>
          <p:cNvSpPr/>
          <p:nvPr/>
        </p:nvSpPr>
        <p:spPr>
          <a:xfrm>
            <a:off x="844905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Workflows that separate what is shown from what stays protected, under documented assumptions.</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THE INTERESTING BIT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 object is a cue — not a key</a:t>
            </a:r>
            <a:endParaRPr lang="en-US" sz="3400" dirty="0"/>
          </a:p>
        </p:txBody>
      </p:sp>
      <p:sp>
        <p:nvSpPr>
          <p:cNvPr id="4" name="Shape 2"/>
          <p:cNvSpPr/>
          <p:nvPr/>
        </p:nvSpPr>
        <p:spPr>
          <a:xfrm>
            <a:off x="566928" y="1874520"/>
            <a:ext cx="5486400" cy="3977640"/>
          </a:xfrm>
          <a:prstGeom prst="roundRect">
            <a:avLst>
              <a:gd name="adj" fmla="val 20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94560"/>
            <a:ext cx="868680" cy="868680"/>
          </a:xfrm>
          <a:prstGeom prst="rect">
            <a:avLst/>
          </a:prstGeom>
        </p:spPr>
      </p:pic>
      <p:sp>
        <p:nvSpPr>
          <p:cNvPr id="6" name="Text 3"/>
          <p:cNvSpPr/>
          <p:nvPr/>
        </p:nvSpPr>
        <p:spPr>
          <a:xfrm>
            <a:off x="868680" y="3200400"/>
            <a:ext cx="4937760" cy="1188720"/>
          </a:xfrm>
          <a:prstGeom prst="rect">
            <a:avLst/>
          </a:prstGeom>
          <a:noFill/>
          <a:ln/>
        </p:spPr>
        <p:txBody>
          <a:bodyPr wrap="square" lIns="0" tIns="0" rIns="0" bIns="0" rtlCol="0" anchor="t"/>
          <a:lstStyle/>
          <a:p>
            <a:pPr indent="0" marL="0">
              <a:lnSpc>
                <a:spcPct val="110000"/>
              </a:lnSpc>
              <a:buNone/>
            </a:pPr>
            <a:r>
              <a:rPr lang="en-US" sz="2200" b="1" dirty="0">
                <a:solidFill>
                  <a:srgbClr val="E8EFEA"/>
                </a:solidFill>
                <a:latin typeface="Calibri" pitchFamily="34" charset="0"/>
                <a:ea typeface="Calibri" pitchFamily="34" charset="-122"/>
                <a:cs typeface="Calibri" pitchFamily="34" charset="-120"/>
              </a:rPr>
              <a:t>Show the right object to the camera to operate the access gate.</a:t>
            </a:r>
            <a:endParaRPr lang="en-US" sz="2200" dirty="0"/>
          </a:p>
        </p:txBody>
      </p:sp>
      <p:sp>
        <p:nvSpPr>
          <p:cNvPr id="7" name="Text 4"/>
          <p:cNvSpPr/>
          <p:nvPr/>
        </p:nvSpPr>
        <p:spPr>
          <a:xfrm>
            <a:off x="868680" y="4434840"/>
            <a:ext cx="4937760" cy="1188720"/>
          </a:xfrm>
          <a:prstGeom prst="rect">
            <a:avLst/>
          </a:prstGeom>
          <a:noFill/>
          <a:ln/>
        </p:spPr>
        <p:txBody>
          <a:bodyPr wrap="square" lIns="0" tIns="0" rIns="0" bIns="0" rtlCol="0" anchor="t"/>
          <a:lstStyle/>
          <a:p>
            <a:pPr indent="0" marL="0">
              <a:lnSpc>
                <a:spcPct val="110000"/>
              </a:lnSpc>
              <a:buNone/>
            </a:pPr>
            <a:r>
              <a:rPr lang="en-US" sz="1800" dirty="0">
                <a:solidFill>
                  <a:srgbClr val="9DB0A4"/>
                </a:solidFill>
                <a:latin typeface="Calibri" pitchFamily="34" charset="0"/>
                <a:ea typeface="Calibri" pitchFamily="34" charset="-122"/>
                <a:cs typeface="Calibri" pitchFamily="34" charset="-120"/>
              </a:rPr>
              <a:t>An everyday item becomes an operating gesture — nothing to type, nothing that looks like a secret.</a:t>
            </a:r>
            <a:endParaRPr lang="en-US" sz="1800" dirty="0"/>
          </a:p>
        </p:txBody>
      </p:sp>
      <p:sp>
        <p:nvSpPr>
          <p:cNvPr id="8" name="Shape 5"/>
          <p:cNvSpPr/>
          <p:nvPr/>
        </p:nvSpPr>
        <p:spPr>
          <a:xfrm>
            <a:off x="6236208" y="1874520"/>
            <a:ext cx="5349240" cy="3977640"/>
          </a:xfrm>
          <a:prstGeom prst="roundRect">
            <a:avLst>
              <a:gd name="adj" fmla="val 2069"/>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9" name="Text 6"/>
          <p:cNvSpPr/>
          <p:nvPr/>
        </p:nvSpPr>
        <p:spPr>
          <a:xfrm>
            <a:off x="6528816" y="214884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Why that matters</a:t>
            </a:r>
            <a:endParaRPr lang="en-US" sz="2000" dirty="0"/>
          </a:p>
        </p:txBody>
      </p:sp>
      <p:pic>
        <p:nvPicPr>
          <p:cNvPr id="10" name="Image 1" descr="preencoded.png">    </p:cNvPr>
          <p:cNvPicPr>
            <a:picLocks noChangeAspect="1"/>
          </p:cNvPicPr>
          <p:nvPr/>
        </p:nvPicPr>
        <p:blipFill>
          <a:blip r:embed="rId2"/>
          <a:stretch>
            <a:fillRect/>
          </a:stretch>
        </p:blipFill>
        <p:spPr>
          <a:xfrm>
            <a:off x="6528816" y="2788920"/>
            <a:ext cx="384048" cy="384048"/>
          </a:xfrm>
          <a:prstGeom prst="rect">
            <a:avLst/>
          </a:prstGeom>
        </p:spPr>
      </p:pic>
      <p:sp>
        <p:nvSpPr>
          <p:cNvPr id="11" name="Text 7"/>
          <p:cNvSpPr/>
          <p:nvPr/>
        </p:nvSpPr>
        <p:spPr>
          <a:xfrm>
            <a:off x="7040880" y="2743200"/>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drives operation and policy checks</a:t>
            </a:r>
            <a:endParaRPr lang="en-US" sz="1800" dirty="0"/>
          </a:p>
        </p:txBody>
      </p:sp>
      <p:pic>
        <p:nvPicPr>
          <p:cNvPr id="12" name="Image 2" descr="preencoded.png">    </p:cNvPr>
          <p:cNvPicPr>
            <a:picLocks noChangeAspect="1"/>
          </p:cNvPicPr>
          <p:nvPr/>
        </p:nvPicPr>
        <p:blipFill>
          <a:blip r:embed="rId3"/>
          <a:stretch>
            <a:fillRect/>
          </a:stretch>
        </p:blipFill>
        <p:spPr>
          <a:xfrm>
            <a:off x="6528816" y="3401568"/>
            <a:ext cx="384048" cy="384048"/>
          </a:xfrm>
          <a:prstGeom prst="rect">
            <a:avLst/>
          </a:prstGeom>
        </p:spPr>
      </p:pic>
      <p:sp>
        <p:nvSpPr>
          <p:cNvPr id="13" name="Text 8"/>
          <p:cNvSpPr/>
          <p:nvPr/>
        </p:nvSpPr>
        <p:spPr>
          <a:xfrm>
            <a:off x="7040880" y="3355848"/>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is NOT the encryption key</a:t>
            </a:r>
            <a:endParaRPr lang="en-US" sz="1800" dirty="0"/>
          </a:p>
        </p:txBody>
      </p:sp>
      <p:pic>
        <p:nvPicPr>
          <p:cNvPr id="14" name="Image 3" descr="preencoded.png">    </p:cNvPr>
          <p:cNvPicPr>
            <a:picLocks noChangeAspect="1"/>
          </p:cNvPicPr>
          <p:nvPr/>
        </p:nvPicPr>
        <p:blipFill>
          <a:blip r:embed="rId4"/>
          <a:stretch>
            <a:fillRect/>
          </a:stretch>
        </p:blipFill>
        <p:spPr>
          <a:xfrm>
            <a:off x="6528816" y="4014216"/>
            <a:ext cx="384048" cy="384048"/>
          </a:xfrm>
          <a:prstGeom prst="rect">
            <a:avLst/>
          </a:prstGeom>
        </p:spPr>
      </p:pic>
      <p:sp>
        <p:nvSpPr>
          <p:cNvPr id="15" name="Text 9"/>
          <p:cNvSpPr/>
          <p:nvPr/>
        </p:nvSpPr>
        <p:spPr>
          <a:xfrm>
            <a:off x="7040880" y="3968496"/>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A photo of the object doesn't unlock the vessel</a:t>
            </a:r>
            <a:endParaRPr lang="en-US" sz="1800" dirty="0"/>
          </a:p>
        </p:txBody>
      </p:sp>
      <p:sp>
        <p:nvSpPr>
          <p:cNvPr id="16" name="Shape 10"/>
          <p:cNvSpPr/>
          <p:nvPr/>
        </p:nvSpPr>
        <p:spPr>
          <a:xfrm>
            <a:off x="6528816" y="4709160"/>
            <a:ext cx="4754880" cy="0"/>
          </a:xfrm>
          <a:prstGeom prst="line">
            <a:avLst/>
          </a:prstGeom>
          <a:noFill/>
          <a:ln w="12700">
            <a:solidFill>
              <a:srgbClr val="2C3A32"/>
            </a:solidFill>
            <a:prstDash val="solid"/>
          </a:ln>
        </p:spPr>
      </p:sp>
      <p:sp>
        <p:nvSpPr>
          <p:cNvPr id="17" name="Text 11"/>
          <p:cNvSpPr/>
          <p:nvPr/>
        </p:nvSpPr>
        <p:spPr>
          <a:xfrm>
            <a:off x="6528816" y="4846320"/>
            <a:ext cx="4800600" cy="868680"/>
          </a:xfrm>
          <a:prstGeom prst="rect">
            <a:avLst/>
          </a:prstGeom>
          <a:noFill/>
          <a:ln/>
        </p:spPr>
        <p:txBody>
          <a:bodyPr wrap="square" lIns="0" tIns="0" rIns="0" bIns="0" rtlCol="0" anchor="t"/>
          <a:lstStyle/>
          <a:p>
            <a:pPr indent="0" marL="0">
              <a:lnSpc>
                <a:spcPct val="108000"/>
              </a:lnSpc>
              <a:buNone/>
            </a:pPr>
            <a:r>
              <a:rPr lang="en-US" sz="1700" i="1" dirty="0">
                <a:solidFill>
                  <a:srgbClr val="9DB0A4"/>
                </a:solidFill>
                <a:latin typeface="Calibri" pitchFamily="34" charset="0"/>
                <a:ea typeface="Calibri" pitchFamily="34" charset="-122"/>
                <a:cs typeface="Calibri" pitchFamily="34" charset="-120"/>
              </a:rPr>
              <a:t>Cryptography stays with Argon2id + AES-GCM. The object just decides whether you get to act.</a:t>
            </a:r>
            <a:endParaRPr lang="en-US" sz="1700" dirty="0"/>
          </a:p>
        </p:txBody>
      </p:sp>
      <p:sp>
        <p:nvSpPr>
          <p:cNvPr id="18"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9"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12</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COERCION-SAFE DELAYING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Buy time. Avoid obvious failure.</a:t>
            </a:r>
            <a:endParaRPr lang="en-US" sz="3400" dirty="0"/>
          </a:p>
        </p:txBody>
      </p:sp>
      <p:sp>
        <p:nvSpPr>
          <p:cNvPr id="4" name="Shape 2"/>
          <p:cNvSpPr/>
          <p:nvPr/>
        </p:nvSpPr>
        <p:spPr>
          <a:xfrm>
            <a:off x="56692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011680"/>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92307" y="2144451"/>
            <a:ext cx="337962" cy="337962"/>
          </a:xfrm>
          <a:prstGeom prst="rect">
            <a:avLst/>
          </a:prstGeom>
        </p:spPr>
      </p:pic>
      <p:sp>
        <p:nvSpPr>
          <p:cNvPr id="7" name="Text 4"/>
          <p:cNvSpPr/>
          <p:nvPr/>
        </p:nvSpPr>
        <p:spPr>
          <a:xfrm>
            <a:off x="159105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Silent Standby</a:t>
            </a:r>
            <a:endParaRPr lang="en-US" sz="1800" dirty="0"/>
          </a:p>
        </p:txBody>
      </p:sp>
      <p:sp>
        <p:nvSpPr>
          <p:cNvPr id="8" name="Text 5"/>
          <p:cNvSpPr/>
          <p:nvPr/>
        </p:nvSpPr>
        <p:spPr>
          <a:xfrm>
            <a:off x="87782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A hotkey drops sensitive UI into a non-sensitive state. Recovery needs re-auth.</a:t>
            </a:r>
            <a:endParaRPr lang="en-US" sz="1600" dirty="0"/>
          </a:p>
        </p:txBody>
      </p:sp>
      <p:sp>
        <p:nvSpPr>
          <p:cNvPr id="9" name="Shape 6"/>
          <p:cNvSpPr/>
          <p:nvPr/>
        </p:nvSpPr>
        <p:spPr>
          <a:xfrm>
            <a:off x="877824" y="4160520"/>
            <a:ext cx="665683" cy="365760"/>
          </a:xfrm>
          <a:prstGeom prst="roundRect">
            <a:avLst>
              <a:gd name="adj" fmla="val 50000"/>
            </a:avLst>
          </a:prstGeom>
          <a:solidFill>
            <a:srgbClr val="0C1210"/>
          </a:solidFill>
          <a:ln w="12700">
            <a:solidFill>
              <a:srgbClr val="2C3A32"/>
            </a:solidFill>
            <a:prstDash val="solid"/>
          </a:ln>
        </p:spPr>
      </p:sp>
      <p:sp>
        <p:nvSpPr>
          <p:cNvPr id="10" name="Text 7"/>
          <p:cNvSpPr/>
          <p:nvPr/>
        </p:nvSpPr>
        <p:spPr>
          <a:xfrm>
            <a:off x="87782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active</a:t>
            </a:r>
            <a:endParaRPr lang="en-US" sz="1100" dirty="0"/>
          </a:p>
        </p:txBody>
      </p:sp>
      <p:sp>
        <p:nvSpPr>
          <p:cNvPr id="11" name="Shape 8"/>
          <p:cNvSpPr/>
          <p:nvPr/>
        </p:nvSpPr>
        <p:spPr>
          <a:xfrm>
            <a:off x="1653235" y="4160520"/>
            <a:ext cx="746150" cy="365760"/>
          </a:xfrm>
          <a:prstGeom prst="roundRect">
            <a:avLst>
              <a:gd name="adj" fmla="val 50000"/>
            </a:avLst>
          </a:prstGeom>
          <a:solidFill>
            <a:srgbClr val="0C1210"/>
          </a:solidFill>
          <a:ln w="12700">
            <a:solidFill>
              <a:srgbClr val="2C3A32"/>
            </a:solidFill>
            <a:prstDash val="solid"/>
          </a:ln>
        </p:spPr>
      </p:sp>
      <p:sp>
        <p:nvSpPr>
          <p:cNvPr id="12" name="Text 9"/>
          <p:cNvSpPr/>
          <p:nvPr/>
        </p:nvSpPr>
        <p:spPr>
          <a:xfrm>
            <a:off x="1653235" y="41605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standby</a:t>
            </a:r>
            <a:endParaRPr lang="en-US" sz="1100" dirty="0"/>
          </a:p>
        </p:txBody>
      </p:sp>
      <p:sp>
        <p:nvSpPr>
          <p:cNvPr id="13" name="Shape 10"/>
          <p:cNvSpPr/>
          <p:nvPr/>
        </p:nvSpPr>
        <p:spPr>
          <a:xfrm>
            <a:off x="2509114" y="4160520"/>
            <a:ext cx="665683" cy="365760"/>
          </a:xfrm>
          <a:prstGeom prst="roundRect">
            <a:avLst>
              <a:gd name="adj" fmla="val 50000"/>
            </a:avLst>
          </a:prstGeom>
          <a:solidFill>
            <a:srgbClr val="0C1210"/>
          </a:solidFill>
          <a:ln w="12700">
            <a:solidFill>
              <a:srgbClr val="2C3A32"/>
            </a:solidFill>
            <a:prstDash val="solid"/>
          </a:ln>
        </p:spPr>
      </p:sp>
      <p:sp>
        <p:nvSpPr>
          <p:cNvPr id="14" name="Text 11"/>
          <p:cNvSpPr/>
          <p:nvPr/>
        </p:nvSpPr>
        <p:spPr>
          <a:xfrm>
            <a:off x="250911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sealed</a:t>
            </a:r>
            <a:endParaRPr lang="en-US" sz="1100" dirty="0"/>
          </a:p>
        </p:txBody>
      </p:sp>
      <p:sp>
        <p:nvSpPr>
          <p:cNvPr id="15" name="Shape 12"/>
          <p:cNvSpPr/>
          <p:nvPr/>
        </p:nvSpPr>
        <p:spPr>
          <a:xfrm>
            <a:off x="877824" y="4617720"/>
            <a:ext cx="1470355" cy="365760"/>
          </a:xfrm>
          <a:prstGeom prst="roundRect">
            <a:avLst>
              <a:gd name="adj" fmla="val 50000"/>
            </a:avLst>
          </a:prstGeom>
          <a:solidFill>
            <a:srgbClr val="0C1210"/>
          </a:solidFill>
          <a:ln w="12700">
            <a:solidFill>
              <a:srgbClr val="2C3A32"/>
            </a:solidFill>
            <a:prstDash val="solid"/>
          </a:ln>
        </p:spPr>
      </p:sp>
      <p:sp>
        <p:nvSpPr>
          <p:cNvPr id="16" name="Text 13"/>
          <p:cNvSpPr/>
          <p:nvPr/>
        </p:nvSpPr>
        <p:spPr>
          <a:xfrm>
            <a:off x="877824" y="4617720"/>
            <a:ext cx="1470355"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dummy_disclosure</a:t>
            </a:r>
            <a:endParaRPr lang="en-US" sz="1100" dirty="0"/>
          </a:p>
        </p:txBody>
      </p:sp>
      <p:sp>
        <p:nvSpPr>
          <p:cNvPr id="17" name="Shape 14"/>
          <p:cNvSpPr/>
          <p:nvPr/>
        </p:nvSpPr>
        <p:spPr>
          <a:xfrm>
            <a:off x="436168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8" name="Shape 15"/>
          <p:cNvSpPr/>
          <p:nvPr/>
        </p:nvSpPr>
        <p:spPr>
          <a:xfrm>
            <a:off x="4654296" y="2011680"/>
            <a:ext cx="603504" cy="603504"/>
          </a:xfrm>
          <a:prstGeom prst="roundRect">
            <a:avLst>
              <a:gd name="adj" fmla="val 12121"/>
            </a:avLst>
          </a:prstGeom>
          <a:solidFill>
            <a:srgbClr val="1C2C24"/>
          </a:solidFill>
          <a:ln w="12700">
            <a:solidFill>
              <a:srgbClr val="2C3A32"/>
            </a:solidFill>
            <a:prstDash val="solid"/>
          </a:ln>
        </p:spPr>
      </p:sp>
      <p:pic>
        <p:nvPicPr>
          <p:cNvPr id="19" name="Image 1" descr="preencoded.png">    </p:cNvPr>
          <p:cNvPicPr>
            <a:picLocks noChangeAspect="1"/>
          </p:cNvPicPr>
          <p:nvPr/>
        </p:nvPicPr>
        <p:blipFill>
          <a:blip r:embed="rId2"/>
          <a:stretch>
            <a:fillRect/>
          </a:stretch>
        </p:blipFill>
        <p:spPr>
          <a:xfrm>
            <a:off x="4787067" y="2144451"/>
            <a:ext cx="337962" cy="337962"/>
          </a:xfrm>
          <a:prstGeom prst="rect">
            <a:avLst/>
          </a:prstGeom>
        </p:spPr>
      </p:pic>
      <p:sp>
        <p:nvSpPr>
          <p:cNvPr id="20" name="Text 16"/>
          <p:cNvSpPr/>
          <p:nvPr/>
        </p:nvSpPr>
        <p:spPr>
          <a:xfrm>
            <a:off x="538581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Plausible Dummy Dataset</a:t>
            </a:r>
            <a:endParaRPr lang="en-US" sz="1800" dirty="0"/>
          </a:p>
        </p:txBody>
      </p:sp>
      <p:sp>
        <p:nvSpPr>
          <p:cNvPr id="21" name="Text 17"/>
          <p:cNvSpPr/>
          <p:nvPr/>
        </p:nvSpPr>
        <p:spPr>
          <a:xfrm>
            <a:off x="467258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Context-consistent content, prepared before any coercive event; scored by a plausibility report.</a:t>
            </a:r>
            <a:endParaRPr lang="en-US" sz="1600" dirty="0"/>
          </a:p>
        </p:txBody>
      </p:sp>
      <p:sp>
        <p:nvSpPr>
          <p:cNvPr id="22" name="Shape 18"/>
          <p:cNvSpPr/>
          <p:nvPr/>
        </p:nvSpPr>
        <p:spPr>
          <a:xfrm>
            <a:off x="815644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3" name="Shape 19"/>
          <p:cNvSpPr/>
          <p:nvPr/>
        </p:nvSpPr>
        <p:spPr>
          <a:xfrm>
            <a:off x="8449056" y="2011680"/>
            <a:ext cx="603504" cy="603504"/>
          </a:xfrm>
          <a:prstGeom prst="roundRect">
            <a:avLst>
              <a:gd name="adj" fmla="val 12121"/>
            </a:avLst>
          </a:prstGeom>
          <a:solidFill>
            <a:srgbClr val="1C2C24"/>
          </a:solidFill>
          <a:ln w="12700">
            <a:solidFill>
              <a:srgbClr val="2C3A32"/>
            </a:solidFill>
            <a:prstDash val="solid"/>
          </a:ln>
        </p:spPr>
      </p:sp>
      <p:pic>
        <p:nvPicPr>
          <p:cNvPr id="24" name="Image 2" descr="preencoded.png">    </p:cNvPr>
          <p:cNvPicPr>
            <a:picLocks noChangeAspect="1"/>
          </p:cNvPicPr>
          <p:nvPr/>
        </p:nvPicPr>
        <p:blipFill>
          <a:blip r:embed="rId3"/>
          <a:stretch>
            <a:fillRect/>
          </a:stretch>
        </p:blipFill>
        <p:spPr>
          <a:xfrm>
            <a:off x="8581827" y="2144451"/>
            <a:ext cx="337962" cy="337962"/>
          </a:xfrm>
          <a:prstGeom prst="rect">
            <a:avLst/>
          </a:prstGeom>
        </p:spPr>
      </p:pic>
      <p:sp>
        <p:nvSpPr>
          <p:cNvPr id="25" name="Text 20"/>
          <p:cNvSpPr/>
          <p:nvPr/>
        </p:nvSpPr>
        <p:spPr>
          <a:xfrm>
            <a:off x="918057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Context Profiles</a:t>
            </a:r>
            <a:endParaRPr lang="en-US" sz="1800" dirty="0"/>
          </a:p>
        </p:txBody>
      </p:sp>
      <p:sp>
        <p:nvSpPr>
          <p:cNvPr id="26" name="Text 21"/>
          <p:cNvSpPr/>
          <p:nvPr/>
        </p:nvSpPr>
        <p:spPr>
          <a:xfrm>
            <a:off x="846734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Schemas defining expected content and guiding dummy generation.</a:t>
            </a:r>
            <a:endParaRPr lang="en-US" sz="1600" dirty="0"/>
          </a:p>
        </p:txBody>
      </p:sp>
      <p:sp>
        <p:nvSpPr>
          <p:cNvPr id="27" name="Shape 22"/>
          <p:cNvSpPr/>
          <p:nvPr/>
        </p:nvSpPr>
        <p:spPr>
          <a:xfrm>
            <a:off x="8467344" y="4160520"/>
            <a:ext cx="665683" cy="365760"/>
          </a:xfrm>
          <a:prstGeom prst="roundRect">
            <a:avLst>
              <a:gd name="adj" fmla="val 50000"/>
            </a:avLst>
          </a:prstGeom>
          <a:solidFill>
            <a:srgbClr val="0C1210"/>
          </a:solidFill>
          <a:ln w="12700">
            <a:solidFill>
              <a:srgbClr val="2C3A32"/>
            </a:solidFill>
            <a:prstDash val="solid"/>
          </a:ln>
        </p:spPr>
      </p:sp>
      <p:sp>
        <p:nvSpPr>
          <p:cNvPr id="28" name="Text 23"/>
          <p:cNvSpPr/>
          <p:nvPr/>
        </p:nvSpPr>
        <p:spPr>
          <a:xfrm>
            <a:off x="846734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travel</a:t>
            </a:r>
            <a:endParaRPr lang="en-US" sz="1100" dirty="0"/>
          </a:p>
        </p:txBody>
      </p:sp>
      <p:sp>
        <p:nvSpPr>
          <p:cNvPr id="29" name="Shape 24"/>
          <p:cNvSpPr/>
          <p:nvPr/>
        </p:nvSpPr>
        <p:spPr>
          <a:xfrm>
            <a:off x="9242755" y="4160520"/>
            <a:ext cx="1309421" cy="365760"/>
          </a:xfrm>
          <a:prstGeom prst="roundRect">
            <a:avLst>
              <a:gd name="adj" fmla="val 50000"/>
            </a:avLst>
          </a:prstGeom>
          <a:solidFill>
            <a:srgbClr val="0C1210"/>
          </a:solidFill>
          <a:ln w="12700">
            <a:solidFill>
              <a:srgbClr val="2C3A32"/>
            </a:solidFill>
            <a:prstDash val="solid"/>
          </a:ln>
        </p:spPr>
      </p:sp>
      <p:sp>
        <p:nvSpPr>
          <p:cNvPr id="30" name="Text 25"/>
          <p:cNvSpPr/>
          <p:nvPr/>
        </p:nvSpPr>
        <p:spPr>
          <a:xfrm>
            <a:off x="9242755" y="4160520"/>
            <a:ext cx="1309421"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field_engineer</a:t>
            </a:r>
            <a:endParaRPr lang="en-US" sz="1100" dirty="0"/>
          </a:p>
        </p:txBody>
      </p:sp>
      <p:sp>
        <p:nvSpPr>
          <p:cNvPr id="31" name="Shape 26"/>
          <p:cNvSpPr/>
          <p:nvPr/>
        </p:nvSpPr>
        <p:spPr>
          <a:xfrm>
            <a:off x="8467344" y="4617720"/>
            <a:ext cx="987552" cy="365760"/>
          </a:xfrm>
          <a:prstGeom prst="roundRect">
            <a:avLst>
              <a:gd name="adj" fmla="val 50000"/>
            </a:avLst>
          </a:prstGeom>
          <a:solidFill>
            <a:srgbClr val="0C1210"/>
          </a:solidFill>
          <a:ln w="12700">
            <a:solidFill>
              <a:srgbClr val="2C3A32"/>
            </a:solidFill>
            <a:prstDash val="solid"/>
          </a:ln>
        </p:spPr>
      </p:sp>
      <p:sp>
        <p:nvSpPr>
          <p:cNvPr id="32" name="Text 27"/>
          <p:cNvSpPr/>
          <p:nvPr/>
        </p:nvSpPr>
        <p:spPr>
          <a:xfrm>
            <a:off x="8467344" y="4617720"/>
            <a:ext cx="987552"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researcher</a:t>
            </a:r>
            <a:endParaRPr lang="en-US" sz="1100" dirty="0"/>
          </a:p>
        </p:txBody>
      </p:sp>
      <p:sp>
        <p:nvSpPr>
          <p:cNvPr id="33" name="Shape 28"/>
          <p:cNvSpPr/>
          <p:nvPr/>
        </p:nvSpPr>
        <p:spPr>
          <a:xfrm>
            <a:off x="9564624" y="4617720"/>
            <a:ext cx="1068019" cy="365760"/>
          </a:xfrm>
          <a:prstGeom prst="roundRect">
            <a:avLst>
              <a:gd name="adj" fmla="val 50000"/>
            </a:avLst>
          </a:prstGeom>
          <a:solidFill>
            <a:srgbClr val="0C1210"/>
          </a:solidFill>
          <a:ln w="12700">
            <a:solidFill>
              <a:srgbClr val="2C3A32"/>
            </a:solidFill>
            <a:prstDash val="solid"/>
          </a:ln>
        </p:spPr>
      </p:sp>
      <p:sp>
        <p:nvSpPr>
          <p:cNvPr id="34" name="Text 29"/>
          <p:cNvSpPr/>
          <p:nvPr/>
        </p:nvSpPr>
        <p:spPr>
          <a:xfrm>
            <a:off x="9564624" y="4617720"/>
            <a:ext cx="1068019"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maintenance</a:t>
            </a:r>
            <a:endParaRPr lang="en-US" sz="1100" dirty="0"/>
          </a:p>
        </p:txBody>
      </p:sp>
      <p:sp>
        <p:nvSpPr>
          <p:cNvPr id="35" name="Shape 30"/>
          <p:cNvSpPr/>
          <p:nvPr/>
        </p:nvSpPr>
        <p:spPr>
          <a:xfrm>
            <a:off x="10742371" y="4617720"/>
            <a:ext cx="746150" cy="365760"/>
          </a:xfrm>
          <a:prstGeom prst="roundRect">
            <a:avLst>
              <a:gd name="adj" fmla="val 50000"/>
            </a:avLst>
          </a:prstGeom>
          <a:solidFill>
            <a:srgbClr val="0C1210"/>
          </a:solidFill>
          <a:ln w="12700">
            <a:solidFill>
              <a:srgbClr val="2C3A32"/>
            </a:solidFill>
            <a:prstDash val="solid"/>
          </a:ln>
        </p:spPr>
      </p:sp>
      <p:sp>
        <p:nvSpPr>
          <p:cNvPr id="36" name="Text 31"/>
          <p:cNvSpPr/>
          <p:nvPr/>
        </p:nvSpPr>
        <p:spPr>
          <a:xfrm>
            <a:off x="10742371" y="46177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archive</a:t>
            </a:r>
            <a:endParaRPr lang="en-US" sz="1100" dirty="0"/>
          </a:p>
        </p:txBody>
      </p:sp>
      <p:sp>
        <p:nvSpPr>
          <p:cNvPr id="37" name="Shape 32"/>
          <p:cNvSpPr/>
          <p:nvPr/>
        </p:nvSpPr>
        <p:spPr>
          <a:xfrm>
            <a:off x="566928" y="5230368"/>
            <a:ext cx="11018520" cy="914400"/>
          </a:xfrm>
          <a:prstGeom prst="roundRect">
            <a:avLst>
              <a:gd name="adj" fmla="val 9000"/>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8" name="Text 33"/>
          <p:cNvSpPr/>
          <p:nvPr/>
        </p:nvSpPr>
        <p:spPr>
          <a:xfrm>
            <a:off x="822960" y="5230368"/>
            <a:ext cx="2377440" cy="91440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Recognition modes</a:t>
            </a:r>
            <a:endParaRPr lang="en-US" sz="1500" dirty="0"/>
          </a:p>
        </p:txBody>
      </p:sp>
      <p:sp>
        <p:nvSpPr>
          <p:cNvPr id="39" name="Text 34"/>
          <p:cNvSpPr/>
          <p:nvPr/>
        </p:nvSpPr>
        <p:spPr>
          <a:xfrm>
            <a:off x="3017520" y="5230368"/>
            <a:ext cx="8321040" cy="91440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strict</a:t>
            </a:r>
            <a:pPr indent="0" marL="0">
              <a:buNone/>
            </a:pPr>
            <a:r>
              <a:rPr lang="en-US" sz="1500" dirty="0">
                <a:solidFill>
                  <a:srgbClr val="9DB0A4"/>
                </a:solidFill>
              </a:rPr>
              <a:t> mismatch = failure      </a:t>
            </a:r>
            <a:pPr indent="0" marL="0">
              <a:buNone/>
            </a:pPr>
            <a:r>
              <a:rPr lang="en-US" sz="1500" b="1" dirty="0">
                <a:solidFill>
                  <a:srgbClr val="4ADE80"/>
                </a:solidFill>
                <a:latin typeface="Courier New" pitchFamily="34" charset="0"/>
                <a:ea typeface="Courier New" pitchFamily="34" charset="-122"/>
                <a:cs typeface="Courier New" pitchFamily="34" charset="-120"/>
              </a:rPr>
              <a:t>coercion_safe</a:t>
            </a:r>
            <a:pPr indent="0" marL="0">
              <a:buNone/>
            </a:pPr>
            <a:r>
              <a:rPr lang="en-US" sz="1500" dirty="0">
                <a:solidFill>
                  <a:srgbClr val="9DB0A4"/>
                </a:solidFill>
              </a:rPr>
              <a:t> low confidence → dummy path      </a:t>
            </a:r>
            <a:pPr indent="0" marL="0">
              <a:buNone/>
            </a:pPr>
            <a:r>
              <a:rPr lang="en-US" sz="1500" b="1" dirty="0">
                <a:solidFill>
                  <a:srgbClr val="E8EFEA"/>
                </a:solidFill>
                <a:latin typeface="Courier New" pitchFamily="34" charset="0"/>
                <a:ea typeface="Courier New" pitchFamily="34" charset="-122"/>
                <a:cs typeface="Courier New" pitchFamily="34" charset="-120"/>
              </a:rPr>
              <a:t>demo</a:t>
            </a:r>
            <a:pPr indent="0" marL="0">
              <a:buNone/>
            </a:pPr>
            <a:r>
              <a:rPr lang="en-US" sz="1500" dirty="0">
                <a:solidFill>
                  <a:srgbClr val="9DB0A4"/>
                </a:solidFill>
              </a:rPr>
              <a:t> safe debug visibility</a:t>
            </a:r>
            <a:endParaRPr lang="en-US" sz="1500" dirty="0"/>
          </a:p>
        </p:txBody>
      </p:sp>
      <p:sp>
        <p:nvSpPr>
          <p:cNvPr id="40" name="Text 3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PRINCIPLES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Restraint is a feature</a:t>
            </a:r>
            <a:endParaRPr lang="en-US" sz="3400" dirty="0"/>
          </a:p>
        </p:txBody>
      </p:sp>
      <p:sp>
        <p:nvSpPr>
          <p:cNvPr id="4" name="Shape 2"/>
          <p:cNvSpPr/>
          <p:nvPr/>
        </p:nvSpPr>
        <p:spPr>
          <a:xfrm>
            <a:off x="566928" y="18745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68680" y="218541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1451" y="2318187"/>
            <a:ext cx="337962" cy="337962"/>
          </a:xfrm>
          <a:prstGeom prst="rect">
            <a:avLst/>
          </a:prstGeom>
        </p:spPr>
      </p:pic>
      <p:sp>
        <p:nvSpPr>
          <p:cNvPr id="7" name="Text 4"/>
          <p:cNvSpPr/>
          <p:nvPr/>
        </p:nvSpPr>
        <p:spPr>
          <a:xfrm>
            <a:off x="1691640" y="20574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Local-first boundary</a:t>
            </a:r>
            <a:endParaRPr lang="en-US" sz="2000" dirty="0"/>
          </a:p>
        </p:txBody>
      </p:sp>
      <p:sp>
        <p:nvSpPr>
          <p:cNvPr id="8" name="Text 5"/>
          <p:cNvSpPr/>
          <p:nvPr/>
        </p:nvSpPr>
        <p:spPr>
          <a:xfrm>
            <a:off x="5669280" y="20574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vault.bin alone is not meant to be enough for normal recovery when required local state is absent.</a:t>
            </a:r>
            <a:endParaRPr lang="en-US" sz="1800" dirty="0"/>
          </a:p>
        </p:txBody>
      </p:sp>
      <p:sp>
        <p:nvSpPr>
          <p:cNvPr id="9" name="Shape 6"/>
          <p:cNvSpPr/>
          <p:nvPr/>
        </p:nvSpPr>
        <p:spPr>
          <a:xfrm>
            <a:off x="566928" y="32461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868680" y="355701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1001451" y="3689787"/>
            <a:ext cx="337962" cy="337962"/>
          </a:xfrm>
          <a:prstGeom prst="rect">
            <a:avLst/>
          </a:prstGeom>
        </p:spPr>
      </p:pic>
      <p:sp>
        <p:nvSpPr>
          <p:cNvPr id="12" name="Text 8"/>
          <p:cNvSpPr/>
          <p:nvPr/>
        </p:nvSpPr>
        <p:spPr>
          <a:xfrm>
            <a:off x="1691640" y="34290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restraint</a:t>
            </a:r>
            <a:endParaRPr lang="en-US" sz="2000" dirty="0"/>
          </a:p>
        </p:txBody>
      </p:sp>
      <p:sp>
        <p:nvSpPr>
          <p:cNvPr id="13" name="Text 9"/>
          <p:cNvSpPr/>
          <p:nvPr/>
        </p:nvSpPr>
        <p:spPr>
          <a:xfrm>
            <a:off x="5669280" y="34290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UI / CLI flows avoid revealing disclosure structure, recovery behavior, or trial order.</a:t>
            </a:r>
            <a:endParaRPr lang="en-US" sz="1800" dirty="0"/>
          </a:p>
        </p:txBody>
      </p:sp>
      <p:sp>
        <p:nvSpPr>
          <p:cNvPr id="14" name="Shape 10"/>
          <p:cNvSpPr/>
          <p:nvPr/>
        </p:nvSpPr>
        <p:spPr>
          <a:xfrm>
            <a:off x="566928" y="46177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68680" y="4928616"/>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1451" y="5061387"/>
            <a:ext cx="337962" cy="337962"/>
          </a:xfrm>
          <a:prstGeom prst="rect">
            <a:avLst/>
          </a:prstGeom>
        </p:spPr>
      </p:pic>
      <p:sp>
        <p:nvSpPr>
          <p:cNvPr id="17" name="Text 12"/>
          <p:cNvSpPr/>
          <p:nvPr/>
        </p:nvSpPr>
        <p:spPr>
          <a:xfrm>
            <a:off x="1691640" y="48006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Best-effort metadata reduction</a:t>
            </a:r>
            <a:endParaRPr lang="en-US" sz="2000" dirty="0"/>
          </a:p>
        </p:txBody>
      </p:sp>
      <p:sp>
        <p:nvSpPr>
          <p:cNvPr id="18" name="Text 13"/>
          <p:cNvSpPr/>
          <p:nvPr/>
        </p:nvSpPr>
        <p:spPr>
          <a:xfrm>
            <a:off x="5669280" y="48006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Metadata review and reduction are operational support — not guaranteed sanitization.</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OPERATING FLOW</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Prepare → Bind → Operate → Disclose</a:t>
            </a:r>
            <a:endParaRPr lang="en-US" sz="3400" dirty="0"/>
          </a:p>
        </p:txBody>
      </p:sp>
      <p:sp>
        <p:nvSpPr>
          <p:cNvPr id="4" name="Shape 2"/>
          <p:cNvSpPr/>
          <p:nvPr/>
        </p:nvSpPr>
        <p:spPr>
          <a:xfrm>
            <a:off x="566928"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22960"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01</a:t>
            </a:r>
            <a:endParaRPr lang="en-US" sz="3000" dirty="0"/>
          </a:p>
        </p:txBody>
      </p:sp>
      <p:sp>
        <p:nvSpPr>
          <p:cNvPr id="6" name="Shape 4"/>
          <p:cNvSpPr/>
          <p:nvPr/>
        </p:nvSpPr>
        <p:spPr>
          <a:xfrm>
            <a:off x="2313432" y="2331720"/>
            <a:ext cx="603504" cy="603504"/>
          </a:xfrm>
          <a:prstGeom prst="roundRect">
            <a:avLst>
              <a:gd name="adj" fmla="val 12121"/>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2446203" y="2464491"/>
            <a:ext cx="337962" cy="337962"/>
          </a:xfrm>
          <a:prstGeom prst="rect">
            <a:avLst/>
          </a:prstGeom>
        </p:spPr>
      </p:pic>
      <p:sp>
        <p:nvSpPr>
          <p:cNvPr id="8" name="Text 5"/>
          <p:cNvSpPr/>
          <p:nvPr/>
        </p:nvSpPr>
        <p:spPr>
          <a:xfrm>
            <a:off x="822960"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Prepare</a:t>
            </a:r>
            <a:endParaRPr lang="en-US" sz="2100" dirty="0"/>
          </a:p>
        </p:txBody>
      </p:sp>
      <p:sp>
        <p:nvSpPr>
          <p:cNvPr id="9" name="Text 6"/>
          <p:cNvSpPr/>
          <p:nvPr/>
        </p:nvSpPr>
        <p:spPr>
          <a:xfrm>
            <a:off x="822960"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Create a local vessel and define the operational context before field use.</a:t>
            </a:r>
            <a:endParaRPr lang="en-US" sz="1700" dirty="0"/>
          </a:p>
        </p:txBody>
      </p:sp>
      <p:pic>
        <p:nvPicPr>
          <p:cNvPr id="10" name="Image 1" descr="preencoded.png">    </p:cNvPr>
          <p:cNvPicPr>
            <a:picLocks noChangeAspect="1"/>
          </p:cNvPicPr>
          <p:nvPr/>
        </p:nvPicPr>
        <p:blipFill>
          <a:blip r:embed="rId2"/>
          <a:stretch>
            <a:fillRect/>
          </a:stretch>
        </p:blipFill>
        <p:spPr>
          <a:xfrm>
            <a:off x="3209544" y="3520440"/>
            <a:ext cx="201168" cy="201168"/>
          </a:xfrm>
          <a:prstGeom prst="rect">
            <a:avLst/>
          </a:prstGeom>
        </p:spPr>
      </p:pic>
      <p:sp>
        <p:nvSpPr>
          <p:cNvPr id="11" name="Shape 7"/>
          <p:cNvSpPr/>
          <p:nvPr/>
        </p:nvSpPr>
        <p:spPr>
          <a:xfrm>
            <a:off x="3438144"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2" name="Text 8"/>
          <p:cNvSpPr/>
          <p:nvPr/>
        </p:nvSpPr>
        <p:spPr>
          <a:xfrm>
            <a:off x="3694176"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02</a:t>
            </a:r>
            <a:endParaRPr lang="en-US" sz="3000" dirty="0"/>
          </a:p>
        </p:txBody>
      </p:sp>
      <p:sp>
        <p:nvSpPr>
          <p:cNvPr id="13" name="Shape 9"/>
          <p:cNvSpPr/>
          <p:nvPr/>
        </p:nvSpPr>
        <p:spPr>
          <a:xfrm>
            <a:off x="5184648" y="2331720"/>
            <a:ext cx="603504" cy="603504"/>
          </a:xfrm>
          <a:prstGeom prst="roundRect">
            <a:avLst>
              <a:gd name="adj" fmla="val 12121"/>
            </a:avLst>
          </a:prstGeom>
          <a:solidFill>
            <a:srgbClr val="1C2C24"/>
          </a:solidFill>
          <a:ln w="12700">
            <a:solidFill>
              <a:srgbClr val="2C3A32"/>
            </a:solidFill>
            <a:prstDash val="solid"/>
          </a:ln>
        </p:spPr>
      </p:sp>
      <p:pic>
        <p:nvPicPr>
          <p:cNvPr id="14" name="Image 2" descr="preencoded.png">    </p:cNvPr>
          <p:cNvPicPr>
            <a:picLocks noChangeAspect="1"/>
          </p:cNvPicPr>
          <p:nvPr/>
        </p:nvPicPr>
        <p:blipFill>
          <a:blip r:embed="rId3"/>
          <a:stretch>
            <a:fillRect/>
          </a:stretch>
        </p:blipFill>
        <p:spPr>
          <a:xfrm>
            <a:off x="5317419" y="2464491"/>
            <a:ext cx="337962" cy="337962"/>
          </a:xfrm>
          <a:prstGeom prst="rect">
            <a:avLst/>
          </a:prstGeom>
        </p:spPr>
      </p:pic>
      <p:sp>
        <p:nvSpPr>
          <p:cNvPr id="15" name="Text 10"/>
          <p:cNvSpPr/>
          <p:nvPr/>
        </p:nvSpPr>
        <p:spPr>
          <a:xfrm>
            <a:off x="3694176"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Bind</a:t>
            </a:r>
            <a:endParaRPr lang="en-US" sz="2100" dirty="0"/>
          </a:p>
        </p:txBody>
      </p:sp>
      <p:sp>
        <p:nvSpPr>
          <p:cNvPr id="16" name="Text 11"/>
          <p:cNvSpPr/>
          <p:nvPr/>
        </p:nvSpPr>
        <p:spPr>
          <a:xfrm>
            <a:off x="3694176"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Combine passphrase recovery with local state and the object-cue gate.</a:t>
            </a:r>
            <a:endParaRPr lang="en-US" sz="1700" dirty="0"/>
          </a:p>
        </p:txBody>
      </p:sp>
      <p:pic>
        <p:nvPicPr>
          <p:cNvPr id="17" name="Image 3" descr="preencoded.png">    </p:cNvPr>
          <p:cNvPicPr>
            <a:picLocks noChangeAspect="1"/>
          </p:cNvPicPr>
          <p:nvPr/>
        </p:nvPicPr>
        <p:blipFill>
          <a:blip r:embed="rId4"/>
          <a:stretch>
            <a:fillRect/>
          </a:stretch>
        </p:blipFill>
        <p:spPr>
          <a:xfrm>
            <a:off x="6080760" y="3520440"/>
            <a:ext cx="201168" cy="201168"/>
          </a:xfrm>
          <a:prstGeom prst="rect">
            <a:avLst/>
          </a:prstGeom>
        </p:spPr>
      </p:pic>
      <p:sp>
        <p:nvSpPr>
          <p:cNvPr id="18" name="Shape 12"/>
          <p:cNvSpPr/>
          <p:nvPr/>
        </p:nvSpPr>
        <p:spPr>
          <a:xfrm>
            <a:off x="6309360"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9" name="Text 13"/>
          <p:cNvSpPr/>
          <p:nvPr/>
        </p:nvSpPr>
        <p:spPr>
          <a:xfrm>
            <a:off x="6565392"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03</a:t>
            </a:r>
            <a:endParaRPr lang="en-US" sz="3000" dirty="0"/>
          </a:p>
        </p:txBody>
      </p:sp>
      <p:sp>
        <p:nvSpPr>
          <p:cNvPr id="20" name="Shape 14"/>
          <p:cNvSpPr/>
          <p:nvPr/>
        </p:nvSpPr>
        <p:spPr>
          <a:xfrm>
            <a:off x="8055864" y="2331720"/>
            <a:ext cx="603504" cy="603504"/>
          </a:xfrm>
          <a:prstGeom prst="roundRect">
            <a:avLst>
              <a:gd name="adj" fmla="val 12121"/>
            </a:avLst>
          </a:prstGeom>
          <a:solidFill>
            <a:srgbClr val="1C2C24"/>
          </a:solidFill>
          <a:ln w="12700">
            <a:solidFill>
              <a:srgbClr val="2C3A32"/>
            </a:solidFill>
            <a:prstDash val="solid"/>
          </a:ln>
        </p:spPr>
      </p:sp>
      <p:pic>
        <p:nvPicPr>
          <p:cNvPr id="21" name="Image 4" descr="preencoded.png">    </p:cNvPr>
          <p:cNvPicPr>
            <a:picLocks noChangeAspect="1"/>
          </p:cNvPicPr>
          <p:nvPr/>
        </p:nvPicPr>
        <p:blipFill>
          <a:blip r:embed="rId5"/>
          <a:stretch>
            <a:fillRect/>
          </a:stretch>
        </p:blipFill>
        <p:spPr>
          <a:xfrm>
            <a:off x="8188635" y="2464491"/>
            <a:ext cx="337962" cy="337962"/>
          </a:xfrm>
          <a:prstGeom prst="rect">
            <a:avLst/>
          </a:prstGeom>
        </p:spPr>
      </p:pic>
      <p:sp>
        <p:nvSpPr>
          <p:cNvPr id="22" name="Text 15"/>
          <p:cNvSpPr/>
          <p:nvPr/>
        </p:nvSpPr>
        <p:spPr>
          <a:xfrm>
            <a:off x="6565392"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Operate</a:t>
            </a:r>
            <a:endParaRPr lang="en-US" sz="2100" dirty="0"/>
          </a:p>
        </p:txBody>
      </p:sp>
      <p:sp>
        <p:nvSpPr>
          <p:cNvPr id="23" name="Text 16"/>
          <p:cNvSpPr/>
          <p:nvPr/>
        </p:nvSpPr>
        <p:spPr>
          <a:xfrm>
            <a:off x="6565392"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Use CLI, TUI, or local WebUI while keeping visible surfaces restrained.</a:t>
            </a:r>
            <a:endParaRPr lang="en-US" sz="1700" dirty="0"/>
          </a:p>
        </p:txBody>
      </p:sp>
      <p:pic>
        <p:nvPicPr>
          <p:cNvPr id="24" name="Image 5" descr="preencoded.png">    </p:cNvPr>
          <p:cNvPicPr>
            <a:picLocks noChangeAspect="1"/>
          </p:cNvPicPr>
          <p:nvPr/>
        </p:nvPicPr>
        <p:blipFill>
          <a:blip r:embed="rId6"/>
          <a:stretch>
            <a:fillRect/>
          </a:stretch>
        </p:blipFill>
        <p:spPr>
          <a:xfrm>
            <a:off x="8951976" y="3520440"/>
            <a:ext cx="201168" cy="201168"/>
          </a:xfrm>
          <a:prstGeom prst="rect">
            <a:avLst/>
          </a:prstGeom>
        </p:spPr>
      </p:pic>
      <p:sp>
        <p:nvSpPr>
          <p:cNvPr id="25" name="Shape 17"/>
          <p:cNvSpPr/>
          <p:nvPr/>
        </p:nvSpPr>
        <p:spPr>
          <a:xfrm>
            <a:off x="9180576"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6" name="Text 18"/>
          <p:cNvSpPr/>
          <p:nvPr/>
        </p:nvSpPr>
        <p:spPr>
          <a:xfrm>
            <a:off x="9436608"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04</a:t>
            </a:r>
            <a:endParaRPr lang="en-US" sz="3000" dirty="0"/>
          </a:p>
        </p:txBody>
      </p:sp>
      <p:sp>
        <p:nvSpPr>
          <p:cNvPr id="27" name="Shape 19"/>
          <p:cNvSpPr/>
          <p:nvPr/>
        </p:nvSpPr>
        <p:spPr>
          <a:xfrm>
            <a:off x="10927080" y="2331720"/>
            <a:ext cx="603504" cy="603504"/>
          </a:xfrm>
          <a:prstGeom prst="roundRect">
            <a:avLst>
              <a:gd name="adj" fmla="val 12121"/>
            </a:avLst>
          </a:prstGeom>
          <a:solidFill>
            <a:srgbClr val="1C2C24"/>
          </a:solidFill>
          <a:ln w="12700">
            <a:solidFill>
              <a:srgbClr val="2C3A32"/>
            </a:solidFill>
            <a:prstDash val="solid"/>
          </a:ln>
        </p:spPr>
      </p:sp>
      <p:pic>
        <p:nvPicPr>
          <p:cNvPr id="28" name="Image 6" descr="preencoded.png">    </p:cNvPr>
          <p:cNvPicPr>
            <a:picLocks noChangeAspect="1"/>
          </p:cNvPicPr>
          <p:nvPr/>
        </p:nvPicPr>
        <p:blipFill>
          <a:blip r:embed="rId7"/>
          <a:stretch>
            <a:fillRect/>
          </a:stretch>
        </p:blipFill>
        <p:spPr>
          <a:xfrm>
            <a:off x="11059851" y="2464491"/>
            <a:ext cx="337962" cy="337962"/>
          </a:xfrm>
          <a:prstGeom prst="rect">
            <a:avLst/>
          </a:prstGeom>
        </p:spPr>
      </p:pic>
      <p:sp>
        <p:nvSpPr>
          <p:cNvPr id="29" name="Text 20"/>
          <p:cNvSpPr/>
          <p:nvPr/>
        </p:nvSpPr>
        <p:spPr>
          <a:xfrm>
            <a:off x="9436608"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Disclose</a:t>
            </a:r>
            <a:endParaRPr lang="en-US" sz="2100" dirty="0"/>
          </a:p>
        </p:txBody>
      </p:sp>
      <p:sp>
        <p:nvSpPr>
          <p:cNvPr id="30" name="Text 21"/>
          <p:cNvSpPr/>
          <p:nvPr/>
        </p:nvSpPr>
        <p:spPr>
          <a:xfrm>
            <a:off x="9436608"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Support controlled disclosure under documented assumptions and residual risk.</a:t>
            </a:r>
            <a:endParaRPr lang="en-US" sz="1700" dirty="0"/>
          </a:p>
        </p:txBody>
      </p:sp>
      <p:sp>
        <p:nvSpPr>
          <p:cNvPr id="31" name="Text 2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15</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UNDER THE HOOD</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Small, local, boring by design</a:t>
            </a:r>
            <a:endParaRPr lang="en-US" sz="3400" dirty="0"/>
          </a:p>
        </p:txBody>
      </p:sp>
      <p:sp>
        <p:nvSpPr>
          <p:cNvPr id="4" name="Shape 2"/>
          <p:cNvSpPr/>
          <p:nvPr/>
        </p:nvSpPr>
        <p:spPr>
          <a:xfrm>
            <a:off x="566928"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11680"/>
            <a:ext cx="548640" cy="548640"/>
          </a:xfrm>
          <a:prstGeom prst="roundRect">
            <a:avLst>
              <a:gd name="adj" fmla="val 13333"/>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61949" y="2132381"/>
            <a:ext cx="307238" cy="307238"/>
          </a:xfrm>
          <a:prstGeom prst="rect">
            <a:avLst/>
          </a:prstGeom>
        </p:spPr>
      </p:pic>
      <p:sp>
        <p:nvSpPr>
          <p:cNvPr id="7" name="Text 4"/>
          <p:cNvSpPr/>
          <p:nvPr/>
        </p:nvSpPr>
        <p:spPr>
          <a:xfrm>
            <a:off x="768096"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Argon2id</a:t>
            </a:r>
            <a:endParaRPr lang="en-US" sz="2300" dirty="0"/>
          </a:p>
        </p:txBody>
      </p:sp>
      <p:sp>
        <p:nvSpPr>
          <p:cNvPr id="8" name="Text 5"/>
          <p:cNvSpPr/>
          <p:nvPr/>
        </p:nvSpPr>
        <p:spPr>
          <a:xfrm>
            <a:off x="786384"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password-based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key derivation</a:t>
            </a:r>
            <a:endParaRPr lang="en-US" sz="1500" dirty="0"/>
          </a:p>
        </p:txBody>
      </p:sp>
      <p:sp>
        <p:nvSpPr>
          <p:cNvPr id="9" name="Shape 6"/>
          <p:cNvSpPr/>
          <p:nvPr/>
        </p:nvSpPr>
        <p:spPr>
          <a:xfrm>
            <a:off x="3319272"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3593592" y="2011680"/>
            <a:ext cx="548640" cy="548640"/>
          </a:xfrm>
          <a:prstGeom prst="roundRect">
            <a:avLst>
              <a:gd name="adj" fmla="val 13333"/>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3714293" y="2132381"/>
            <a:ext cx="307238" cy="307238"/>
          </a:xfrm>
          <a:prstGeom prst="rect">
            <a:avLst/>
          </a:prstGeom>
        </p:spPr>
      </p:pic>
      <p:sp>
        <p:nvSpPr>
          <p:cNvPr id="12" name="Text 8"/>
          <p:cNvSpPr/>
          <p:nvPr/>
        </p:nvSpPr>
        <p:spPr>
          <a:xfrm>
            <a:off x="3520440"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AES-GCM</a:t>
            </a:r>
            <a:endParaRPr lang="en-US" sz="2300" dirty="0"/>
          </a:p>
        </p:txBody>
      </p:sp>
      <p:sp>
        <p:nvSpPr>
          <p:cNvPr id="13" name="Text 9"/>
          <p:cNvSpPr/>
          <p:nvPr/>
        </p:nvSpPr>
        <p:spPr>
          <a:xfrm>
            <a:off x="3538728"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authenticated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encryption</a:t>
            </a:r>
            <a:endParaRPr lang="en-US" sz="1500" dirty="0"/>
          </a:p>
        </p:txBody>
      </p:sp>
      <p:sp>
        <p:nvSpPr>
          <p:cNvPr id="14" name="Shape 10"/>
          <p:cNvSpPr/>
          <p:nvPr/>
        </p:nvSpPr>
        <p:spPr>
          <a:xfrm>
            <a:off x="6071616"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6345936" y="2011680"/>
            <a:ext cx="548640" cy="548640"/>
          </a:xfrm>
          <a:prstGeom prst="roundRect">
            <a:avLst>
              <a:gd name="adj" fmla="val 13333"/>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6466637" y="2132381"/>
            <a:ext cx="307238" cy="307238"/>
          </a:xfrm>
          <a:prstGeom prst="rect">
            <a:avLst/>
          </a:prstGeom>
        </p:spPr>
      </p:pic>
      <p:sp>
        <p:nvSpPr>
          <p:cNvPr id="17" name="Text 12"/>
          <p:cNvSpPr/>
          <p:nvPr/>
        </p:nvSpPr>
        <p:spPr>
          <a:xfrm>
            <a:off x="6272784"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127.0.0.1</a:t>
            </a:r>
            <a:endParaRPr lang="en-US" sz="2300" dirty="0"/>
          </a:p>
        </p:txBody>
      </p:sp>
      <p:sp>
        <p:nvSpPr>
          <p:cNvPr id="18" name="Text 13"/>
          <p:cNvSpPr/>
          <p:nvPr/>
        </p:nvSpPr>
        <p:spPr>
          <a:xfrm>
            <a:off x="6291072"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default WebUI</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boundary</a:t>
            </a:r>
            <a:endParaRPr lang="en-US" sz="1500" dirty="0"/>
          </a:p>
        </p:txBody>
      </p:sp>
      <p:sp>
        <p:nvSpPr>
          <p:cNvPr id="19" name="Shape 14"/>
          <p:cNvSpPr/>
          <p:nvPr/>
        </p:nvSpPr>
        <p:spPr>
          <a:xfrm>
            <a:off x="8823960"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9098280" y="2011680"/>
            <a:ext cx="548640" cy="548640"/>
          </a:xfrm>
          <a:prstGeom prst="roundRect">
            <a:avLst>
              <a:gd name="adj" fmla="val 13333"/>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9218981" y="2132381"/>
            <a:ext cx="307238" cy="307238"/>
          </a:xfrm>
          <a:prstGeom prst="rect">
            <a:avLst/>
          </a:prstGeom>
        </p:spPr>
      </p:pic>
      <p:sp>
        <p:nvSpPr>
          <p:cNvPr id="22" name="Text 16"/>
          <p:cNvSpPr/>
          <p:nvPr/>
        </p:nvSpPr>
        <p:spPr>
          <a:xfrm>
            <a:off x="9025128"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Pi Zero 2 W</a:t>
            </a:r>
            <a:endParaRPr lang="en-US" sz="2300" dirty="0"/>
          </a:p>
        </p:txBody>
      </p:sp>
      <p:sp>
        <p:nvSpPr>
          <p:cNvPr id="23" name="Text 17"/>
          <p:cNvSpPr/>
          <p:nvPr/>
        </p:nvSpPr>
        <p:spPr>
          <a:xfrm>
            <a:off x="9043416"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field-evaluation</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target</a:t>
            </a:r>
            <a:endParaRPr lang="en-US" sz="1500" dirty="0"/>
          </a:p>
        </p:txBody>
      </p:sp>
      <p:sp>
        <p:nvSpPr>
          <p:cNvPr id="24" name="Shape 18"/>
          <p:cNvSpPr/>
          <p:nvPr/>
        </p:nvSpPr>
        <p:spPr>
          <a:xfrm>
            <a:off x="566928" y="4343400"/>
            <a:ext cx="11018520" cy="960120"/>
          </a:xfrm>
          <a:prstGeom prst="roundRect">
            <a:avLst>
              <a:gd name="adj" fmla="val 8571"/>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Text 19"/>
          <p:cNvSpPr/>
          <p:nvPr/>
        </p:nvSpPr>
        <p:spPr>
          <a:xfrm>
            <a:off x="822960" y="4343400"/>
            <a:ext cx="10515600" cy="960120"/>
          </a:xfrm>
          <a:prstGeom prst="rect">
            <a:avLst/>
          </a:prstGeom>
          <a:noFill/>
          <a:ln/>
        </p:spPr>
        <p:txBody>
          <a:bodyPr wrap="square" lIns="0" tIns="0" rIns="0" bIns="0" rtlCol="0" anchor="ctr"/>
          <a:lstStyle/>
          <a:p>
            <a:pPr indent="0" marL="0">
              <a:lnSpc>
                <a:spcPct val="110000"/>
              </a:lnSpc>
              <a:buNone/>
            </a:pPr>
            <a:r>
              <a:rPr lang="en-US" sz="1500" dirty="0">
                <a:solidFill>
                  <a:srgbClr val="6B7D71"/>
                </a:solidFill>
                <a:latin typeface="Courier New" pitchFamily="34" charset="0"/>
                <a:ea typeface="Courier New" pitchFamily="34" charset="-122"/>
                <a:cs typeface="Courier New" pitchFamily="34" charset="-120"/>
              </a:rPr>
              <a:t>KDF  </a:t>
            </a:r>
            <a:pPr indent="0" marL="0">
              <a:lnSpc>
                <a:spcPct val="110000"/>
              </a:lnSpc>
              <a:buNone/>
            </a:pPr>
            <a:r>
              <a:rPr lang="en-US" sz="1500" b="1" dirty="0">
                <a:solidFill>
                  <a:srgbClr val="E8EFEA"/>
                </a:solidFill>
                <a:latin typeface="Courier New" pitchFamily="34" charset="0"/>
                <a:ea typeface="Courier New" pitchFamily="34" charset="-122"/>
                <a:cs typeface="Courier New" pitchFamily="34" charset="-120"/>
              </a:rPr>
              <a:t>Argon2id (m=32768, t=2, p=1)</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  access-key mixing  +  device-bind (CPU serial)  →  </a:t>
            </a:r>
            <a:pPr indent="0" marL="0">
              <a:lnSpc>
                <a:spcPct val="110000"/>
              </a:lnSpc>
              <a:buNone/>
            </a:pPr>
            <a:r>
              <a:rPr lang="en-US" sz="1500" b="1" dirty="0">
                <a:solidFill>
                  <a:srgbClr val="7EC46B"/>
                </a:solidFill>
                <a:latin typeface="Courier New" pitchFamily="34" charset="0"/>
                <a:ea typeface="Courier New" pitchFamily="34" charset="-122"/>
                <a:cs typeface="Courier New" pitchFamily="34" charset="-120"/>
              </a:rPr>
              <a:t>AES-GCM per-record</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(salt + nonce, AAD, no plaintext header · v3)</a:t>
            </a:r>
            <a:endParaRPr lang="en-US" sz="1500" dirty="0"/>
          </a:p>
        </p:txBody>
      </p:sp>
      <p:sp>
        <p:nvSpPr>
          <p:cNvPr id="26" name="Text 20"/>
          <p:cNvSpPr/>
          <p:nvPr/>
        </p:nvSpPr>
        <p:spPr>
          <a:xfrm>
            <a:off x="822960" y="5486400"/>
            <a:ext cx="106070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Runtime </a:t>
            </a:r>
            <a:pPr indent="0" marL="0">
              <a:buNone/>
            </a:pPr>
            <a:r>
              <a:rPr lang="en-US" sz="1500" b="1" dirty="0">
                <a:solidFill>
                  <a:srgbClr val="E8EFEA"/>
                </a:solidFill>
                <a:latin typeface="Courier New" pitchFamily="34" charset="0"/>
                <a:ea typeface="Courier New" pitchFamily="34" charset="-122"/>
                <a:cs typeface="Courier New" pitchFamily="34" charset="-120"/>
              </a:rPr>
              <a:t>Python 3.10+</a:t>
            </a:r>
            <a:pPr indent="0" marL="0">
              <a:buNone/>
            </a:pPr>
            <a:r>
              <a:rPr lang="en-US" sz="1500" dirty="0">
                <a:solidFill>
                  <a:srgbClr val="6B7D71"/>
                </a:solidFill>
                <a:latin typeface="Courier New" pitchFamily="34" charset="0"/>
                <a:ea typeface="Courier New" pitchFamily="34" charset="-122"/>
                <a:cs typeface="Courier New" pitchFamily="34" charset="-120"/>
              </a:rPr>
              <a:t>    Interfaces </a:t>
            </a:r>
            <a:pPr indent="0" marL="0">
              <a:buNone/>
            </a:pPr>
            <a:r>
              <a:rPr lang="en-US" sz="1500" b="1" dirty="0">
                <a:solidFill>
                  <a:srgbClr val="E8EFEA"/>
                </a:solidFill>
                <a:latin typeface="Courier New" pitchFamily="34" charset="0"/>
                <a:ea typeface="Courier New" pitchFamily="34" charset="-122"/>
                <a:cs typeface="Courier New" pitchFamily="34" charset="-120"/>
              </a:rPr>
              <a:t>CLI · TUI · local WebUI</a:t>
            </a:r>
            <a:pPr indent="0" marL="0">
              <a:buNone/>
            </a:pPr>
            <a:r>
              <a:rPr lang="en-US" sz="1500" dirty="0">
                <a:solidFill>
                  <a:srgbClr val="6B7D71"/>
                </a:solidFill>
                <a:latin typeface="Courier New" pitchFamily="34" charset="0"/>
                <a:ea typeface="Courier New" pitchFamily="34" charset="-122"/>
                <a:cs typeface="Courier New" pitchFamily="34" charset="-120"/>
              </a:rPr>
              <a:t>    License </a:t>
            </a:r>
            <a:pPr indent="0" marL="0">
              <a:buNone/>
            </a:pPr>
            <a:r>
              <a:rPr lang="en-US" sz="1500" b="1" dirty="0">
                <a:solidFill>
                  <a:srgbClr val="E8EFEA"/>
                </a:solidFill>
                <a:latin typeface="Courier New" pitchFamily="34" charset="0"/>
                <a:ea typeface="Courier New" pitchFamily="34" charset="-122"/>
                <a:cs typeface="Courier New" pitchFamily="34" charset="-120"/>
              </a:rPr>
              <a:t>Apache-2.0</a:t>
            </a:r>
            <a:pPr indent="0" marL="0">
              <a:buNone/>
            </a:pPr>
            <a:r>
              <a:rPr lang="en-US" sz="1500" dirty="0">
                <a:solidFill>
                  <a:srgbClr val="6B7D71"/>
                </a:solidFill>
                <a:latin typeface="Courier New" pitchFamily="34" charset="0"/>
                <a:ea typeface="Courier New" pitchFamily="34" charset="-122"/>
                <a:cs typeface="Courier New" pitchFamily="34" charset="-120"/>
              </a:rPr>
              <a:t>    Ver </a:t>
            </a:r>
            <a:pPr indent="0" marL="0">
              <a:buNone/>
            </a:pPr>
            <a:r>
              <a:rPr lang="en-US" sz="1500" b="1" dirty="0">
                <a:solidFill>
                  <a:srgbClr val="7EC46B"/>
                </a:solidFill>
                <a:latin typeface="Courier New" pitchFamily="34" charset="0"/>
                <a:ea typeface="Courier New" pitchFamily="34" charset="-122"/>
                <a:cs typeface="Courier New" pitchFamily="34" charset="-120"/>
              </a:rPr>
              <a:t>v0.1.4</a:t>
            </a:r>
            <a:endParaRPr lang="en-US" sz="1500" dirty="0"/>
          </a:p>
        </p:txBody>
      </p:sp>
      <p:sp>
        <p:nvSpPr>
          <p:cNvPr id="27" name="Text 21"/>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8" name="Text 22"/>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FIELD HARDWARE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An appliance that hides in plain sight</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3108960" cy="4142232"/>
          </a:xfrm>
          <a:prstGeom prst="rect">
            <a:avLst/>
          </a:prstGeom>
        </p:spPr>
      </p:pic>
      <p:sp>
        <p:nvSpPr>
          <p:cNvPr id="5" name="Shape 2"/>
          <p:cNvSpPr/>
          <p:nvPr/>
        </p:nvSpPr>
        <p:spPr>
          <a:xfrm>
            <a:off x="566928" y="1783080"/>
            <a:ext cx="3108960" cy="4142232"/>
          </a:xfrm>
          <a:prstGeom prst="roundRect">
            <a:avLst>
              <a:gd name="adj" fmla="val 1471"/>
            </a:avLst>
          </a:prstGeom>
          <a:ln w="15875">
            <a:solidFill>
              <a:srgbClr val="2C3A32"/>
            </a:solidFill>
            <a:prstDash val="solid"/>
          </a:ln>
        </p:spPr>
      </p:sp>
      <p:sp>
        <p:nvSpPr>
          <p:cNvPr id="6" name="Shape 3"/>
          <p:cNvSpPr/>
          <p:nvPr/>
        </p:nvSpPr>
        <p:spPr>
          <a:xfrm>
            <a:off x="3977640" y="1874520"/>
            <a:ext cx="7589520" cy="786384"/>
          </a:xfrm>
          <a:prstGeom prst="roundRect">
            <a:avLst>
              <a:gd name="adj" fmla="val 10465"/>
            </a:avLst>
          </a:prstGeom>
          <a:solidFill>
            <a:srgbClr val="16211B"/>
          </a:solidFill>
          <a:ln w="12700">
            <a:solidFill>
              <a:srgbClr val="2C3A32"/>
            </a:solidFill>
            <a:prstDash val="solid"/>
          </a:ln>
        </p:spPr>
      </p:sp>
      <p:sp>
        <p:nvSpPr>
          <p:cNvPr id="7" name="Shape 4"/>
          <p:cNvSpPr/>
          <p:nvPr/>
        </p:nvSpPr>
        <p:spPr>
          <a:xfrm>
            <a:off x="4160520" y="2011680"/>
            <a:ext cx="512064" cy="512064"/>
          </a:xfrm>
          <a:prstGeom prst="roundRect">
            <a:avLst>
              <a:gd name="adj" fmla="val 14286"/>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4273174" y="2124334"/>
            <a:ext cx="286756" cy="286756"/>
          </a:xfrm>
          <a:prstGeom prst="rect">
            <a:avLst/>
          </a:prstGeom>
        </p:spPr>
      </p:pic>
      <p:sp>
        <p:nvSpPr>
          <p:cNvPr id="9" name="Text 5"/>
          <p:cNvSpPr/>
          <p:nvPr/>
        </p:nvSpPr>
        <p:spPr>
          <a:xfrm>
            <a:off x="4892040" y="1965960"/>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Raspberry Pi Zero 2 W</a:t>
            </a:r>
            <a:endParaRPr lang="en-US" sz="1600" dirty="0"/>
          </a:p>
        </p:txBody>
      </p:sp>
      <p:sp>
        <p:nvSpPr>
          <p:cNvPr id="10" name="Text 6"/>
          <p:cNvSpPr/>
          <p:nvPr/>
        </p:nvSpPr>
        <p:spPr>
          <a:xfrm>
            <a:off x="7772400" y="1965960"/>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compute; the WebUI never needs the network.</a:t>
            </a:r>
            <a:endParaRPr lang="en-US" sz="1500" dirty="0"/>
          </a:p>
        </p:txBody>
      </p:sp>
      <p:sp>
        <p:nvSpPr>
          <p:cNvPr id="11" name="Shape 7"/>
          <p:cNvSpPr/>
          <p:nvPr/>
        </p:nvSpPr>
        <p:spPr>
          <a:xfrm>
            <a:off x="3977640" y="2734056"/>
            <a:ext cx="7589520" cy="786384"/>
          </a:xfrm>
          <a:prstGeom prst="roundRect">
            <a:avLst>
              <a:gd name="adj" fmla="val 10465"/>
            </a:avLst>
          </a:prstGeom>
          <a:solidFill>
            <a:srgbClr val="16211B"/>
          </a:solidFill>
          <a:ln w="12700">
            <a:solidFill>
              <a:srgbClr val="2C3A32"/>
            </a:solidFill>
            <a:prstDash val="solid"/>
          </a:ln>
        </p:spPr>
      </p:sp>
      <p:sp>
        <p:nvSpPr>
          <p:cNvPr id="12" name="Shape 8"/>
          <p:cNvSpPr/>
          <p:nvPr/>
        </p:nvSpPr>
        <p:spPr>
          <a:xfrm>
            <a:off x="4160520" y="2871216"/>
            <a:ext cx="512064" cy="512064"/>
          </a:xfrm>
          <a:prstGeom prst="roundRect">
            <a:avLst>
              <a:gd name="adj" fmla="val 14286"/>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4273174" y="2983870"/>
            <a:ext cx="286756" cy="286756"/>
          </a:xfrm>
          <a:prstGeom prst="rect">
            <a:avLst/>
          </a:prstGeom>
        </p:spPr>
      </p:pic>
      <p:sp>
        <p:nvSpPr>
          <p:cNvPr id="14" name="Text 9"/>
          <p:cNvSpPr/>
          <p:nvPr/>
        </p:nvSpPr>
        <p:spPr>
          <a:xfrm>
            <a:off x="4892040" y="2825496"/>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Camera module</a:t>
            </a:r>
            <a:endParaRPr lang="en-US" sz="1600" dirty="0"/>
          </a:p>
        </p:txBody>
      </p:sp>
      <p:sp>
        <p:nvSpPr>
          <p:cNvPr id="15" name="Text 10"/>
          <p:cNvSpPr/>
          <p:nvPr/>
        </p:nvSpPr>
        <p:spPr>
          <a:xfrm>
            <a:off x="7772400" y="2825496"/>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Captures the object cue ("Faces") that gates operation.</a:t>
            </a:r>
            <a:endParaRPr lang="en-US" sz="1500" dirty="0"/>
          </a:p>
        </p:txBody>
      </p:sp>
      <p:sp>
        <p:nvSpPr>
          <p:cNvPr id="16" name="Shape 11"/>
          <p:cNvSpPr/>
          <p:nvPr/>
        </p:nvSpPr>
        <p:spPr>
          <a:xfrm>
            <a:off x="3977640" y="3593592"/>
            <a:ext cx="7589520" cy="786384"/>
          </a:xfrm>
          <a:prstGeom prst="roundRect">
            <a:avLst>
              <a:gd name="adj" fmla="val 10465"/>
            </a:avLst>
          </a:prstGeom>
          <a:solidFill>
            <a:srgbClr val="16211B"/>
          </a:solidFill>
          <a:ln w="12700">
            <a:solidFill>
              <a:srgbClr val="2C3A32"/>
            </a:solidFill>
            <a:prstDash val="solid"/>
          </a:ln>
        </p:spPr>
      </p:sp>
      <p:sp>
        <p:nvSpPr>
          <p:cNvPr id="17" name="Shape 12"/>
          <p:cNvSpPr/>
          <p:nvPr/>
        </p:nvSpPr>
        <p:spPr>
          <a:xfrm>
            <a:off x="4160520" y="3730752"/>
            <a:ext cx="512064" cy="512064"/>
          </a:xfrm>
          <a:prstGeom prst="roundRect">
            <a:avLst>
              <a:gd name="adj" fmla="val 14286"/>
            </a:avLst>
          </a:prstGeom>
          <a:solidFill>
            <a:srgbClr val="1C2C24"/>
          </a:solidFill>
          <a:ln w="12700">
            <a:solidFill>
              <a:srgbClr val="2C3A32"/>
            </a:solidFill>
            <a:prstDash val="solid"/>
          </a:ln>
        </p:spPr>
      </p:sp>
      <p:pic>
        <p:nvPicPr>
          <p:cNvPr id="18" name="Image 3" descr="preencoded.png">    </p:cNvPr>
          <p:cNvPicPr>
            <a:picLocks noChangeAspect="1"/>
          </p:cNvPicPr>
          <p:nvPr/>
        </p:nvPicPr>
        <p:blipFill>
          <a:blip r:embed="rId4"/>
          <a:stretch>
            <a:fillRect/>
          </a:stretch>
        </p:blipFill>
        <p:spPr>
          <a:xfrm>
            <a:off x="4273174" y="3843406"/>
            <a:ext cx="286756" cy="286756"/>
          </a:xfrm>
          <a:prstGeom prst="rect">
            <a:avLst/>
          </a:prstGeom>
        </p:spPr>
      </p:pic>
      <p:sp>
        <p:nvSpPr>
          <p:cNvPr id="19" name="Text 13"/>
          <p:cNvSpPr/>
          <p:nvPr/>
        </p:nvSpPr>
        <p:spPr>
          <a:xfrm>
            <a:off x="4892040" y="3685032"/>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3D-printed enclosure</a:t>
            </a:r>
            <a:endParaRPr lang="en-US" sz="1600" dirty="0"/>
          </a:p>
        </p:txBody>
      </p:sp>
      <p:sp>
        <p:nvSpPr>
          <p:cNvPr id="20" name="Text 14"/>
          <p:cNvSpPr/>
          <p:nvPr/>
        </p:nvSpPr>
        <p:spPr>
          <a:xfrm>
            <a:off x="7772400" y="3685032"/>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Compact and unremarkable — reads as a small gadget.</a:t>
            </a:r>
            <a:endParaRPr lang="en-US" sz="1500" dirty="0"/>
          </a:p>
        </p:txBody>
      </p:sp>
      <p:sp>
        <p:nvSpPr>
          <p:cNvPr id="21" name="Shape 15"/>
          <p:cNvSpPr/>
          <p:nvPr/>
        </p:nvSpPr>
        <p:spPr>
          <a:xfrm>
            <a:off x="3977640" y="4453128"/>
            <a:ext cx="7589520" cy="786384"/>
          </a:xfrm>
          <a:prstGeom prst="roundRect">
            <a:avLst>
              <a:gd name="adj" fmla="val 10465"/>
            </a:avLst>
          </a:prstGeom>
          <a:solidFill>
            <a:srgbClr val="16211B"/>
          </a:solidFill>
          <a:ln w="12700">
            <a:solidFill>
              <a:srgbClr val="2C3A32"/>
            </a:solidFill>
            <a:prstDash val="solid"/>
          </a:ln>
        </p:spPr>
      </p:sp>
      <p:sp>
        <p:nvSpPr>
          <p:cNvPr id="22" name="Shape 16"/>
          <p:cNvSpPr/>
          <p:nvPr/>
        </p:nvSpPr>
        <p:spPr>
          <a:xfrm>
            <a:off x="4160520" y="4590288"/>
            <a:ext cx="512064" cy="512064"/>
          </a:xfrm>
          <a:prstGeom prst="roundRect">
            <a:avLst>
              <a:gd name="adj" fmla="val 14286"/>
            </a:avLst>
          </a:prstGeom>
          <a:solidFill>
            <a:srgbClr val="1C2C24"/>
          </a:solidFill>
          <a:ln w="12700">
            <a:solidFill>
              <a:srgbClr val="2C3A32"/>
            </a:solidFill>
            <a:prstDash val="solid"/>
          </a:ln>
        </p:spPr>
      </p:sp>
      <p:pic>
        <p:nvPicPr>
          <p:cNvPr id="23" name="Image 4" descr="preencoded.png">    </p:cNvPr>
          <p:cNvPicPr>
            <a:picLocks noChangeAspect="1"/>
          </p:cNvPicPr>
          <p:nvPr/>
        </p:nvPicPr>
        <p:blipFill>
          <a:blip r:embed="rId5"/>
          <a:stretch>
            <a:fillRect/>
          </a:stretch>
        </p:blipFill>
        <p:spPr>
          <a:xfrm>
            <a:off x="4273174" y="4702942"/>
            <a:ext cx="286756" cy="286756"/>
          </a:xfrm>
          <a:prstGeom prst="rect">
            <a:avLst/>
          </a:prstGeom>
        </p:spPr>
      </p:pic>
      <p:sp>
        <p:nvSpPr>
          <p:cNvPr id="24" name="Text 17"/>
          <p:cNvSpPr/>
          <p:nvPr/>
        </p:nvSpPr>
        <p:spPr>
          <a:xfrm>
            <a:off x="4892040" y="4544568"/>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USB-gadget WebUI</a:t>
            </a:r>
            <a:endParaRPr lang="en-US" sz="1600" dirty="0"/>
          </a:p>
        </p:txBody>
      </p:sp>
      <p:sp>
        <p:nvSpPr>
          <p:cNvPr id="25" name="Text 18"/>
          <p:cNvSpPr/>
          <p:nvPr/>
        </p:nvSpPr>
        <p:spPr>
          <a:xfrm>
            <a:off x="7772400" y="4544568"/>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Reached over USB at 127.0.0.1, not over any LAN.</a:t>
            </a:r>
            <a:endParaRPr lang="en-US" sz="1500" dirty="0"/>
          </a:p>
        </p:txBody>
      </p:sp>
      <p:sp>
        <p:nvSpPr>
          <p:cNvPr id="26" name="Shape 19"/>
          <p:cNvSpPr/>
          <p:nvPr/>
        </p:nvSpPr>
        <p:spPr>
          <a:xfrm>
            <a:off x="3977640" y="5312664"/>
            <a:ext cx="7589520" cy="786384"/>
          </a:xfrm>
          <a:prstGeom prst="roundRect">
            <a:avLst>
              <a:gd name="adj" fmla="val 10465"/>
            </a:avLst>
          </a:prstGeom>
          <a:solidFill>
            <a:srgbClr val="16211B"/>
          </a:solidFill>
          <a:ln w="12700">
            <a:solidFill>
              <a:srgbClr val="2C3A32"/>
            </a:solidFill>
            <a:prstDash val="solid"/>
          </a:ln>
        </p:spPr>
      </p:sp>
      <p:sp>
        <p:nvSpPr>
          <p:cNvPr id="27" name="Shape 20"/>
          <p:cNvSpPr/>
          <p:nvPr/>
        </p:nvSpPr>
        <p:spPr>
          <a:xfrm>
            <a:off x="4160520" y="5449824"/>
            <a:ext cx="512064" cy="512064"/>
          </a:xfrm>
          <a:prstGeom prst="roundRect">
            <a:avLst>
              <a:gd name="adj" fmla="val 14286"/>
            </a:avLst>
          </a:prstGeom>
          <a:solidFill>
            <a:srgbClr val="1C2C24"/>
          </a:solidFill>
          <a:ln w="12700">
            <a:solidFill>
              <a:srgbClr val="2C3A32"/>
            </a:solidFill>
            <a:prstDash val="solid"/>
          </a:ln>
        </p:spPr>
      </p:sp>
      <p:pic>
        <p:nvPicPr>
          <p:cNvPr id="28" name="Image 5" descr="preencoded.png">    </p:cNvPr>
          <p:cNvPicPr>
            <a:picLocks noChangeAspect="1"/>
          </p:cNvPicPr>
          <p:nvPr/>
        </p:nvPicPr>
        <p:blipFill>
          <a:blip r:embed="rId6"/>
          <a:stretch>
            <a:fillRect/>
          </a:stretch>
        </p:blipFill>
        <p:spPr>
          <a:xfrm>
            <a:off x="4273174" y="5562478"/>
            <a:ext cx="286756" cy="286756"/>
          </a:xfrm>
          <a:prstGeom prst="rect">
            <a:avLst/>
          </a:prstGeom>
        </p:spPr>
      </p:pic>
      <p:sp>
        <p:nvSpPr>
          <p:cNvPr id="29" name="Text 21"/>
          <p:cNvSpPr/>
          <p:nvPr/>
        </p:nvSpPr>
        <p:spPr>
          <a:xfrm>
            <a:off x="4892040" y="5404104"/>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Mini tripod</a:t>
            </a:r>
            <a:endParaRPr lang="en-US" sz="1600" dirty="0"/>
          </a:p>
        </p:txBody>
      </p:sp>
      <p:sp>
        <p:nvSpPr>
          <p:cNvPr id="30" name="Text 22"/>
          <p:cNvSpPr/>
          <p:nvPr/>
        </p:nvSpPr>
        <p:spPr>
          <a:xfrm>
            <a:off x="7772400" y="5404104"/>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Presents an everyday object to the lens on demand.</a:t>
            </a:r>
            <a:endParaRPr lang="en-US" sz="1500" dirty="0"/>
          </a:p>
        </p:txBody>
      </p:sp>
      <p:sp>
        <p:nvSpPr>
          <p:cNvPr id="31"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CRYPTOGRAPHIC CORE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JES v3 record &amp; key pipeline</a:t>
            </a:r>
            <a:endParaRPr lang="en-US" sz="3400" dirty="0"/>
          </a:p>
        </p:txBody>
      </p:sp>
      <p:sp>
        <p:nvSpPr>
          <p:cNvPr id="4" name="Shape 2"/>
          <p:cNvSpPr/>
          <p:nvPr/>
        </p:nvSpPr>
        <p:spPr>
          <a:xfrm>
            <a:off x="566928"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9397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74019" y="2226747"/>
            <a:ext cx="337962" cy="337962"/>
          </a:xfrm>
          <a:prstGeom prst="rect">
            <a:avLst/>
          </a:prstGeom>
        </p:spPr>
      </p:pic>
      <p:sp>
        <p:nvSpPr>
          <p:cNvPr id="7" name="Text 4"/>
          <p:cNvSpPr/>
          <p:nvPr/>
        </p:nvSpPr>
        <p:spPr>
          <a:xfrm>
            <a:off x="1664208"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Argon2id KDF</a:t>
            </a:r>
            <a:endParaRPr lang="en-US" sz="1700" dirty="0"/>
          </a:p>
        </p:txBody>
      </p:sp>
      <p:sp>
        <p:nvSpPr>
          <p:cNvPr id="8" name="Text 5"/>
          <p:cNvSpPr/>
          <p:nvPr/>
        </p:nvSpPr>
        <p:spPr>
          <a:xfrm>
            <a:off x="1664208"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memory_cost=32768 · iterations=2 · lanes=1 (tuned for Pi Zero 2 W). Fresh random salt per record.</a:t>
            </a:r>
            <a:endParaRPr lang="en-US" sz="1400" dirty="0"/>
          </a:p>
        </p:txBody>
      </p:sp>
      <p:sp>
        <p:nvSpPr>
          <p:cNvPr id="9" name="Shape 6"/>
          <p:cNvSpPr/>
          <p:nvPr/>
        </p:nvSpPr>
        <p:spPr>
          <a:xfrm>
            <a:off x="6199632"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73952" y="209397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06723" y="2226747"/>
            <a:ext cx="337962" cy="337962"/>
          </a:xfrm>
          <a:prstGeom prst="rect">
            <a:avLst/>
          </a:prstGeom>
        </p:spPr>
      </p:pic>
      <p:sp>
        <p:nvSpPr>
          <p:cNvPr id="12" name="Text 8"/>
          <p:cNvSpPr/>
          <p:nvPr/>
        </p:nvSpPr>
        <p:spPr>
          <a:xfrm>
            <a:off x="7296912"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Local access-key mixing</a:t>
            </a:r>
            <a:endParaRPr lang="en-US" sz="1700" dirty="0"/>
          </a:p>
        </p:txBody>
      </p:sp>
      <p:sp>
        <p:nvSpPr>
          <p:cNvPr id="13" name="Text 9"/>
          <p:cNvSpPr/>
          <p:nvPr/>
        </p:nvSpPr>
        <p:spPr>
          <a:xfrm>
            <a:off x="7296912"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access.bin is mixed into derivation — copying vault.bin alone is insufficient.</a:t>
            </a:r>
            <a:endParaRPr lang="en-US" sz="1400" dirty="0"/>
          </a:p>
        </p:txBody>
      </p:sp>
      <p:sp>
        <p:nvSpPr>
          <p:cNvPr id="14" name="Shape 10"/>
          <p:cNvSpPr/>
          <p:nvPr/>
        </p:nvSpPr>
        <p:spPr>
          <a:xfrm>
            <a:off x="566928"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41248" y="3438144"/>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74019" y="3570915"/>
            <a:ext cx="337962" cy="337962"/>
          </a:xfrm>
          <a:prstGeom prst="rect">
            <a:avLst/>
          </a:prstGeom>
        </p:spPr>
      </p:pic>
      <p:sp>
        <p:nvSpPr>
          <p:cNvPr id="17" name="Text 12"/>
          <p:cNvSpPr/>
          <p:nvPr/>
        </p:nvSpPr>
        <p:spPr>
          <a:xfrm>
            <a:off x="1664208"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Device binding</a:t>
            </a:r>
            <a:endParaRPr lang="en-US" sz="1700" dirty="0"/>
          </a:p>
        </p:txBody>
      </p:sp>
      <p:sp>
        <p:nvSpPr>
          <p:cNvPr id="18" name="Text 13"/>
          <p:cNvSpPr/>
          <p:nvPr/>
        </p:nvSpPr>
        <p:spPr>
          <a:xfrm>
            <a:off x="1664208"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Hardware identifiers (CPU serial, revision) feed the KDF pipeline.</a:t>
            </a:r>
            <a:endParaRPr lang="en-US" sz="1400" dirty="0"/>
          </a:p>
        </p:txBody>
      </p:sp>
      <p:sp>
        <p:nvSpPr>
          <p:cNvPr id="19" name="Shape 14"/>
          <p:cNvSpPr/>
          <p:nvPr/>
        </p:nvSpPr>
        <p:spPr>
          <a:xfrm>
            <a:off x="6199632"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73952" y="3438144"/>
            <a:ext cx="603504" cy="603504"/>
          </a:xfrm>
          <a:prstGeom prst="roundRect">
            <a:avLst>
              <a:gd name="adj" fmla="val 1212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06723" y="3570915"/>
            <a:ext cx="337962" cy="337962"/>
          </a:xfrm>
          <a:prstGeom prst="rect">
            <a:avLst/>
          </a:prstGeom>
        </p:spPr>
      </p:pic>
      <p:sp>
        <p:nvSpPr>
          <p:cNvPr id="22" name="Text 16"/>
          <p:cNvSpPr/>
          <p:nvPr/>
        </p:nvSpPr>
        <p:spPr>
          <a:xfrm>
            <a:off x="7296912"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Optional external secret</a:t>
            </a:r>
            <a:endParaRPr lang="en-US" sz="1700" dirty="0"/>
          </a:p>
        </p:txBody>
      </p:sp>
      <p:sp>
        <p:nvSpPr>
          <p:cNvPr id="23" name="Text 17"/>
          <p:cNvSpPr/>
          <p:nvPr/>
        </p:nvSpPr>
        <p:spPr>
          <a:xfrm>
            <a:off x="7296912"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PHASMID_HARDWARE_SECRET_FILE / _PROMPT adds a third factor for retrieval.</a:t>
            </a:r>
            <a:endParaRPr lang="en-US" sz="1400" dirty="0"/>
          </a:p>
        </p:txBody>
      </p:sp>
      <p:sp>
        <p:nvSpPr>
          <p:cNvPr id="24" name="Shape 18"/>
          <p:cNvSpPr/>
          <p:nvPr/>
        </p:nvSpPr>
        <p:spPr>
          <a:xfrm>
            <a:off x="566928"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41248" y="4782312"/>
            <a:ext cx="603504" cy="603504"/>
          </a:xfrm>
          <a:prstGeom prst="roundRect">
            <a:avLst>
              <a:gd name="adj" fmla="val 12121"/>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74019" y="4915083"/>
            <a:ext cx="337962" cy="337962"/>
          </a:xfrm>
          <a:prstGeom prst="rect">
            <a:avLst/>
          </a:prstGeom>
        </p:spPr>
      </p:pic>
      <p:sp>
        <p:nvSpPr>
          <p:cNvPr id="27" name="Text 20"/>
          <p:cNvSpPr/>
          <p:nvPr/>
        </p:nvSpPr>
        <p:spPr>
          <a:xfrm>
            <a:off x="1664208"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AES-GCM per record</a:t>
            </a:r>
            <a:endParaRPr lang="en-US" sz="1700" dirty="0"/>
          </a:p>
        </p:txBody>
      </p:sp>
      <p:sp>
        <p:nvSpPr>
          <p:cNvPr id="28" name="Text 21"/>
          <p:cNvSpPr/>
          <p:nvPr/>
        </p:nvSpPr>
        <p:spPr>
          <a:xfrm>
            <a:off x="1664208"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Random nonce + AAD phasmid-record-v3:&lt;mode&gt;:&lt;role&gt;:&lt;size&gt;; tamper → InvalidTag.</a:t>
            </a:r>
            <a:endParaRPr lang="en-US" sz="1400" dirty="0"/>
          </a:p>
        </p:txBody>
      </p:sp>
      <p:sp>
        <p:nvSpPr>
          <p:cNvPr id="29" name="Shape 22"/>
          <p:cNvSpPr/>
          <p:nvPr/>
        </p:nvSpPr>
        <p:spPr>
          <a:xfrm>
            <a:off x="6199632"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73952" y="4782312"/>
            <a:ext cx="603504" cy="603504"/>
          </a:xfrm>
          <a:prstGeom prst="roundRect">
            <a:avLst>
              <a:gd name="adj" fmla="val 12121"/>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606723" y="4915083"/>
            <a:ext cx="337962" cy="337962"/>
          </a:xfrm>
          <a:prstGeom prst="rect">
            <a:avLst/>
          </a:prstGeom>
        </p:spPr>
      </p:pic>
      <p:sp>
        <p:nvSpPr>
          <p:cNvPr id="32" name="Text 24"/>
          <p:cNvSpPr/>
          <p:nvPr/>
        </p:nvSpPr>
        <p:spPr>
          <a:xfrm>
            <a:off x="7296912"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No plaintext marker</a:t>
            </a:r>
            <a:endParaRPr lang="en-US" sz="1700" dirty="0"/>
          </a:p>
        </p:txBody>
      </p:sp>
      <p:sp>
        <p:nvSpPr>
          <p:cNvPr id="33" name="Text 25"/>
          <p:cNvSpPr/>
          <p:nvPr/>
        </p:nvSpPr>
        <p:spPr>
          <a:xfrm>
            <a:off x="7296912"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v3 vault.bin has no magic/header; AEAD-authenticated encrypted metadata.</a:t>
            </a:r>
            <a:endParaRPr lang="en-US" sz="1400" dirty="0"/>
          </a:p>
        </p:txBody>
      </p:sp>
      <p:sp>
        <p:nvSpPr>
          <p:cNvPr id="34" name="Text 26"/>
          <p:cNvSpPr/>
          <p:nvPr/>
        </p:nvSpPr>
        <p:spPr>
          <a:xfrm>
            <a:off x="566928" y="5870448"/>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Startup self-tests verify AES-GCM, HMAC-SHA-256, and RNG before normal operation.</a:t>
            </a:r>
            <a:endParaRPr lang="en-US" sz="1300" dirty="0"/>
          </a:p>
        </p:txBody>
      </p:sp>
      <p:sp>
        <p:nvSpPr>
          <p:cNvPr id="35"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6"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18</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OPERATIONAL GUARDS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WebUI &amp; access controls</a:t>
            </a:r>
            <a:endParaRPr lang="en-US" sz="3400" dirty="0"/>
          </a:p>
        </p:txBody>
      </p:sp>
      <p:sp>
        <p:nvSpPr>
          <p:cNvPr id="4" name="Shape 2"/>
          <p:cNvSpPr/>
          <p:nvPr/>
        </p:nvSpPr>
        <p:spPr>
          <a:xfrm>
            <a:off x="566928"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22960" y="2002536"/>
            <a:ext cx="512064" cy="512064"/>
          </a:xfrm>
          <a:prstGeom prst="roundRect">
            <a:avLst>
              <a:gd name="adj" fmla="val 14286"/>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35614" y="2115190"/>
            <a:ext cx="286756" cy="286756"/>
          </a:xfrm>
          <a:prstGeom prst="rect">
            <a:avLst/>
          </a:prstGeom>
        </p:spPr>
      </p:pic>
      <p:sp>
        <p:nvSpPr>
          <p:cNvPr id="7" name="Text 4"/>
          <p:cNvSpPr/>
          <p:nvPr/>
        </p:nvSpPr>
        <p:spPr>
          <a:xfrm>
            <a:off x="1527048"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Localhost binding</a:t>
            </a:r>
            <a:endParaRPr lang="en-US" sz="1600" dirty="0"/>
          </a:p>
        </p:txBody>
      </p:sp>
      <p:sp>
        <p:nvSpPr>
          <p:cNvPr id="8" name="Text 5"/>
          <p:cNvSpPr/>
          <p:nvPr/>
        </p:nvSpPr>
        <p:spPr>
          <a:xfrm>
            <a:off x="1527048"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WebUI binds 127.0.0.1 by default; USB-gadget only otherwise.</a:t>
            </a:r>
            <a:endParaRPr lang="en-US" sz="1300" dirty="0"/>
          </a:p>
        </p:txBody>
      </p:sp>
      <p:sp>
        <p:nvSpPr>
          <p:cNvPr id="9" name="Shape 6"/>
          <p:cNvSpPr/>
          <p:nvPr/>
        </p:nvSpPr>
        <p:spPr>
          <a:xfrm>
            <a:off x="6199632"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55664" y="2002536"/>
            <a:ext cx="512064" cy="512064"/>
          </a:xfrm>
          <a:prstGeom prst="roundRect">
            <a:avLst>
              <a:gd name="adj" fmla="val 14286"/>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568318" y="2115190"/>
            <a:ext cx="286756" cy="286756"/>
          </a:xfrm>
          <a:prstGeom prst="rect">
            <a:avLst/>
          </a:prstGeom>
        </p:spPr>
      </p:pic>
      <p:sp>
        <p:nvSpPr>
          <p:cNvPr id="12" name="Text 8"/>
          <p:cNvSpPr/>
          <p:nvPr/>
        </p:nvSpPr>
        <p:spPr>
          <a:xfrm>
            <a:off x="7159752"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Per-process token</a:t>
            </a:r>
            <a:endParaRPr lang="en-US" sz="1600" dirty="0"/>
          </a:p>
        </p:txBody>
      </p:sp>
      <p:sp>
        <p:nvSpPr>
          <p:cNvPr id="13" name="Text 9"/>
          <p:cNvSpPr/>
          <p:nvPr/>
        </p:nvSpPr>
        <p:spPr>
          <a:xfrm>
            <a:off x="7159752"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Mutations require X-Phasmid-Token; rotatable via restricted action.</a:t>
            </a:r>
            <a:endParaRPr lang="en-US" sz="1300" dirty="0"/>
          </a:p>
        </p:txBody>
      </p:sp>
      <p:sp>
        <p:nvSpPr>
          <p:cNvPr id="14" name="Shape 10"/>
          <p:cNvSpPr/>
          <p:nvPr/>
        </p:nvSpPr>
        <p:spPr>
          <a:xfrm>
            <a:off x="566928"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22960" y="3072384"/>
            <a:ext cx="512064" cy="512064"/>
          </a:xfrm>
          <a:prstGeom prst="roundRect">
            <a:avLst>
              <a:gd name="adj" fmla="val 14286"/>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35614" y="3185038"/>
            <a:ext cx="286756" cy="286756"/>
          </a:xfrm>
          <a:prstGeom prst="rect">
            <a:avLst/>
          </a:prstGeom>
        </p:spPr>
      </p:pic>
      <p:sp>
        <p:nvSpPr>
          <p:cNvPr id="17" name="Text 12"/>
          <p:cNvSpPr/>
          <p:nvPr/>
        </p:nvSpPr>
        <p:spPr>
          <a:xfrm>
            <a:off x="1527048"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Restricted confirmation</a:t>
            </a:r>
            <a:endParaRPr lang="en-US" sz="1600" dirty="0"/>
          </a:p>
        </p:txBody>
      </p:sp>
      <p:sp>
        <p:nvSpPr>
          <p:cNvPr id="18" name="Text 13"/>
          <p:cNvSpPr/>
          <p:nvPr/>
        </p:nvSpPr>
        <p:spPr>
          <a:xfrm>
            <a:off x="1527048"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HttpOnly cookie, 120 s TTL, IP-bound, + typed confirmation phrase.</a:t>
            </a:r>
            <a:endParaRPr lang="en-US" sz="1300" dirty="0"/>
          </a:p>
        </p:txBody>
      </p:sp>
      <p:sp>
        <p:nvSpPr>
          <p:cNvPr id="19" name="Shape 14"/>
          <p:cNvSpPr/>
          <p:nvPr/>
        </p:nvSpPr>
        <p:spPr>
          <a:xfrm>
            <a:off x="6199632"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55664" y="3072384"/>
            <a:ext cx="512064" cy="512064"/>
          </a:xfrm>
          <a:prstGeom prst="roundRect">
            <a:avLst>
              <a:gd name="adj" fmla="val 14286"/>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568318" y="3185038"/>
            <a:ext cx="286756" cy="286756"/>
          </a:xfrm>
          <a:prstGeom prst="rect">
            <a:avLst/>
          </a:prstGeom>
        </p:spPr>
      </p:pic>
      <p:sp>
        <p:nvSpPr>
          <p:cNvPr id="22" name="Text 16"/>
          <p:cNvSpPr/>
          <p:nvPr/>
        </p:nvSpPr>
        <p:spPr>
          <a:xfrm>
            <a:off x="7159752"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Attempt limiter</a:t>
            </a:r>
            <a:endParaRPr lang="en-US" sz="1600" dirty="0"/>
          </a:p>
        </p:txBody>
      </p:sp>
      <p:sp>
        <p:nvSpPr>
          <p:cNvPr id="23" name="Text 17"/>
          <p:cNvSpPr/>
          <p:nvPr/>
        </p:nvSpPr>
        <p:spPr>
          <a:xfrm>
            <a:off x="7159752"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Lockout after 5 failures / 60 s (configurable), per client.</a:t>
            </a:r>
            <a:endParaRPr lang="en-US" sz="1300" dirty="0"/>
          </a:p>
        </p:txBody>
      </p:sp>
      <p:sp>
        <p:nvSpPr>
          <p:cNvPr id="24" name="Shape 18"/>
          <p:cNvSpPr/>
          <p:nvPr/>
        </p:nvSpPr>
        <p:spPr>
          <a:xfrm>
            <a:off x="566928"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22960" y="4142232"/>
            <a:ext cx="512064" cy="512064"/>
          </a:xfrm>
          <a:prstGeom prst="roundRect">
            <a:avLst>
              <a:gd name="adj" fmla="val 14286"/>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35614" y="4254886"/>
            <a:ext cx="286756" cy="286756"/>
          </a:xfrm>
          <a:prstGeom prst="rect">
            <a:avLst/>
          </a:prstGeom>
        </p:spPr>
      </p:pic>
      <p:sp>
        <p:nvSpPr>
          <p:cNvPr id="27" name="Text 20"/>
          <p:cNvSpPr/>
          <p:nvPr/>
        </p:nvSpPr>
        <p:spPr>
          <a:xfrm>
            <a:off x="1527048"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Rate limiting</a:t>
            </a:r>
            <a:endParaRPr lang="en-US" sz="1600" dirty="0"/>
          </a:p>
        </p:txBody>
      </p:sp>
      <p:sp>
        <p:nvSpPr>
          <p:cNvPr id="28" name="Text 21"/>
          <p:cNvSpPr/>
          <p:nvPr/>
        </p:nvSpPr>
        <p:spPr>
          <a:xfrm>
            <a:off x="1527048"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20 requests / 60 s per client; excess returns HTTP 429.</a:t>
            </a:r>
            <a:endParaRPr lang="en-US" sz="1300" dirty="0"/>
          </a:p>
        </p:txBody>
      </p:sp>
      <p:sp>
        <p:nvSpPr>
          <p:cNvPr id="29" name="Shape 22"/>
          <p:cNvSpPr/>
          <p:nvPr/>
        </p:nvSpPr>
        <p:spPr>
          <a:xfrm>
            <a:off x="6199632"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55664" y="4142232"/>
            <a:ext cx="512064" cy="512064"/>
          </a:xfrm>
          <a:prstGeom prst="roundRect">
            <a:avLst>
              <a:gd name="adj" fmla="val 14286"/>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568318" y="4254886"/>
            <a:ext cx="286756" cy="286756"/>
          </a:xfrm>
          <a:prstGeom prst="rect">
            <a:avLst/>
          </a:prstGeom>
        </p:spPr>
      </p:pic>
      <p:sp>
        <p:nvSpPr>
          <p:cNvPr id="32" name="Text 24"/>
          <p:cNvSpPr/>
          <p:nvPr/>
        </p:nvSpPr>
        <p:spPr>
          <a:xfrm>
            <a:off x="7159752"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Inactivity auto-kill</a:t>
            </a:r>
            <a:endParaRPr lang="en-US" sz="1600" dirty="0"/>
          </a:p>
        </p:txBody>
      </p:sp>
      <p:sp>
        <p:nvSpPr>
          <p:cNvPr id="33" name="Text 25"/>
          <p:cNvSpPr/>
          <p:nvPr/>
        </p:nvSpPr>
        <p:spPr>
          <a:xfrm>
            <a:off x="7159752"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TUI-managed WebUI terminates after 10 min idle; exposure banner shown.</a:t>
            </a:r>
            <a:endParaRPr lang="en-US" sz="1300" dirty="0"/>
          </a:p>
        </p:txBody>
      </p:sp>
      <p:sp>
        <p:nvSpPr>
          <p:cNvPr id="34" name="Shape 26"/>
          <p:cNvSpPr/>
          <p:nvPr/>
        </p:nvSpPr>
        <p:spPr>
          <a:xfrm>
            <a:off x="566928"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5" name="Shape 27"/>
          <p:cNvSpPr/>
          <p:nvPr/>
        </p:nvSpPr>
        <p:spPr>
          <a:xfrm>
            <a:off x="822960" y="5212080"/>
            <a:ext cx="512064" cy="512064"/>
          </a:xfrm>
          <a:prstGeom prst="roundRect">
            <a:avLst>
              <a:gd name="adj" fmla="val 14286"/>
            </a:avLst>
          </a:prstGeom>
          <a:solidFill>
            <a:srgbClr val="1C2C24"/>
          </a:solidFill>
          <a:ln w="12700">
            <a:solidFill>
              <a:srgbClr val="2C3A32"/>
            </a:solidFill>
            <a:prstDash val="solid"/>
          </a:ln>
        </p:spPr>
      </p:sp>
      <p:pic>
        <p:nvPicPr>
          <p:cNvPr id="36" name="Image 6" descr="preencoded.png">    </p:cNvPr>
          <p:cNvPicPr>
            <a:picLocks noChangeAspect="1"/>
          </p:cNvPicPr>
          <p:nvPr/>
        </p:nvPicPr>
        <p:blipFill>
          <a:blip r:embed="rId7"/>
          <a:stretch>
            <a:fillRect/>
          </a:stretch>
        </p:blipFill>
        <p:spPr>
          <a:xfrm>
            <a:off x="935614" y="5324734"/>
            <a:ext cx="286756" cy="286756"/>
          </a:xfrm>
          <a:prstGeom prst="rect">
            <a:avLst/>
          </a:prstGeom>
        </p:spPr>
      </p:pic>
      <p:sp>
        <p:nvSpPr>
          <p:cNvPr id="37" name="Text 28"/>
          <p:cNvSpPr/>
          <p:nvPr/>
        </p:nvSpPr>
        <p:spPr>
          <a:xfrm>
            <a:off x="1527048"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Hardened headers</a:t>
            </a:r>
            <a:endParaRPr lang="en-US" sz="1600" dirty="0"/>
          </a:p>
        </p:txBody>
      </p:sp>
      <p:sp>
        <p:nvSpPr>
          <p:cNvPr id="38" name="Text 29"/>
          <p:cNvSpPr/>
          <p:nvPr/>
        </p:nvSpPr>
        <p:spPr>
          <a:xfrm>
            <a:off x="1527048"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CSP frame-ancestors none · no-store · X-Frame-Options · nosniff.</a:t>
            </a:r>
            <a:endParaRPr lang="en-US" sz="1300" dirty="0"/>
          </a:p>
        </p:txBody>
      </p:sp>
      <p:sp>
        <p:nvSpPr>
          <p:cNvPr id="39" name="Shape 30"/>
          <p:cNvSpPr/>
          <p:nvPr/>
        </p:nvSpPr>
        <p:spPr>
          <a:xfrm>
            <a:off x="6199632"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40" name="Shape 31"/>
          <p:cNvSpPr/>
          <p:nvPr/>
        </p:nvSpPr>
        <p:spPr>
          <a:xfrm>
            <a:off x="6455664" y="5212080"/>
            <a:ext cx="512064" cy="512064"/>
          </a:xfrm>
          <a:prstGeom prst="roundRect">
            <a:avLst>
              <a:gd name="adj" fmla="val 14286"/>
            </a:avLst>
          </a:prstGeom>
          <a:solidFill>
            <a:srgbClr val="1C2C24"/>
          </a:solidFill>
          <a:ln w="12700">
            <a:solidFill>
              <a:srgbClr val="2C3A32"/>
            </a:solidFill>
            <a:prstDash val="solid"/>
          </a:ln>
        </p:spPr>
      </p:sp>
      <p:pic>
        <p:nvPicPr>
          <p:cNvPr id="41" name="Image 7" descr="preencoded.png">    </p:cNvPr>
          <p:cNvPicPr>
            <a:picLocks noChangeAspect="1"/>
          </p:cNvPicPr>
          <p:nvPr/>
        </p:nvPicPr>
        <p:blipFill>
          <a:blip r:embed="rId8"/>
          <a:stretch>
            <a:fillRect/>
          </a:stretch>
        </p:blipFill>
        <p:spPr>
          <a:xfrm>
            <a:off x="6568318" y="5324734"/>
            <a:ext cx="286756" cy="286756"/>
          </a:xfrm>
          <a:prstGeom prst="rect">
            <a:avLst/>
          </a:prstGeom>
        </p:spPr>
      </p:pic>
      <p:sp>
        <p:nvSpPr>
          <p:cNvPr id="42" name="Text 32"/>
          <p:cNvSpPr/>
          <p:nvPr/>
        </p:nvSpPr>
        <p:spPr>
          <a:xfrm>
            <a:off x="7159752"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Opt-in audit log</a:t>
            </a:r>
            <a:endParaRPr lang="en-US" sz="1600" dirty="0"/>
          </a:p>
        </p:txBody>
      </p:sp>
      <p:sp>
        <p:nvSpPr>
          <p:cNvPr id="43" name="Text 33"/>
          <p:cNvSpPr/>
          <p:nvPr/>
        </p:nvSpPr>
        <p:spPr>
          <a:xfrm>
            <a:off x="7159752"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events.log: op/timestamp/length only, HMAC-SHA-256 chained.</a:t>
            </a:r>
            <a:endParaRPr lang="en-US" sz="1300" dirty="0"/>
          </a:p>
        </p:txBody>
      </p:sp>
      <p:sp>
        <p:nvSpPr>
          <p:cNvPr id="44" name="Text 3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5" name="Text 3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19</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ETHICS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What it will and won't do</a:t>
            </a:r>
            <a:endParaRPr lang="en-US" sz="3400" dirty="0"/>
          </a:p>
        </p:txBody>
      </p:sp>
      <p:sp>
        <p:nvSpPr>
          <p:cNvPr id="4" name="Shape 2"/>
          <p:cNvSpPr/>
          <p:nvPr/>
        </p:nvSpPr>
        <p:spPr>
          <a:xfrm>
            <a:off x="566928" y="1783080"/>
            <a:ext cx="5486400" cy="3794760"/>
          </a:xfrm>
          <a:prstGeom prst="roundRect">
            <a:avLst>
              <a:gd name="adj" fmla="val 21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402336" cy="402336"/>
          </a:xfrm>
          <a:prstGeom prst="rect">
            <a:avLst/>
          </a:prstGeom>
        </p:spPr>
      </p:pic>
      <p:sp>
        <p:nvSpPr>
          <p:cNvPr id="6" name="Text 3"/>
          <p:cNvSpPr/>
          <p:nvPr/>
        </p:nvSpPr>
        <p:spPr>
          <a:xfrm>
            <a:off x="1316736"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Allowed behaviors</a:t>
            </a:r>
            <a:endParaRPr lang="en-US" sz="1900" dirty="0"/>
          </a:p>
        </p:txBody>
      </p:sp>
      <p:sp>
        <p:nvSpPr>
          <p:cNvPr id="7" name="Text 4"/>
          <p:cNvSpPr/>
          <p:nvPr/>
        </p:nvSpPr>
        <p:spPr>
          <a:xfrm>
            <a:off x="914400" y="2606040"/>
            <a:ext cx="493776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Plausible controlled disclosure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Privacy-preserving standby transitions</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Ambiguity-preserving workflows</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Configurable hotkey-triggered standby</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Context-template-guided content</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Local plausibility reports</a:t>
            </a:r>
            <a:endParaRPr lang="en-US" sz="1700" dirty="0"/>
          </a:p>
        </p:txBody>
      </p:sp>
      <p:sp>
        <p:nvSpPr>
          <p:cNvPr id="8" name="Shape 5"/>
          <p:cNvSpPr/>
          <p:nvPr/>
        </p:nvSpPr>
        <p:spPr>
          <a:xfrm>
            <a:off x="6199632" y="1783080"/>
            <a:ext cx="5394960" cy="3794760"/>
          </a:xfrm>
          <a:prstGeom prst="roundRect">
            <a:avLst>
              <a:gd name="adj" fmla="val 2169"/>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0" name="Text 6"/>
          <p:cNvSpPr/>
          <p:nvPr/>
        </p:nvSpPr>
        <p:spPr>
          <a:xfrm>
            <a:off x="6986016"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Disallowed by design</a:t>
            </a:r>
            <a:endParaRPr lang="en-US" sz="1900" dirty="0"/>
          </a:p>
        </p:txBody>
      </p:sp>
      <p:sp>
        <p:nvSpPr>
          <p:cNvPr id="11" name="Text 7"/>
          <p:cNvSpPr/>
          <p:nvPr/>
        </p:nvSpPr>
        <p:spPr>
          <a:xfrm>
            <a:off x="6547104" y="2606040"/>
            <a:ext cx="484632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Rootkits / kernel-level hiding</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Hidden process persistence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Anti-forensic data destruction</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Forensic-tool bypass or interference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False system-event fabrication / timestamp forgery</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Anti-forensic metadata tampering</a:t>
            </a:r>
            <a:endParaRPr lang="en-US" sz="1700" dirty="0"/>
          </a:p>
        </p:txBody>
      </p:sp>
      <p:sp>
        <p:nvSpPr>
          <p:cNvPr id="12" name="Text 8"/>
          <p:cNvSpPr/>
          <p:nvPr/>
        </p:nvSpPr>
        <p:spPr>
          <a:xfrm>
            <a:off x="566928" y="5742432"/>
            <a:ext cx="11018520" cy="457200"/>
          </a:xfrm>
          <a:prstGeom prst="rect">
            <a:avLst/>
          </a:prstGeom>
          <a:noFill/>
          <a:ln/>
        </p:spPr>
        <p:txBody>
          <a:bodyPr wrap="square" lIns="0" tIns="0" rIns="0" bIns="0" rtlCol="0" anchor="ctr"/>
          <a:lstStyle/>
          <a:p>
            <a:pPr algn="ctr" indent="0" marL="0">
              <a:buNone/>
            </a:pPr>
            <a:r>
              <a:rPr lang="en-US" sz="1700" i="1" dirty="0">
                <a:solidFill>
                  <a:srgbClr val="9DB0A4"/>
                </a:solidFill>
                <a:latin typeface="Calibri" pitchFamily="34" charset="0"/>
                <a:ea typeface="Calibri" pitchFamily="34" charset="-122"/>
                <a:cs typeface="Calibri" pitchFamily="34" charset="-120"/>
              </a:rPr>
              <a:t>It increases uncertainty and delays confident conclusions — it does not claim forensic invisibility.</a:t>
            </a:r>
            <a:endParaRPr lang="en-US" sz="1700" dirty="0"/>
          </a:p>
        </p:txBody>
      </p:sp>
      <p:sp>
        <p:nvSpPr>
          <p:cNvPr id="13"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4"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20</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HONEST LIMITS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Scope, honestly drawn</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011680"/>
            <a:ext cx="49377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What's in / out of scope</a:t>
            </a:r>
            <a:endParaRPr lang="en-US" sz="1800" dirty="0"/>
          </a:p>
        </p:txBody>
      </p:sp>
      <p:sp>
        <p:nvSpPr>
          <p:cNvPr id="6" name="Text 4"/>
          <p:cNvSpPr/>
          <p:nvPr/>
        </p:nvSpPr>
        <p:spPr>
          <a:xfrm>
            <a:off x="868680" y="2651760"/>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Software-existence concealment</a:t>
            </a:r>
            <a:endParaRPr lang="en-US" sz="1600" dirty="0"/>
          </a:p>
        </p:txBody>
      </p:sp>
      <p:sp>
        <p:nvSpPr>
          <p:cNvPr id="7" name="Shape 5"/>
          <p:cNvSpPr/>
          <p:nvPr/>
        </p:nvSpPr>
        <p:spPr>
          <a:xfrm>
            <a:off x="5400446" y="2724912"/>
            <a:ext cx="543154" cy="402336"/>
          </a:xfrm>
          <a:prstGeom prst="roundRect">
            <a:avLst>
              <a:gd name="adj" fmla="val 50000"/>
            </a:avLst>
          </a:prstGeom>
          <a:solidFill>
            <a:srgbClr val="0C1210"/>
          </a:solidFill>
          <a:ln w="12700">
            <a:solidFill>
              <a:srgbClr val="E5654B"/>
            </a:solidFill>
            <a:prstDash val="solid"/>
          </a:ln>
        </p:spPr>
      </p:sp>
      <p:sp>
        <p:nvSpPr>
          <p:cNvPr id="8" name="Text 6"/>
          <p:cNvSpPr/>
          <p:nvPr/>
        </p:nvSpPr>
        <p:spPr>
          <a:xfrm>
            <a:off x="5400446" y="2724912"/>
            <a:ext cx="543154" cy="402336"/>
          </a:xfrm>
          <a:prstGeom prst="rect">
            <a:avLst/>
          </a:prstGeom>
          <a:noFill/>
          <a:ln/>
        </p:spPr>
        <p:txBody>
          <a:bodyPr wrap="square" lIns="0" tIns="0" rIns="0" bIns="0" rtlCol="0" anchor="ctr"/>
          <a:lstStyle/>
          <a:p>
            <a:pPr algn="ctr" indent="0" marL="0">
              <a:buNone/>
            </a:pPr>
            <a:r>
              <a:rPr lang="en-US" sz="1300" dirty="0">
                <a:solidFill>
                  <a:srgbClr val="E5654B"/>
                </a:solidFill>
                <a:latin typeface="Courier New" pitchFamily="34" charset="0"/>
                <a:ea typeface="Courier New" pitchFamily="34" charset="-122"/>
                <a:cs typeface="Courier New" pitchFamily="34" charset="-120"/>
              </a:rPr>
              <a:t>OUT</a:t>
            </a:r>
            <a:endParaRPr lang="en-US" sz="1300" dirty="0"/>
          </a:p>
        </p:txBody>
      </p:sp>
      <p:sp>
        <p:nvSpPr>
          <p:cNvPr id="9" name="Text 7"/>
          <p:cNvSpPr/>
          <p:nvPr/>
        </p:nvSpPr>
        <p:spPr>
          <a:xfrm>
            <a:off x="868680" y="3401568"/>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Data-existence deniability</a:t>
            </a:r>
            <a:endParaRPr lang="en-US" sz="1600" dirty="0"/>
          </a:p>
        </p:txBody>
      </p:sp>
      <p:sp>
        <p:nvSpPr>
          <p:cNvPr id="10" name="Shape 8"/>
          <p:cNvSpPr/>
          <p:nvPr/>
        </p:nvSpPr>
        <p:spPr>
          <a:xfrm>
            <a:off x="5042002" y="3474720"/>
            <a:ext cx="901598" cy="402336"/>
          </a:xfrm>
          <a:prstGeom prst="roundRect">
            <a:avLst>
              <a:gd name="adj" fmla="val 50000"/>
            </a:avLst>
          </a:prstGeom>
          <a:solidFill>
            <a:srgbClr val="0C1210"/>
          </a:solidFill>
          <a:ln w="12700">
            <a:solidFill>
              <a:srgbClr val="F0A55E"/>
            </a:solidFill>
            <a:prstDash val="solid"/>
          </a:ln>
        </p:spPr>
      </p:sp>
      <p:sp>
        <p:nvSpPr>
          <p:cNvPr id="11" name="Text 9"/>
          <p:cNvSpPr/>
          <p:nvPr/>
        </p:nvSpPr>
        <p:spPr>
          <a:xfrm>
            <a:off x="5042002" y="3474720"/>
            <a:ext cx="901598" cy="402336"/>
          </a:xfrm>
          <a:prstGeom prst="rect">
            <a:avLst/>
          </a:prstGeom>
          <a:noFill/>
          <a:ln/>
        </p:spPr>
        <p:txBody>
          <a:bodyPr wrap="square" lIns="0" tIns="0" rIns="0" bIns="0" rtlCol="0" anchor="ctr"/>
          <a:lstStyle/>
          <a:p>
            <a:pPr algn="ctr" indent="0" marL="0">
              <a:buNone/>
            </a:pPr>
            <a:r>
              <a:rPr lang="en-US" sz="1300" dirty="0">
                <a:solidFill>
                  <a:srgbClr val="F0A55E"/>
                </a:solidFill>
                <a:latin typeface="Courier New" pitchFamily="34" charset="0"/>
                <a:ea typeface="Courier New" pitchFamily="34" charset="-122"/>
                <a:cs typeface="Courier New" pitchFamily="34" charset="-120"/>
              </a:rPr>
              <a:t>PARTIAL</a:t>
            </a:r>
            <a:endParaRPr lang="en-US" sz="1300" dirty="0"/>
          </a:p>
        </p:txBody>
      </p:sp>
      <p:sp>
        <p:nvSpPr>
          <p:cNvPr id="12" name="Text 10"/>
          <p:cNvSpPr/>
          <p:nvPr/>
        </p:nvSpPr>
        <p:spPr>
          <a:xfrm>
            <a:off x="868680" y="4151376"/>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Controlled disclosure</a:t>
            </a:r>
            <a:endParaRPr lang="en-US" sz="1600" dirty="0"/>
          </a:p>
        </p:txBody>
      </p:sp>
      <p:sp>
        <p:nvSpPr>
          <p:cNvPr id="13" name="Shape 11"/>
          <p:cNvSpPr/>
          <p:nvPr/>
        </p:nvSpPr>
        <p:spPr>
          <a:xfrm>
            <a:off x="4593946" y="4224528"/>
            <a:ext cx="1349654" cy="402336"/>
          </a:xfrm>
          <a:prstGeom prst="roundRect">
            <a:avLst>
              <a:gd name="adj" fmla="val 50000"/>
            </a:avLst>
          </a:prstGeom>
          <a:solidFill>
            <a:srgbClr val="0C1210"/>
          </a:solidFill>
          <a:ln w="12700">
            <a:solidFill>
              <a:srgbClr val="4ADE80"/>
            </a:solidFill>
            <a:prstDash val="solid"/>
          </a:ln>
        </p:spPr>
      </p:sp>
      <p:sp>
        <p:nvSpPr>
          <p:cNvPr id="14" name="Text 12"/>
          <p:cNvSpPr/>
          <p:nvPr/>
        </p:nvSpPr>
        <p:spPr>
          <a:xfrm>
            <a:off x="4593946" y="4224528"/>
            <a:ext cx="1349654"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central</a:t>
            </a:r>
            <a:endParaRPr lang="en-US" sz="1300" dirty="0"/>
          </a:p>
        </p:txBody>
      </p:sp>
      <p:sp>
        <p:nvSpPr>
          <p:cNvPr id="15" name="Text 13"/>
          <p:cNvSpPr/>
          <p:nvPr/>
        </p:nvSpPr>
        <p:spPr>
          <a:xfrm>
            <a:off x="868680" y="4901184"/>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Coercion-aware fallback</a:t>
            </a:r>
            <a:endParaRPr lang="en-US" sz="1600" dirty="0"/>
          </a:p>
        </p:txBody>
      </p:sp>
      <p:sp>
        <p:nvSpPr>
          <p:cNvPr id="16" name="Shape 14"/>
          <p:cNvSpPr/>
          <p:nvPr/>
        </p:nvSpPr>
        <p:spPr>
          <a:xfrm>
            <a:off x="4235501" y="4974336"/>
            <a:ext cx="1708099" cy="402336"/>
          </a:xfrm>
          <a:prstGeom prst="roundRect">
            <a:avLst>
              <a:gd name="adj" fmla="val 50000"/>
            </a:avLst>
          </a:prstGeom>
          <a:solidFill>
            <a:srgbClr val="0C1210"/>
          </a:solidFill>
          <a:ln w="12700">
            <a:solidFill>
              <a:srgbClr val="4ADE80"/>
            </a:solidFill>
            <a:prstDash val="solid"/>
          </a:ln>
        </p:spPr>
      </p:sp>
      <p:sp>
        <p:nvSpPr>
          <p:cNvPr id="17" name="Text 15"/>
          <p:cNvSpPr/>
          <p:nvPr/>
        </p:nvSpPr>
        <p:spPr>
          <a:xfrm>
            <a:off x="4235501" y="4974336"/>
            <a:ext cx="1708099"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operational</a:t>
            </a:r>
            <a:endParaRPr lang="en-US" sz="1300" dirty="0"/>
          </a:p>
        </p:txBody>
      </p:sp>
      <p:sp>
        <p:nvSpPr>
          <p:cNvPr id="18" name="Shape 16"/>
          <p:cNvSpPr/>
          <p:nvPr/>
        </p:nvSpPr>
        <p:spPr>
          <a:xfrm>
            <a:off x="6199632" y="1783080"/>
            <a:ext cx="5394960" cy="4160520"/>
          </a:xfrm>
          <a:prstGeom prst="roundRect">
            <a:avLst>
              <a:gd name="adj" fmla="val 1978"/>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9" name="Image 0" descr="preencoded.png">    </p:cNvPr>
          <p:cNvPicPr>
            <a:picLocks noChangeAspect="1"/>
          </p:cNvPicPr>
          <p:nvPr/>
        </p:nvPicPr>
        <p:blipFill>
          <a:blip r:embed="rId1"/>
          <a:stretch>
            <a:fillRect/>
          </a:stretch>
        </p:blipFill>
        <p:spPr>
          <a:xfrm>
            <a:off x="6492240" y="2011680"/>
            <a:ext cx="402336" cy="402336"/>
          </a:xfrm>
          <a:prstGeom prst="rect">
            <a:avLst/>
          </a:prstGeom>
        </p:spPr>
      </p:pic>
      <p:sp>
        <p:nvSpPr>
          <p:cNvPr id="20" name="Text 17"/>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F0A55E"/>
                </a:solidFill>
                <a:latin typeface="Courier New" pitchFamily="34" charset="0"/>
                <a:ea typeface="Courier New" pitchFamily="34" charset="-122"/>
                <a:cs typeface="Courier New" pitchFamily="34" charset="-120"/>
              </a:rPr>
              <a:t>Never claimed</a:t>
            </a:r>
            <a:endParaRPr lang="en-US" sz="1800" dirty="0"/>
          </a:p>
        </p:txBody>
      </p:sp>
      <p:pic>
        <p:nvPicPr>
          <p:cNvPr id="21" name="Image 1" descr="preencoded.png">    </p:cNvPr>
          <p:cNvPicPr>
            <a:picLocks noChangeAspect="1"/>
          </p:cNvPicPr>
          <p:nvPr/>
        </p:nvPicPr>
        <p:blipFill>
          <a:blip r:embed="rId2"/>
          <a:stretch>
            <a:fillRect/>
          </a:stretch>
        </p:blipFill>
        <p:spPr>
          <a:xfrm>
            <a:off x="6528816" y="2697480"/>
            <a:ext cx="365760" cy="365760"/>
          </a:xfrm>
          <a:prstGeom prst="rect">
            <a:avLst/>
          </a:prstGeom>
        </p:spPr>
      </p:pic>
      <p:sp>
        <p:nvSpPr>
          <p:cNvPr id="22" name="Text 18"/>
          <p:cNvSpPr/>
          <p:nvPr/>
        </p:nvSpPr>
        <p:spPr>
          <a:xfrm>
            <a:off x="7040880" y="2642616"/>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Perfect deniability</a:t>
            </a:r>
            <a:endParaRPr lang="en-US" sz="1800" dirty="0"/>
          </a:p>
        </p:txBody>
      </p:sp>
      <p:pic>
        <p:nvPicPr>
          <p:cNvPr id="23" name="Image 2" descr="preencoded.png">    </p:cNvPr>
          <p:cNvPicPr>
            <a:picLocks noChangeAspect="1"/>
          </p:cNvPicPr>
          <p:nvPr/>
        </p:nvPicPr>
        <p:blipFill>
          <a:blip r:embed="rId3"/>
          <a:stretch>
            <a:fillRect/>
          </a:stretch>
        </p:blipFill>
        <p:spPr>
          <a:xfrm>
            <a:off x="6528816" y="3447288"/>
            <a:ext cx="365760" cy="365760"/>
          </a:xfrm>
          <a:prstGeom prst="rect">
            <a:avLst/>
          </a:prstGeom>
        </p:spPr>
      </p:pic>
      <p:sp>
        <p:nvSpPr>
          <p:cNvPr id="24" name="Text 19"/>
          <p:cNvSpPr/>
          <p:nvPr/>
        </p:nvSpPr>
        <p:spPr>
          <a:xfrm>
            <a:off x="7040880" y="3392424"/>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Forensic immunity</a:t>
            </a:r>
            <a:endParaRPr lang="en-US" sz="1800" dirty="0"/>
          </a:p>
        </p:txBody>
      </p:sp>
      <p:pic>
        <p:nvPicPr>
          <p:cNvPr id="25" name="Image 3" descr="preencoded.png">    </p:cNvPr>
          <p:cNvPicPr>
            <a:picLocks noChangeAspect="1"/>
          </p:cNvPicPr>
          <p:nvPr/>
        </p:nvPicPr>
        <p:blipFill>
          <a:blip r:embed="rId4"/>
          <a:stretch>
            <a:fillRect/>
          </a:stretch>
        </p:blipFill>
        <p:spPr>
          <a:xfrm>
            <a:off x="6528816" y="4197096"/>
            <a:ext cx="365760" cy="365760"/>
          </a:xfrm>
          <a:prstGeom prst="rect">
            <a:avLst/>
          </a:prstGeom>
        </p:spPr>
      </p:pic>
      <p:sp>
        <p:nvSpPr>
          <p:cNvPr id="26" name="Text 20"/>
          <p:cNvSpPr/>
          <p:nvPr/>
        </p:nvSpPr>
        <p:spPr>
          <a:xfrm>
            <a:off x="7040880" y="4142232"/>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Secure deletion on flash media</a:t>
            </a:r>
            <a:endParaRPr lang="en-US" sz="1800" dirty="0"/>
          </a:p>
        </p:txBody>
      </p:sp>
      <p:pic>
        <p:nvPicPr>
          <p:cNvPr id="27" name="Image 4" descr="preencoded.png">    </p:cNvPr>
          <p:cNvPicPr>
            <a:picLocks noChangeAspect="1"/>
          </p:cNvPicPr>
          <p:nvPr/>
        </p:nvPicPr>
        <p:blipFill>
          <a:blip r:embed="rId5"/>
          <a:stretch>
            <a:fillRect/>
          </a:stretch>
        </p:blipFill>
        <p:spPr>
          <a:xfrm>
            <a:off x="6528816" y="4946904"/>
            <a:ext cx="365760" cy="365760"/>
          </a:xfrm>
          <a:prstGeom prst="rect">
            <a:avLst/>
          </a:prstGeom>
        </p:spPr>
      </p:pic>
      <p:sp>
        <p:nvSpPr>
          <p:cNvPr id="28" name="Text 21"/>
          <p:cNvSpPr/>
          <p:nvPr/>
        </p:nvSpPr>
        <p:spPr>
          <a:xfrm>
            <a:off x="7040880" y="4892040"/>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Protection from a compromised host</a:t>
            </a:r>
            <a:endParaRPr lang="en-US" sz="1800" dirty="0"/>
          </a:p>
        </p:txBody>
      </p:sp>
      <p:sp>
        <p:nvSpPr>
          <p:cNvPr id="29" name="Text 22"/>
          <p:cNvSpPr/>
          <p:nvPr/>
        </p:nvSpPr>
        <p:spPr>
          <a:xfrm>
            <a:off x="566928" y="6089904"/>
            <a:ext cx="11018520" cy="365760"/>
          </a:xfrm>
          <a:prstGeom prst="rect">
            <a:avLst/>
          </a:prstGeom>
          <a:noFill/>
          <a:ln/>
        </p:spPr>
        <p:txBody>
          <a:bodyPr wrap="square" lIns="0" tIns="0" rIns="0" bIns="0" rtlCol="0" anchor="ctr"/>
          <a:lstStyle/>
          <a:p>
            <a:pPr algn="ctr" indent="0" marL="0">
              <a:buNone/>
            </a:pPr>
            <a:r>
              <a:rPr lang="en-US" sz="1600" i="1" dirty="0">
                <a:solidFill>
                  <a:srgbClr val="9DB0A4"/>
                </a:solidFill>
                <a:latin typeface="Calibri" pitchFamily="34" charset="0"/>
                <a:ea typeface="Calibri" pitchFamily="34" charset="-122"/>
                <a:cs typeface="Calibri" pitchFamily="34" charset="-120"/>
              </a:rPr>
              <a:t>Research prototype with a documented security boundary — no snake oil.</a:t>
            </a:r>
            <a:endParaRPr lang="en-US" sz="1600" dirty="0"/>
          </a:p>
        </p:txBody>
      </p:sp>
      <p:sp>
        <p:nvSpPr>
          <p:cNvPr id="30"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21</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F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89720" y="502920"/>
            <a:ext cx="2377440" cy="2377440"/>
          </a:xfrm>
          <a:prstGeom prst="rect">
            <a:avLst/>
          </a:prstGeom>
        </p:spPr>
      </p:pic>
      <p:sp>
        <p:nvSpPr>
          <p:cNvPr id="3" name="Text 0"/>
          <p:cNvSpPr/>
          <p:nvPr/>
        </p:nvSpPr>
        <p:spPr>
          <a:xfrm>
            <a:off x="640080" y="2331720"/>
            <a:ext cx="9144000" cy="1280160"/>
          </a:xfrm>
          <a:prstGeom prst="rect">
            <a:avLst/>
          </a:prstGeom>
          <a:noFill/>
          <a:ln/>
        </p:spPr>
        <p:txBody>
          <a:bodyPr wrap="square" lIns="0" tIns="0" rIns="0" bIns="0" rtlCol="0" anchor="ctr"/>
          <a:lstStyle/>
          <a:p>
            <a:pPr indent="0" marL="0">
              <a:buNone/>
            </a:pPr>
            <a:r>
              <a:rPr lang="en-US" sz="7200" b="1" dirty="0">
                <a:solidFill>
                  <a:srgbClr val="4ADE80"/>
                </a:solidFill>
                <a:latin typeface="Courier New" pitchFamily="34" charset="0"/>
                <a:ea typeface="Courier New" pitchFamily="34" charset="-122"/>
                <a:cs typeface="Courier New" pitchFamily="34" charset="-120"/>
              </a:rPr>
              <a:t>LIVE DEMO</a:t>
            </a:r>
            <a:endParaRPr lang="en-US" sz="7200" dirty="0"/>
          </a:p>
        </p:txBody>
      </p:sp>
      <p:sp>
        <p:nvSpPr>
          <p:cNvPr id="4" name="Text 1"/>
          <p:cNvSpPr/>
          <p:nvPr/>
        </p:nvSpPr>
        <p:spPr>
          <a:xfrm>
            <a:off x="676656" y="3611880"/>
            <a:ext cx="9144000" cy="548640"/>
          </a:xfrm>
          <a:prstGeom prst="rect">
            <a:avLst/>
          </a:prstGeom>
          <a:noFill/>
          <a:ln/>
        </p:spPr>
        <p:txBody>
          <a:bodyPr wrap="square" lIns="0" tIns="0" rIns="0" bIns="0" rtlCol="0" anchor="ctr"/>
          <a:lstStyle/>
          <a:p>
            <a:pPr indent="0" marL="0">
              <a:buNone/>
            </a:pPr>
            <a:r>
              <a:rPr lang="en-US" sz="2200" dirty="0">
                <a:solidFill>
                  <a:srgbClr val="E8EFEA"/>
                </a:solidFill>
                <a:latin typeface="Calibri" pitchFamily="34" charset="0"/>
                <a:ea typeface="Calibri" pitchFamily="34" charset="-122"/>
                <a:cs typeface="Calibri" pitchFamily="34" charset="-120"/>
              </a:rPr>
              <a:t>Local Disclosure Control — on real hardware</a:t>
            </a:r>
            <a:endParaRPr lang="en-US" sz="2200" dirty="0"/>
          </a:p>
        </p:txBody>
      </p:sp>
      <p:sp>
        <p:nvSpPr>
          <p:cNvPr id="5" name="Text 2"/>
          <p:cNvSpPr/>
          <p:nvPr/>
        </p:nvSpPr>
        <p:spPr>
          <a:xfrm>
            <a:off x="676656" y="4343400"/>
            <a:ext cx="10515600" cy="54864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Create → </a:t>
            </a:r>
            <a:pPr indent="0" marL="0">
              <a:buNone/>
            </a:pPr>
            <a:r>
              <a:rPr lang="en-US" sz="1800" b="1" dirty="0">
                <a:solidFill>
                  <a:srgbClr val="7EC46B"/>
                </a:solidFill>
                <a:latin typeface="Courier New" pitchFamily="34" charset="0"/>
                <a:ea typeface="Courier New" pitchFamily="34" charset="-122"/>
                <a:cs typeface="Courier New" pitchFamily="34" charset="-120"/>
              </a:rPr>
              <a:t>Faces → </a:t>
            </a:r>
            <a:pPr indent="0" marL="0">
              <a:buNone/>
            </a:pPr>
            <a:r>
              <a:rPr lang="en-US" sz="1800" b="1" dirty="0">
                <a:solidFill>
                  <a:srgbClr val="7EC46B"/>
                </a:solidFill>
                <a:latin typeface="Courier New" pitchFamily="34" charset="0"/>
                <a:ea typeface="Courier New" pitchFamily="34" charset="-122"/>
                <a:cs typeface="Courier New" pitchFamily="34" charset="-120"/>
              </a:rPr>
              <a:t>Guided → </a:t>
            </a:r>
            <a:pPr indent="0" marL="0">
              <a:buNone/>
            </a:pPr>
            <a:r>
              <a:rPr lang="en-US" sz="1800" b="1" dirty="0">
                <a:solidFill>
                  <a:srgbClr val="7EC46B"/>
                </a:solidFill>
                <a:latin typeface="Courier New" pitchFamily="34" charset="0"/>
                <a:ea typeface="Courier New" pitchFamily="34" charset="-122"/>
                <a:cs typeface="Courier New" pitchFamily="34" charset="-120"/>
              </a:rPr>
              <a:t>Audit → </a:t>
            </a:r>
            <a:pPr indent="0" marL="0">
              <a:buNone/>
            </a:pPr>
            <a:r>
              <a:rPr lang="en-US" sz="1800" b="1" dirty="0">
                <a:solidFill>
                  <a:srgbClr val="7EC46B"/>
                </a:solidFill>
                <a:latin typeface="Courier New" pitchFamily="34" charset="0"/>
                <a:ea typeface="Courier New" pitchFamily="34" charset="-122"/>
                <a:cs typeface="Courier New" pitchFamily="34" charset="-120"/>
              </a:rPr>
              <a:t>WebUI → </a:t>
            </a:r>
            <a:pPr indent="0" marL="0">
              <a:buNone/>
            </a:pPr>
            <a:r>
              <a:rPr lang="en-US" sz="1800" b="1" dirty="0">
                <a:solidFill>
                  <a:srgbClr val="F0A55E"/>
                </a:solidFill>
                <a:latin typeface="Courier New" pitchFamily="34" charset="0"/>
                <a:ea typeface="Courier New" pitchFamily="34" charset="-122"/>
                <a:cs typeface="Courier New" pitchFamily="34" charset="-120"/>
              </a:rPr>
              <a:t>Silent Standby</a:t>
            </a:r>
            <a:endParaRPr lang="en-US" sz="1800" dirty="0"/>
          </a:p>
        </p:txBody>
      </p:sp>
      <p:sp>
        <p:nvSpPr>
          <p:cNvPr id="6" name="Shape 3"/>
          <p:cNvSpPr/>
          <p:nvPr/>
        </p:nvSpPr>
        <p:spPr>
          <a:xfrm>
            <a:off x="676656" y="5029200"/>
            <a:ext cx="10789920" cy="0"/>
          </a:xfrm>
          <a:prstGeom prst="line">
            <a:avLst/>
          </a:prstGeom>
          <a:noFill/>
          <a:ln w="12700">
            <a:solidFill>
              <a:srgbClr val="2C3A32"/>
            </a:solidFill>
            <a:prstDash val="solid"/>
          </a:ln>
        </p:spPr>
      </p:sp>
      <p:sp>
        <p:nvSpPr>
          <p:cNvPr id="7" name="Text 4"/>
          <p:cNvSpPr/>
          <p:nvPr/>
        </p:nvSpPr>
        <p:spPr>
          <a:xfrm>
            <a:off x="676656" y="5166360"/>
            <a:ext cx="10789920" cy="457200"/>
          </a:xfrm>
          <a:prstGeom prst="rect">
            <a:avLst/>
          </a:prstGeom>
          <a:noFill/>
          <a:ln/>
        </p:spPr>
        <p:txBody>
          <a:bodyPr wrap="square" lIns="0" tIns="0" rIns="0" bIns="0" rtlCol="0" anchor="ctr"/>
          <a:lstStyle/>
          <a:p>
            <a:pPr indent="0" marL="0">
              <a:buNone/>
            </a:pPr>
            <a:r>
              <a:rPr lang="en-US" sz="1500" i="1" dirty="0">
                <a:solidFill>
                  <a:srgbClr val="9DB0A4"/>
                </a:solidFill>
                <a:latin typeface="Calibri" pitchFamily="34" charset="0"/>
                <a:ea typeface="Calibri" pitchFamily="34" charset="-122"/>
                <a:cs typeface="Calibri" pitchFamily="34" charset="-120"/>
              </a:rPr>
              <a:t>If the hardware misbehaves, I'll narrate over the recorded run — the design points stand either way.</a:t>
            </a:r>
            <a:endParaRPr lang="en-US" sz="1500" dirty="0"/>
          </a:p>
        </p:txBody>
      </p:sp>
      <p:sp>
        <p:nvSpPr>
          <p:cNvPr id="8" name="Text 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9" name="Text 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22</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LIVE DEMO</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What you'll see at the table</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5852160" cy="3968496"/>
          </a:xfrm>
          <a:prstGeom prst="rect">
            <a:avLst/>
          </a:prstGeom>
        </p:spPr>
      </p:pic>
      <p:sp>
        <p:nvSpPr>
          <p:cNvPr id="5" name="Shape 2"/>
          <p:cNvSpPr/>
          <p:nvPr/>
        </p:nvSpPr>
        <p:spPr>
          <a:xfrm>
            <a:off x="566928" y="1783080"/>
            <a:ext cx="5852160" cy="3968496"/>
          </a:xfrm>
          <a:prstGeom prst="roundRect">
            <a:avLst>
              <a:gd name="adj" fmla="val 1152"/>
            </a:avLst>
          </a:prstGeom>
          <a:ln w="15875">
            <a:solidFill>
              <a:srgbClr val="2C3A32"/>
            </a:solidFill>
            <a:prstDash val="solid"/>
          </a:ln>
        </p:spPr>
      </p:sp>
      <p:sp>
        <p:nvSpPr>
          <p:cNvPr id="6" name="Text 3"/>
          <p:cNvSpPr/>
          <p:nvPr/>
        </p:nvSpPr>
        <p:spPr>
          <a:xfrm>
            <a:off x="566928" y="5797296"/>
            <a:ext cx="5852160" cy="292608"/>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Real TUI — Local Disclosure Control</a:t>
            </a:r>
            <a:endParaRPr lang="en-US" sz="1200" dirty="0"/>
          </a:p>
        </p:txBody>
      </p:sp>
      <p:sp>
        <p:nvSpPr>
          <p:cNvPr id="7" name="Text 4"/>
          <p:cNvSpPr/>
          <p:nvPr/>
        </p:nvSpPr>
        <p:spPr>
          <a:xfrm>
            <a:off x="6583680" y="182880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Walkthrough</a:t>
            </a:r>
            <a:endParaRPr lang="en-US" sz="2000" dirty="0"/>
          </a:p>
        </p:txBody>
      </p:sp>
      <p:sp>
        <p:nvSpPr>
          <p:cNvPr id="8" name="Text 5"/>
          <p:cNvSpPr/>
          <p:nvPr/>
        </p:nvSpPr>
        <p:spPr>
          <a:xfrm>
            <a:off x="6629400" y="2468880"/>
            <a:ext cx="4937760" cy="3017520"/>
          </a:xfrm>
          <a:prstGeom prst="rect">
            <a:avLst/>
          </a:prstGeom>
          <a:noFill/>
          <a:ln/>
        </p:spPr>
        <p:txBody>
          <a:bodyPr wrap="square" rtlCol="0" anchor="ctr"/>
          <a:lstStyle/>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Create a Vessel — deniable container file</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Set posture &amp; Faces (object-cue / Janus)</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Guided prepare → bind → operate</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Audit: dummy-profile plausibility score</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Launch local WebUI (127.0.0.1)</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Silent Standby by hotkey → dummy_disclosure</a:t>
            </a:r>
            <a:endParaRPr lang="en-US" sz="1700" dirty="0"/>
          </a:p>
        </p:txBody>
      </p:sp>
      <p:sp>
        <p:nvSpPr>
          <p:cNvPr id="9" name="Text 6"/>
          <p:cNvSpPr/>
          <p:nvPr/>
        </p:nvSpPr>
        <p:spPr>
          <a:xfrm>
            <a:off x="6629400" y="5349240"/>
            <a:ext cx="4983480" cy="457200"/>
          </a:xfrm>
          <a:prstGeom prst="rect">
            <a:avLst/>
          </a:prstGeom>
          <a:noFill/>
          <a:ln/>
        </p:spPr>
        <p:txBody>
          <a:bodyPr wrap="square" lIns="0" tIns="0" rIns="0" bIns="0" rtlCol="0" anchor="ctr"/>
          <a:lstStyle/>
          <a:p>
            <a:pPr indent="0" marL="0">
              <a:buNone/>
            </a:pPr>
            <a:r>
              <a:rPr lang="en-US" sz="1250" dirty="0">
                <a:solidFill>
                  <a:srgbClr val="6B7D71"/>
                </a:solidFill>
                <a:latin typeface="Courier New" pitchFamily="34" charset="0"/>
                <a:ea typeface="Courier New" pitchFamily="34" charset="-122"/>
                <a:cs typeface="Courier New" pitchFamily="34" charset="-120"/>
              </a:rPr>
              <a:t>home bar  </a:t>
            </a:r>
            <a:pPr indent="0" marL="0">
              <a:buNone/>
            </a:pPr>
            <a:r>
              <a:rPr lang="en-US" sz="1250" dirty="0">
                <a:solidFill>
                  <a:srgbClr val="9DB0A4"/>
                </a:solidFill>
                <a:latin typeface="Courier New" pitchFamily="34" charset="0"/>
                <a:ea typeface="Courier New" pitchFamily="34" charset="-122"/>
                <a:cs typeface="Courier New" pitchFamily="34" charset="-120"/>
              </a:rPr>
              <a:t>Open · New · Guided · Expert · WebUI  ·  e → Create · Faces · Audit</a:t>
            </a:r>
            <a:endParaRPr lang="en-US" sz="1250" dirty="0"/>
          </a:p>
        </p:txBody>
      </p:sp>
      <p:sp>
        <p:nvSpPr>
          <p:cNvPr id="10" name="Text 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1" name="Text 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23</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TRY 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Quick start — repo-local &amp; simple</a:t>
            </a:r>
            <a:endParaRPr lang="en-US" sz="3400" dirty="0"/>
          </a:p>
        </p:txBody>
      </p:sp>
      <p:sp>
        <p:nvSpPr>
          <p:cNvPr id="4" name="Shape 2"/>
          <p:cNvSpPr/>
          <p:nvPr/>
        </p:nvSpPr>
        <p:spPr>
          <a:xfrm>
            <a:off x="566928" y="1920240"/>
            <a:ext cx="6766560" cy="2743200"/>
          </a:xfrm>
          <a:prstGeom prst="roundRect">
            <a:avLst>
              <a:gd name="adj" fmla="val 3000"/>
            </a:avLst>
          </a:prstGeom>
          <a:solidFill>
            <a:srgbClr val="0A0F0D"/>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286000"/>
            <a:ext cx="6309360" cy="2011680"/>
          </a:xfrm>
          <a:prstGeom prst="rect">
            <a:avLst/>
          </a:prstGeom>
          <a:noFill/>
          <a:ln/>
        </p:spPr>
        <p:txBody>
          <a:bodyPr wrap="square" lIns="0" tIns="0" rIns="0" bIns="0" rtlCol="0" anchor="t"/>
          <a:lstStyle/>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git clone https://github.com/01rabbit/Phasmid.git</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cd Phasmid</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./phasmid</a:t>
            </a:r>
            <a:endParaRPr lang="en-US" sz="1900" dirty="0"/>
          </a:p>
        </p:txBody>
      </p:sp>
      <p:sp>
        <p:nvSpPr>
          <p:cNvPr id="6" name="Text 4"/>
          <p:cNvSpPr/>
          <p:nvPr/>
        </p:nvSpPr>
        <p:spPr>
          <a:xfrm>
            <a:off x="868680" y="4114800"/>
            <a:ext cx="6309360" cy="457200"/>
          </a:xfrm>
          <a:prstGeom prst="rect">
            <a:avLst/>
          </a:prstGeom>
          <a:noFill/>
          <a:ln/>
        </p:spPr>
        <p:txBody>
          <a:bodyPr wrap="square" lIns="0" tIns="0" rIns="0" bIns="0" rtlCol="0" anchor="ctr"/>
          <a:lstStyle/>
          <a:p>
            <a:pPr indent="0" marL="0">
              <a:buNone/>
            </a:pPr>
            <a:r>
              <a:rPr lang="en-US" sz="1600" i="1" dirty="0">
                <a:solidFill>
                  <a:srgbClr val="9DB0A4"/>
                </a:solidFill>
                <a:latin typeface="Calibri" pitchFamily="34" charset="0"/>
                <a:ea typeface="Calibri" pitchFamily="34" charset="-122"/>
                <a:cs typeface="Calibri" pitchFamily="34" charset="-120"/>
              </a:rPr>
              <a:t>First run creates a venv, installs deps, and opens the TUI Operator Console.</a:t>
            </a:r>
            <a:endParaRPr lang="en-US" sz="1600" dirty="0"/>
          </a:p>
        </p:txBody>
      </p:sp>
      <p:sp>
        <p:nvSpPr>
          <p:cNvPr id="7" name="Shape 5"/>
          <p:cNvSpPr/>
          <p:nvPr/>
        </p:nvSpPr>
        <p:spPr>
          <a:xfrm>
            <a:off x="7516368" y="1920240"/>
            <a:ext cx="4069080" cy="2743200"/>
          </a:xfrm>
          <a:prstGeom prst="roundRect">
            <a:avLst>
              <a:gd name="adj" fmla="val 3000"/>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8" name="Image 0" descr="preencoded.png">    </p:cNvPr>
          <p:cNvPicPr>
            <a:picLocks noChangeAspect="1"/>
          </p:cNvPicPr>
          <p:nvPr/>
        </p:nvPicPr>
        <p:blipFill>
          <a:blip r:embed="rId1"/>
          <a:stretch>
            <a:fillRect/>
          </a:stretch>
        </p:blipFill>
        <p:spPr>
          <a:xfrm>
            <a:off x="7818120" y="2212848"/>
            <a:ext cx="457200" cy="457200"/>
          </a:xfrm>
          <a:prstGeom prst="rect">
            <a:avLst/>
          </a:prstGeom>
        </p:spPr>
      </p:pic>
      <p:sp>
        <p:nvSpPr>
          <p:cNvPr id="9" name="Text 6"/>
          <p:cNvSpPr/>
          <p:nvPr/>
        </p:nvSpPr>
        <p:spPr>
          <a:xfrm>
            <a:off x="8366760" y="2212848"/>
            <a:ext cx="3017520" cy="457200"/>
          </a:xfrm>
          <a:prstGeom prst="rect">
            <a:avLst/>
          </a:prstGeom>
          <a:noFill/>
          <a:ln/>
        </p:spPr>
        <p:txBody>
          <a:bodyPr wrap="square" lIns="0" tIns="0" rIns="0" bIns="0" rtlCol="0" anchor="ctr"/>
          <a:lstStyle/>
          <a:p>
            <a:pPr indent="0" marL="0">
              <a:buNone/>
            </a:pPr>
            <a:r>
              <a:rPr lang="en-US" sz="1700" b="1" dirty="0">
                <a:solidFill>
                  <a:srgbClr val="F0A55E"/>
                </a:solidFill>
                <a:latin typeface="Courier New" pitchFamily="34" charset="0"/>
                <a:ea typeface="Courier New" pitchFamily="34" charset="-122"/>
                <a:cs typeface="Courier New" pitchFamily="34" charset="-120"/>
              </a:rPr>
              <a:t>Security boundary notice</a:t>
            </a:r>
            <a:endParaRPr lang="en-US" sz="1700" dirty="0"/>
          </a:p>
        </p:txBody>
      </p:sp>
      <p:sp>
        <p:nvSpPr>
          <p:cNvPr id="10" name="Text 7"/>
          <p:cNvSpPr/>
          <p:nvPr/>
        </p:nvSpPr>
        <p:spPr>
          <a:xfrm>
            <a:off x="7818120" y="2880360"/>
            <a:ext cx="3520440" cy="1645920"/>
          </a:xfrm>
          <a:prstGeom prst="rect">
            <a:avLst/>
          </a:prstGeom>
          <a:noFill/>
          <a:ln/>
        </p:spPr>
        <p:txBody>
          <a:bodyPr wrap="square" lIns="0" tIns="0" rIns="0" bIns="0" rtlCol="0" anchor="t"/>
          <a:lstStyle/>
          <a:p>
            <a:pPr indent="0" marL="0">
              <a:lnSpc>
                <a:spcPct val="112000"/>
              </a:lnSpc>
              <a:buNone/>
            </a:pPr>
            <a:r>
              <a:rPr lang="en-US" sz="1700" dirty="0">
                <a:solidFill>
                  <a:srgbClr val="E8EFEA"/>
                </a:solidFill>
                <a:latin typeface="Calibri" pitchFamily="34" charset="0"/>
                <a:ea typeface="Calibri" pitchFamily="34" charset="-122"/>
                <a:cs typeface="Calibri" pitchFamily="34" charset="-120"/>
              </a:rPr>
              <a:t>Phasmid is research software. Evaluate it in controlled, local, field-test conditions — not as production-grade protection.</a:t>
            </a:r>
            <a:endParaRPr lang="en-US" sz="1700" dirty="0"/>
          </a:p>
        </p:txBody>
      </p:sp>
      <p:sp>
        <p:nvSpPr>
          <p:cNvPr id="11" name="Text 8"/>
          <p:cNvSpPr/>
          <p:nvPr/>
        </p:nvSpPr>
        <p:spPr>
          <a:xfrm>
            <a:off x="566928" y="5074920"/>
            <a:ext cx="110642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docs:  </a:t>
            </a:r>
            <a:pPr indent="0" marL="0">
              <a:buNone/>
            </a:pPr>
            <a:r>
              <a:rPr lang="en-US" sz="1500" dirty="0">
                <a:solidFill>
                  <a:srgbClr val="7EC46B"/>
                </a:solidFill>
                <a:latin typeface="Courier New" pitchFamily="34" charset="0"/>
                <a:ea typeface="Courier New" pitchFamily="34" charset="-122"/>
                <a:cs typeface="Courier New" pitchFamily="34" charset="-120"/>
              </a:rPr>
              <a:t>SPECIFICATION · THREAT_MODEL · JANUS_EIDOLON_SYSTEM · COERCION_SAFE_DELAYING</a:t>
            </a:r>
            <a:endParaRPr lang="en-US" sz="1500" dirty="0"/>
          </a:p>
        </p:txBody>
      </p:sp>
      <p:sp>
        <p:nvSpPr>
          <p:cNvPr id="12"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24</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0"/>
        </a:solidFill>
      </p:bgPr>
    </p:bg>
    <p:spTree>
      <p:nvGrpSpPr>
        <p:cNvPr id="1" name=""/>
        <p:cNvGrpSpPr/>
        <p:nvPr/>
      </p:nvGrpSpPr>
      <p:grpSpPr>
        <a:xfrm>
          <a:off x="0" y="0"/>
          <a:ext cx="0" cy="0"/>
          <a:chOff x="0" y="0"/>
          <a:chExt cx="0" cy="0"/>
        </a:xfrm>
      </p:grpSpPr>
      <p:sp>
        <p:nvSpPr>
          <p:cNvPr id="2" name="Shape 0"/>
          <p:cNvSpPr/>
          <p:nvPr/>
        </p:nvSpPr>
        <p:spPr>
          <a:xfrm>
            <a:off x="8183880" y="868680"/>
            <a:ext cx="3383280" cy="3977640"/>
          </a:xfrm>
          <a:prstGeom prst="roundRect">
            <a:avLst>
              <a:gd name="adj" fmla="val 5405"/>
            </a:avLst>
          </a:prstGeom>
          <a:solidFill>
            <a:srgbClr val="16211B"/>
          </a:solidFill>
          <a:ln w="31750">
            <a:solidFill>
              <a:srgbClr val="7EC46B"/>
            </a:solidFill>
            <a:prstDash val="solid"/>
          </a:ln>
          <a:effectLst>
            <a:outerShdw sx="100000" sy="100000" kx="0" ky="0" algn="bl" rotWithShape="0" blurRad="114300" dist="38100" dir="5400000">
              <a:srgbClr val="000000">
                <a:alpha val="35000"/>
              </a:srgbClr>
            </a:outerShdw>
          </a:effectLst>
        </p:spPr>
      </p:sp>
      <p:pic>
        <p:nvPicPr>
          <p:cNvPr id="3" name="Image 0" descr="preencoded.png">    </p:cNvPr>
          <p:cNvPicPr>
            <a:picLocks noChangeAspect="1"/>
          </p:cNvPicPr>
          <p:nvPr/>
        </p:nvPicPr>
        <p:blipFill>
          <a:blip r:embed="rId1"/>
          <a:stretch>
            <a:fillRect/>
          </a:stretch>
        </p:blipFill>
        <p:spPr>
          <a:xfrm>
            <a:off x="8458200" y="1097280"/>
            <a:ext cx="2834640" cy="2834640"/>
          </a:xfrm>
          <a:prstGeom prst="rect">
            <a:avLst/>
          </a:prstGeom>
        </p:spPr>
      </p:pic>
      <p:sp>
        <p:nvSpPr>
          <p:cNvPr id="4" name="Text 1"/>
          <p:cNvSpPr/>
          <p:nvPr/>
        </p:nvSpPr>
        <p:spPr>
          <a:xfrm>
            <a:off x="8183880" y="4114800"/>
            <a:ext cx="3383280" cy="365760"/>
          </a:xfrm>
          <a:prstGeom prst="rect">
            <a:avLst/>
          </a:prstGeom>
          <a:noFill/>
          <a:ln/>
        </p:spPr>
        <p:txBody>
          <a:bodyPr wrap="square" lIns="0" tIns="0" rIns="0" bIns="0" rtlCol="0" anchor="ctr"/>
          <a:lstStyle/>
          <a:p>
            <a:pPr algn="ctr" indent="0" marL="0">
              <a:buNone/>
            </a:pPr>
            <a:r>
              <a:rPr lang="en-US" sz="1400" dirty="0">
                <a:solidFill>
                  <a:srgbClr val="9DB0A4"/>
                </a:solidFill>
                <a:latin typeface="Courier New" pitchFamily="34" charset="0"/>
                <a:ea typeface="Courier New" pitchFamily="34" charset="-122"/>
                <a:cs typeface="Courier New" pitchFamily="34" charset="-120"/>
              </a:rPr>
              <a:t>grab a sticker →</a:t>
            </a:r>
            <a:endParaRPr lang="en-US" sz="1400" dirty="0"/>
          </a:p>
        </p:txBody>
      </p:sp>
      <p:sp>
        <p:nvSpPr>
          <p:cNvPr id="5" name="Text 2"/>
          <p:cNvSpPr/>
          <p:nvPr/>
        </p:nvSpPr>
        <p:spPr>
          <a:xfrm>
            <a:off x="566928" y="1371600"/>
            <a:ext cx="7680960" cy="914400"/>
          </a:xfrm>
          <a:prstGeom prst="rect">
            <a:avLst/>
          </a:prstGeom>
          <a:noFill/>
          <a:ln/>
        </p:spPr>
        <p:txBody>
          <a:bodyPr wrap="square" lIns="0" tIns="0" rIns="0" bIns="0" rtlCol="0" anchor="ctr"/>
          <a:lstStyle/>
          <a:p>
            <a:pPr indent="0" marL="0">
              <a:buNone/>
            </a:pPr>
            <a:r>
              <a:rPr lang="en-US" sz="4000" b="1" dirty="0">
                <a:solidFill>
                  <a:srgbClr val="E8EFEA"/>
                </a:solidFill>
                <a:latin typeface="Courier New" pitchFamily="34" charset="0"/>
                <a:ea typeface="Courier New" pitchFamily="34" charset="-122"/>
                <a:cs typeface="Courier New" pitchFamily="34" charset="-120"/>
              </a:rPr>
              <a:t>Thanks — come break it.</a:t>
            </a:r>
            <a:endParaRPr lang="en-US" sz="4000" dirty="0"/>
          </a:p>
        </p:txBody>
      </p:sp>
      <p:sp>
        <p:nvSpPr>
          <p:cNvPr id="6" name="Text 3"/>
          <p:cNvSpPr/>
          <p:nvPr/>
        </p:nvSpPr>
        <p:spPr>
          <a:xfrm>
            <a:off x="603504" y="2468880"/>
            <a:ext cx="7680960" cy="457200"/>
          </a:xfrm>
          <a:prstGeom prst="rect">
            <a:avLst/>
          </a:prstGeom>
          <a:noFill/>
          <a:ln/>
        </p:spPr>
        <p:txBody>
          <a:bodyPr wrap="square" lIns="0" tIns="0" rIns="0" bIns="0" rtlCol="0" anchor="ctr"/>
          <a:lstStyle/>
          <a:p>
            <a:pPr indent="0" marL="0">
              <a:buNone/>
            </a:pPr>
            <a:r>
              <a:rPr lang="en-US" sz="2000" dirty="0">
                <a:solidFill>
                  <a:srgbClr val="7EC46B"/>
                </a:solidFill>
                <a:latin typeface="Calibri" pitchFamily="34" charset="0"/>
                <a:ea typeface="Calibri" pitchFamily="34" charset="-122"/>
                <a:cs typeface="Calibri" pitchFamily="34" charset="-120"/>
              </a:rPr>
              <a:t>Local-only, coercion-aware storage. Honest limits included.</a:t>
            </a:r>
            <a:endParaRPr lang="en-US" sz="2000" dirty="0"/>
          </a:p>
        </p:txBody>
      </p:sp>
      <p:sp>
        <p:nvSpPr>
          <p:cNvPr id="7" name="Shape 4"/>
          <p:cNvSpPr/>
          <p:nvPr/>
        </p:nvSpPr>
        <p:spPr>
          <a:xfrm>
            <a:off x="603504" y="3383280"/>
            <a:ext cx="7498080" cy="0"/>
          </a:xfrm>
          <a:prstGeom prst="line">
            <a:avLst/>
          </a:prstGeom>
          <a:noFill/>
          <a:ln w="12700">
            <a:solidFill>
              <a:srgbClr val="2C3A32"/>
            </a:solidFill>
            <a:prstDash val="solid"/>
          </a:ln>
        </p:spPr>
      </p:sp>
      <p:sp>
        <p:nvSpPr>
          <p:cNvPr id="8" name="Shape 5"/>
          <p:cNvSpPr/>
          <p:nvPr/>
        </p:nvSpPr>
        <p:spPr>
          <a:xfrm>
            <a:off x="603504" y="3611880"/>
            <a:ext cx="548640" cy="548640"/>
          </a:xfrm>
          <a:prstGeom prst="roundRect">
            <a:avLst>
              <a:gd name="adj" fmla="val 13333"/>
            </a:avLst>
          </a:prstGeom>
          <a:solidFill>
            <a:srgbClr val="1C2C24"/>
          </a:solidFill>
          <a:ln w="12700">
            <a:solidFill>
              <a:srgbClr val="2C3A32"/>
            </a:solidFill>
            <a:prstDash val="solid"/>
          </a:ln>
        </p:spPr>
      </p:sp>
      <p:pic>
        <p:nvPicPr>
          <p:cNvPr id="9" name="Image 1" descr="preencoded.png">    </p:cNvPr>
          <p:cNvPicPr>
            <a:picLocks noChangeAspect="1"/>
          </p:cNvPicPr>
          <p:nvPr/>
        </p:nvPicPr>
        <p:blipFill>
          <a:blip r:embed="rId2"/>
          <a:stretch>
            <a:fillRect/>
          </a:stretch>
        </p:blipFill>
        <p:spPr>
          <a:xfrm>
            <a:off x="724205" y="3732581"/>
            <a:ext cx="307238" cy="307238"/>
          </a:xfrm>
          <a:prstGeom prst="rect">
            <a:avLst/>
          </a:prstGeom>
        </p:spPr>
      </p:pic>
      <p:sp>
        <p:nvSpPr>
          <p:cNvPr id="10" name="Text 6"/>
          <p:cNvSpPr/>
          <p:nvPr/>
        </p:nvSpPr>
        <p:spPr>
          <a:xfrm>
            <a:off x="1280160" y="3575304"/>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github.com/01rabbit/Phasmid</a:t>
            </a:r>
            <a:endParaRPr lang="en-US" sz="1900" dirty="0"/>
          </a:p>
        </p:txBody>
      </p:sp>
      <p:sp>
        <p:nvSpPr>
          <p:cNvPr id="11" name="Text 7"/>
          <p:cNvSpPr/>
          <p:nvPr/>
        </p:nvSpPr>
        <p:spPr>
          <a:xfrm>
            <a:off x="1280160" y="3922776"/>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code · threat model · architecture</a:t>
            </a:r>
            <a:endParaRPr lang="en-US" sz="1400" dirty="0"/>
          </a:p>
        </p:txBody>
      </p:sp>
      <p:sp>
        <p:nvSpPr>
          <p:cNvPr id="12" name="Shape 8"/>
          <p:cNvSpPr/>
          <p:nvPr/>
        </p:nvSpPr>
        <p:spPr>
          <a:xfrm>
            <a:off x="603504" y="4453128"/>
            <a:ext cx="548640" cy="548640"/>
          </a:xfrm>
          <a:prstGeom prst="roundRect">
            <a:avLst>
              <a:gd name="adj" fmla="val 13333"/>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724205" y="4573829"/>
            <a:ext cx="307238" cy="307238"/>
          </a:xfrm>
          <a:prstGeom prst="rect">
            <a:avLst/>
          </a:prstGeom>
        </p:spPr>
      </p:pic>
      <p:sp>
        <p:nvSpPr>
          <p:cNvPr id="14" name="Text 9"/>
          <p:cNvSpPr/>
          <p:nvPr/>
        </p:nvSpPr>
        <p:spPr>
          <a:xfrm>
            <a:off x="1280160" y="4416552"/>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@01ra66it</a:t>
            </a:r>
            <a:endParaRPr lang="en-US" sz="1900" dirty="0"/>
          </a:p>
        </p:txBody>
      </p:sp>
      <p:sp>
        <p:nvSpPr>
          <p:cNvPr id="15" name="Text 10"/>
          <p:cNvSpPr/>
          <p:nvPr/>
        </p:nvSpPr>
        <p:spPr>
          <a:xfrm>
            <a:off x="1280160" y="4764024"/>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updates &amp; releases</a:t>
            </a:r>
            <a:endParaRPr lang="en-US" sz="1400" dirty="0"/>
          </a:p>
        </p:txBody>
      </p:sp>
      <p:sp>
        <p:nvSpPr>
          <p:cNvPr id="16" name="Shape 11"/>
          <p:cNvSpPr/>
          <p:nvPr/>
        </p:nvSpPr>
        <p:spPr>
          <a:xfrm>
            <a:off x="603504" y="5294376"/>
            <a:ext cx="548640" cy="548640"/>
          </a:xfrm>
          <a:prstGeom prst="roundRect">
            <a:avLst>
              <a:gd name="adj" fmla="val 13333"/>
            </a:avLst>
          </a:prstGeom>
          <a:solidFill>
            <a:srgbClr val="1C2C24"/>
          </a:solidFill>
          <a:ln w="12700">
            <a:solidFill>
              <a:srgbClr val="2C3A32"/>
            </a:solidFill>
            <a:prstDash val="solid"/>
          </a:ln>
        </p:spPr>
      </p:sp>
      <p:pic>
        <p:nvPicPr>
          <p:cNvPr id="17" name="Image 3" descr="preencoded.png">    </p:cNvPr>
          <p:cNvPicPr>
            <a:picLocks noChangeAspect="1"/>
          </p:cNvPicPr>
          <p:nvPr/>
        </p:nvPicPr>
        <p:blipFill>
          <a:blip r:embed="rId4"/>
          <a:stretch>
            <a:fillRect/>
          </a:stretch>
        </p:blipFill>
        <p:spPr>
          <a:xfrm>
            <a:off x="724205" y="5415077"/>
            <a:ext cx="307238" cy="307238"/>
          </a:xfrm>
          <a:prstGeom prst="rect">
            <a:avLst/>
          </a:prstGeom>
        </p:spPr>
      </p:pic>
      <p:sp>
        <p:nvSpPr>
          <p:cNvPr id="18" name="Text 12"/>
          <p:cNvSpPr/>
          <p:nvPr/>
        </p:nvSpPr>
        <p:spPr>
          <a:xfrm>
            <a:off x="1280160" y="5257800"/>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in/makoto-sugita</a:t>
            </a:r>
            <a:endParaRPr lang="en-US" sz="1900" dirty="0"/>
          </a:p>
        </p:txBody>
      </p:sp>
      <p:sp>
        <p:nvSpPr>
          <p:cNvPr id="19" name="Text 13"/>
          <p:cNvSpPr/>
          <p:nvPr/>
        </p:nvSpPr>
        <p:spPr>
          <a:xfrm>
            <a:off x="1280160" y="5605272"/>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Makoto Sugita</a:t>
            </a:r>
            <a:endParaRPr lang="en-US" sz="1400" dirty="0"/>
          </a:p>
        </p:txBody>
      </p:sp>
      <p:sp>
        <p:nvSpPr>
          <p:cNvPr id="20" name="Text 14"/>
          <p:cNvSpPr/>
          <p:nvPr/>
        </p:nvSpPr>
        <p:spPr>
          <a:xfrm>
            <a:off x="566928" y="6355080"/>
            <a:ext cx="10972800" cy="365760"/>
          </a:xfrm>
          <a:prstGeom prst="rect">
            <a:avLst/>
          </a:prstGeom>
          <a:noFill/>
          <a:ln/>
        </p:spPr>
        <p:txBody>
          <a:bodyPr wrap="square" lIns="0" tIns="0" rIns="0" bIns="0" rtlCol="0" anchor="ctr"/>
          <a:lstStyle/>
          <a:p>
            <a:pPr indent="0" marL="0">
              <a:buNone/>
            </a:pPr>
            <a:r>
              <a:rPr lang="en-US" sz="1200" dirty="0">
                <a:solidFill>
                  <a:srgbClr val="6B7D71"/>
                </a:solidFill>
                <a:latin typeface="Courier New" pitchFamily="34" charset="0"/>
                <a:ea typeface="Courier New" pitchFamily="34" charset="-122"/>
                <a:cs typeface="Courier New" pitchFamily="34" charset="-120"/>
              </a:rPr>
              <a:t>Makoto Sugita · Mr.Rabbit · Independent Security Researcher · Apache-2.0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Phasmid — Janus Eidolon System (DEF CON Demo Labs)</dc:title>
  <dc:subject>PptxGenJS Presentation</dc:subject>
  <dc:creator>Makoto Sugita (Mr.Rabbit / 01rabbit)</dc:creator>
  <cp:lastModifiedBy>Makoto Sugita (Mr.Rabbit / 01rabbit)</cp:lastModifiedBy>
  <cp:revision>1</cp:revision>
  <dcterms:created xsi:type="dcterms:W3CDTF">2026-07-21T16:42:37Z</dcterms:created>
  <dcterms:modified xsi:type="dcterms:W3CDTF">2026-07-21T16:42:37Z</dcterms:modified>
</cp:coreProperties>
</file>