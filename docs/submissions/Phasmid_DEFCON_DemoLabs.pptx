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[00:00 / 0:30] TITLE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200"/>
              <a:t>【読み方】</a:t>
            </a:r>
          </a:p>
          <a:p>
            <a:r>
              <a:rPr b="0" sz="1200"/>
              <a:t>・英文1行＝1息。行末で必ず一度切る。</a:t>
            </a:r>
          </a:p>
          <a:p>
            <a:r>
              <a:rPr b="0" sz="120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 sz="1200"/>
              <a:t>・カタカナは普段のカタカナ語のまま。無理に英語風に崩していない。</a:t>
            </a:r>
          </a:p>
          <a:p>
            <a:r>
              <a:rPr b="0" sz="1200"/>
              <a:t>・ゥ付き（ゥロング／ゥライト／コゥレクト）は3語だけ。そのまま読むと long／light／collect に聞こえるため。</a:t>
            </a:r>
          </a:p>
          <a:p>
            <a:r>
              <a:rPr b="0" sz="1200"/>
              <a:t>・ヴ＝V（ヴォルト=vault。ボルト=bolt と区別）。 ス・ズ＝th。</a:t>
            </a:r>
          </a:p>
          <a:p>
            <a:r>
              <a:rPr b="0" sz="1700"/>
              <a:t/>
            </a:r>
          </a:p>
          <a:p>
            <a:r>
              <a:rPr b="0" sz="1700"/>
              <a:t>“Hi. Thank you for coming.</a:t>
            </a:r>
          </a:p>
          <a:p>
            <a:r>
              <a:rPr b="0" sz="1700"/>
              <a:t>  </a:t>
            </a:r>
            <a:r>
              <a:rPr b="1" sz="1700"/>
              <a:t>ハイ</a:t>
            </a:r>
            <a:r>
              <a:rPr b="0" sz="1700"/>
              <a:t>。 サンキュー フォー </a:t>
            </a:r>
            <a:r>
              <a:rPr b="1" sz="1700"/>
              <a:t>カミング</a:t>
            </a:r>
            <a:r>
              <a:rPr b="0" sz="1700"/>
              <a:t>。</a:t>
            </a:r>
          </a:p>
          <a:p>
            <a:r>
              <a:rPr b="0" sz="1700"/>
              <a:t>This is Phasmid.</a:t>
            </a:r>
          </a:p>
          <a:p>
            <a:r>
              <a:rPr b="0" sz="1700"/>
              <a:t>  ディス イズ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It’s the reference build of the Janus Eidolon System.</a:t>
            </a:r>
          </a:p>
          <a:p>
            <a:r>
              <a:rPr b="0" sz="1700"/>
              <a:t>  イッツ ザ レファレンス ビルド オブ ザ </a:t>
            </a:r>
            <a:r>
              <a:rPr b="1" sz="1700"/>
              <a:t>ジェイナス アイドロン システム</a:t>
            </a:r>
            <a:r>
              <a:rPr b="0" sz="1700"/>
              <a:t>。</a:t>
            </a:r>
          </a:p>
          <a:p>
            <a:r>
              <a:rPr b="0" sz="1700"/>
              <a:t>Storage that stays local — and expects coercion.</a:t>
            </a:r>
          </a:p>
          <a:p>
            <a:r>
              <a:rPr b="0" sz="1700"/>
              <a:t>  ストレージ ザット ステイズ </a:t>
            </a:r>
            <a:r>
              <a:rPr b="1" sz="1700"/>
              <a:t>ローカル</a:t>
            </a:r>
            <a:r>
              <a:rPr b="0" sz="1700"/>
              <a:t> — アンド イクスペクツ コアージョン。</a:t>
            </a:r>
          </a:p>
          <a:p>
            <a:r>
              <a:rPr b="0" sz="1700"/>
              <a:t>It’s built for one moment.</a:t>
            </a:r>
          </a:p>
          <a:p>
            <a:r>
              <a:rPr b="0" sz="1700"/>
              <a:t>  イッツ ビルト フォー </a:t>
            </a:r>
            <a:r>
              <a:rPr b="1" sz="1700"/>
              <a:t>ワン モウメント</a:t>
            </a:r>
            <a:r>
              <a:rPr b="0" sz="1700"/>
              <a:t>。</a:t>
            </a:r>
          </a:p>
          <a:p>
            <a:r>
              <a:rPr b="0" sz="1700"/>
              <a:t>Someone has your device… and they have you.</a:t>
            </a:r>
          </a:p>
          <a:p>
            <a:r>
              <a:rPr b="0" sz="1700"/>
              <a:t>  サムワン ハズ ユア </a:t>
            </a:r>
            <a:r>
              <a:rPr b="1" sz="1700"/>
              <a:t>デバイス</a:t>
            </a:r>
            <a:r>
              <a:rPr b="0" sz="1700"/>
              <a:t>… アンド ゼイ ハブ </a:t>
            </a:r>
            <a:r>
              <a:rPr b="1" sz="1700"/>
              <a:t>ユー</a:t>
            </a:r>
            <a:r>
              <a:rPr b="0" sz="1700"/>
              <a:t>。</a:t>
            </a:r>
          </a:p>
          <a:p>
            <a:r>
              <a:rPr b="0" sz="1700"/>
              <a:t>I’m Makoto Sugita, from GMO Cybersecurity by Ierae, in Tokyo.</a:t>
            </a:r>
          </a:p>
          <a:p>
            <a:r>
              <a:rPr b="0" sz="1700"/>
              <a:t>  アイム </a:t>
            </a:r>
            <a:r>
              <a:rPr b="1" sz="1700"/>
              <a:t>マコト スギタ</a:t>
            </a:r>
            <a:r>
              <a:rPr b="0" sz="1700"/>
              <a:t>、 フロム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Online — Mr. Rabbit.”</a:t>
            </a:r>
          </a:p>
          <a:p>
            <a:r>
              <a:rPr b="0" sz="1700"/>
              <a:t>  オンライン — </a:t>
            </a:r>
            <a:r>
              <a:rPr b="1" sz="1700"/>
              <a:t>ミスター ラビット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[00:30 / 1:00] WHOAMI — 発話 0:45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“Quick background.</a:t>
            </a:r>
          </a:p>
          <a:p>
            <a:r>
              <a:rPr b="0" sz="1700"/>
              <a:t>  クイック </a:t>
            </a:r>
            <a:r>
              <a:rPr b="1" sz="1700"/>
              <a:t>バックグラウンド</a:t>
            </a:r>
            <a:r>
              <a:rPr b="0" sz="1700"/>
              <a:t>。</a:t>
            </a:r>
          </a:p>
          <a:p>
            <a:r>
              <a:rPr b="0" sz="1700"/>
              <a:t>I’m a senior engineer at GMO Cybersecurity by Ierae.</a:t>
            </a:r>
          </a:p>
          <a:p>
            <a:r>
              <a:rPr b="0" sz="1700"/>
              <a:t>  アイム ア </a:t>
            </a:r>
            <a:r>
              <a:rPr b="1" sz="1700"/>
              <a:t>シニア エンジニア</a:t>
            </a:r>
            <a:r>
              <a:rPr b="0" sz="1700"/>
              <a:t> アット ジーエムオー サイバーセキュリティ バイ </a:t>
            </a:r>
            <a:r>
              <a:rPr b="1" sz="1700"/>
              <a:t>イエラエ</a:t>
            </a:r>
            <a:r>
              <a:rPr b="0" sz="1700"/>
              <a:t>。</a:t>
            </a:r>
          </a:p>
          <a:p>
            <a:r>
              <a:rPr b="0" sz="1700"/>
              <a:t>I work in the SOC. Defense, every day.</a:t>
            </a:r>
          </a:p>
          <a:p>
            <a:r>
              <a:rPr b="0" sz="1700"/>
              <a:t>  アイ ワーク イン ザ </a:t>
            </a:r>
            <a:r>
              <a:rPr b="1" sz="1700"/>
              <a:t>エス オー シー</a:t>
            </a:r>
            <a:r>
              <a:rPr b="0" sz="1700"/>
              <a:t>。 </a:t>
            </a:r>
            <a:r>
              <a:rPr b="1" sz="1700"/>
              <a:t>ディフェンス</a:t>
            </a:r>
            <a:r>
              <a:rPr b="0" sz="1700"/>
              <a:t>、 エブリ デイ。</a:t>
            </a:r>
          </a:p>
          <a:p>
            <a:r>
              <a:rPr b="0" sz="1700"/>
              <a:t>Before that — a penetration tester. CISSP.</a:t>
            </a:r>
          </a:p>
          <a:p>
            <a:r>
              <a:rPr b="0" sz="1700"/>
              <a:t>  ビフォー ザット — ア </a:t>
            </a:r>
            <a:r>
              <a:rPr b="1" sz="1700"/>
              <a:t>ペネトレイション テスター</a:t>
            </a:r>
            <a:r>
              <a:rPr b="0" sz="1700"/>
              <a:t>。 シー アイ エス エス ピー。</a:t>
            </a:r>
          </a:p>
          <a:p>
            <a:r>
              <a:rPr b="0" sz="1700"/>
              <a:t>And before that, in uniform — a Japan Ground Self-Defense Force officer, in a cyber unit.</a:t>
            </a:r>
          </a:p>
          <a:p>
            <a:r>
              <a:rPr b="0" sz="1700"/>
              <a:t>  アンド ビフォー ザット、 イン </a:t>
            </a:r>
            <a:r>
              <a:rPr b="1" sz="1700"/>
              <a:t>ユニフォーム</a:t>
            </a:r>
            <a:r>
              <a:rPr b="0" sz="1700"/>
              <a:t> — ア ジャパン グラウンド セルフディフェンス フォース </a:t>
            </a:r>
            <a:r>
              <a:rPr b="1" sz="1700"/>
              <a:t>オフィサー</a:t>
            </a:r>
            <a:r>
              <a:rPr b="0" sz="1700"/>
              <a:t>、 イン ア サイバー ユニット。</a:t>
            </a:r>
          </a:p>
          <a:p>
            <a:r>
              <a:rPr b="0" sz="1700"/>
              <a:t>Offensive work taught me the weak link is the person, not the algorithm.</a:t>
            </a:r>
          </a:p>
          <a:p>
            <a:r>
              <a:rPr b="0" sz="1700"/>
              <a:t>  オフェンシブ ワーク トート ミー ザ ウィーク リンク イズ ザ </a:t>
            </a:r>
            <a:r>
              <a:rPr b="1" sz="1700"/>
              <a:t>パーソン</a:t>
            </a:r>
            <a:r>
              <a:rPr b="0" sz="1700"/>
              <a:t>、 ナット ジ アルゴリズム。</a:t>
            </a:r>
          </a:p>
          <a:p>
            <a:r>
              <a:rPr b="0" sz="1700"/>
              <a:t>So I turn offensive experience into defensive tools.</a:t>
            </a:r>
          </a:p>
          <a:p>
            <a:r>
              <a:rPr b="0" sz="1700"/>
              <a:t>  ソウ アイ ターン オフェンシブ エクスピアリエンス イントゥ </a:t>
            </a:r>
            <a:r>
              <a:rPr b="1" sz="1700"/>
              <a:t>ディフェンシブ ツールズ</a:t>
            </a:r>
            <a:r>
              <a:rPr b="0" sz="1700"/>
              <a:t>。</a:t>
            </a:r>
          </a:p>
          <a:p>
            <a:r>
              <a:rPr b="0" sz="1700"/>
              <a:t>Deception. Delay. Coercion-aware design.</a:t>
            </a:r>
          </a:p>
          <a:p>
            <a:r>
              <a:rPr b="0" sz="1700"/>
              <a:t>  ディセプション。 ディレイ。 </a:t>
            </a:r>
            <a:r>
              <a:rPr b="1" sz="1700"/>
              <a:t>コアージョン アウェア デザイン</a:t>
            </a:r>
            <a:r>
              <a:rPr b="0" sz="1700"/>
              <a:t>。</a:t>
            </a:r>
          </a:p>
          <a:p>
            <a:r>
              <a:rPr b="0" sz="1700"/>
              <a:t>Alongside that — security research, and open-source tools.</a:t>
            </a:r>
          </a:p>
          <a:p>
            <a:r>
              <a:rPr b="0" sz="1700"/>
              <a:t>  アロングサイド ザット — セキュリティ </a:t>
            </a:r>
            <a:r>
              <a:rPr b="1" sz="1700"/>
              <a:t>リサーチ</a:t>
            </a:r>
            <a:r>
              <a:rPr b="0" sz="1700"/>
              <a:t>、 アンド </a:t>
            </a:r>
            <a:r>
              <a:rPr b="1" sz="1700"/>
              <a:t>オープンソース ツールズ</a:t>
            </a:r>
            <a:r>
              <a:rPr b="0" sz="1700"/>
              <a:t>。</a:t>
            </a:r>
          </a:p>
          <a:p>
            <a:r>
              <a:rPr b="0" sz="1700"/>
              <a:t>Black Hat Arsenal. BSides. SecTor. CODE BLUE.</a:t>
            </a:r>
          </a:p>
          <a:p>
            <a:r>
              <a:rPr b="0" sz="1700"/>
              <a:t>  ブラック ハット アーサナル。 ビーサイズ。 セクター。 コード ブルー。</a:t>
            </a:r>
          </a:p>
          <a:p>
            <a:r>
              <a:rPr b="0" sz="1700"/>
              <a:t>I’m 01rabbit on GitHub.”</a:t>
            </a:r>
          </a:p>
          <a:p>
            <a:r>
              <a:rPr b="0" sz="1700"/>
              <a:t>  アイム </a:t>
            </a:r>
            <a:r>
              <a:rPr b="1" sz="1700"/>
              <a:t>ゼロワン ラビット</a:t>
            </a:r>
            <a:r>
              <a:rPr b="0" sz="1700"/>
              <a:t> オン ギットハブ。</a:t>
            </a:r>
          </a:p>
          <a:p>
            <a:r>
              <a:rPr b="0" sz="1700"/>
              <a:t/>
            </a:r>
          </a:p>
          <a:p>
            <a:r>
              <a:rPr b="0" sz="120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[01:10 / 0:30] AGENDA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the plan for the next half hour.</a:t>
            </a:r>
          </a:p>
          <a:p>
            <a:r>
              <a:rPr b="0" sz="1700"/>
              <a:t>  ヒアズ ザ </a:t>
            </a:r>
            <a:r>
              <a:rPr b="1" sz="1700"/>
              <a:t>プラン</a:t>
            </a:r>
            <a:r>
              <a:rPr b="0" sz="1700"/>
              <a:t> フォー ザ ネクスト ハーフ アウア。</a:t>
            </a:r>
          </a:p>
          <a:p>
            <a:r>
              <a:rPr b="0" sz="1700"/>
              <a:t>First, the problem: compelled access.</a:t>
            </a:r>
          </a:p>
          <a:p>
            <a:r>
              <a:rPr b="0" sz="1700"/>
              <a:t>  ファースト、 ザ プロブレム: </a:t>
            </a:r>
            <a:r>
              <a:rPr b="1" sz="1700"/>
              <a:t>コンペルド アクセス</a:t>
            </a:r>
            <a:r>
              <a:rPr b="0" sz="1700"/>
              <a:t>。</a:t>
            </a:r>
          </a:p>
          <a:p>
            <a:r>
              <a:rPr b="0" sz="1700"/>
              <a:t>Then the core idea — Janus.</a:t>
            </a:r>
          </a:p>
          <a:p>
            <a:r>
              <a:rPr b="0" sz="1700"/>
              <a:t>  ゼン ザ コア アイディア — </a:t>
            </a:r>
            <a:r>
              <a:rPr b="1" sz="1700"/>
              <a:t>ジェイナス</a:t>
            </a:r>
            <a:r>
              <a:rPr b="0" sz="1700"/>
              <a:t>。</a:t>
            </a:r>
          </a:p>
          <a:p>
            <a:r>
              <a:rPr b="0" sz="1700"/>
              <a:t>Then how it works: the object cue, and coercion-safe delay.</a:t>
            </a:r>
          </a:p>
          <a:p>
            <a:r>
              <a:rPr b="0" sz="1700"/>
              <a:t>  ゼン ハウ イット ワークス: ジ </a:t>
            </a:r>
            <a:r>
              <a:rPr b="1" sz="1700"/>
              <a:t>オブジェクト キュー</a:t>
            </a:r>
            <a:r>
              <a:rPr b="0" sz="1700"/>
              <a:t>、 アンド コアージョンセイフ ディレイ。</a:t>
            </a:r>
          </a:p>
          <a:p>
            <a:r>
              <a:rPr b="0" sz="1700"/>
              <a:t>Then under the hood — crypto, guards, and the hardware itself.</a:t>
            </a:r>
          </a:p>
          <a:p>
            <a:r>
              <a:rPr b="0" sz="1700"/>
              <a:t>  ゼン アンダー ザ </a:t>
            </a:r>
            <a:r>
              <a:rPr b="1" sz="1700"/>
              <a:t>フッド</a:t>
            </a:r>
            <a:r>
              <a:rPr b="0" sz="1700"/>
              <a:t> — クリプト、 ガーズ、 アンド ザ ハードウェア イットセルフ。</a:t>
            </a:r>
          </a:p>
          <a:p>
            <a:r>
              <a:rPr b="0" sz="1700"/>
              <a:t>Then the honest limits. Ethics, and scope.</a:t>
            </a:r>
          </a:p>
          <a:p>
            <a:r>
              <a:rPr b="0" sz="1700"/>
              <a:t>  ゼン ジ </a:t>
            </a:r>
            <a:r>
              <a:rPr b="1" sz="1700"/>
              <a:t>オネスト</a:t>
            </a:r>
            <a:r>
              <a:rPr b="0" sz="1700"/>
              <a:t> リミッツ。 エシックス、 アンド スコープ。</a:t>
            </a:r>
          </a:p>
          <a:p>
            <a:r>
              <a:rPr b="0" sz="1700"/>
              <a:t>I finish with a live demo, and how to run it yourself.</a:t>
            </a:r>
          </a:p>
          <a:p>
            <a:r>
              <a:rPr b="0" sz="1700"/>
              <a:t>  アイ フィニッシュ ウィズ ア </a:t>
            </a:r>
            <a:r>
              <a:rPr b="1" sz="1700"/>
              <a:t>ライブ デモ</a:t>
            </a:r>
            <a:r>
              <a:rPr b="0" sz="1700"/>
              <a:t>、 アンド ハウ トゥ ラン イット ユアセルフ。</a:t>
            </a:r>
          </a:p>
          <a:p>
            <a:r>
              <a:rPr b="0" sz="1700"/>
              <a:t>And I’ll keep time for questions at the end.”</a:t>
            </a:r>
          </a:p>
          <a:p>
            <a:r>
              <a:rPr b="0" sz="1700"/>
              <a:t>  アンド アイル キープ </a:t>
            </a:r>
            <a:r>
              <a:rPr b="1" sz="1700"/>
              <a:t>タイム</a:t>
            </a:r>
            <a:r>
              <a:rPr b="0" sz="1700"/>
              <a:t> フォー クエスチョンズ アット ジ エンド。</a:t>
            </a:r>
          </a:p>
          <a:p>
            <a:r>
              <a:rPr b="0" sz="1700"/>
              <a:t/>
            </a:r>
          </a:p>
          <a:p>
            <a:r>
              <a:rPr b="0" sz="120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[01:40 / 1:00] THE PROBLEM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what Phasmid is built for.</a:t>
            </a:r>
          </a:p>
          <a:p>
            <a:r>
              <a:rPr b="0" sz="1700"/>
              <a:t>  ヒアズ ワット </a:t>
            </a:r>
            <a:r>
              <a:rPr b="1" sz="1700"/>
              <a:t>ファズミッド</a:t>
            </a:r>
            <a:r>
              <a:rPr b="0" sz="1700"/>
              <a:t> イズ ビルト フォー。</a:t>
            </a:r>
          </a:p>
          <a:p>
            <a:r>
              <a:rPr b="0" sz="1700"/>
              <a:t>Attackers today don’t break your crypto.</a:t>
            </a:r>
          </a:p>
          <a:p>
            <a:r>
              <a:rPr b="0" sz="1700"/>
              <a:t>  アタッカーズ トゥデイ ドウント ブレイク ユア </a:t>
            </a:r>
            <a:r>
              <a:rPr b="1" sz="1700"/>
              <a:t>クリプト</a:t>
            </a:r>
            <a:r>
              <a:rPr b="0" sz="1700"/>
              <a:t>。</a:t>
            </a:r>
          </a:p>
          <a:p>
            <a:r>
              <a:rPr b="0" sz="1700"/>
              <a:t>They take the device.</a:t>
            </a:r>
          </a:p>
          <a:p>
            <a:r>
              <a:rPr b="0" sz="1700"/>
              <a:t>  ゼイ テイク ザ </a:t>
            </a:r>
            <a:r>
              <a:rPr b="1" sz="1700"/>
              <a:t>デバイス</a:t>
            </a:r>
            <a:r>
              <a:rPr b="0" sz="1700"/>
              <a:t>。</a:t>
            </a:r>
          </a:p>
          <a:p>
            <a:r>
              <a:rPr b="0" sz="1700"/>
              <a:t>At a border. At a checkpoint. At an arrest.</a:t>
            </a:r>
          </a:p>
          <a:p>
            <a:r>
              <a:rPr b="0" sz="1700"/>
              <a:t>  アッタ </a:t>
            </a:r>
            <a:r>
              <a:rPr b="1" sz="1700"/>
              <a:t>ボーダー</a:t>
            </a:r>
            <a:r>
              <a:rPr b="0" sz="1700"/>
              <a:t>。 アッタ </a:t>
            </a:r>
            <a:r>
              <a:rPr b="1" sz="1700"/>
              <a:t>チェックポイント</a:t>
            </a:r>
            <a:r>
              <a:rPr b="0" sz="1700"/>
              <a:t>。 アッタン </a:t>
            </a:r>
            <a:r>
              <a:rPr b="1" sz="1700"/>
              <a:t>アレスト</a:t>
            </a:r>
            <a:r>
              <a:rPr b="0" sz="1700"/>
              <a:t>。</a:t>
            </a:r>
          </a:p>
          <a:p>
            <a:r>
              <a:rPr b="0" sz="1700"/>
              <a:t>And then they ask you to unlock it.</a:t>
            </a:r>
          </a:p>
          <a:p>
            <a:r>
              <a:rPr b="0" sz="1700"/>
              <a:t>  アンド ゼン ゼイ アスク ユー トゥ </a:t>
            </a:r>
            <a:r>
              <a:rPr b="1" sz="1700"/>
              <a:t>アンロック</a:t>
            </a:r>
            <a:r>
              <a:rPr b="0" sz="1700"/>
              <a:t> イット。</a:t>
            </a:r>
          </a:p>
          <a:p>
            <a:r>
              <a:rPr b="0" sz="1700"/>
              <a:t>Full-disk encryption is all or nothing.</a:t>
            </a:r>
          </a:p>
          <a:p>
            <a:r>
              <a:rPr b="0" sz="1700"/>
              <a:t>  フルディスク インクリプション イズ </a:t>
            </a:r>
            <a:r>
              <a:rPr b="1" sz="1700"/>
              <a:t>オール オア ナッシング</a:t>
            </a:r>
            <a:r>
              <a:rPr b="0" sz="1700"/>
              <a:t>。</a:t>
            </a:r>
          </a:p>
          <a:p>
            <a:r>
              <a:rPr b="0" sz="1700"/>
              <a:t>You open it once, under pressure — and everything is exposed.</a:t>
            </a:r>
          </a:p>
          <a:p>
            <a:r>
              <a:rPr b="0" sz="1700"/>
              <a:t>  ユー オープン イット </a:t>
            </a:r>
            <a:r>
              <a:rPr b="1" sz="1700"/>
              <a:t>ワンス</a:t>
            </a:r>
            <a:r>
              <a:rPr b="0" sz="1700"/>
              <a:t>、 アンダー プレッシャー — アンド </a:t>
            </a:r>
            <a:r>
              <a:rPr b="1" sz="1700"/>
              <a:t>エブリシング</a:t>
            </a:r>
            <a:r>
              <a:rPr b="0" sz="1700"/>
              <a:t> イズ エクスポウズド。</a:t>
            </a:r>
          </a:p>
          <a:p>
            <a:r>
              <a:rPr b="0" sz="1700"/>
              <a:t>That’s over-disclosure.”</a:t>
            </a:r>
          </a:p>
          <a:p>
            <a:r>
              <a:rPr b="0" sz="1700"/>
              <a:t>  ザッツ </a:t>
            </a:r>
            <a:r>
              <a:rPr b="1" sz="1700"/>
              <a:t>オーバー ディスクロージャー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[02:40 / 0:30] MEME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“So you get three bad options.</a:t>
            </a:r>
          </a:p>
          <a:p>
            <a:r>
              <a:rPr b="0" sz="1700"/>
              <a:t>  ソウ ユー ゲット </a:t>
            </a:r>
            <a:r>
              <a:rPr b="1" sz="1700"/>
              <a:t>スリー バッド オプションズ</a:t>
            </a:r>
            <a:r>
              <a:rPr b="0" sz="1700"/>
              <a:t>。</a:t>
            </a:r>
          </a:p>
          <a:p>
            <a:r>
              <a:rPr b="0" sz="1700"/>
              <a:t>Refuse — and you escalate.</a:t>
            </a:r>
          </a:p>
          <a:p>
            <a:r>
              <a:rPr b="0" sz="1700"/>
              <a:t>  </a:t>
            </a:r>
            <a:r>
              <a:rPr b="1" sz="1700"/>
              <a:t>リフューズ</a:t>
            </a:r>
            <a:r>
              <a:rPr b="0" sz="1700"/>
              <a:t> — アンド ユー </a:t>
            </a:r>
            <a:r>
              <a:rPr b="1" sz="1700"/>
              <a:t>エスカレイト</a:t>
            </a:r>
            <a:r>
              <a:rPr b="0" sz="1700"/>
              <a:t>。</a:t>
            </a:r>
          </a:p>
          <a:p>
            <a:r>
              <a:rPr b="0" sz="1700"/>
              <a:t>Comply, with full-disk encryption — and you hand over everything.</a:t>
            </a:r>
          </a:p>
          <a:p>
            <a:r>
              <a:rPr b="0" sz="1700"/>
              <a:t>  </a:t>
            </a:r>
            <a:r>
              <a:rPr b="1" sz="1700"/>
              <a:t>コンプライ</a:t>
            </a:r>
            <a:r>
              <a:rPr b="0" sz="1700"/>
              <a:t>、 ウィズ フルディスク インクリプション — アンド ユー ハンド オーバー </a:t>
            </a:r>
            <a:r>
              <a:rPr b="1" sz="1700"/>
              <a:t>エブリシング</a:t>
            </a:r>
            <a:r>
              <a:rPr b="0" sz="1700"/>
              <a:t>。</a:t>
            </a:r>
          </a:p>
          <a:p>
            <a:r>
              <a:rPr b="0" sz="1700"/>
              <a:t>Or… controlled disclosure.</a:t>
            </a:r>
          </a:p>
          <a:p>
            <a:r>
              <a:rPr b="0" sz="1700"/>
              <a:t>  オア… </a:t>
            </a:r>
            <a:r>
              <a:rPr b="1" sz="1700"/>
              <a:t>コントロールド ディスクロージャー</a:t>
            </a:r>
            <a:r>
              <a:rPr b="0" sz="1700"/>
              <a:t>。</a:t>
            </a:r>
          </a:p>
          <a:p>
            <a:r>
              <a:rPr b="0" sz="1700"/>
              <a:t>Show what’s visible. Protect the rest.</a:t>
            </a:r>
          </a:p>
          <a:p>
            <a:r>
              <a:rPr b="0" sz="1700"/>
              <a:t>  ショウ ワッツ </a:t>
            </a:r>
            <a:r>
              <a:rPr b="1" sz="1700"/>
              <a:t>ビジブル</a:t>
            </a:r>
            <a:r>
              <a:rPr b="0" sz="1700"/>
              <a:t>。 プロテクト ザ </a:t>
            </a:r>
            <a:r>
              <a:rPr b="1" sz="1700"/>
              <a:t>レスト</a:t>
            </a:r>
            <a:r>
              <a:rPr b="0" sz="1700"/>
              <a:t>。</a:t>
            </a:r>
          </a:p>
          <a:p>
            <a:r>
              <a:rPr b="0" sz="1700"/>
              <a:t>Same demand. Very different blast radius.”</a:t>
            </a:r>
          </a:p>
          <a:p>
            <a:r>
              <a:rPr b="0" sz="1700"/>
              <a:t>  セイム </a:t>
            </a:r>
            <a:r>
              <a:rPr b="1" sz="1700"/>
              <a:t>ディマンド</a:t>
            </a:r>
            <a:r>
              <a:rPr b="0" sz="1700"/>
              <a:t>。 ベリー ディファレント </a:t>
            </a:r>
            <a:r>
              <a:rPr b="1" sz="1700"/>
              <a:t>ブラスト レイディアス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[03:10 / 0:50] WHAT IT IS / ISN'T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“Let me be precise.</a:t>
            </a:r>
          </a:p>
          <a:p>
            <a:r>
              <a:rPr b="0" sz="1700"/>
              <a:t>  レット ミー ビー </a:t>
            </a:r>
            <a:r>
              <a:rPr b="1" sz="1700"/>
              <a:t>プリサイス</a:t>
            </a:r>
            <a:r>
              <a:rPr b="0" sz="1700"/>
              <a:t>。</a:t>
            </a:r>
          </a:p>
          <a:p>
            <a:r>
              <a:rPr b="0" sz="1700"/>
              <a:t>Phasmid is a research prototype for disclosure control.</a:t>
            </a:r>
          </a:p>
          <a:p>
            <a:r>
              <a:rPr b="0" sz="1700"/>
              <a:t>  ファズミッド イズ ア </a:t>
            </a:r>
            <a:r>
              <a:rPr b="1" sz="1700"/>
              <a:t>リサーチ プロトタイプ</a:t>
            </a:r>
            <a:r>
              <a:rPr b="0" sz="1700"/>
              <a:t> フォー ディスクロージャー コントロール。</a:t>
            </a:r>
          </a:p>
          <a:p>
            <a:r>
              <a:rPr b="0" sz="1700"/>
              <a:t>Local-only by default. Not casual file encryption.</a:t>
            </a:r>
          </a:p>
          <a:p>
            <a:r>
              <a:rPr b="0" sz="1700"/>
              <a:t>  </a:t>
            </a:r>
            <a:r>
              <a:rPr b="1" sz="1700"/>
              <a:t>ローカル オンリー</a:t>
            </a:r>
            <a:r>
              <a:rPr b="0" sz="1700"/>
              <a:t> バイ ディフォルト。 </a:t>
            </a:r>
            <a:r>
              <a:rPr b="1" sz="1700"/>
              <a:t>ナット</a:t>
            </a:r>
            <a:r>
              <a:rPr b="0" sz="1700"/>
              <a:t> キャジュアル ファイル インクリプション。</a:t>
            </a:r>
          </a:p>
          <a:p>
            <a:r>
              <a:rPr b="0" sz="1700"/>
              <a:t>And it does not replace audited full-disk encryption.</a:t>
            </a:r>
          </a:p>
          <a:p>
            <a:r>
              <a:rPr b="0" sz="1700"/>
              <a:t>  アンド イット ダズ </a:t>
            </a:r>
            <a:r>
              <a:rPr b="1" sz="1700"/>
              <a:t>ナット リプレイス</a:t>
            </a:r>
            <a:r>
              <a:rPr b="0" sz="1700"/>
              <a:t> オーディテッド フルディスク インクリプション。</a:t>
            </a:r>
          </a:p>
          <a:p>
            <a:r>
              <a:rPr b="0" sz="1700"/>
              <a:t>Not keys held in hardware.</a:t>
            </a:r>
          </a:p>
          <a:p>
            <a:r>
              <a:rPr b="0" sz="1700"/>
              <a:t>  ナット キーズ </a:t>
            </a:r>
            <a:r>
              <a:rPr b="1" sz="1700"/>
              <a:t>ヘルド イン ハードウェア</a:t>
            </a:r>
            <a:r>
              <a:rPr b="0" sz="1700"/>
              <a:t>。</a:t>
            </a:r>
          </a:p>
          <a:p>
            <a:r>
              <a:rPr b="0" sz="1700"/>
              <a:t>Not a magic delete button.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マジック ディリート バトゥン。</a:t>
            </a:r>
          </a:p>
          <a:p>
            <a:r>
              <a:rPr b="0" sz="1700"/>
              <a:t>Not a complete answer to compelled disclosure.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コンプリート アンサー トゥ コンペルド ディスクロージャー。</a:t>
            </a:r>
          </a:p>
          <a:p>
            <a:r>
              <a:rPr b="0" sz="1700"/>
              <a:t>I’ll keep drawing that line, the whole way through.”</a:t>
            </a:r>
          </a:p>
          <a:p>
            <a:r>
              <a:rPr b="0" sz="1700"/>
              <a:t>  アイル キープ ドローイング </a:t>
            </a:r>
            <a:r>
              <a:rPr b="1" sz="1700"/>
              <a:t>ザット ライン</a:t>
            </a:r>
            <a:r>
              <a:rPr b="0" sz="1700"/>
              <a:t>、 ザ ホウル ウェイ スルー。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[04:00 / 1:10] CORE IDEA — JANUS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core idea is Janus. Two faces.</a:t>
            </a:r>
          </a:p>
          <a:p>
            <a:r>
              <a:rPr b="0" sz="1700"/>
              <a:t>  ザ コア アイディア イズ </a:t>
            </a:r>
            <a:r>
              <a:rPr b="1" sz="1700"/>
              <a:t>ジェイナス</a:t>
            </a:r>
            <a:r>
              <a:rPr b="0" sz="1700"/>
              <a:t>。 </a:t>
            </a:r>
            <a:r>
              <a:rPr b="1" sz="1700"/>
              <a:t>トゥー フェイシズ</a:t>
            </a:r>
            <a:r>
              <a:rPr b="0" sz="1700"/>
              <a:t>。</a:t>
            </a:r>
          </a:p>
          <a:p>
            <a:r>
              <a:rPr b="0" sz="1700"/>
              <a:t>A two-slot model.</a:t>
            </a:r>
          </a:p>
          <a:p>
            <a:r>
              <a:rPr b="0" sz="1700"/>
              <a:t>  ア </a:t>
            </a:r>
            <a:r>
              <a:rPr b="1" sz="1700"/>
              <a:t>トゥースロット</a:t>
            </a:r>
            <a:r>
              <a:rPr b="0" sz="1700"/>
              <a:t> モデル。</a:t>
            </a:r>
          </a:p>
          <a:p>
            <a:r>
              <a:rPr b="0" sz="1700"/>
              <a:t>Slot A is what the visible surface shows.</a:t>
            </a:r>
          </a:p>
          <a:p>
            <a:r>
              <a:rPr b="0" sz="1700"/>
              <a:t>  スロット </a:t>
            </a:r>
            <a:r>
              <a:rPr b="1" sz="1700"/>
              <a:t>エイ</a:t>
            </a:r>
            <a:r>
              <a:rPr b="0" sz="1700"/>
              <a:t> イズ ワット ザ ビジブル サーフィス ショウズ。</a:t>
            </a:r>
          </a:p>
          <a:p>
            <a:r>
              <a:rPr b="0" sz="1700"/>
              <a:t>Plausible. Ordinary. Disclosed under pressure.</a:t>
            </a:r>
          </a:p>
          <a:p>
            <a:r>
              <a:rPr b="0" sz="1700"/>
              <a:t>  プローザブル。 オーディナリー。 ディスクローズド アンダー プレッシャー。</a:t>
            </a:r>
          </a:p>
          <a:p>
            <a:r>
              <a:rPr b="0" sz="1700"/>
              <a:t>Slot B is protected local state. It stays off the visible path.</a:t>
            </a:r>
          </a:p>
          <a:p>
            <a:r>
              <a:rPr b="0" sz="1700"/>
              <a:t>  スロット </a:t>
            </a:r>
            <a:r>
              <a:rPr b="1" sz="1700"/>
              <a:t>ビー</a:t>
            </a:r>
            <a:r>
              <a:rPr b="0" sz="1700"/>
              <a:t> イズ プロテクテッド ローカル ステイト。 イット ステイズ </a:t>
            </a:r>
            <a:r>
              <a:rPr b="1" sz="1700"/>
              <a:t>オフ</a:t>
            </a:r>
            <a:r>
              <a:rPr b="0" sz="1700"/>
              <a:t> ザ ビジブル パス。</a:t>
            </a:r>
          </a:p>
          <a:p>
            <a:r>
              <a:rPr b="0" sz="1700"/>
              <a:t>And it’s bound to local conditions — not to a password alone.</a:t>
            </a:r>
          </a:p>
          <a:p>
            <a:r>
              <a:rPr b="0" sz="1700"/>
              <a:t>  アンド イッツ バウンド トゥ </a:t>
            </a:r>
            <a:r>
              <a:rPr b="1" sz="1700"/>
              <a:t>ローカル コンディションズ</a:t>
            </a:r>
            <a:r>
              <a:rPr b="0" sz="1700"/>
              <a:t> — ナット トゥ ア パスワード アロウン。</a:t>
            </a:r>
          </a:p>
          <a:p>
            <a:r>
              <a:rPr b="0" sz="1700"/>
              <a:t>What you show is not all there is.”</a:t>
            </a:r>
          </a:p>
          <a:p>
            <a:r>
              <a:rPr b="0" sz="1700"/>
              <a:t>  ワット ユー ショウ イズ </a:t>
            </a:r>
            <a:r>
              <a:rPr b="1" sz="1700"/>
              <a:t>ナット オール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“Slot A is what you show. Slot B is not on the visible path.”</a:t>
            </a:r>
          </a:p>
          <a:p>
            <a:r>
              <a:rPr b="0" sz="1700"/>
              <a:t>  スロット エイ イズ ワット ユー </a:t>
            </a:r>
            <a:r>
              <a:rPr b="1" sz="1700"/>
              <a:t>ショウ</a:t>
            </a:r>
            <a:r>
              <a:rPr b="0" sz="1700"/>
              <a:t>。 スロット ビー イズ </a:t>
            </a:r>
            <a:r>
              <a:rPr b="1" sz="1700"/>
              <a:t>ナット</a:t>
            </a:r>
            <a:r>
              <a:rPr b="0" sz="1700"/>
              <a:t> オン ザ ビジブル パス。</a:t>
            </a:r>
          </a:p>
          <a:p>
            <a:r>
              <a:rPr b="0" sz="1700"/>
              <a:t/>
            </a:r>
          </a:p>
          <a:p>
            <a:r>
              <a:rPr b="0" sz="120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[05:10 / 1:15] ADVERSARY MODEL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“Who does it defend against?</a:t>
            </a:r>
          </a:p>
          <a:p>
            <a:r>
              <a:rPr b="0" sz="1700"/>
              <a:t>  フー ダズ イット </a:t>
            </a:r>
            <a:r>
              <a:rPr b="1" sz="1700"/>
              <a:t>ディフェンド</a:t>
            </a:r>
            <a:r>
              <a:rPr b="0" sz="1700"/>
              <a:t> アゲンスト?</a:t>
            </a:r>
          </a:p>
          <a:p>
            <a:r>
              <a:rPr b="0" sz="1700"/>
              <a:t>Five attackers in scope.</a:t>
            </a:r>
          </a:p>
          <a:p>
            <a:r>
              <a:rPr b="0" sz="1700"/>
              <a:t>  </a:t>
            </a:r>
            <a:r>
              <a:rPr b="1" sz="1700"/>
              <a:t>ファイブ アタッカーズ</a:t>
            </a:r>
            <a:r>
              <a:rPr b="0" sz="1700"/>
              <a:t> イン スコープ。</a:t>
            </a:r>
          </a:p>
          <a:p>
            <a:r>
              <a:rPr b="0" sz="1700"/>
              <a:t>A physical captor. A passive observer. A local active attacker.</a:t>
            </a:r>
          </a:p>
          <a:p>
            <a:r>
              <a:rPr b="0" sz="1700"/>
              <a:t>  ア フィジカル キャプター。 ア パッシブ オブザーバー。 ア ローカル アクティブ アタッカー。</a:t>
            </a:r>
          </a:p>
          <a:p>
            <a:r>
              <a:rPr b="0" sz="1700"/>
              <a:t>An attacker on the local network. And someone who can force you.</a:t>
            </a:r>
          </a:p>
          <a:p>
            <a:r>
              <a:rPr b="0" sz="1700"/>
              <a:t>  アン アタッカー オン ザ </a:t>
            </a:r>
            <a:r>
              <a:rPr b="1" sz="1700"/>
              <a:t>ローカル ネットワーク</a:t>
            </a:r>
            <a:r>
              <a:rPr b="0" sz="1700"/>
              <a:t>。 アンド </a:t>
            </a:r>
            <a:r>
              <a:rPr b="1" sz="1700"/>
              <a:t>サムワン フー キャン フォース ユー</a:t>
            </a:r>
            <a:r>
              <a:rPr b="0" sz="1700"/>
              <a:t>。</a:t>
            </a:r>
          </a:p>
          <a:p>
            <a:r>
              <a:rPr b="0" sz="1700"/>
              <a:t>And five explicitly out of scope.</a:t>
            </a:r>
          </a:p>
          <a:p>
            <a:r>
              <a:rPr b="0" sz="1700"/>
              <a:t>  アンド ファイブ エクスプリシットリー </a:t>
            </a:r>
            <a:r>
              <a:rPr b="1" sz="1700"/>
              <a:t>アウト オブ スコープ</a:t>
            </a:r>
            <a:r>
              <a:rPr b="0" sz="1700"/>
              <a:t>。</a:t>
            </a:r>
          </a:p>
          <a:p>
            <a:r>
              <a:rPr b="0" sz="1700"/>
              <a:t>A kernel already taken over. Hardware implants. Remote attackers.</a:t>
            </a:r>
          </a:p>
          <a:p>
            <a:r>
              <a:rPr b="0" sz="1700"/>
              <a:t>  ア カーネル オールレディ </a:t>
            </a:r>
            <a:r>
              <a:rPr b="1" sz="1700"/>
              <a:t>テイクン オーバー</a:t>
            </a:r>
            <a:r>
              <a:rPr b="0" sz="1700"/>
              <a:t>。 ハードウェア インプランツ。 リモート アタッカーズ。</a:t>
            </a:r>
          </a:p>
          <a:p>
            <a:r>
              <a:rPr b="0" sz="1700"/>
              <a:t>Supply chain. And breaking the crypto itself.</a:t>
            </a:r>
          </a:p>
          <a:p>
            <a:r>
              <a:rPr b="0" sz="1700"/>
              <a:t>  サプライ チェイン。 アンド ブレイキング ザ </a:t>
            </a:r>
            <a:r>
              <a:rPr b="1" sz="1700"/>
              <a:t>クリプト イットセルフ</a:t>
            </a:r>
            <a:r>
              <a:rPr b="0" sz="1700"/>
              <a:t>。</a:t>
            </a:r>
          </a:p>
          <a:p>
            <a:r>
              <a:rPr b="0" sz="1700"/>
              <a:t>If the host is owned, no user-space tool saves you.</a:t>
            </a:r>
          </a:p>
          <a:p>
            <a:r>
              <a:rPr b="0" sz="1700"/>
              <a:t>  イフ ザ ホスト イズ オーンド、 ノウ ユーザースペイス ツール セイブズ ユー。</a:t>
            </a:r>
          </a:p>
          <a:p>
            <a:r>
              <a:rPr b="0" sz="1700"/>
              <a:t>I won’t pretend otherwise.”</a:t>
            </a:r>
          </a:p>
          <a:p>
            <a:r>
              <a:rPr b="0" sz="1700"/>
              <a:t>  アイ ウォウント </a:t>
            </a:r>
            <a:r>
              <a:rPr b="1" sz="1700"/>
              <a:t>プリテンド</a:t>
            </a:r>
            <a:r>
              <a:rPr b="0" sz="1700"/>
              <a:t> アザワイズ。</a:t>
            </a:r>
          </a:p>
          <a:p>
            <a:r>
              <a:rPr b="0" sz="1700"/>
              <a:t/>
            </a:r>
          </a:p>
          <a:p>
            <a:r>
              <a:rPr b="0" sz="120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[06:25 / 0:45] STRIDE + LINDDUN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“I didn’t hand-wave the threats.</a:t>
            </a:r>
          </a:p>
          <a:p>
            <a:r>
              <a:rPr b="0" sz="1700"/>
              <a:t>  アイ ディドゥント </a:t>
            </a:r>
            <a:r>
              <a:rPr b="1" sz="1700"/>
              <a:t>ハンドウェイブ</a:t>
            </a:r>
            <a:r>
              <a:rPr b="0" sz="1700"/>
              <a:t> ザ スレッツ。</a:t>
            </a:r>
          </a:p>
          <a:p>
            <a:r>
              <a:rPr b="0" sz="1700"/>
              <a:t>Eighteen scenarios. Each one tagged with STRIDE and LINDDUN.</a:t>
            </a:r>
          </a:p>
          <a:p>
            <a:r>
              <a:rPr b="0" sz="1700"/>
              <a:t>  </a:t>
            </a:r>
            <a:r>
              <a:rPr b="1" sz="1700"/>
              <a:t>エイティーン</a:t>
            </a:r>
            <a:r>
              <a:rPr b="0" sz="1700"/>
              <a:t> シナリオズ。 イーチ ワン タグド ウィズ </a:t>
            </a:r>
            <a:r>
              <a:rPr b="1" sz="1700"/>
              <a:t>ストライド</a:t>
            </a:r>
            <a:r>
              <a:rPr b="0" sz="1700"/>
              <a:t> アンド </a:t>
            </a:r>
            <a:r>
              <a:rPr b="1" sz="1700"/>
              <a:t>リンダン</a:t>
            </a:r>
            <a:r>
              <a:rPr b="0" sz="1700"/>
              <a:t>。</a:t>
            </a:r>
          </a:p>
          <a:p>
            <a:r>
              <a:rPr b="0" sz="1700"/>
              <a:t>Offline cracking. Session replay. Header leakage.</a:t>
            </a:r>
          </a:p>
          <a:p>
            <a:r>
              <a:rPr b="0" sz="1700"/>
              <a:t>  オフライン クラッキング。 セッション リプレイ。 ヘダー リーキッジ。</a:t>
            </a:r>
          </a:p>
          <a:p>
            <a:r>
              <a:rPr b="0" sz="1700"/>
              <a:t>Timing side-channels. Object-cue spoofing. Disclosure under force.</a:t>
            </a:r>
          </a:p>
          <a:p>
            <a:r>
              <a:rPr b="0" sz="1700"/>
              <a:t>  タイミング サイドチャネルズ。 オブジェクトキュー スプーフィング。 ディスクロージャー </a:t>
            </a:r>
            <a:r>
              <a:rPr b="1" sz="1700"/>
              <a:t>アンダー フォース</a:t>
            </a:r>
            <a:r>
              <a:rPr b="0" sz="1700"/>
              <a:t>。</a:t>
            </a:r>
          </a:p>
          <a:p>
            <a:r>
              <a:rPr b="0" sz="1700"/>
              <a:t>Here are a few. The full matrix is in the repo.</a:t>
            </a:r>
          </a:p>
          <a:p>
            <a:r>
              <a:rPr b="0" sz="1700"/>
              <a:t>  ヒア アー ア </a:t>
            </a:r>
            <a:r>
              <a:rPr b="1" sz="1700"/>
              <a:t>フュー</a:t>
            </a:r>
            <a:r>
              <a:rPr b="0" sz="1700"/>
              <a:t>。 ザ フル メイトリクス イズ イン ザ </a:t>
            </a:r>
            <a:r>
              <a:rPr b="1" sz="1700"/>
              <a:t>リーポウ</a:t>
            </a:r>
            <a:r>
              <a:rPr b="0" sz="1700"/>
              <a:t>。</a:t>
            </a:r>
          </a:p>
          <a:p>
            <a:r>
              <a:rPr b="0" sz="1700"/>
              <a:t>And if you want to argue with any of them — find me after.</a:t>
            </a:r>
          </a:p>
          <a:p>
            <a:r>
              <a:rPr b="0" sz="1700"/>
              <a:t>  アンド イフ ユー ワナ </a:t>
            </a:r>
            <a:r>
              <a:rPr b="1" sz="1700"/>
              <a:t>アーギュー</a:t>
            </a:r>
            <a:r>
              <a:rPr b="0" sz="1700"/>
              <a:t> ウィズ エニー オブ ゼム — </a:t>
            </a:r>
            <a:r>
              <a:rPr b="1" sz="1700"/>
              <a:t>ファインド ミー アフター</a:t>
            </a:r>
            <a:r>
              <a:rPr b="0" sz="1700"/>
              <a:t>。</a:t>
            </a:r>
          </a:p>
          <a:p>
            <a:r>
              <a:rPr b="0" sz="1700"/>
              <a:t>I’d enjoy that.”</a:t>
            </a:r>
          </a:p>
          <a:p>
            <a:r>
              <a:rPr b="0" sz="1700"/>
              <a:t>  アイド </a:t>
            </a:r>
            <a:r>
              <a:rPr b="1" sz="1700"/>
              <a:t>エンジョイ</a:t>
            </a:r>
            <a:r>
              <a:rPr b="0" sz="1700"/>
              <a:t> ザット。</a:t>
            </a:r>
          </a:p>
          <a:p>
            <a:r>
              <a:rPr b="0" sz="1700"/>
              <a:t/>
            </a:r>
          </a:p>
          <a:p>
            <a:r>
              <a:rPr b="0" sz="120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[07:10 / 1:00] ARCHITECTURE BOUNDARY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“By design, four things stay explicit.</a:t>
            </a:r>
          </a:p>
          <a:p>
            <a:r>
              <a:rPr b="0" sz="1700"/>
              <a:t>  </a:t>
            </a:r>
            <a:r>
              <a:rPr b="1" sz="1700"/>
              <a:t>バイ デザイン</a:t>
            </a:r>
            <a:r>
              <a:rPr b="0" sz="1700"/>
              <a:t>、 フォー シングズ ステイ エクスプリシット。</a:t>
            </a:r>
          </a:p>
          <a:p>
            <a:r>
              <a:rPr b="0" sz="1700"/>
              <a:t>One. Two-slot storage.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。 トゥースロット </a:t>
            </a:r>
            <a:r>
              <a:rPr b="1" sz="1700"/>
              <a:t>ストレージ</a:t>
            </a:r>
            <a:r>
              <a:rPr b="0" sz="1700"/>
              <a:t>。</a:t>
            </a:r>
          </a:p>
          <a:p>
            <a:r>
              <a:rPr b="0" sz="1700"/>
              <a:t>Two. Local access-key mixing — keys come from local state, not from a passphrase alone.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。 ローカル アクセスキー ミキシング — キーズ カム フロム </a:t>
            </a:r>
            <a:r>
              <a:rPr b="1" sz="1700"/>
              <a:t>ローカル ステイト</a:t>
            </a:r>
            <a:r>
              <a:rPr b="0" sz="1700"/>
              <a:t>、 ナット フロム ア パスフレイズ アロウン。</a:t>
            </a:r>
          </a:p>
          <a:p>
            <a:r>
              <a:rPr b="0" sz="1700"/>
              <a:t>Three. A restricted-action policy. It gates anything sensitive, and anything about recovery.</a:t>
            </a:r>
          </a:p>
          <a:p>
            <a:r>
              <a:rPr b="0" sz="1700"/>
              <a:t>  スリー。 ア </a:t>
            </a:r>
            <a:r>
              <a:rPr b="1" sz="1700"/>
              <a:t>リストリクテッド アクション</a:t>
            </a:r>
            <a:r>
              <a:rPr b="0" sz="1700"/>
              <a:t> ポリシー。 イット ゲイツ エニシング </a:t>
            </a:r>
            <a:r>
              <a:rPr b="1" sz="1700"/>
              <a:t>センシティブ</a:t>
            </a:r>
            <a:r>
              <a:rPr b="0" sz="1700"/>
              <a:t>、 アンド エニシング アバウト </a:t>
            </a:r>
            <a:r>
              <a:rPr b="1" sz="1700"/>
              <a:t>リカバリー</a:t>
            </a:r>
            <a:r>
              <a:rPr b="0" sz="1700"/>
              <a:t>。</a:t>
            </a:r>
          </a:p>
          <a:p>
            <a:r>
              <a:rPr b="0" sz="1700"/>
              <a:t>Four. Capture-visible discipline.</a:t>
            </a:r>
          </a:p>
          <a:p>
            <a:r>
              <a:rPr b="0" sz="1700"/>
              <a:t>  フォー。 </a:t>
            </a:r>
            <a:r>
              <a:rPr b="1" sz="1700"/>
              <a:t>キャプチャー ビジブル</a:t>
            </a:r>
            <a:r>
              <a:rPr b="0" sz="1700"/>
              <a:t> ディシプリン。</a:t>
            </a:r>
          </a:p>
          <a:p>
            <a:r>
              <a:rPr b="0" sz="1700"/>
              <a:t>Normal flows never show the structure, the recovery path, or the order you’d try things in.</a:t>
            </a:r>
          </a:p>
          <a:p>
            <a:r>
              <a:rPr b="0" sz="1700"/>
              <a:t>  ノーマル フロウズ </a:t>
            </a:r>
            <a:r>
              <a:rPr b="1" sz="1700"/>
              <a:t>ネバー</a:t>
            </a:r>
            <a:r>
              <a:rPr b="0" sz="1700"/>
              <a:t> ショウ ザ ストラクチャー、 ザ リカバリー パス、 オア ジ オーダー ユード トライ シングズ イン。</a:t>
            </a:r>
          </a:p>
          <a:p>
            <a:r>
              <a:rPr b="0" sz="1700"/>
              <a:t/>
            </a:r>
          </a:p>
          <a:p>
            <a:r>
              <a:rPr b="0" sz="120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[08:10 / 0:40] LAYERS + DOCS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Underneath are narrow local layers.</a:t>
            </a:r>
          </a:p>
          <a:p>
            <a:r>
              <a:rPr b="0" sz="1700"/>
              <a:t>  アンダニース アー ナロー ローカル レイヤーズ。</a:t>
            </a:r>
          </a:p>
          <a:p>
            <a:r>
              <a:rPr b="0" sz="1700"/>
              <a:t>Entry points, policy, crypto core, local state, deployment.</a:t>
            </a:r>
          </a:p>
          <a:p>
            <a:r>
              <a:rPr b="0" sz="1700"/>
              <a:t>  エントリー ポインツ、 ポリシー、 クリプト コア、 ローカル ステイト、 ディプロイメント。</a:t>
            </a:r>
          </a:p>
          <a:p>
            <a:r>
              <a:rPr b="0" sz="1700"/>
              <a:t>None of this is folklore. It’s documented.</a:t>
            </a:r>
          </a:p>
          <a:p>
            <a:r>
              <a:rPr b="0" sz="1700"/>
              <a:t>  </a:t>
            </a:r>
            <a:r>
              <a:rPr b="1" sz="1700"/>
              <a:t>ナン</a:t>
            </a:r>
            <a:r>
              <a:rPr b="0" sz="1700"/>
              <a:t> オブ ディス イズ フォークロー。 イッツ </a:t>
            </a:r>
            <a:r>
              <a:rPr b="1" sz="1700"/>
              <a:t>ドキュメンテッド</a:t>
            </a:r>
            <a:r>
              <a:rPr b="0" sz="1700"/>
              <a:t>。</a:t>
            </a:r>
          </a:p>
          <a:p>
            <a:r>
              <a:rPr b="0" sz="1700"/>
              <a:t>Read it — and poke holes in it.”</a:t>
            </a:r>
          </a:p>
          <a:p>
            <a:r>
              <a:rPr b="0" sz="1700"/>
              <a:t>  </a:t>
            </a:r>
            <a:r>
              <a:rPr b="1" sz="1700"/>
              <a:t>リード</a:t>
            </a:r>
            <a:r>
              <a:rPr b="0" sz="1700"/>
              <a:t> イット — アンド </a:t>
            </a:r>
            <a:r>
              <a:rPr b="1" sz="1700"/>
              <a:t>ポウク ホウルズ</a:t>
            </a:r>
            <a:r>
              <a:rPr b="0" sz="170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[08:50 / 0:50] THREE PILLARS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“Three moving parts.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ムービング パーツ。</a:t>
            </a:r>
          </a:p>
          <a:p>
            <a:r>
              <a:rPr b="0" sz="1700"/>
              <a:t>One — an encrypted local vessel. Authenticated encryption. Keys made from your password.</a:t>
            </a:r>
          </a:p>
          <a:p>
            <a:r>
              <a:rPr b="0" sz="1700"/>
              <a:t>  ワン — アン インクリプテッド ローカル </a:t>
            </a:r>
            <a:r>
              <a:rPr b="1" sz="1700"/>
              <a:t>ベッセル</a:t>
            </a:r>
            <a:r>
              <a:rPr b="0" sz="1700"/>
              <a:t>。 オーセンティケイテッド インクリプション。 </a:t>
            </a:r>
            <a:r>
              <a:rPr b="1" sz="1700"/>
              <a:t>キーズ メイド フロム ユア パスワード</a:t>
            </a:r>
            <a:r>
              <a:rPr b="0" sz="1700"/>
              <a:t>。</a:t>
            </a:r>
          </a:p>
          <a:p>
            <a:r>
              <a:rPr b="0" sz="1700"/>
              <a:t>Two — object-cue operation. I’ll come right back to this. It’s the fun part.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 — オブジェクトキュー オペレイション。 アイル カム ライト バック トゥ ディス。 イッツ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Three — controlled disclosure.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— コントロールド ディスクロージャー。</a:t>
            </a:r>
          </a:p>
          <a:p>
            <a:r>
              <a:rPr b="0" sz="1700"/>
              <a:t>And that third one is concrete, not a slogan.</a:t>
            </a:r>
          </a:p>
          <a:p>
            <a:r>
              <a:rPr b="0" sz="1700"/>
              <a:t>  アンド ザット サード ワン イズ </a:t>
            </a:r>
            <a:r>
              <a:rPr b="1" sz="1700"/>
              <a:t>コンクリート</a:t>
            </a:r>
            <a:r>
              <a:rPr b="0" sz="1700"/>
              <a:t>、 ナット ア スロウガン。</a:t>
            </a:r>
          </a:p>
          <a:p>
            <a:r>
              <a:rPr b="0" sz="1700"/>
              <a:t>You set three passwords.</a:t>
            </a:r>
          </a:p>
          <a:p>
            <a:r>
              <a:rPr b="0" sz="1700"/>
              <a:t>  ユー セット </a:t>
            </a:r>
            <a:r>
              <a:rPr b="1" sz="1700"/>
              <a:t>スリー パスワーズ</a:t>
            </a:r>
            <a:r>
              <a:rPr b="0" sz="1700"/>
              <a:t>。</a:t>
            </a:r>
          </a:p>
          <a:p>
            <a:r>
              <a:rPr b="0" sz="1700"/>
              <a:t>One opens the real file.</a:t>
            </a:r>
          </a:p>
          <a:p>
            <a:r>
              <a:rPr b="0" sz="1700"/>
              <a:t>  ワン </a:t>
            </a:r>
            <a:r>
              <a:rPr b="1" sz="1700"/>
              <a:t>オープンズ</a:t>
            </a:r>
            <a:r>
              <a:rPr b="0" sz="1700"/>
              <a:t> ザ リアル ファイル。</a:t>
            </a:r>
          </a:p>
          <a:p>
            <a:r>
              <a:rPr b="0" sz="1700"/>
              <a:t>One opens the decoy.</a:t>
            </a:r>
          </a:p>
          <a:p>
            <a:r>
              <a:rPr b="0" sz="1700"/>
              <a:t>  ワン オープンズ ザ </a:t>
            </a:r>
            <a:r>
              <a:rPr b="1" sz="1700"/>
              <a:t>ディーコイ</a:t>
            </a:r>
            <a:r>
              <a:rPr b="0" sz="1700"/>
              <a:t>。</a:t>
            </a:r>
          </a:p>
          <a:p>
            <a:r>
              <a:rPr b="0" sz="1700"/>
              <a:t>And one destroys the real file.</a:t>
            </a:r>
          </a:p>
          <a:p>
            <a:r>
              <a:rPr b="0" sz="1700"/>
              <a:t>  アンド ワン </a:t>
            </a:r>
            <a:r>
              <a:rPr b="1" sz="1700"/>
              <a:t>ディストロイズ</a:t>
            </a:r>
            <a:r>
              <a:rPr b="0" sz="1700"/>
              <a:t> ザ リアル ファイル。</a:t>
            </a:r>
          </a:p>
          <a:p>
            <a:r>
              <a:rPr b="0" sz="1700"/>
              <a:t>Three passwords. Three very different outcomes.</a:t>
            </a:r>
          </a:p>
          <a:p>
            <a:r>
              <a:rPr b="0" sz="1700"/>
              <a:t>  スリー パスワーズ。 スリー ベリー </a:t>
            </a:r>
            <a:r>
              <a:rPr b="1" sz="1700"/>
              <a:t>ディファレント アウトカムズ</a:t>
            </a:r>
            <a:r>
              <a:rPr b="0" sz="1700"/>
              <a:t>。</a:t>
            </a:r>
          </a:p>
          <a:p>
            <a:r>
              <a:rPr b="0" sz="1700"/>
              <a:t>And only you know which is which.”</a:t>
            </a:r>
          </a:p>
          <a:p>
            <a:r>
              <a:rPr b="0" sz="1700"/>
              <a:t>  アンド </a:t>
            </a:r>
            <a:r>
              <a:rPr b="1" sz="1700"/>
              <a:t>オンリー ユー</a:t>
            </a:r>
            <a:r>
              <a:rPr b="0" sz="1700"/>
              <a:t> ノウ ウィッチ イズ ウィッチ。</a:t>
            </a:r>
          </a:p>
          <a:p>
            <a:r>
              <a:rPr b="0" sz="1700"/>
              <a:t/>
            </a:r>
          </a:p>
          <a:p>
            <a:r>
              <a:rPr b="0" sz="120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[09:40 / 1:20] OBJECT-CUE  ★見せ場 — 発話 0:50</a:t>
            </a:r>
          </a:p>
          <a:p>
            <a:r>
              <a:rPr b="0" sz="1700"/>
              <a:t/>
            </a:r>
          </a:p>
          <a:p>
            <a:r>
              <a:rPr b="0" sz="1700"/>
              <a:t>“Here’s the fun part.</a:t>
            </a:r>
          </a:p>
          <a:p>
            <a:r>
              <a:rPr b="0" sz="1700"/>
              <a:t>  ヒアズ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You show an everyday object to the camera, and that operates the access gate.</a:t>
            </a:r>
          </a:p>
          <a:p>
            <a:r>
              <a:rPr b="0" sz="1700"/>
              <a:t>  ユー ショウ アン エブリデイ </a:t>
            </a:r>
            <a:r>
              <a:rPr b="1" sz="1700"/>
              <a:t>オブジェクト</a:t>
            </a:r>
            <a:r>
              <a:rPr b="0" sz="1700"/>
              <a:t> トゥ ザ カメラ、 アンド ザット オペレイツ ジ </a:t>
            </a:r>
            <a:r>
              <a:rPr b="1" sz="1700"/>
              <a:t>アクセス ゲイト</a:t>
            </a:r>
            <a:r>
              <a:rPr b="0" sz="1700"/>
              <a:t>。</a:t>
            </a:r>
          </a:p>
          <a:p>
            <a:r>
              <a:rPr b="0" sz="1700"/>
              <a:t>Nothing to type. Nothing that looks like a secret.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トゥ タイプ。 </a:t>
            </a:r>
            <a:r>
              <a:rPr b="1" sz="1700"/>
              <a:t>ナッシング</a:t>
            </a:r>
            <a:r>
              <a:rPr b="0" sz="1700"/>
              <a:t> ザット ルックス ライク ア シークレット。</a:t>
            </a:r>
          </a:p>
          <a:p>
            <a:r>
              <a:rPr b="0" sz="1700"/>
              <a:t>Now — this is the part people get wrong. So let me be clear.</a:t>
            </a:r>
          </a:p>
          <a:p>
            <a:r>
              <a:rPr b="0" sz="1700"/>
              <a:t>  ナウ — ディス イズ ザ パート ピープル ゲット </a:t>
            </a:r>
            <a:r>
              <a:rPr b="1" sz="1700"/>
              <a:t>ロング</a:t>
            </a:r>
            <a:r>
              <a:rPr b="0" sz="1700"/>
              <a:t>。 ソウ レット ミー ビー </a:t>
            </a:r>
            <a:r>
              <a:rPr b="1" sz="1700"/>
              <a:t>クリア</a:t>
            </a:r>
            <a:r>
              <a:rPr b="0" sz="1700"/>
              <a:t>。</a:t>
            </a:r>
          </a:p>
          <a:p>
            <a:r>
              <a:rPr b="0" sz="1700"/>
              <a:t>The object is a cue, not a key.</a:t>
            </a:r>
          </a:p>
          <a:p>
            <a:r>
              <a:rPr b="0" sz="1700"/>
              <a:t>  ジ オブジェクト イズ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drives operation, and policy checks.</a:t>
            </a:r>
          </a:p>
          <a:p>
            <a:r>
              <a:rPr b="0" sz="1700"/>
              <a:t>  イット ドライブズ </a:t>
            </a:r>
            <a:r>
              <a:rPr b="1" sz="1700"/>
              <a:t>オペレイション</a:t>
            </a:r>
            <a:r>
              <a:rPr b="0" sz="1700"/>
              <a:t>、 アンド ポリシー チェックス。</a:t>
            </a:r>
          </a:p>
          <a:p>
            <a:r>
              <a:rPr b="0" sz="1700"/>
              <a:t>It is not the encryption key.</a:t>
            </a:r>
          </a:p>
          <a:p>
            <a:r>
              <a:rPr b="0" sz="1700"/>
              <a:t> 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 of the object unlocks nothing.</a:t>
            </a:r>
          </a:p>
          <a:p>
            <a:r>
              <a:rPr b="0" sz="1700"/>
              <a:t>  ア フォト オブ ジ オブジェクト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The crypto stays with Argon2id and AES-GCM.</a:t>
            </a:r>
          </a:p>
          <a:p>
            <a:r>
              <a:rPr b="0" sz="1700"/>
              <a:t>  ザ クリプト ステイズ ウィズ アーゴン ツー アイディー アンド エイ イー エス ジー シー エム。</a:t>
            </a:r>
          </a:p>
          <a:p>
            <a:r>
              <a:rPr b="0" sz="1700"/>
              <a:t>The object only decides whether you get to act.</a:t>
            </a:r>
          </a:p>
          <a:p>
            <a:r>
              <a:rPr b="0" sz="1700"/>
              <a:t>  ジ オブジェクト オンリー ディサイズ ウェザー ユー ゲット トゥ </a:t>
            </a:r>
            <a:r>
              <a:rPr b="1" sz="1700"/>
              <a:t>アクト</a:t>
            </a:r>
            <a:r>
              <a:rPr b="0" sz="1700"/>
              <a:t>。</a:t>
            </a:r>
          </a:p>
          <a:p>
            <a:r>
              <a:rPr b="0" sz="1700"/>
              <a:t>And you’ll watch this fail, live, in a few minutes.</a:t>
            </a:r>
          </a:p>
          <a:p>
            <a:r>
              <a:rPr b="0" sz="1700"/>
              <a:t>  アンド ユール ウォッチ ディス </a:t>
            </a:r>
            <a:r>
              <a:rPr b="1" sz="1700"/>
              <a:t>フェイル</a:t>
            </a:r>
            <a:r>
              <a:rPr b="0" sz="1700"/>
              <a:t>、 </a:t>
            </a:r>
            <a:r>
              <a:rPr b="1" sz="1700"/>
              <a:t>ライブ</a:t>
            </a:r>
            <a:r>
              <a:rPr b="0" sz="1700"/>
              <a:t>、 イン ア フュー ミニッツ。</a:t>
            </a:r>
          </a:p>
          <a:p>
            <a:r>
              <a:rPr b="0" sz="1700"/>
              <a:t>Same file. Same password. No object.”</a:t>
            </a:r>
          </a:p>
          <a:p>
            <a:r>
              <a:rPr b="0" sz="1700"/>
              <a:t>  セイム ファイル。 セイム パスワード。 </a:t>
            </a:r>
            <a:r>
              <a:rPr b="1" sz="1700"/>
              <a:t>ノウ オブジェクト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“A cue, not a key. A photo of it unlocks nothing.”</a:t>
            </a:r>
          </a:p>
          <a:p>
            <a:r>
              <a:rPr b="0" sz="1700"/>
              <a:t> 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 ア フォト オブ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ゆっくり。手元の物体を掲げると効果的。最後の一文で SCENE 6・7 の拒否を予告する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[11:00 / 1:20] COERCION-SAFE DELAYING — 発話 1:20</a:t>
            </a:r>
          </a:p>
          <a:p>
            <a:r>
              <a:rPr b="0" sz="1700"/>
              <a:t/>
            </a:r>
          </a:p>
          <a:p>
            <a:r>
              <a:rPr b="0" sz="1700"/>
              <a:t>“This is what makes it coercion-safe.</a:t>
            </a:r>
          </a:p>
          <a:p>
            <a:r>
              <a:rPr b="0" sz="1700"/>
              <a:t>  ディス イズ ワット メイクス イット </a:t>
            </a:r>
            <a:r>
              <a:rPr b="1" sz="1700"/>
              <a:t>コアージョン セイフ</a:t>
            </a:r>
            <a:r>
              <a:rPr b="0" sz="1700"/>
              <a:t>。</a:t>
            </a:r>
          </a:p>
          <a:p>
            <a:r>
              <a:rPr b="0" sz="1700"/>
              <a:t>First, Silent Standby.</a:t>
            </a:r>
          </a:p>
          <a:p>
            <a:r>
              <a:rPr b="0" sz="1700"/>
              <a:t>  ファースト、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One hotkey drops the sensitive interface into a harmless state.</a:t>
            </a:r>
          </a:p>
          <a:p>
            <a:r>
              <a:rPr b="0" sz="1700"/>
              <a:t>  ワン ホットキー ドロップス ザ センシティブ インターフェイス イントゥ ア </a:t>
            </a:r>
            <a:r>
              <a:rPr b="1" sz="1700"/>
              <a:t>ハームレス ステイト</a:t>
            </a:r>
            <a:r>
              <a:rPr b="0" sz="1700"/>
              <a:t>。</a:t>
            </a:r>
          </a:p>
          <a:p>
            <a:r>
              <a:rPr b="0" sz="1700"/>
              <a:t>To come back, you sign in again.</a:t>
            </a:r>
          </a:p>
          <a:p>
            <a:r>
              <a:rPr b="0" sz="1700"/>
              <a:t>  トゥ カム バック、 ユー </a:t>
            </a:r>
            <a:r>
              <a:rPr b="1" sz="1700"/>
              <a:t>サイン イン アゲイン</a:t>
            </a:r>
            <a:r>
              <a:rPr b="0" sz="1700"/>
              <a:t>。</a:t>
            </a:r>
          </a:p>
          <a:p>
            <a:r>
              <a:rPr b="0" sz="1700"/>
              <a:t>Second — the material itself. And I want to be exact here.</a:t>
            </a:r>
          </a:p>
          <a:p>
            <a:r>
              <a:rPr b="0" sz="1700"/>
              <a:t>  セカンド — ザ マテリアル </a:t>
            </a:r>
            <a:r>
              <a:rPr b="1" sz="1700"/>
              <a:t>イットセルフ</a:t>
            </a:r>
            <a:r>
              <a:rPr b="0" sz="1700"/>
              <a:t>。 アンド アイ ウォント トゥ ビー </a:t>
            </a:r>
            <a:r>
              <a:rPr b="1" sz="1700"/>
              <a:t>イグザクト</a:t>
            </a:r>
            <a:r>
              <a:rPr b="0" sz="1700"/>
              <a:t> ヒア。</a:t>
            </a:r>
          </a:p>
          <a:p>
            <a:r>
              <a:rPr b="0" sz="1700"/>
              <a:t>The file you would hand over is a file you wrote and stored yourself.</a:t>
            </a:r>
          </a:p>
          <a:p>
            <a:r>
              <a:rPr b="0" sz="1700"/>
              <a:t>  ザ ファイル ユー ウド ハンド オーバー イズ ア ファイル ユー </a:t>
            </a:r>
            <a:r>
              <a:rPr b="1" sz="1700"/>
              <a:t>ロウト アンド ストード ユアセルフ</a:t>
            </a:r>
            <a:r>
              <a:rPr b="0" sz="1700"/>
              <a:t>。</a:t>
            </a:r>
          </a:p>
          <a:p>
            <a:r>
              <a:rPr b="0" sz="1700"/>
              <a:t>Before any coercion.</a:t>
            </a:r>
          </a:p>
          <a:p>
            <a:r>
              <a:rPr b="0" sz="1700"/>
              <a:t>  ビフォー </a:t>
            </a:r>
            <a:r>
              <a:rPr b="1" sz="1700"/>
              <a:t>エニー</a:t>
            </a:r>
            <a:r>
              <a:rPr b="0" sz="1700"/>
              <a:t> コアージョン。</a:t>
            </a:r>
          </a:p>
          <a:p>
            <a:r>
              <a:rPr b="0" sz="1700"/>
              <a:t>Phasmid does not make up your cover story.</a:t>
            </a:r>
          </a:p>
          <a:p>
            <a:r>
              <a:rPr b="0" sz="1700"/>
              <a:t>  ファズミッド ダズ ナット </a:t>
            </a:r>
            <a:r>
              <a:rPr b="1" sz="1700"/>
              <a:t>メイク アップ</a:t>
            </a:r>
            <a:r>
              <a:rPr b="0" sz="1700"/>
              <a:t> ユア カバー ストーリー。</a:t>
            </a:r>
          </a:p>
          <a:p>
            <a:r>
              <a:rPr b="0" sz="1700"/>
              <a:t>Made-up data would not survive five minutes of questions.</a:t>
            </a:r>
          </a:p>
          <a:p>
            <a:r>
              <a:rPr b="0" sz="1700"/>
              <a:t>  </a:t>
            </a:r>
            <a:r>
              <a:rPr b="1" sz="1700"/>
              <a:t>メイドアップ データ</a:t>
            </a:r>
            <a:r>
              <a:rPr b="0" sz="1700"/>
              <a:t> ウド ナット サバイブ ファイブ ミニッツ オブ クエスチョンズ。</a:t>
            </a:r>
          </a:p>
          <a:p>
            <a:r>
              <a:rPr b="0" sz="1700"/>
              <a:t>Not from someone holding your passport.</a:t>
            </a:r>
          </a:p>
          <a:p>
            <a:r>
              <a:rPr b="0" sz="1700"/>
              <a:t>  ナット フロム サムワン ホウルディング ユア </a:t>
            </a:r>
            <a:r>
              <a:rPr b="1" sz="1700"/>
              <a:t>パスポート</a:t>
            </a:r>
            <a:r>
              <a:rPr b="0" sz="1700"/>
              <a:t>。</a:t>
            </a:r>
          </a:p>
          <a:p>
            <a:r>
              <a:rPr b="0" sz="1700"/>
              <a:t>It has to be yours — not text my tool made up.</a:t>
            </a:r>
          </a:p>
          <a:p>
            <a:r>
              <a:rPr b="0" sz="1700"/>
              <a:t>  イット ハズ トゥ ビー </a:t>
            </a:r>
            <a:r>
              <a:rPr b="1" sz="1700"/>
              <a:t>ユアーズ</a:t>
            </a:r>
            <a:r>
              <a:rPr b="0" sz="1700"/>
              <a:t> — ナット テクスト マイ ツール </a:t>
            </a:r>
            <a:r>
              <a:rPr b="1" sz="1700"/>
              <a:t>メイド アップ</a:t>
            </a:r>
            <a:r>
              <a:rPr b="0" sz="1700"/>
              <a:t>。</a:t>
            </a:r>
          </a:p>
          <a:p>
            <a:r>
              <a:rPr b="0" sz="1700"/>
              <a:t>What the tool does give you is filler.</a:t>
            </a:r>
          </a:p>
          <a:p>
            <a:r>
              <a:rPr b="0" sz="1700"/>
              <a:t>  ワット ザ ツール ダズ ギブ ユー イズ </a:t>
            </a:r>
            <a:r>
              <a:rPr b="1" sz="1700"/>
              <a:t>フィラー</a:t>
            </a:r>
            <a:r>
              <a:rPr b="0" sz="1700"/>
              <a:t>。</a:t>
            </a:r>
          </a:p>
          <a:p>
            <a:r>
              <a:rPr b="0" sz="1700"/>
              <a:t>It occupies free space, so an empty container doesn’t read as empty.</a:t>
            </a:r>
          </a:p>
          <a:p>
            <a:r>
              <a:rPr b="0" sz="1700"/>
              <a:t>  イット オキュパイズ </a:t>
            </a:r>
            <a:r>
              <a:rPr b="1" sz="1700"/>
              <a:t>フリー スペイス</a:t>
            </a:r>
            <a:r>
              <a:rPr b="0" sz="1700"/>
              <a:t>、 ソウ アン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That’s a volume problem. And volume is something software can actually solve.</a:t>
            </a:r>
          </a:p>
          <a:p>
            <a:r>
              <a:rPr b="0" sz="1700"/>
              <a:t>  ザッツ ア </a:t>
            </a:r>
            <a:r>
              <a:rPr b="1" sz="1700"/>
              <a:t>ボリューム プロブレム</a:t>
            </a:r>
            <a:r>
              <a:rPr b="0" sz="1700"/>
              <a:t>。 アンド ボリューム イズ サムシング ソフトウェア キャン </a:t>
            </a:r>
            <a:r>
              <a:rPr b="1" sz="1700"/>
              <a:t>アクチュアリー ソルブ</a:t>
            </a:r>
            <a:r>
              <a:rPr b="0" sz="1700"/>
              <a:t>。</a:t>
            </a:r>
          </a:p>
          <a:p>
            <a:r>
              <a:rPr b="0" sz="1700"/>
              <a:t>Third — context profiles. Travel. Field engineer. Researcher.</a:t>
            </a:r>
          </a:p>
          <a:p>
            <a:r>
              <a:rPr b="0" sz="1700"/>
              <a:t>  サード — </a:t>
            </a:r>
            <a:r>
              <a:rPr b="1" sz="1700"/>
              <a:t>コンテクスト プロファイルズ</a:t>
            </a:r>
            <a:r>
              <a:rPr b="0" sz="1700"/>
              <a:t>。 トラベル。 フィールド エンジニア。 リサーチャー。</a:t>
            </a:r>
          </a:p>
          <a:p>
            <a:r>
              <a:rPr b="0" sz="1700"/>
              <a:t>They tell you what ‘normal’ should look like, so you know what to prepare.</a:t>
            </a:r>
          </a:p>
          <a:p>
            <a:r>
              <a:rPr b="0" sz="1700"/>
              <a:t>  ゼイ テル ユー ワット </a:t>
            </a:r>
            <a:r>
              <a:rPr b="1" sz="1700"/>
              <a:t>ノーマル</a:t>
            </a:r>
            <a:r>
              <a:rPr b="0" sz="1700"/>
              <a:t> シュド ルック ライク、 ソウ ユー ノウ ワット トゥ プリペア。</a:t>
            </a:r>
          </a:p>
          <a:p>
            <a:r>
              <a:rPr b="0" sz="1700"/>
              <a:t>And in coercion-safe mode, a weak match goes to the disclosure face — it does not fail loudly.</a:t>
            </a:r>
          </a:p>
          <a:p>
            <a:r>
              <a:rPr b="0" sz="1700"/>
              <a:t>  アンド イン コアージョンセイフ モード、 ア </a:t>
            </a:r>
            <a:r>
              <a:rPr b="1" sz="1700"/>
              <a:t>ウィーク マッチ</a:t>
            </a:r>
            <a:r>
              <a:rPr b="0" sz="1700"/>
              <a:t> ゴーズ トゥ ザ ディスクロージャー フェイス — イット ダズ </a:t>
            </a:r>
            <a:r>
              <a:rPr b="1" sz="1700"/>
              <a:t>ナット フェイル ラウドリー</a:t>
            </a:r>
            <a:r>
              <a:rPr b="0" sz="1700"/>
              <a:t>。</a:t>
            </a:r>
          </a:p>
          <a:p>
            <a:r>
              <a:rPr b="0" sz="1700"/>
              <a:t>The goal is not to be invisible.</a:t>
            </a:r>
          </a:p>
          <a:p>
            <a:r>
              <a:rPr b="0" sz="1700"/>
              <a:t>  ザ ゴール イズ </a:t>
            </a:r>
            <a:r>
              <a:rPr b="1" sz="1700"/>
              <a:t>ナット トゥ ビー インビジブル</a:t>
            </a:r>
            <a:r>
              <a:rPr b="0" sz="1700"/>
              <a:t>。</a:t>
            </a:r>
          </a:p>
          <a:p>
            <a:r>
              <a:rPr b="0" sz="1700"/>
              <a:t>The goal is doubt, and time.”</a:t>
            </a:r>
          </a:p>
          <a:p>
            <a:r>
              <a:rPr b="0" sz="1700"/>
              <a:t>  ザ ゴール イズ </a:t>
            </a:r>
            <a:r>
              <a:rPr b="1" sz="1700"/>
              <a:t>ダウト</a:t>
            </a:r>
            <a:r>
              <a:rPr b="0" sz="1700"/>
              <a:t>、 アンド </a:t>
            </a:r>
            <a:r>
              <a:rPr b="1" sz="1700"/>
              <a:t>タイム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はデモで見せないので予告しない — 概念としてここで説明しきる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[12:20 / 0:45] DESIGN PRINCIPLES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design principle is restraint.</a:t>
            </a:r>
          </a:p>
          <a:p>
            <a:r>
              <a:rPr b="0" sz="1700"/>
              <a:t>  ザ デザイン プリンシプル イズ </a:t>
            </a:r>
            <a:r>
              <a:rPr b="1" sz="1700"/>
              <a:t>リストレイント</a:t>
            </a:r>
            <a:r>
              <a:rPr b="0" sz="1700"/>
              <a:t>。</a:t>
            </a:r>
          </a:p>
          <a:p>
            <a:r>
              <a:rPr b="0" sz="1700"/>
              <a:t>The vault file alone isn’t meant to be enough.</a:t>
            </a:r>
          </a:p>
          <a:p>
            <a:r>
              <a:rPr b="0" sz="1700"/>
              <a:t>  ザ ボールト ファイル </a:t>
            </a:r>
            <a:r>
              <a:rPr b="1" sz="1700"/>
              <a:t>アロウン</a:t>
            </a:r>
            <a:r>
              <a:rPr b="0" sz="1700"/>
              <a:t> イズント メント トゥ ビー イナフ。</a:t>
            </a:r>
          </a:p>
          <a:p>
            <a:r>
              <a:rPr b="0" sz="1700"/>
              <a:t>Normal flows don’t reveal structure, or recovery.</a:t>
            </a:r>
          </a:p>
          <a:p>
            <a:r>
              <a:rPr b="0" sz="1700"/>
              <a:t>  ノーマル フロウズ ドウント </a:t>
            </a:r>
            <a:r>
              <a:rPr b="1" sz="1700"/>
              <a:t>リビール</a:t>
            </a:r>
            <a:r>
              <a:rPr b="0" sz="1700"/>
              <a:t> ストラクチャー、 オア リカバリー。</a:t>
            </a:r>
          </a:p>
          <a:p>
            <a:r>
              <a:rPr b="0" sz="1700"/>
              <a:t>And metadata reduction is best-effort. It helps — it does not clean.</a:t>
            </a:r>
          </a:p>
          <a:p>
            <a:r>
              <a:rPr b="0" sz="1700"/>
              <a:t>  アンド メタデータ リダクション イズ ベスト エフォート。 イット </a:t>
            </a:r>
            <a:r>
              <a:rPr b="1" sz="1700"/>
              <a:t>ヘルプス</a:t>
            </a:r>
            <a:r>
              <a:rPr b="0" sz="1700"/>
              <a:t> — イット ダズ </a:t>
            </a:r>
            <a:r>
              <a:rPr b="1" sz="1700"/>
              <a:t>ナット クリーン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[13:05 / 0:45] OPERATING FLOW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In practice, it is four steps.</a:t>
            </a:r>
          </a:p>
          <a:p>
            <a:r>
              <a:rPr b="0" sz="1700"/>
              <a:t>  </a:t>
            </a:r>
            <a:r>
              <a:rPr b="1" sz="1700"/>
              <a:t>イン プラクティス</a:t>
            </a:r>
            <a:r>
              <a:rPr b="0" sz="1700"/>
              <a:t>、 イッツ フォー ステップス。</a:t>
            </a:r>
          </a:p>
          <a:p>
            <a:r>
              <a:rPr b="0" sz="1700"/>
              <a:t>Prepare a vessel.</a:t>
            </a:r>
          </a:p>
          <a:p>
            <a:r>
              <a:rPr b="0" sz="1700"/>
              <a:t>  </a:t>
            </a:r>
            <a:r>
              <a:rPr b="1" sz="1700"/>
              <a:t>プリペア</a:t>
            </a:r>
            <a:r>
              <a:rPr b="0" sz="1700"/>
              <a:t> ア ベッセル。</a:t>
            </a:r>
          </a:p>
          <a:p>
            <a:r>
              <a:rPr b="0" sz="1700"/>
              <a:t>Bind it — to local state, and to the object cue.</a:t>
            </a:r>
          </a:p>
          <a:p>
            <a:r>
              <a:rPr b="0" sz="1700"/>
              <a:t>  </a:t>
            </a:r>
            <a:r>
              <a:rPr b="1" sz="1700"/>
              <a:t>バインド</a:t>
            </a:r>
            <a:r>
              <a:rPr b="0" sz="1700"/>
              <a:t> イット — トゥ ローカル ステイト、 アンド トゥ ジ オブジェクト キュー。</a:t>
            </a:r>
          </a:p>
          <a:p>
            <a:r>
              <a:rPr b="0" sz="1700"/>
              <a:t>Operate it — through the CLI, the TUI, or the local web interface.</a:t>
            </a:r>
          </a:p>
          <a:p>
            <a:r>
              <a:rPr b="0" sz="1700"/>
              <a:t>  </a:t>
            </a:r>
            <a:r>
              <a:rPr b="1" sz="1700"/>
              <a:t>オペレイト</a:t>
            </a:r>
            <a:r>
              <a:rPr b="0" sz="1700"/>
              <a:t> イット — スルー ザ シー エル アイ、 ザ ティー ユー アイ、 オア ザ ローカル ウェブ インターフェイス。</a:t>
            </a:r>
          </a:p>
          <a:p>
            <a:r>
              <a:rPr b="0" sz="1700"/>
              <a:t>Disclose — controlled, under assumptions we wrote down.</a:t>
            </a:r>
          </a:p>
          <a:p>
            <a:r>
              <a:rPr b="0" sz="1700"/>
              <a:t>  ディスクローズ — コントロールド、 アンダー アサンプションズ </a:t>
            </a:r>
            <a:r>
              <a:rPr b="1" sz="1700"/>
              <a:t>ウィー ロート ダウン</a:t>
            </a:r>
            <a:r>
              <a:rPr b="0" sz="1700"/>
              <a:t>。</a:t>
            </a:r>
          </a:p>
          <a:p>
            <a:r>
              <a:rPr b="0" sz="1700"/>
              <a:t>Keep those four in your head. They’re the map for the demo.”</a:t>
            </a:r>
          </a:p>
          <a:p>
            <a:r>
              <a:rPr b="0" sz="1700"/>
              <a:t>  キープ ゾウズ </a:t>
            </a:r>
            <a:r>
              <a:rPr b="1" sz="1700"/>
              <a:t>フォー</a:t>
            </a:r>
            <a:r>
              <a:rPr b="0" sz="1700"/>
              <a:t> イン ユア ヘッド。 ゼア ザ </a:t>
            </a:r>
            <a:r>
              <a:rPr b="1" sz="1700"/>
              <a:t>マップ</a:t>
            </a:r>
            <a:r>
              <a:rPr b="0" sz="170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[13:50 / 0:50] TECH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“Small. Local. Boring by design.</a:t>
            </a:r>
          </a:p>
          <a:p>
            <a:r>
              <a:rPr b="0" sz="1700"/>
              <a:t>  </a:t>
            </a:r>
            <a:r>
              <a:rPr b="1" sz="1700"/>
              <a:t>スモール</a:t>
            </a:r>
            <a:r>
              <a:rPr b="0" sz="1700"/>
              <a:t>。 </a:t>
            </a:r>
            <a:r>
              <a:rPr b="1" sz="1700"/>
              <a:t>ローカル</a:t>
            </a:r>
            <a:r>
              <a:rPr b="0" sz="1700"/>
              <a:t>。 </a:t>
            </a:r>
            <a:r>
              <a:rPr b="1" sz="1700"/>
              <a:t>ボーリング</a:t>
            </a:r>
            <a:r>
              <a:rPr b="0" sz="1700"/>
              <a:t> バイ デザイン。</a:t>
            </a:r>
          </a:p>
          <a:p>
            <a:r>
              <a:rPr b="0" sz="1700"/>
              <a:t>Argon2id turns a password into a key.</a:t>
            </a:r>
          </a:p>
          <a:p>
            <a:r>
              <a:rPr b="0" sz="1700"/>
              <a:t>  アーゴン ツー アイディー </a:t>
            </a:r>
            <a:r>
              <a:rPr b="1" sz="1700"/>
              <a:t>ターンズ ア パスワード イントゥ ア キー</a:t>
            </a:r>
            <a:r>
              <a:rPr b="0" sz="1700"/>
              <a:t>。</a:t>
            </a:r>
          </a:p>
          <a:p>
            <a:r>
              <a:rPr b="0" sz="1700"/>
              <a:t>AES-GCM for authenticated encryption.</a:t>
            </a:r>
          </a:p>
          <a:p>
            <a:r>
              <a:rPr b="0" sz="1700"/>
              <a:t>  </a:t>
            </a:r>
            <a:r>
              <a:rPr b="1" sz="1700"/>
              <a:t>エイ イー エス ジー シー エム</a:t>
            </a:r>
            <a:r>
              <a:rPr b="0" sz="1700"/>
              <a:t> フォー オーセンティケイテッド インクリプション。</a:t>
            </a:r>
          </a:p>
          <a:p>
            <a:r>
              <a:rPr b="0" sz="1700"/>
              <a:t>The web interface bound to localhost.</a:t>
            </a:r>
          </a:p>
          <a:p>
            <a:r>
              <a:rPr b="0" sz="1700"/>
              <a:t>  ザ ウェブ インターフェイス バウンド トゥ ローカルホスト。</a:t>
            </a:r>
          </a:p>
          <a:p>
            <a:r>
              <a:rPr b="0" sz="1700"/>
              <a:t>All of it on a Pi Zero 2 W.</a:t>
            </a:r>
          </a:p>
          <a:p>
            <a:r>
              <a:rPr b="0" sz="1700"/>
              <a:t>  オール オブ イット オン ア </a:t>
            </a:r>
            <a:r>
              <a:rPr b="1" sz="1700"/>
              <a:t>パイ ゼロ トゥー ダブリュー</a:t>
            </a:r>
            <a:r>
              <a:rPr b="0" sz="1700"/>
              <a:t>。</a:t>
            </a:r>
          </a:p>
          <a:p>
            <a:r>
              <a:rPr b="0" sz="1700"/>
              <a:t>Parameters tuned for that little board. Per-record encryption. No plaintext header.</a:t>
            </a:r>
          </a:p>
          <a:p>
            <a:r>
              <a:rPr b="0" sz="1700"/>
              <a:t>  パラミターズ </a:t>
            </a:r>
            <a:r>
              <a:rPr b="1" sz="1700"/>
              <a:t>チューンド</a:t>
            </a:r>
            <a:r>
              <a:rPr b="0" sz="1700"/>
              <a:t> フォー ザット リトル ボード。 パーレコード インクリプション。 </a:t>
            </a:r>
            <a:r>
              <a:rPr b="1" sz="1700"/>
              <a:t>ノウ プレインテクスト ヘダー</a:t>
            </a:r>
            <a:r>
              <a:rPr b="0" sz="1700"/>
              <a:t>。</a:t>
            </a:r>
          </a:p>
          <a:p>
            <a:r>
              <a:rPr b="0" sz="1700"/>
              <a:t>Boring is good. Boring is auditable.”</a:t>
            </a:r>
          </a:p>
          <a:p>
            <a:r>
              <a:rPr b="0" sz="1700"/>
              <a:t>  ボーリング イズ </a:t>
            </a:r>
            <a:r>
              <a:rPr b="1" sz="1700"/>
              <a:t>グッド</a:t>
            </a:r>
            <a:r>
              <a:rPr b="0" sz="1700"/>
              <a:t>。 ボーリング イズ </a:t>
            </a:r>
            <a:r>
              <a:rPr b="1" sz="1700"/>
              <a:t>オーディタブル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[14:40 / 1:00] FIELD HARDWARE  ★エンゲージ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“And here’s the actual thing.</a:t>
            </a:r>
          </a:p>
          <a:p>
            <a:r>
              <a:rPr b="0" sz="1700"/>
              <a:t>  アンド ヒアズ ジ </a:t>
            </a:r>
            <a:r>
              <a:rPr b="1" sz="1700"/>
              <a:t>アクチュアル シング</a:t>
            </a:r>
            <a:r>
              <a:rPr b="0" sz="1700"/>
              <a:t>。</a:t>
            </a:r>
          </a:p>
          <a:p>
            <a:r>
              <a:rPr b="0" sz="1700"/>
              <a:t>A Pi Zero 2 W, in a 3D-printed case.</a:t>
            </a:r>
          </a:p>
          <a:p>
            <a:r>
              <a:rPr b="0" sz="1700"/>
              <a:t>  ア パイ ゼロ トゥー ダブリュー、 イン ア </a:t>
            </a:r>
            <a:r>
              <a:rPr b="1" sz="1700"/>
              <a:t>スリーディー プリンテッド ケイス</a:t>
            </a:r>
            <a:r>
              <a:rPr b="0" sz="1700"/>
              <a:t>。</a:t>
            </a:r>
          </a:p>
          <a:p>
            <a:r>
              <a:rPr b="0" sz="1700"/>
              <a:t>A camera for the object cue. On a small tripod.</a:t>
            </a:r>
          </a:p>
          <a:p>
            <a:r>
              <a:rPr b="0" sz="1700"/>
              <a:t>  ア </a:t>
            </a:r>
            <a:r>
              <a:rPr b="1" sz="1700"/>
              <a:t>カメラ</a:t>
            </a:r>
            <a:r>
              <a:rPr b="0" sz="1700"/>
              <a:t> フォー ジ オブジェクト キュー。 オン ア スモール </a:t>
            </a:r>
            <a:r>
              <a:rPr b="1" sz="1700"/>
              <a:t>トライポッド</a:t>
            </a:r>
            <a:r>
              <a:rPr b="0" sz="1700"/>
              <a:t>。</a:t>
            </a:r>
          </a:p>
          <a:p>
            <a:r>
              <a:rPr b="0" sz="1700"/>
              <a:t>You reach the web interface over USB, at localhost.</a:t>
            </a:r>
          </a:p>
          <a:p>
            <a:r>
              <a:rPr b="0" sz="1700"/>
              <a:t>  ユー リーチ ザ ウェブ インターフェイス オーバー ユー エス ビー、 アット ローカルホスト。</a:t>
            </a:r>
          </a:p>
          <a:p>
            <a:r>
              <a:rPr b="0" sz="1700"/>
              <a:t>It never touches a network.</a:t>
            </a:r>
          </a:p>
          <a:p>
            <a:r>
              <a:rPr b="0" sz="1700"/>
              <a:t>  イット </a:t>
            </a:r>
            <a:r>
              <a:rPr b="1" sz="1700"/>
              <a:t>ネバー</a:t>
            </a:r>
            <a:r>
              <a:rPr b="0" sz="1700"/>
              <a:t> タッチィズ ア ネットワーク。</a:t>
            </a:r>
          </a:p>
          <a:p>
            <a:r>
              <a:rPr b="0" sz="1700"/>
              <a:t>It is meant to look like a boring little gadget.</a:t>
            </a:r>
          </a:p>
          <a:p>
            <a:r>
              <a:rPr b="0" sz="1700"/>
              <a:t>  イット イズ メント トゥ </a:t>
            </a:r>
            <a:r>
              <a:rPr b="1" sz="1700"/>
              <a:t>ルック ライク</a:t>
            </a:r>
            <a:r>
              <a:rPr b="0" sz="1700"/>
              <a:t> ア </a:t>
            </a:r>
            <a:r>
              <a:rPr b="1" sz="1700"/>
              <a:t>ボーリング</a:t>
            </a:r>
            <a:r>
              <a:rPr b="0" sz="1700"/>
              <a:t> リトル ガジェット。</a:t>
            </a:r>
          </a:p>
          <a:p>
            <a:r>
              <a:rPr b="0" sz="1700"/>
              <a:t>And it’s right here on the table.</a:t>
            </a:r>
          </a:p>
          <a:p>
            <a:r>
              <a:rPr b="0" sz="1700"/>
              <a:t>  アンド イッツ </a:t>
            </a:r>
            <a:r>
              <a:rPr b="1" sz="1700"/>
              <a:t>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look — and try it — after the talk.”</a:t>
            </a:r>
          </a:p>
          <a:p>
            <a:r>
              <a:rPr b="0" sz="1700"/>
              <a:t>  </a:t>
            </a:r>
            <a:r>
              <a:rPr b="1" sz="1700"/>
              <a:t>カム アンド ルック</a:t>
            </a:r>
            <a:r>
              <a:rPr b="0" sz="1700"/>
              <a:t> — アンド </a:t>
            </a:r>
            <a:r>
              <a:rPr b="1" sz="1700"/>
              <a:t>トライ イット</a:t>
            </a:r>
            <a:r>
              <a:rPr b="0" sz="1700"/>
              <a:t> — アフター ザ トーク。</a:t>
            </a:r>
          </a:p>
          <a:p>
            <a:r>
              <a:rPr b="0" sz="1700"/>
              <a:t/>
            </a:r>
          </a:p>
          <a:p>
            <a:r>
              <a:rPr b="0" sz="120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[15:40 / 0:45] CRYPTO CORE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“For the crypto people.</a:t>
            </a:r>
          </a:p>
          <a:p>
            <a:r>
              <a:rPr b="0" sz="1700"/>
              <a:t>  フォー ザ </a:t>
            </a:r>
            <a:r>
              <a:rPr b="1" sz="1700"/>
              <a:t>クリプト ピープル</a:t>
            </a:r>
            <a:r>
              <a:rPr b="0" sz="1700"/>
              <a:t>。</a:t>
            </a:r>
          </a:p>
          <a:p>
            <a:r>
              <a:rPr b="0" sz="1700"/>
              <a:t>Argon2id, with local access-key material mixed in, and device binding.</a:t>
            </a:r>
          </a:p>
          <a:p>
            <a:r>
              <a:rPr b="0" sz="1700"/>
              <a:t>  アーゴン ツー アイディー、 ウィズ ローカル アクセスキー マテリアル ミクスト イン、 アンド デバイス バインディング。</a:t>
            </a:r>
          </a:p>
          <a:p>
            <a:r>
              <a:rPr b="0" sz="1700"/>
              <a:t>An optional external secret, as a third factor.</a:t>
            </a:r>
          </a:p>
          <a:p>
            <a:r>
              <a:rPr b="0" sz="1700"/>
              <a:t>  アン オプショナル エクスターナル </a:t>
            </a:r>
            <a:r>
              <a:rPr b="1" sz="1700"/>
              <a:t>シークレット</a:t>
            </a:r>
            <a:r>
              <a:rPr b="0" sz="1700"/>
              <a:t>、 アズ ア </a:t>
            </a:r>
            <a:r>
              <a:rPr b="1" sz="1700"/>
              <a:t>サード ファクター</a:t>
            </a:r>
            <a:r>
              <a:rPr b="0" sz="1700"/>
              <a:t>。</a:t>
            </a:r>
          </a:p>
          <a:p>
            <a:r>
              <a:rPr b="0" sz="1700"/>
              <a:t>AES-GCM per record, with authenticated metadata.</a:t>
            </a:r>
          </a:p>
          <a:p>
            <a:r>
              <a:rPr b="0" sz="1700"/>
              <a:t>  エイ イー エス ジー シー エム パー </a:t>
            </a:r>
            <a:r>
              <a:rPr b="1" sz="1700"/>
              <a:t>レコード</a:t>
            </a:r>
            <a:r>
              <a:rPr b="0" sz="1700"/>
              <a:t>、 ウィズ オーセンティケイテッド メタデータ。</a:t>
            </a:r>
          </a:p>
          <a:p>
            <a:r>
              <a:rPr b="0" sz="1700"/>
              <a:t>No plaintext marker in the vault.</a:t>
            </a:r>
          </a:p>
          <a:p>
            <a:r>
              <a:rPr b="0" sz="1700"/>
              <a:t>  </a:t>
            </a:r>
            <a:r>
              <a:rPr b="1" sz="1700"/>
              <a:t>ノウ プレインテクスト マーカー</a:t>
            </a:r>
            <a:r>
              <a:rPr b="0" sz="1700"/>
              <a:t> イン ザ ボールト。</a:t>
            </a:r>
          </a:p>
          <a:p>
            <a:r>
              <a:rPr b="0" sz="1700"/>
              <a:t>Startup self-tests check the primitives first.</a:t>
            </a:r>
          </a:p>
          <a:p>
            <a:r>
              <a:rPr b="0" sz="1700"/>
              <a:t>  スタートアップ セルフテスツ チェック ザ プリミティブズ </a:t>
            </a:r>
            <a:r>
              <a:rPr b="1" sz="1700"/>
              <a:t>ファースト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[16:25 / 0:40] OPERATIONAL GUARDS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And the web interface is hardened — not bolted on later.</a:t>
            </a:r>
          </a:p>
          <a:p>
            <a:r>
              <a:rPr b="0" sz="1700"/>
              <a:t>  アンド ザ ウェブ インターフェイス イズ </a:t>
            </a:r>
            <a:r>
              <a:rPr b="1" sz="1700"/>
              <a:t>ハードゥンド</a:t>
            </a:r>
            <a:r>
              <a:rPr b="0" sz="1700"/>
              <a:t> — ナット </a:t>
            </a:r>
            <a:r>
              <a:rPr b="1" sz="1700"/>
              <a:t>ボルテッド オン レイター</a:t>
            </a:r>
            <a:r>
              <a:rPr b="0" sz="1700"/>
              <a:t>。</a:t>
            </a:r>
          </a:p>
          <a:p>
            <a:r>
              <a:rPr b="0" sz="1700"/>
              <a:t>Localhost binding. Per-process tokens.</a:t>
            </a:r>
          </a:p>
          <a:p>
            <a:r>
              <a:rPr b="0" sz="1700"/>
              <a:t>  </a:t>
            </a:r>
            <a:r>
              <a:rPr b="1" sz="1700"/>
              <a:t>ローカルホスト</a:t>
            </a:r>
            <a:r>
              <a:rPr b="0" sz="1700"/>
              <a:t> バインディング。 パープロセス </a:t>
            </a:r>
            <a:r>
              <a:rPr b="1" sz="1700"/>
              <a:t>トークンズ</a:t>
            </a:r>
            <a:r>
              <a:rPr b="0" sz="1700"/>
              <a:t>。</a:t>
            </a:r>
          </a:p>
          <a:p>
            <a:r>
              <a:rPr b="0" sz="1700"/>
              <a:t>A restricted-confirmation session: HttpOnly, and short-lived.</a:t>
            </a:r>
          </a:p>
          <a:p>
            <a:r>
              <a:rPr b="0" sz="1700"/>
              <a:t>  ア </a:t>
            </a:r>
            <a:r>
              <a:rPr b="1" sz="1700"/>
              <a:t>リストリクテッド コンファメイション</a:t>
            </a:r>
            <a:r>
              <a:rPr b="0" sz="1700"/>
              <a:t> セッション: エイチ ティー ティー ピー オンリー、 アンド ショートリブド。</a:t>
            </a:r>
          </a:p>
          <a:p>
            <a:r>
              <a:rPr b="0" sz="1700"/>
              <a:t>Attempt limiting. Rate limiting. Inactivity auto-kill. Hardened headers.</a:t>
            </a:r>
          </a:p>
          <a:p>
            <a:r>
              <a:rPr b="0" sz="1700"/>
              <a:t>  アテンプト リミティング。 レイト リミティング。 インアクティビティ オートキル。 ハードゥンド ヘダーズ。</a:t>
            </a:r>
          </a:p>
          <a:p>
            <a:r>
              <a:rPr b="0" sz="1700"/>
              <a:t>And an opt-in, HMAC-chained audit log.</a:t>
            </a:r>
          </a:p>
          <a:p>
            <a:r>
              <a:rPr b="0" sz="1700"/>
              <a:t>  アンド アン オプトイン、 </a:t>
            </a:r>
            <a:r>
              <a:rPr b="1" sz="1700"/>
              <a:t>エイチマック チェインド オーディット ログ</a:t>
            </a:r>
            <a:r>
              <a:rPr b="0" sz="1700"/>
              <a:t>。</a:t>
            </a:r>
          </a:p>
          <a:p>
            <a:r>
              <a:rPr b="0" sz="1700"/>
              <a:t>Happy to go deep in Q and A.”</a:t>
            </a:r>
          </a:p>
          <a:p>
            <a:r>
              <a:rPr b="0" sz="1700"/>
              <a:t>  ハッピー トゥ ゴウ </a:t>
            </a:r>
            <a:r>
              <a:rPr b="1" sz="1700"/>
              <a:t>ディープ</a:t>
            </a:r>
            <a:r>
              <a:rPr b="0" sz="170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[17:05 / 1:10] DESIGN ETHICS  ★倫理 — 発話 0:30</a:t>
            </a:r>
          </a:p>
          <a:p>
            <a:r>
              <a:rPr b="0" sz="1700"/>
              <a:t/>
            </a:r>
          </a:p>
          <a:p>
            <a:r>
              <a:rPr b="0" sz="1700"/>
              <a:t>“Now the ethics. And this matters — especially in this room.</a:t>
            </a:r>
          </a:p>
          <a:p>
            <a:r>
              <a:rPr b="0" sz="1700"/>
              <a:t>  ナウ ジ </a:t>
            </a:r>
            <a:r>
              <a:rPr b="1" sz="1700"/>
              <a:t>エシックス</a:t>
            </a:r>
            <a:r>
              <a:rPr b="0" sz="1700"/>
              <a:t>。 アンド ディス </a:t>
            </a:r>
            <a:r>
              <a:rPr b="1" sz="1700"/>
              <a:t>マターズ</a:t>
            </a:r>
            <a:r>
              <a:rPr b="0" sz="1700"/>
              <a:t> — イスペシャリー イン ディス ルーム。</a:t>
            </a:r>
          </a:p>
          <a:p>
            <a:r>
              <a:rPr b="0" sz="1700"/>
              <a:t>Phasmid allows plausible controlled disclosure.</a:t>
            </a:r>
          </a:p>
          <a:p>
            <a:r>
              <a:rPr b="0" sz="1700"/>
              <a:t>  ファズミッド </a:t>
            </a:r>
            <a:r>
              <a:rPr b="1" sz="1700"/>
              <a:t>アラウズ</a:t>
            </a:r>
            <a:r>
              <a:rPr b="0" sz="1700"/>
              <a:t> プローザブル コントロールド ディスクロージャー。</a:t>
            </a:r>
          </a:p>
          <a:p>
            <a:r>
              <a:rPr b="0" sz="1700"/>
              <a:t>Standby. Workflows that preserve ambiguity.</a:t>
            </a:r>
          </a:p>
          <a:p>
            <a:r>
              <a:rPr b="0" sz="1700"/>
              <a:t>  スタンドバイ。 ワークフロウズ ザット プリザーブ </a:t>
            </a:r>
            <a:r>
              <a:rPr b="1" sz="1700"/>
              <a:t>アンビギューイティ</a:t>
            </a:r>
            <a:r>
              <a:rPr b="0" sz="1700"/>
              <a:t>。</a:t>
            </a:r>
          </a:p>
          <a:p>
            <a:r>
              <a:rPr b="0" sz="1700"/>
              <a:t>It rules out rootkits. Kernel-level hiding.</a:t>
            </a:r>
          </a:p>
          <a:p>
            <a:r>
              <a:rPr b="0" sz="1700"/>
              <a:t>  イット </a:t>
            </a:r>
            <a:r>
              <a:rPr b="1" sz="1700"/>
              <a:t>ルールズ アウト</a:t>
            </a:r>
            <a:r>
              <a:rPr b="0" sz="1700"/>
              <a:t> ルートキッツ。 カーネルレベル ハイディング。</a:t>
            </a:r>
          </a:p>
          <a:p>
            <a:r>
              <a:rPr b="0" sz="1700"/>
              <a:t>Anti-forensic wiping. Forensic-tool bypass.</a:t>
            </a:r>
          </a:p>
          <a:p>
            <a:r>
              <a:rPr b="0" sz="1700"/>
              <a:t>  アンティフォレンジック </a:t>
            </a:r>
            <a:r>
              <a:rPr b="1" sz="1700"/>
              <a:t>ワイピング</a:t>
            </a:r>
            <a:r>
              <a:rPr b="0" sz="1700"/>
              <a:t>。 フォレンジック ツール バイパス。</a:t>
            </a:r>
          </a:p>
          <a:p>
            <a:r>
              <a:rPr b="0" sz="1700"/>
              <a:t>And making up false events, or false timestamps.</a:t>
            </a:r>
          </a:p>
          <a:p>
            <a:r>
              <a:rPr b="0" sz="1700"/>
              <a:t>  アンド </a:t>
            </a:r>
            <a:r>
              <a:rPr b="1" sz="1700"/>
              <a:t>メイキング アップ</a:t>
            </a:r>
            <a:r>
              <a:rPr b="0" sz="1700"/>
              <a:t> フォルス イベンツ、 オア フォルス タイムスタンプス。</a:t>
            </a:r>
          </a:p>
          <a:p>
            <a:r>
              <a:rPr b="0" sz="1700"/>
              <a:t>It adds doubt. It delays a confident answer.</a:t>
            </a:r>
          </a:p>
          <a:p>
            <a:r>
              <a:rPr b="0" sz="1700"/>
              <a:t>  イット </a:t>
            </a:r>
            <a:r>
              <a:rPr b="1" sz="1700"/>
              <a:t>アッズ ダウト</a:t>
            </a:r>
            <a:r>
              <a:rPr b="0" sz="1700"/>
              <a:t>。 イット ディレイズ ア コンフィデント </a:t>
            </a:r>
            <a:r>
              <a:rPr b="1" sz="1700"/>
              <a:t>アンサー</a:t>
            </a:r>
            <a:r>
              <a:rPr b="0" sz="1700"/>
              <a:t>。</a:t>
            </a:r>
          </a:p>
          <a:p>
            <a:r>
              <a:rPr b="0" sz="1700"/>
              <a:t>It does not claim to be invisible to forensics.</a:t>
            </a:r>
          </a:p>
          <a:p>
            <a:r>
              <a:rPr b="0" sz="1700"/>
              <a:t>  イット ダズ ナット クレイム トゥ ビー </a:t>
            </a:r>
            <a:r>
              <a:rPr b="1" sz="1700"/>
              <a:t>インビジブル トゥ フォレンジックス</a:t>
            </a:r>
            <a:r>
              <a:rPr b="0" sz="1700"/>
              <a:t>。</a:t>
            </a:r>
          </a:p>
          <a:p>
            <a:r>
              <a:rPr b="0" sz="1700"/>
              <a:t>That line is deliberate. And it’s in the code.”</a:t>
            </a:r>
          </a:p>
          <a:p>
            <a:r>
              <a:rPr b="0" sz="1700"/>
              <a:t>  ザット ライン イズ ディリバレット。 アンド イッツ イン ザ コード。</a:t>
            </a:r>
          </a:p>
          <a:p>
            <a:r>
              <a:rPr b="0" sz="1700"/>
              <a:t/>
            </a:r>
          </a:p>
          <a:p>
            <a:r>
              <a:rPr b="0" sz="120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[18:15 / 0:50] SCOPE — 発話 0:45</a:t>
            </a:r>
          </a:p>
          <a:p>
            <a:r>
              <a:rPr b="0" sz="1700"/>
              <a:t/>
            </a:r>
          </a:p>
          <a:p>
            <a:r>
              <a:rPr b="0" sz="1700"/>
              <a:t>“Scope, drawn honestly.</a:t>
            </a:r>
          </a:p>
          <a:p>
            <a:r>
              <a:rPr b="0" sz="1700"/>
              <a:t>  </a:t>
            </a:r>
            <a:r>
              <a:rPr b="1" sz="1700"/>
              <a:t>スコープ</a:t>
            </a:r>
            <a:r>
              <a:rPr b="0" sz="1700"/>
              <a:t>、 ドローン </a:t>
            </a:r>
            <a:r>
              <a:rPr b="1" sz="1700"/>
              <a:t>オネストリー</a:t>
            </a:r>
            <a:r>
              <a:rPr b="0" sz="1700"/>
              <a:t>。</a:t>
            </a:r>
          </a:p>
          <a:p>
            <a:r>
              <a:rPr b="0" sz="1700"/>
              <a:t>Hiding that the software exists — out.</a:t>
            </a:r>
          </a:p>
          <a:p>
            <a:r>
              <a:rPr b="0" sz="1700"/>
              <a:t>  ハイディング ザット ザ ソフトウェア イグズィスツ — </a:t>
            </a:r>
            <a:r>
              <a:rPr b="1" sz="1700"/>
              <a:t>アウト</a:t>
            </a:r>
            <a:r>
              <a:rPr b="0" sz="1700"/>
              <a:t>。</a:t>
            </a:r>
          </a:p>
          <a:p>
            <a:r>
              <a:rPr b="0" sz="1700"/>
              <a:t>Denying that the data exists — partial.</a:t>
            </a:r>
          </a:p>
          <a:p>
            <a:r>
              <a:rPr b="0" sz="1700"/>
              <a:t>  ディナイイング ザット ザ データ イグズィスツ — </a:t>
            </a:r>
            <a:r>
              <a:rPr b="1" sz="1700"/>
              <a:t>パーシャル</a:t>
            </a:r>
            <a:r>
              <a:rPr b="0" sz="1700"/>
              <a:t>。</a:t>
            </a:r>
          </a:p>
          <a:p>
            <a:r>
              <a:rPr b="0" sz="1700"/>
              <a:t>Controlled disclosure — in, and central.</a:t>
            </a:r>
          </a:p>
          <a:p>
            <a:r>
              <a:rPr b="0" sz="1700"/>
              <a:t>  コントロールド ディスクロージャー — </a:t>
            </a:r>
            <a:r>
              <a:rPr b="1" sz="1700"/>
              <a:t>イン</a:t>
            </a:r>
            <a:r>
              <a:rPr b="0" sz="1700"/>
              <a:t>、 アンド </a:t>
            </a:r>
            <a:r>
              <a:rPr b="1" sz="1700"/>
              <a:t>セントラル</a:t>
            </a:r>
            <a:r>
              <a:rPr b="0" sz="1700"/>
              <a:t>。</a:t>
            </a:r>
          </a:p>
          <a:p>
            <a:r>
              <a:rPr b="0" sz="1700"/>
              <a:t>Coercion-aware fallback — in.</a:t>
            </a:r>
          </a:p>
          <a:p>
            <a:r>
              <a:rPr b="0" sz="1700"/>
              <a:t>  コアージョンアウェア フォールバック — </a:t>
            </a:r>
            <a:r>
              <a:rPr b="1" sz="1700"/>
              <a:t>イン</a:t>
            </a:r>
            <a:r>
              <a:rPr b="0" sz="1700"/>
              <a:t>。</a:t>
            </a:r>
          </a:p>
          <a:p>
            <a:r>
              <a:rPr b="0" sz="1700"/>
              <a:t>And here’s what it never claims.</a:t>
            </a:r>
          </a:p>
          <a:p>
            <a:r>
              <a:rPr b="0" sz="1700"/>
              <a:t>  アンド ヒアズ ワット イット </a:t>
            </a:r>
            <a:r>
              <a:rPr b="1" sz="1700"/>
              <a:t>ネバー</a:t>
            </a:r>
            <a:r>
              <a:rPr b="0" sz="1700"/>
              <a:t> クレイムズ。</a:t>
            </a:r>
          </a:p>
          <a:p>
            <a:r>
              <a:rPr b="0" sz="1700"/>
              <a:t>A cover that always holds. Safety from forensics.</a:t>
            </a:r>
          </a:p>
          <a:p>
            <a:r>
              <a:rPr b="0" sz="1700"/>
              <a:t>  ア </a:t>
            </a:r>
            <a:r>
              <a:rPr b="1" sz="1700"/>
              <a:t>カバー ザット オールウェイズ ホールズ</a:t>
            </a:r>
            <a:r>
              <a:rPr b="0" sz="1700"/>
              <a:t>。 </a:t>
            </a:r>
            <a:r>
              <a:rPr b="1" sz="1700"/>
              <a:t>セイフティ フロム フォレンジックス</a:t>
            </a:r>
            <a:r>
              <a:rPr b="0" sz="1700"/>
              <a:t>。</a:t>
            </a:r>
          </a:p>
          <a:p>
            <a:r>
              <a:rPr b="0" sz="1700"/>
              <a:t>Secure deletion on flash. Safety on a host already taken over.</a:t>
            </a:r>
          </a:p>
          <a:p>
            <a:r>
              <a:rPr b="0" sz="1700"/>
              <a:t>  セキュア ディリーション オン フラッシュ。 </a:t>
            </a:r>
            <a:r>
              <a:rPr b="1" sz="1700"/>
              <a:t>セイフティ</a:t>
            </a:r>
            <a:r>
              <a:rPr b="0" sz="1700"/>
              <a:t> オン ア ホスト オールレディ </a:t>
            </a:r>
            <a:r>
              <a:rPr b="1" sz="1700"/>
              <a:t>テイクン オーバー</a:t>
            </a:r>
            <a:r>
              <a:rPr b="0" sz="1700"/>
              <a:t>。</a:t>
            </a:r>
          </a:p>
          <a:p>
            <a:r>
              <a:rPr b="0" sz="1700"/>
              <a:t>And one more thing it never claims: that your cover story is convincing.</a:t>
            </a:r>
          </a:p>
          <a:p>
            <a:r>
              <a:rPr b="0" sz="1700"/>
              <a:t>  アンド ワン モア シング イット ネバー クレイムズ: ザット ユア カバー ストーリー イズ </a:t>
            </a:r>
            <a:r>
              <a:rPr b="1" sz="1700"/>
              <a:t>コンビンシング</a:t>
            </a:r>
            <a:r>
              <a:rPr b="0" sz="1700"/>
              <a:t>。</a:t>
            </a:r>
          </a:p>
          <a:p>
            <a:r>
              <a:rPr b="0" sz="1700"/>
              <a:t>It can tell you how much space is occupied.</a:t>
            </a:r>
          </a:p>
          <a:p>
            <a:r>
              <a:rPr b="0" sz="1700"/>
              <a:t>  イット キャン テル ユー ハウ マッチ </a:t>
            </a:r>
            <a:r>
              <a:rPr b="1" sz="1700"/>
              <a:t>スペイス</a:t>
            </a:r>
            <a:r>
              <a:rPr b="0" sz="1700"/>
              <a:t> イズ オキュパイド。</a:t>
            </a:r>
          </a:p>
          <a:p>
            <a:r>
              <a:rPr b="0" sz="1700"/>
              <a:t>It cannot tell you whether anyone will believe you.</a:t>
            </a:r>
          </a:p>
          <a:p>
            <a:r>
              <a:rPr b="0" sz="1700"/>
              <a:t>  イット キャナット テル ユー ウェザー エニワン ウィル </a:t>
            </a:r>
            <a:r>
              <a:rPr b="1" sz="1700"/>
              <a:t>ビリーブ</a:t>
            </a:r>
            <a:r>
              <a:rPr b="0" sz="1700"/>
              <a:t> ユー。</a:t>
            </a:r>
          </a:p>
          <a:p>
            <a:r>
              <a:rPr b="0" sz="1700"/>
              <a:t>And it doesn’t pretend to. No snake oil.</a:t>
            </a:r>
          </a:p>
          <a:p>
            <a:r>
              <a:rPr b="0" sz="1700"/>
              <a:t>  アンド イット ダズント </a:t>
            </a:r>
            <a:r>
              <a:rPr b="1" sz="1700"/>
              <a:t>プリテンド</a:t>
            </a:r>
            <a:r>
              <a:rPr b="0" sz="1700"/>
              <a:t> トゥ。 </a:t>
            </a:r>
            <a:r>
              <a:rPr b="1" sz="1700"/>
              <a:t>ノウ スネイク オイル</a:t>
            </a:r>
            <a:r>
              <a:rPr b="0" sz="1700"/>
              <a:t>。</a:t>
            </a:r>
          </a:p>
          <a:p>
            <a:r>
              <a:rPr b="0" sz="1700"/>
              <a:t>All right. Enough talk. Let me show you.”</a:t>
            </a:r>
          </a:p>
          <a:p>
            <a:r>
              <a:rPr b="0" sz="1700"/>
              <a:t>  オーライト。 </a:t>
            </a:r>
            <a:r>
              <a:rPr b="1" sz="1700"/>
              <a:t>イナフ</a:t>
            </a:r>
            <a:r>
              <a:rPr b="0" sz="1700"/>
              <a:t> トーク。 レット ミー </a:t>
            </a:r>
            <a:r>
              <a:rPr b="1" sz="1700"/>
              <a:t>ショウ</a:t>
            </a:r>
            <a:r>
              <a:rPr b="0" sz="1700"/>
              <a:t> ユー。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[19:05 / 0:15] LIVE DEMO（章扉）</a:t>
            </a:r>
          </a:p>
          <a:p>
            <a:r>
              <a:rPr b="0" sz="1700"/>
              <a:t/>
            </a:r>
          </a:p>
          <a:p>
            <a:r>
              <a:rPr b="0" sz="1700"/>
              <a:t>“Alright — live demo.”</a:t>
            </a:r>
          </a:p>
          <a:p>
            <a:r>
              <a:rPr b="0" sz="1700"/>
              <a:t>  オールライト — </a:t>
            </a:r>
            <a:r>
              <a:rPr b="1" sz="1700"/>
              <a:t>ライブ デモ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呼吸を整え実機に向き直る。スペースをターミナル（TUI）へ切替。バックアップ録画の頭出しを確認。以降の切替は SCENE 1→2 の片道1回だけで、TUI には戻らない。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[19:20 / ~8:30] LIVE DEMO  ★中心（12シーン・切替は片道1回）</a:t>
            </a:r>
          </a:p>
          <a:p>
            <a:r>
              <a:rPr b="0" sz="1700"/>
              <a:t/>
            </a:r>
          </a:p>
          <a:p>
            <a:r>
              <a:rPr b="0" sz="1200"/>
              <a:t>【読み方】 ▶SAY = 止めずに読み切る（手は動かさない）  ✋DO = 黙って操作  ▶THEN = 画面が変わってから言う</a:t>
            </a:r>
          </a:p>
          <a:p>
            <a:r>
              <a:rPr b="0" sz="1700"/>
              <a:t/>
            </a:r>
          </a:p>
          <a:p>
            <a:r>
              <a:rPr b="0" sz="1200"/>
              <a:t>── 前置き（まだ何も操作しない）</a:t>
            </a:r>
          </a:p>
          <a:p>
            <a:r>
              <a:rPr b="0" sz="1700"/>
              <a:t>“This is the real system. One file on disk.</a:t>
            </a:r>
          </a:p>
          <a:p>
            <a:r>
              <a:rPr b="0" sz="1700"/>
              <a:t>  ディス イズ ザ </a:t>
            </a:r>
            <a:r>
              <a:rPr b="1" sz="1700"/>
              <a:t>リアル システム</a:t>
            </a:r>
            <a:r>
              <a:rPr b="0" sz="1700"/>
              <a:t>。 </a:t>
            </a:r>
            <a:r>
              <a:rPr b="1" sz="1700"/>
              <a:t>ワン ファイル</a:t>
            </a:r>
            <a:r>
              <a:rPr b="0" sz="1700"/>
              <a:t> オン ディスク。</a:t>
            </a:r>
          </a:p>
          <a:p>
            <a:r>
              <a:rPr b="0" sz="1700"/>
              <a:t>Two objects, two passwords, two files inside it.</a:t>
            </a:r>
          </a:p>
          <a:p>
            <a:r>
              <a:rPr b="0" sz="1700"/>
              <a:t>  </a:t>
            </a:r>
            <a:r>
              <a:rPr b="1" sz="1700"/>
              <a:t>ツー オブジェクツ</a:t>
            </a:r>
            <a:r>
              <a:rPr b="0" sz="1700"/>
              <a:t>、 </a:t>
            </a:r>
            <a:r>
              <a:rPr b="1" sz="1700"/>
              <a:t>ツー パスワーズ</a:t>
            </a:r>
            <a:r>
              <a:rPr b="0" sz="1700"/>
              <a:t>、 </a:t>
            </a:r>
            <a:r>
              <a:rPr b="1" sz="1700"/>
              <a:t>ツー ファイルズ</a:t>
            </a:r>
            <a:r>
              <a:rPr b="0" sz="1700"/>
              <a:t> インサイド イット。</a:t>
            </a:r>
          </a:p>
          <a:p>
            <a:r>
              <a:rPr b="0" sz="1700"/>
              <a:t>And a password that ends one, instead of opening it.”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オブ </a:t>
            </a:r>
            <a:r>
              <a:rPr b="1" sz="1700"/>
              <a:t>オープニング</a:t>
            </a:r>
            <a:r>
              <a:rPr b="0" sz="1700"/>
              <a:t> イット。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0 · The console（0:20）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This is the real console.</a:t>
            </a:r>
          </a:p>
          <a:p>
            <a:r>
              <a:rPr b="0" sz="1700"/>
              <a:t>  ディス イズ ザ </a:t>
            </a:r>
            <a:r>
              <a:rPr b="1" sz="1700"/>
              <a:t>リアル</a:t>
            </a:r>
            <a:r>
              <a:rPr b="0" sz="1700"/>
              <a:t> コンソール。</a:t>
            </a:r>
          </a:p>
          <a:p>
            <a:r>
              <a:rPr b="0" sz="1700"/>
              <a:t>Local Disclosure Control.</a:t>
            </a:r>
          </a:p>
          <a:p>
            <a:r>
              <a:rPr b="0" sz="1700"/>
              <a:t>  </a:t>
            </a:r>
            <a:r>
              <a:rPr b="1" sz="1700"/>
              <a:t>ローカル ディスクロージャー コントロール</a:t>
            </a:r>
            <a:r>
              <a:rPr b="0" sz="1700"/>
              <a:t>。</a:t>
            </a:r>
          </a:p>
          <a:p>
            <a:r>
              <a:rPr b="0" sz="1700"/>
              <a:t>The home screen is small on purpose.</a:t>
            </a:r>
          </a:p>
          <a:p>
            <a:r>
              <a:rPr b="0" sz="1700"/>
              <a:t>  ザ ホーム スクリーン イズ </a:t>
            </a:r>
            <a:r>
              <a:rPr b="1" sz="1700"/>
              <a:t>スモール オン パーパス</a:t>
            </a:r>
            <a:r>
              <a:rPr b="0" sz="1700"/>
              <a:t>。</a:t>
            </a:r>
          </a:p>
          <a:p>
            <a:r>
              <a:rPr b="0" sz="1700"/>
              <a:t>Open. New. Guided. Expert.</a:t>
            </a:r>
          </a:p>
          <a:p>
            <a:r>
              <a:rPr b="0" sz="1700"/>
              <a:t>  オープン。 ニュー。 ガイデッド。 エクスパート。</a:t>
            </a:r>
          </a:p>
          <a:p>
            <a:r>
              <a:rPr b="0" sz="1700"/>
              <a:t>Under pressure, you do not want a wall of options.</a:t>
            </a:r>
          </a:p>
          <a:p>
            <a:r>
              <a:rPr b="0" sz="1700"/>
              <a:t>  アンダー </a:t>
            </a:r>
            <a:r>
              <a:rPr b="1" sz="1700"/>
              <a:t>プレッシャー</a:t>
            </a:r>
            <a:r>
              <a:rPr b="0" sz="1700"/>
              <a:t>、 ユー ドント ウォント ア </a:t>
            </a:r>
            <a:r>
              <a:rPr b="1" sz="1700"/>
              <a:t>ウォール オブ オプションズ</a:t>
            </a:r>
            <a:r>
              <a:rPr b="0" sz="1700"/>
              <a:t>。</a:t>
            </a:r>
          </a:p>
          <a:p>
            <a:r>
              <a:rPr b="0" sz="1700"/>
              <a:t>The full control set is one key away.</a:t>
            </a:r>
          </a:p>
          <a:p>
            <a:r>
              <a:rPr b="0" sz="1700"/>
              <a:t>  ザ フル コントロール セット イズ </a:t>
            </a:r>
            <a:r>
              <a:rPr b="1" sz="1700"/>
              <a:t>ワン キー</a:t>
            </a:r>
            <a:r>
              <a:rPr b="0" sz="1700"/>
              <a:t> アウェイ。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Simple Operator 画面を出したまま提示する。下部のバーを指す。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 · One file on disk（1:10）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First, I make a vessel.</a:t>
            </a:r>
          </a:p>
          <a:p>
            <a:r>
              <a:rPr b="0" sz="1700"/>
              <a:t>  ファースト、 アイ メイク ア </a:t>
            </a:r>
            <a:r>
              <a:rPr b="1" sz="1700"/>
              <a:t>ベッセル</a:t>
            </a:r>
            <a:r>
              <a:rPr b="0" sz="1700"/>
              <a:t>。</a:t>
            </a:r>
          </a:p>
          <a:p>
            <a:r>
              <a:rPr b="0" sz="1700"/>
              <a:t>A deniable container. One file. Sixty-four megabytes.</a:t>
            </a:r>
          </a:p>
          <a:p>
            <a:r>
              <a:rPr b="0" sz="1700"/>
              <a:t>  ア ディナイアブル コンテナ。 </a:t>
            </a:r>
            <a:r>
              <a:rPr b="1" sz="1700"/>
              <a:t>ワン ファイル</a:t>
            </a:r>
            <a:r>
              <a:rPr b="0" sz="1700"/>
              <a:t>。 </a:t>
            </a:r>
            <a:r>
              <a:rPr b="1" sz="1700"/>
              <a:t>シクスティフォー</a:t>
            </a:r>
            <a:r>
              <a:rPr b="0" sz="1700"/>
              <a:t> メガバイツ。</a:t>
            </a:r>
          </a:p>
          <a:p>
            <a:r>
              <a:rPr b="0" sz="1700"/>
              <a:t>Then I will show you what it looks like on disk.</a:t>
            </a:r>
          </a:p>
          <a:p>
            <a:r>
              <a:rPr b="0" sz="1700"/>
              <a:t>  ゼン アイル ショウ ユー ワット イット </a:t>
            </a:r>
            <a:r>
              <a:rPr b="1" sz="1700"/>
              <a:t>ルックス ライク</a:t>
            </a:r>
            <a:r>
              <a:rPr b="0" sz="1700"/>
              <a:t> オン ディスク。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n (New) → vessel-path に demo.vessel</a:t>
            </a:r>
          </a:p>
          <a:p>
            <a:r>
              <a:rPr b="0" sz="1200"/>
              <a:t>DO: → vessel-size を 64M に変更（既定の 512M のまま作らない）→ create-btn</a:t>
            </a:r>
          </a:p>
          <a:p>
            <a:r>
              <a:rPr b="0" sz="1200"/>
              <a:t>DO: 続けてシェルで:  ls -lh demo.vessel  /  file demo.vessel  /  od -A x -t x1z -N 96 demo.vessel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One file. That is all there is.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。 ザッツ </a:t>
            </a:r>
            <a:r>
              <a:rPr b="1" sz="1700"/>
              <a:t>オール</a:t>
            </a:r>
            <a:r>
              <a:rPr b="0" sz="1700"/>
              <a:t> ゼア イズ。</a:t>
            </a:r>
          </a:p>
          <a:p>
            <a:r>
              <a:rPr b="0" sz="1700"/>
              <a:t>It says 'data'. It has nothing to say, because there is nothing to read.</a:t>
            </a:r>
          </a:p>
          <a:p>
            <a:r>
              <a:rPr b="0" sz="1700"/>
              <a:t>  イット セズ </a:t>
            </a:r>
            <a:r>
              <a:rPr b="1" sz="1700"/>
              <a:t>データ</a:t>
            </a:r>
            <a:r>
              <a:rPr b="0" sz="1700"/>
              <a:t>。 イット ハズ </a:t>
            </a:r>
            <a:r>
              <a:rPr b="1" sz="1700"/>
              <a:t>ナッシング</a:t>
            </a:r>
            <a:r>
              <a:rPr b="0" sz="1700"/>
              <a:t> トゥ セイ、 ビコーズ ゼアズ </a:t>
            </a:r>
            <a:r>
              <a:rPr b="1" sz="1700"/>
              <a:t>ナッシング</a:t>
            </a:r>
            <a:r>
              <a:rPr b="0" sz="1700"/>
              <a:t> トゥ リード。</a:t>
            </a:r>
          </a:p>
          <a:p>
            <a:r>
              <a:rPr b="0" sz="1700"/>
              <a:t>No header. No magic bytes. On disk, this is random.</a:t>
            </a:r>
          </a:p>
          <a:p>
            <a:r>
              <a:rPr b="0" sz="1700"/>
              <a:t>  ノー </a:t>
            </a:r>
            <a:r>
              <a:rPr b="1" sz="1700"/>
              <a:t>ヘッダー</a:t>
            </a:r>
            <a:r>
              <a:rPr b="0" sz="1700"/>
              <a:t>。 ノー </a:t>
            </a:r>
            <a:r>
              <a:rPr b="1" sz="1700"/>
              <a:t>マジック バイツ</a:t>
            </a:r>
            <a:r>
              <a:rPr b="0" sz="1700"/>
              <a:t>。 オン ディスク、 ディス イズ </a:t>
            </a:r>
            <a:r>
              <a:rPr b="1" sz="1700"/>
              <a:t>ランダム</a:t>
            </a:r>
            <a:r>
              <a:rPr b="0" sz="1700"/>
              <a:t>。</a:t>
            </a:r>
          </a:p>
          <a:p>
            <a:r>
              <a:rPr b="0" sz="1700"/>
              <a:t>Remember the name. Demo dot vessel.</a:t>
            </a:r>
          </a:p>
          <a:p>
            <a:r>
              <a:rPr b="0" sz="1700"/>
              <a:t>  リメンバー ザ </a:t>
            </a:r>
            <a:r>
              <a:rPr b="1" sz="1700"/>
              <a:t>ネイム</a:t>
            </a:r>
            <a:r>
              <a:rPr b="0" sz="1700"/>
              <a:t>。 </a:t>
            </a:r>
            <a:r>
              <a:rPr b="1" sz="1700"/>
              <a:t>デモ ドット ベッセル</a:t>
            </a:r>
            <a:r>
              <a:rPr b="0" sz="1700"/>
              <a:t>。</a:t>
            </a:r>
          </a:p>
          <a:p>
            <a:r>
              <a:rPr b="0" sz="1700"/>
              <a:t>Everything from here comes out of this one file.</a:t>
            </a:r>
          </a:p>
          <a:p>
            <a:r>
              <a:rPr b="0" sz="1700"/>
              <a:t>  エブリシング フロム ヒア カムズ アウト オブ </a:t>
            </a:r>
            <a:r>
              <a:rPr b="1" sz="1700"/>
              <a:t>ディス 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⟶ 画面切替（—）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スペースを「スライド／ターミナル／ブラウザ」の3つに固定し、Ctrl+←→ だけで移動する。</a:t>
            </a:r>
          </a:p>
          <a:p>
            <a:r>
              <a:rPr b="0" sz="1200"/>
              <a:t>DO: 集中モード（おやすみモード）を必ずオンにしておく — 通知が投影画面に出る。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2 · Into the browser（0:50）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The device also serves a local web interface.</a:t>
            </a:r>
          </a:p>
          <a:p>
            <a:r>
              <a:rPr b="0" sz="1700"/>
              <a:t>  ザ デバイス オールソー サーブズ ア </a:t>
            </a:r>
            <a:r>
              <a:rPr b="1" sz="1700"/>
              <a:t>ローカル ウェブ インターフェイス</a:t>
            </a:r>
            <a:r>
              <a:rPr b="0" sz="1700"/>
              <a:t>。</a:t>
            </a:r>
          </a:p>
          <a:p>
            <a:r>
              <a:rPr b="0" sz="1700"/>
              <a:t>I am logging in now.</a:t>
            </a:r>
          </a:p>
          <a:p>
            <a:r>
              <a:rPr b="0" sz="1700"/>
              <a:t>  アイム </a:t>
            </a:r>
            <a:r>
              <a:rPr b="1" sz="1700"/>
              <a:t>ロギング イン</a:t>
            </a:r>
            <a:r>
              <a:rPr b="0" sz="1700"/>
              <a:t> ナウ。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ブックマークした /unlock で store トークンを入力してログイン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One word about these tokens, because it matters.</a:t>
            </a:r>
          </a:p>
          <a:p>
            <a:r>
              <a:rPr b="0" sz="1700"/>
              <a:t>  ワン ワード アバウト ジーズ </a:t>
            </a:r>
            <a:r>
              <a:rPr b="1" sz="1700"/>
              <a:t>トークンズ</a:t>
            </a:r>
            <a:r>
              <a:rPr b="0" sz="1700"/>
              <a:t>、 ビコーズ イット </a:t>
            </a:r>
            <a:r>
              <a:rPr b="1" sz="1700"/>
              <a:t>マターズ</a:t>
            </a:r>
            <a:r>
              <a:rPr b="0" sz="1700"/>
              <a:t>。</a:t>
            </a:r>
          </a:p>
          <a:p>
            <a:r>
              <a:rPr b="0" sz="1700"/>
              <a:t>In real use, you issue two of them.</a:t>
            </a:r>
          </a:p>
          <a:p>
            <a:r>
              <a:rPr b="0" sz="1700"/>
              <a:t>  イン リアル ユース、 ユー イシュー </a:t>
            </a:r>
            <a:r>
              <a:rPr b="1" sz="1700"/>
              <a:t>ツー</a:t>
            </a:r>
            <a:r>
              <a:rPr b="0" sz="1700"/>
              <a:t> オブ ゼム。</a:t>
            </a:r>
          </a:p>
          <a:p>
            <a:r>
              <a:rPr b="0" sz="1700"/>
              <a:t>A full-control token — used once, somewhere safe, to set things up.</a:t>
            </a:r>
          </a:p>
          <a:p>
            <a:r>
              <a:rPr b="0" sz="1700"/>
              <a:t>  ア </a:t>
            </a:r>
            <a:r>
              <a:rPr b="1" sz="1700"/>
              <a:t>フルコントロール</a:t>
            </a:r>
            <a:r>
              <a:rPr b="0" sz="1700"/>
              <a:t> トークン — ユーズド </a:t>
            </a:r>
            <a:r>
              <a:rPr b="1" sz="1700"/>
              <a:t>ワンス</a:t>
            </a:r>
            <a:r>
              <a:rPr b="0" sz="1700"/>
              <a:t>、 サムウェア </a:t>
            </a:r>
            <a:r>
              <a:rPr b="1" sz="1700"/>
              <a:t>セイフ</a:t>
            </a:r>
            <a:r>
              <a:rPr b="0" sz="1700"/>
              <a:t>、 トゥ セット シングス アップ。</a:t>
            </a:r>
          </a:p>
          <a:p>
            <a:r>
              <a:rPr b="0" sz="1700"/>
              <a:t>And a recovery token, that can decrypt and nothing else.</a:t>
            </a:r>
          </a:p>
          <a:p>
            <a:r>
              <a:rPr b="0" sz="1700"/>
              <a:t>  アンド ア </a:t>
            </a:r>
            <a:r>
              <a:rPr b="1" sz="1700"/>
              <a:t>リカバリー</a:t>
            </a:r>
            <a:r>
              <a:rPr b="0" sz="1700"/>
              <a:t> トークン、 ザット キャン </a:t>
            </a:r>
            <a:r>
              <a:rPr b="1" sz="1700"/>
              <a:t>ディクリプト</a:t>
            </a:r>
            <a:r>
              <a:rPr b="0" sz="1700"/>
              <a:t> アンド </a:t>
            </a:r>
            <a:r>
              <a:rPr b="1" sz="1700"/>
              <a:t>ナッシング エルス</a:t>
            </a:r>
            <a:r>
              <a:rPr b="0" sz="1700"/>
              <a:t>。</a:t>
            </a:r>
          </a:p>
          <a:p>
            <a:r>
              <a:rPr b="0" sz="1700"/>
              <a:t>That is the one you carry into a bad situation.</a:t>
            </a:r>
          </a:p>
          <a:p>
            <a:r>
              <a:rPr b="0" sz="1700"/>
              <a:t>  ザッツ ザ ワン ユー </a:t>
            </a:r>
            <a:r>
              <a:rPr b="1" sz="1700"/>
              <a:t>キャリー</a:t>
            </a:r>
            <a:r>
              <a:rPr b="0" sz="1700"/>
              <a:t> イントゥ ア </a:t>
            </a:r>
            <a:r>
              <a:rPr b="1" sz="1700"/>
              <a:t>バッド シチュエイション</a:t>
            </a:r>
            <a:r>
              <a:rPr b="0" sz="1700"/>
              <a:t>。</a:t>
            </a:r>
          </a:p>
          <a:p>
            <a:r>
              <a:rPr b="0" sz="1700"/>
              <a:t>It cannot reach setup, so it cannot give setup away.</a:t>
            </a:r>
          </a:p>
          <a:p>
            <a:r>
              <a:rPr b="0" sz="1700"/>
              <a:t>  イット キャナット </a:t>
            </a:r>
            <a:r>
              <a:rPr b="1" sz="1700"/>
              <a:t>リーチ</a:t>
            </a:r>
            <a:r>
              <a:rPr b="0" sz="1700"/>
              <a:t> セットアップ、 ソー イット キャナット </a:t>
            </a:r>
            <a:r>
              <a:rPr b="1" sz="1700"/>
              <a:t>ギブ イット アウェイ</a:t>
            </a:r>
            <a:r>
              <a:rPr b="0" sz="1700"/>
              <a:t>。</a:t>
            </a:r>
          </a:p>
          <a:p>
            <a:r>
              <a:rPr b="0" sz="1700"/>
              <a:t>Today I use one token, for time. Just know the split is there.</a:t>
            </a:r>
          </a:p>
          <a:p>
            <a:r>
              <a:rPr b="0" sz="1700"/>
              <a:t>  トゥデイ アイ ユーズ </a:t>
            </a:r>
            <a:r>
              <a:rPr b="1" sz="1700"/>
              <a:t>ワン</a:t>
            </a:r>
            <a:r>
              <a:rPr b="0" sz="1700"/>
              <a:t> トークン、 フォー </a:t>
            </a:r>
            <a:r>
              <a:rPr b="1" sz="1700"/>
              <a:t>タイム</a:t>
            </a:r>
            <a:r>
              <a:rPr b="0" sz="1700"/>
              <a:t>。 ジャスト ノー ザ </a:t>
            </a:r>
            <a:r>
              <a:rPr b="1" sz="1700"/>
              <a:t>スプリット</a:t>
            </a:r>
            <a:r>
              <a:rPr b="0" sz="1700"/>
              <a:t> イズ ゼア。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3 · Slot A — the file you would hand over（0:50）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Slot A. This is the file I would hand over.</a:t>
            </a:r>
          </a:p>
          <a:p>
            <a:r>
              <a:rPr b="0" sz="1700"/>
              <a:t>  </a:t>
            </a:r>
            <a:r>
              <a:rPr b="1" sz="1700"/>
              <a:t>スロット エイ</a:t>
            </a:r>
            <a:r>
              <a:rPr b="0" sz="1700"/>
              <a:t>。 ディス イズ ザ ファイル アイ ウド </a:t>
            </a:r>
            <a:r>
              <a:rPr b="1" sz="1700"/>
              <a:t>ハンド オーバー</a:t>
            </a:r>
            <a:r>
              <a:rPr b="0" sz="1700"/>
              <a:t>。</a:t>
            </a:r>
          </a:p>
          <a:p>
            <a:r>
              <a:rPr b="0" sz="1700"/>
              <a:t>Now watch the camera. It takes two shots.</a:t>
            </a:r>
          </a:p>
          <a:p>
            <a:r>
              <a:rPr b="0" sz="1700"/>
              <a:t>  ナウ ウォッチ ザ カメラ。 イット テイクス </a:t>
            </a:r>
            <a:r>
              <a:rPr b="1" sz="1700"/>
              <a:t>ツー ショッツ</a:t>
            </a:r>
            <a:r>
              <a:rPr b="0" sz="1700"/>
              <a:t>。</a:t>
            </a:r>
          </a:p>
          <a:p>
            <a:r>
              <a:rPr b="0" sz="1700"/>
              <a:t>First the empty scene — just my table. Then the same view, with the object in it.</a:t>
            </a:r>
          </a:p>
          <a:p>
            <a:r>
              <a:rPr b="0" sz="1700"/>
              <a:t>  ファースト ジ </a:t>
            </a:r>
            <a:r>
              <a:rPr b="1" sz="1700"/>
              <a:t>エンプティ シーン</a:t>
            </a:r>
            <a:r>
              <a:rPr b="0" sz="1700"/>
              <a:t> — ジャスト マイ </a:t>
            </a:r>
            <a:r>
              <a:rPr b="1" sz="1700"/>
              <a:t>テイブル</a:t>
            </a:r>
            <a:r>
              <a:rPr b="0" sz="1700"/>
              <a:t>。 ゼン ザ </a:t>
            </a:r>
            <a:r>
              <a:rPr b="1" sz="1700"/>
              <a:t>セイム ビュー</a:t>
            </a:r>
            <a:r>
              <a:rPr b="0" sz="1700"/>
              <a:t>、 ウィズ ジ </a:t>
            </a:r>
            <a:r>
              <a:rPr b="1" sz="1700"/>
              <a:t>オブジェクト</a:t>
            </a:r>
            <a:r>
              <a:rPr b="0" sz="1700"/>
              <a:t> イン イット。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Store → Step 1「Choose the slot」で Slot A → 偽装用ファイル → パスワードA</a:t>
            </a:r>
          </a:p>
          <a:p>
            <a:r>
              <a:rPr b="0" sz="1200"/>
              <a:t>DO: → 物体を外して「1 · Capture empty scene」</a:t>
            </a:r>
          </a:p>
          <a:p>
            <a:r>
              <a:rPr b="0" sz="1200"/>
              <a:t>DO: → 物体A をかざして「2 · Capture access object」→ かざしたまま「Protect file」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The device keeps the difference between them.</a:t>
            </a:r>
          </a:p>
          <a:p>
            <a:r>
              <a:rPr b="0" sz="1700"/>
              <a:t>  ザ デバイス キープス ザ </a:t>
            </a:r>
            <a:r>
              <a:rPr b="1" sz="1700"/>
              <a:t>ディファレンス</a:t>
            </a:r>
            <a:r>
              <a:rPr b="0" sz="1700"/>
              <a:t> ビトウィーン ゼム。</a:t>
            </a:r>
          </a:p>
          <a:p>
            <a:r>
              <a:rPr b="0" sz="1700"/>
              <a:t>Not my table. Not the room. The object.</a:t>
            </a:r>
          </a:p>
          <a:p>
            <a:r>
              <a:rPr b="0" sz="1700"/>
              <a:t>  ナット マイ テイブル。 ナット ザ ルーム。 </a:t>
            </a:r>
            <a:r>
              <a:rPr b="1" sz="1700"/>
              <a:t>ジ オブジェクト</a:t>
            </a:r>
            <a:r>
              <a:rPr b="0" sz="1700"/>
              <a:t>。</a:t>
            </a:r>
          </a:p>
          <a:p>
            <a:r>
              <a:rPr b="0" sz="1700"/>
              <a:t>And this is a cue, not a key.</a:t>
            </a:r>
          </a:p>
          <a:p>
            <a:r>
              <a:rPr b="0" sz="1700"/>
              <a:t>  アンド ディス イズ ア </a:t>
            </a:r>
            <a:r>
              <a:rPr b="1" sz="1700"/>
              <a:t>キュー</a:t>
            </a:r>
            <a:r>
              <a:rPr b="0" sz="1700"/>
              <a:t>、 ナット ア </a:t>
            </a:r>
            <a:r>
              <a:rPr b="1" sz="1700"/>
              <a:t>キー</a:t>
            </a:r>
            <a:r>
              <a:rPr b="0" sz="1700"/>
              <a:t>。</a:t>
            </a:r>
          </a:p>
          <a:p>
            <a:r>
              <a:rPr b="0" sz="1700"/>
              <a:t>It does not encrypt anything. It decides whether the operation may start.</a:t>
            </a:r>
          </a:p>
          <a:p>
            <a:r>
              <a:rPr b="0" sz="1700"/>
              <a:t>  イット ダズ ナット </a:t>
            </a:r>
            <a:r>
              <a:rPr b="1" sz="1700"/>
              <a:t>エンクリプト</a:t>
            </a:r>
            <a:r>
              <a:rPr b="0" sz="1700"/>
              <a:t> エニシング。 イット ディサイズ ウェザー ジ オペレイション </a:t>
            </a:r>
            <a:r>
              <a:rPr b="1" sz="1700"/>
              <a:t>メイ スタート</a:t>
            </a:r>
            <a:r>
              <a:rPr b="0" sz="1700"/>
              <a:t>。</a:t>
            </a:r>
          </a:p>
          <a:p>
            <a:r>
              <a:rPr b="0" sz="1700"/>
              <a:t>A photo of it opens nothing.</a:t>
            </a:r>
          </a:p>
          <a:p>
            <a:r>
              <a:rPr b="0" sz="1700"/>
              <a:t>  ア </a:t>
            </a:r>
            <a:r>
              <a:rPr b="1" sz="1700"/>
              <a:t>フォト</a:t>
            </a:r>
            <a:r>
              <a:rPr b="0" sz="1700"/>
              <a:t> オブ イット オープンズ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4 · Slot B — the file you would not（1:00）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Slot B. Same file on disk. Same demo dot vessel.</a:t>
            </a:r>
          </a:p>
          <a:p>
            <a:r>
              <a:rPr b="0" sz="1700"/>
              <a:t>  </a:t>
            </a:r>
            <a:r>
              <a:rPr b="1" sz="1700"/>
              <a:t>スロット ビー</a:t>
            </a:r>
            <a:r>
              <a:rPr b="0" sz="1700"/>
              <a:t>。 セイム ファイル オン ディスク。 セイム </a:t>
            </a:r>
            <a:r>
              <a:rPr b="1" sz="1700"/>
              <a:t>デモ ドット ベッセル</a:t>
            </a:r>
            <a:r>
              <a:rPr b="0" sz="1700"/>
              <a:t>。</a:t>
            </a:r>
          </a:p>
          <a:p>
            <a:r>
              <a:rPr b="0" sz="1700"/>
              <a:t>A different object. A different password.</a:t>
            </a:r>
          </a:p>
          <a:p>
            <a:r>
              <a:rPr b="0" sz="1700"/>
              <a:t>  ア ディファレント </a:t>
            </a:r>
            <a:r>
              <a:rPr b="1" sz="1700"/>
              <a:t>オブジェクト</a:t>
            </a:r>
            <a:r>
              <a:rPr b="0" sz="1700"/>
              <a:t>。 ア ディファレント </a:t>
            </a:r>
            <a:r>
              <a:rPr b="1" sz="1700"/>
              <a:t>パスワード</a:t>
            </a:r>
            <a:r>
              <a:rPr b="0" sz="1700"/>
              <a:t>。</a:t>
            </a:r>
          </a:p>
          <a:p>
            <a:r>
              <a:rPr b="0" sz="1700"/>
              <a:t>And one more thing, which I will use later — a second password for this slot.</a:t>
            </a:r>
          </a:p>
          <a:p>
            <a:r>
              <a:rPr b="0" sz="1700"/>
              <a:t>  アンド </a:t>
            </a:r>
            <a:r>
              <a:rPr b="1" sz="1700"/>
              <a:t>ワン モア シング</a:t>
            </a:r>
            <a:r>
              <a:rPr b="0" sz="1700"/>
              <a:t>、 ウィッチ アイル </a:t>
            </a:r>
            <a:r>
              <a:rPr b="1" sz="1700"/>
              <a:t>ユーズ レイター</a:t>
            </a:r>
            <a:r>
              <a:rPr b="0" sz="1700"/>
              <a:t> — ア </a:t>
            </a:r>
            <a:r>
              <a:rPr b="1" sz="1700"/>
              <a:t>セカンド パスワード</a:t>
            </a:r>
            <a:r>
              <a:rPr b="0" sz="1700"/>
              <a:t> フォー ディス スロット。</a:t>
            </a:r>
          </a:p>
          <a:p>
            <a:r>
              <a:rPr b="0" sz="1700"/>
              <a:t>Not one that opens it.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ワン ザット </a:t>
            </a:r>
            <a:r>
              <a:rPr b="1" sz="1700"/>
              <a:t>オープンズ</a:t>
            </a:r>
            <a:r>
              <a:rPr b="0" sz="1700"/>
              <a:t> イット。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Step 1 を Slot B → 真のファイル → パスワードB</a:t>
            </a:r>
          </a:p>
          <a:p>
            <a:r>
              <a:rPr b="0" sz="1200"/>
              <a:t>DO: → Advanced security options で Clearing password（破壊用）を設定</a:t>
            </a:r>
          </a:p>
          <a:p>
            <a:r>
              <a:rPr b="0" sz="1200"/>
              <a:t>DO: → 物体を外して空シーン → 物体B をかざして撮影 → かざしたまま「Protect file」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Both slots now live inside that one file.</a:t>
            </a:r>
          </a:p>
          <a:p>
            <a:r>
              <a:rPr b="0" sz="1700"/>
              <a:t>  ボース スロッツ ナウ リブ </a:t>
            </a:r>
            <a:r>
              <a:rPr b="1" sz="1700"/>
              <a:t>インサイド</a:t>
            </a:r>
            <a:r>
              <a:rPr b="0" sz="1700"/>
              <a:t> ザット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5 · Slot A opens（0:20）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Object A. Password A.</a:t>
            </a:r>
          </a:p>
          <a:p>
            <a:r>
              <a:rPr b="0" sz="1700"/>
              <a:t>  </a:t>
            </a:r>
            <a:r>
              <a:rPr b="1" sz="1700"/>
              <a:t>オブジェクト エイ</a:t>
            </a:r>
            <a:r>
              <a:rPr b="0" sz="1700"/>
              <a:t>。 </a:t>
            </a:r>
            <a:r>
              <a:rPr b="1" sz="1700"/>
              <a:t>パスワード エイ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Retrieve → 物体A → 一致表示を待つ → パスワードA → Open protected file → 中身を見せる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And there it is. That is Slot A, out of demo dot vessel.</a:t>
            </a:r>
          </a:p>
          <a:p>
            <a:r>
              <a:rPr b="0" sz="1700"/>
              <a:t>  アンド </a:t>
            </a:r>
            <a:r>
              <a:rPr b="1" sz="1700"/>
              <a:t>ゼア イット イズ</a:t>
            </a:r>
            <a:r>
              <a:rPr b="0" sz="1700"/>
              <a:t>。 ザッツ </a:t>
            </a:r>
            <a:r>
              <a:rPr b="1" sz="1700"/>
              <a:t>スロット エイ</a:t>
            </a:r>
            <a:r>
              <a:rPr b="0" sz="1700"/>
              <a:t>、 アウト オブ </a:t>
            </a:r>
            <a:r>
              <a:rPr b="1" sz="1700"/>
              <a:t>デモ ドット ベッセル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6 · The object alone is not enough（1:00）</a:t>
            </a:r>
          </a:p>
          <a:p>
            <a:r>
              <a:rPr b="0" sz="1200"/>
              <a:t>▶ SAY (1/2) — 止めずに読み切る</a:t>
            </a:r>
          </a:p>
          <a:p>
            <a:r>
              <a:rPr b="0" sz="1700"/>
              <a:t>Same screen. I have only changed the object.</a:t>
            </a:r>
          </a:p>
          <a:p>
            <a:r>
              <a:rPr b="0" sz="1700"/>
              <a:t>  </a:t>
            </a:r>
            <a:r>
              <a:rPr b="1" sz="1700"/>
              <a:t>セイム スクリーン</a:t>
            </a:r>
            <a:r>
              <a:rPr b="0" sz="1700"/>
              <a:t>。 アイブ </a:t>
            </a:r>
            <a:r>
              <a:rPr b="1" sz="1700"/>
              <a:t>オンリー</a:t>
            </a:r>
            <a:r>
              <a:rPr b="0" sz="1700"/>
              <a:t> チェインジド ジ オブジェクト。</a:t>
            </a:r>
          </a:p>
          <a:p>
            <a:r>
              <a:rPr b="0" sz="1700"/>
              <a:t>This is the object for Slot B — and I will type Slot A's password.</a:t>
            </a:r>
          </a:p>
          <a:p>
            <a:r>
              <a:rPr b="0" sz="1700"/>
              <a:t>  ディス イズ ジ オブジェクト フォー </a:t>
            </a:r>
            <a:r>
              <a:rPr b="1" sz="1700"/>
              <a:t>スロット ビー</a:t>
            </a:r>
            <a:r>
              <a:rPr b="0" sz="1700"/>
              <a:t> — アンド アイル タイプ </a:t>
            </a:r>
            <a:r>
              <a:rPr b="1" sz="1700"/>
              <a:t>スロット エイズ</a:t>
            </a:r>
            <a:r>
              <a:rPr b="0" sz="1700"/>
              <a:t> パスワード。</a:t>
            </a:r>
          </a:p>
          <a:p>
            <a:r>
              <a:rPr b="0" sz="1200"/>
              <a:t>✋ DO (1/2) — 黙って操作</a:t>
            </a:r>
          </a:p>
          <a:p>
            <a:r>
              <a:rPr b="0" sz="1200"/>
              <a:t>DO: 物体B に持ち替え → 一致表示を待つ → パスワードA → Open protected file</a:t>
            </a:r>
          </a:p>
          <a:p>
            <a:r>
              <a:rPr b="0" sz="1200"/>
              <a:t>▶ THEN (1/2) — 画面が変わってから</a:t>
            </a:r>
          </a:p>
          <a:p>
            <a:r>
              <a:rPr b="0" sz="1700"/>
              <a:t>No valid entry found.</a:t>
            </a:r>
          </a:p>
          <a:p>
            <a:r>
              <a:rPr b="0" sz="1700"/>
              <a:t>  </a:t>
            </a:r>
            <a:r>
              <a:rPr b="1" sz="1700"/>
              <a:t>ノー バリッド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The object is right. The password is not. Nothing opens.</a:t>
            </a:r>
          </a:p>
          <a:p>
            <a:r>
              <a:rPr b="0" sz="1700"/>
              <a:t>  ジ オブジェクト イズ </a:t>
            </a:r>
            <a:r>
              <a:rPr b="1" sz="1700"/>
              <a:t>ライト</a:t>
            </a:r>
            <a:r>
              <a:rPr b="0" sz="1700"/>
              <a:t>。 ザ パスワード イズ </a:t>
            </a:r>
            <a:r>
              <a:rPr b="1" sz="1700"/>
              <a:t>ナット</a:t>
            </a:r>
            <a:r>
              <a:rPr b="0" sz="1700"/>
              <a:t>。 </a:t>
            </a:r>
            <a:r>
              <a:rPr b="1" sz="1700"/>
              <a:t>ナッシング</a:t>
            </a:r>
            <a:r>
              <a:rPr b="0" sz="1700"/>
              <a:t> オープンズ。</a:t>
            </a:r>
          </a:p>
          <a:p>
            <a:r>
              <a:rPr b="0" sz="1200"/>
              <a:t>▶ SAY (2/2) — 止めずに読み切る</a:t>
            </a:r>
          </a:p>
          <a:p>
            <a:r>
              <a:rPr b="0" sz="1700"/>
              <a:t>Now Slot B's own password.</a:t>
            </a:r>
          </a:p>
          <a:p>
            <a:r>
              <a:rPr b="0" sz="1700"/>
              <a:t>  ナウ </a:t>
            </a:r>
            <a:r>
              <a:rPr b="1" sz="1700"/>
              <a:t>スロット ビーズ オーン</a:t>
            </a:r>
            <a:r>
              <a:rPr b="0" sz="1700"/>
              <a:t> パスワード。</a:t>
            </a:r>
          </a:p>
          <a:p>
            <a:r>
              <a:rPr b="0" sz="1200"/>
              <a:t>✋ DO (2/2) — 黙って操作</a:t>
            </a:r>
          </a:p>
          <a:p>
            <a:r>
              <a:rPr b="0" sz="1200"/>
              <a:t>DO: パスワードB → Open protected file → 落ちたファイルを開き、SCENE 5 と中身が違うことを見せる</a:t>
            </a:r>
          </a:p>
          <a:p>
            <a:r>
              <a:rPr b="0" sz="1200"/>
              <a:t>▶ THEN (2/2) — 画面が変わってから</a:t>
            </a:r>
          </a:p>
          <a:p>
            <a:r>
              <a:rPr b="0" sz="1700"/>
              <a:t>A different file — out of the same file on disk.</a:t>
            </a:r>
          </a:p>
          <a:p>
            <a:r>
              <a:rPr b="0" sz="1700"/>
              <a:t>  ア </a:t>
            </a:r>
            <a:r>
              <a:rPr b="1" sz="1700"/>
              <a:t>ディファレント ファイル</a:t>
            </a:r>
            <a:r>
              <a:rPr b="0" sz="1700"/>
              <a:t> — アウト オブ ザ </a:t>
            </a:r>
            <a:r>
              <a:rPr b="1" sz="1700"/>
              <a:t>セイム ファイル</a:t>
            </a:r>
            <a:r>
              <a:rPr b="0" sz="1700"/>
              <a:t> オン ディスク。</a:t>
            </a:r>
          </a:p>
          <a:p>
            <a:r>
              <a:rPr b="0" sz="1700"/>
              <a:t>One vessel. Two objects. Two passwords. Two files.</a:t>
            </a:r>
          </a:p>
          <a:p>
            <a:r>
              <a:rPr b="0" sz="1700"/>
              <a:t>  </a:t>
            </a:r>
            <a:r>
              <a:rPr b="1" sz="1700"/>
              <a:t>ワン ベッセル</a:t>
            </a:r>
            <a:r>
              <a:rPr b="0" sz="1700"/>
              <a:t>。 </a:t>
            </a:r>
            <a:r>
              <a:rPr b="1" sz="1700"/>
              <a:t>ツー オブジェクツ</a:t>
            </a:r>
            <a:r>
              <a:rPr b="0" sz="1700"/>
              <a:t>。 </a:t>
            </a:r>
            <a:r>
              <a:rPr b="1" sz="1700"/>
              <a:t>ツー パスワーズ</a:t>
            </a:r>
            <a:r>
              <a:rPr b="0" sz="1700"/>
              <a:t>。 </a:t>
            </a:r>
            <a:r>
              <a:rPr b="1" sz="1700"/>
              <a:t>ツー ファイルズ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7 · The password alone is not enough either（0:40）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Now the other way around.</a:t>
            </a:r>
          </a:p>
          <a:p>
            <a:r>
              <a:rPr b="0" sz="1700"/>
              <a:t>  ナウ ジ </a:t>
            </a:r>
            <a:r>
              <a:rPr b="1" sz="1700"/>
              <a:t>アザー ウェイ</a:t>
            </a:r>
            <a:r>
              <a:rPr b="0" sz="1700"/>
              <a:t> アラウンド。</a:t>
            </a:r>
          </a:p>
          <a:p>
            <a:r>
              <a:rPr b="0" sz="1700"/>
              <a:t>I keep Slot B's password. I change the object back to A.</a:t>
            </a:r>
          </a:p>
          <a:p>
            <a:r>
              <a:rPr b="0" sz="1700"/>
              <a:t>  アイ </a:t>
            </a:r>
            <a:r>
              <a:rPr b="1" sz="1700"/>
              <a:t>キープ</a:t>
            </a:r>
            <a:r>
              <a:rPr b="0" sz="1700"/>
              <a:t> スロット ビーズ パスワード。 アイ </a:t>
            </a:r>
            <a:r>
              <a:rPr b="1" sz="1700"/>
              <a:t>チェインジ</a:t>
            </a:r>
            <a:r>
              <a:rPr b="0" sz="1700"/>
              <a:t> ジ オブジェクト バック トゥ </a:t>
            </a:r>
            <a:r>
              <a:rPr b="1" sz="1700"/>
              <a:t>エイ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物体A に持ち替え → 表示が変わるのを待つ → パスワードB → Open protected file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Same result. No valid entry found.</a:t>
            </a:r>
          </a:p>
          <a:p>
            <a:r>
              <a:rPr b="0" sz="1700"/>
              <a:t>  </a:t>
            </a:r>
            <a:r>
              <a:rPr b="1" sz="1700"/>
              <a:t>セイム リザルト</a:t>
            </a:r>
            <a:r>
              <a:rPr b="0" sz="1700"/>
              <a:t>。 ノー バリッド エントリー ファウンド。</a:t>
            </a:r>
          </a:p>
          <a:p>
            <a:r>
              <a:rPr b="0" sz="1700"/>
              <a:t>Not 'wrong object'. Not 'object missing'.</a:t>
            </a:r>
          </a:p>
          <a:p>
            <a:r>
              <a:rPr b="0" sz="1700"/>
              <a:t>  ナット </a:t>
            </a:r>
            <a:r>
              <a:rPr b="1" sz="1700"/>
              <a:t>ロング オブジェクト</a:t>
            </a:r>
            <a:r>
              <a:rPr b="0" sz="1700"/>
              <a:t>。 ナット </a:t>
            </a:r>
            <a:r>
              <a:rPr b="1" sz="1700"/>
              <a:t>オブジェクト ミッシング</a:t>
            </a:r>
            <a:r>
              <a:rPr b="0" sz="1700"/>
              <a:t>。</a:t>
            </a:r>
          </a:p>
          <a:p>
            <a:r>
              <a:rPr b="0" sz="1700"/>
              <a:t>It will not tell you what it is waiting for.</a:t>
            </a:r>
          </a:p>
          <a:p>
            <a:r>
              <a:rPr b="0" sz="1700"/>
              <a:t>  イット ウィル ナット </a:t>
            </a:r>
            <a:r>
              <a:rPr b="1" sz="1700"/>
              <a:t>テル ユー</a:t>
            </a:r>
            <a:r>
              <a:rPr b="0" sz="1700"/>
              <a:t> ワット イッツ </a:t>
            </a:r>
            <a:r>
              <a:rPr b="1" sz="1700"/>
              <a:t>ウェイティング フォー</a:t>
            </a:r>
            <a:r>
              <a:rPr b="0" sz="1700"/>
              <a:t>。</a:t>
            </a:r>
          </a:p>
          <a:p>
            <a:r>
              <a:rPr b="0" sz="1700"/>
              <a:t>That is what 'the cue gates the operation' means.</a:t>
            </a:r>
          </a:p>
          <a:p>
            <a:r>
              <a:rPr b="0" sz="1700"/>
              <a:t>  ザッツ ワット ザ </a:t>
            </a:r>
            <a:r>
              <a:rPr b="1" sz="1700"/>
              <a:t>キュー ゲイツ ジ オペレイション</a:t>
            </a:r>
            <a:r>
              <a:rPr b="0" sz="1700"/>
              <a:t> ミーンズ。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8 · Coercion — hand over Slot A（0:30）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Now change the situation.</a:t>
            </a:r>
          </a:p>
          <a:p>
            <a:r>
              <a:rPr b="0" sz="1700"/>
              <a:t>  ナウ </a:t>
            </a:r>
            <a:r>
              <a:rPr b="1" sz="1700"/>
              <a:t>チェインジ</a:t>
            </a:r>
            <a:r>
              <a:rPr b="0" sz="1700"/>
              <a:t> ザ シチュエイション。</a:t>
            </a:r>
          </a:p>
          <a:p>
            <a:r>
              <a:rPr b="0" sz="1700"/>
              <a:t>Someone has the device. And they have me.</a:t>
            </a:r>
          </a:p>
          <a:p>
            <a:r>
              <a:rPr b="0" sz="1700"/>
              <a:t>  サムワン ハズ ザ </a:t>
            </a:r>
            <a:r>
              <a:rPr b="1" sz="1700"/>
              <a:t>デバイス</a:t>
            </a:r>
            <a:r>
              <a:rPr b="0" sz="1700"/>
              <a:t>。 アンド ゼイ ハブ </a:t>
            </a:r>
            <a:r>
              <a:rPr b="1" sz="1700"/>
              <a:t>ミー</a:t>
            </a:r>
            <a:r>
              <a:rPr b="0" sz="1700"/>
              <a:t>。</a:t>
            </a:r>
          </a:p>
          <a:p>
            <a:r>
              <a:rPr b="0" sz="1700"/>
              <a:t>'Give us the password.' So I do.</a:t>
            </a:r>
          </a:p>
          <a:p>
            <a:r>
              <a:rPr b="0" sz="1700"/>
              <a:t>  </a:t>
            </a:r>
            <a:r>
              <a:rPr b="1" sz="1700"/>
              <a:t>ギブ アス</a:t>
            </a:r>
            <a:r>
              <a:rPr b="0" sz="1700"/>
              <a:t> ザ パスワード。 ソー </a:t>
            </a:r>
            <a:r>
              <a:rPr b="1" sz="1700"/>
              <a:t>アイ ドゥー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物体A → パスワードA → Open protected file（SCENE 5 と同一操作）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They get a file. A real file, that really opens.</a:t>
            </a:r>
          </a:p>
          <a:p>
            <a:r>
              <a:rPr b="0" sz="1700"/>
              <a:t>  ゼイ ゲット ア ファイル。 ア </a:t>
            </a:r>
            <a:r>
              <a:rPr b="1" sz="1700"/>
              <a:t>リアル</a:t>
            </a:r>
            <a:r>
              <a:rPr b="0" sz="1700"/>
              <a:t> ファイル、 ザット </a:t>
            </a:r>
            <a:r>
              <a:rPr b="1" sz="1700"/>
              <a:t>リアリー オープンズ</a:t>
            </a:r>
            <a:r>
              <a:rPr b="0" sz="1700"/>
              <a:t>。</a:t>
            </a:r>
          </a:p>
          <a:p>
            <a:r>
              <a:rPr b="0" sz="1700"/>
              <a:t>Nothing on this screen says there is another one.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オン ディス スクリーン セズ ゼアズ </a:t>
            </a:r>
            <a:r>
              <a:rPr b="1" sz="1700"/>
              <a:t>アナザー ワン</a:t>
            </a:r>
            <a:r>
              <a:rPr b="0" sz="1700"/>
              <a:t>。</a:t>
            </a:r>
          </a:p>
          <a:p>
            <a:r>
              <a:rPr b="0" sz="1700"/>
              <a:t>That is the whole design.</a:t>
            </a:r>
          </a:p>
          <a:p>
            <a:r>
              <a:rPr b="0" sz="1700"/>
              <a:t>  ザッツ ザ </a:t>
            </a:r>
            <a:r>
              <a:rPr b="1" sz="1700"/>
              <a:t>ホール デザイン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9 · The other password（0:50）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Worse case. They already know there is more.</a:t>
            </a:r>
          </a:p>
          <a:p>
            <a:r>
              <a:rPr b="0" sz="1700"/>
              <a:t>  </a:t>
            </a:r>
            <a:r>
              <a:rPr b="1" sz="1700"/>
              <a:t>ワース ケイス</a:t>
            </a:r>
            <a:r>
              <a:rPr b="0" sz="1700"/>
              <a:t>。 ゼイ オールレディ </a:t>
            </a:r>
            <a:r>
              <a:rPr b="1" sz="1700"/>
              <a:t>ノー</a:t>
            </a:r>
            <a:r>
              <a:rPr b="0" sz="1700"/>
              <a:t> ゼアズ </a:t>
            </a:r>
            <a:r>
              <a:rPr b="1" sz="1700"/>
              <a:t>モア</a:t>
            </a:r>
            <a:r>
              <a:rPr b="0" sz="1700"/>
              <a:t>。</a:t>
            </a:r>
          </a:p>
          <a:p>
            <a:r>
              <a:rPr b="0" sz="1700"/>
              <a:t>Same screen. Same object. Same field. Same button.</a:t>
            </a:r>
          </a:p>
          <a:p>
            <a:r>
              <a:rPr b="0" sz="1700"/>
              <a:t>  セイム スクリーン。 セイム オブジェクト。 セイム フィールド。 セイム ボタン。</a:t>
            </a:r>
          </a:p>
          <a:p>
            <a:r>
              <a:rPr b="0" sz="1700"/>
              <a:t>The only thing I change is which password I type.</a:t>
            </a:r>
          </a:p>
          <a:p>
            <a:r>
              <a:rPr b="0" sz="1700"/>
              <a:t>  ジ </a:t>
            </a:r>
            <a:r>
              <a:rPr b="1" sz="1700"/>
              <a:t>オンリー</a:t>
            </a:r>
            <a:r>
              <a:rPr b="0" sz="1700"/>
              <a:t> シング アイ チェインジ イズ </a:t>
            </a:r>
            <a:r>
              <a:rPr b="1" sz="1700"/>
              <a:t>ウィッチ パスワード</a:t>
            </a:r>
            <a:r>
              <a:rPr b="0" sz="1700"/>
              <a:t> アイ タイプ。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物体B をかざす → パスワード欄に Clearing password → Open protected file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And it says — no valid entry found.</a:t>
            </a:r>
          </a:p>
          <a:p>
            <a:r>
              <a:rPr b="0" sz="1700"/>
              <a:t>  アンド イット セズ — </a:t>
            </a:r>
            <a:r>
              <a:rPr b="1" sz="1700"/>
              <a:t>ノー バリッド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That is the same sentence you get from a typo.</a:t>
            </a:r>
          </a:p>
          <a:p>
            <a:r>
              <a:rPr b="0" sz="1700"/>
              <a:t>  ザッツ ザ </a:t>
            </a:r>
            <a:r>
              <a:rPr b="1" sz="1700"/>
              <a:t>セイム センテンス</a:t>
            </a:r>
            <a:r>
              <a:rPr b="0" sz="1700"/>
              <a:t> ユー ゲット フロム ア </a:t>
            </a:r>
            <a:r>
              <a:rPr b="1" sz="1700"/>
              <a:t>タイポ</a:t>
            </a:r>
            <a:r>
              <a:rPr b="0" sz="1700"/>
              <a:t>。</a:t>
            </a:r>
          </a:p>
          <a:p>
            <a:r>
              <a:rPr b="0" sz="1700"/>
              <a:t>But that entry is not locked. It is gone.</a:t>
            </a:r>
          </a:p>
          <a:p>
            <a:r>
              <a:rPr b="0" sz="1700"/>
              <a:t>  バット ザット エントリー イズ ナット </a:t>
            </a:r>
            <a:r>
              <a:rPr b="1" sz="1700"/>
              <a:t>ロックト</a:t>
            </a:r>
            <a:r>
              <a:rPr b="0" sz="1700"/>
              <a:t>。 イッツ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>The password they can compel is not the only one there is.</a:t>
            </a:r>
          </a:p>
          <a:p>
            <a:r>
              <a:rPr b="0" sz="1700"/>
              <a:t>  ザ パスワード ゼイ キャン </a:t>
            </a:r>
            <a:r>
              <a:rPr b="1" sz="1700"/>
              <a:t>コンペル</a:t>
            </a:r>
            <a:r>
              <a:rPr b="0" sz="1700"/>
              <a:t> イズ ナット ジ </a:t>
            </a:r>
            <a:r>
              <a:rPr b="1" sz="1700"/>
              <a:t>オンリー ワン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10 · Nothing left to open（0:50）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Let me prove that.</a:t>
            </a:r>
          </a:p>
          <a:p>
            <a:r>
              <a:rPr b="0" sz="1700"/>
              <a:t>  レット ミー </a:t>
            </a:r>
            <a:r>
              <a:rPr b="1" sz="1700"/>
              <a:t>プルーブ</a:t>
            </a:r>
            <a:r>
              <a:rPr b="0" sz="1700"/>
              <a:t> ザット。</a:t>
            </a:r>
          </a:p>
          <a:p>
            <a:r>
              <a:rPr b="0" sz="1700"/>
              <a:t>Object B. Slot B's real password. The correct way.</a:t>
            </a:r>
          </a:p>
          <a:p>
            <a:r>
              <a:rPr b="0" sz="1700"/>
              <a:t>  オブジェクト ビー。 スロット ビーズ </a:t>
            </a:r>
            <a:r>
              <a:rPr b="1" sz="1700"/>
              <a:t>リアル</a:t>
            </a:r>
            <a:r>
              <a:rPr b="0" sz="1700"/>
              <a:t> パスワード。 ザ </a:t>
            </a:r>
            <a:r>
              <a:rPr b="1" sz="1700"/>
              <a:t>コレクト ウェイ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物体B → パスワードB（正規）→ Open protected file → 何も出ない</a:t>
            </a:r>
          </a:p>
          <a:p>
            <a:r>
              <a:rPr b="0" sz="1200"/>
              <a:t>DO: 続けて 物体A → パスワードA → 開く（時計が押していれば口頭のみ）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Nothing. I cannot get it back either. That is not a bug.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。 アイ キャナット ゲット イット バック </a:t>
            </a:r>
            <a:r>
              <a:rPr b="1" sz="1700"/>
              <a:t>アイザー</a:t>
            </a:r>
            <a:r>
              <a:rPr b="0" sz="1700"/>
              <a:t>。 ザッツ </a:t>
            </a:r>
            <a:r>
              <a:rPr b="1" sz="1700"/>
              <a:t>ナット ア バグ</a:t>
            </a:r>
            <a:r>
              <a:rPr b="0" sz="1700"/>
              <a:t>。</a:t>
            </a:r>
          </a:p>
          <a:p>
            <a:r>
              <a:rPr b="0" sz="1700"/>
              <a:t>And Slot A still opens, exactly as before.</a:t>
            </a:r>
          </a:p>
          <a:p>
            <a:r>
              <a:rPr b="0" sz="1700"/>
              <a:t>  アンド </a:t>
            </a:r>
            <a:r>
              <a:rPr b="1" sz="1700"/>
              <a:t>スロット エイ</a:t>
            </a:r>
            <a:r>
              <a:rPr b="0" sz="1700"/>
              <a:t> スティル オープンズ、 イグザクトリー アズ </a:t>
            </a:r>
            <a:r>
              <a:rPr b="1" sz="1700"/>
              <a:t>ビフォー</a:t>
            </a:r>
            <a:r>
              <a:rPr b="0" sz="1700"/>
              <a:t>。</a:t>
            </a:r>
          </a:p>
          <a:p>
            <a:r>
              <a:rPr b="0" sz="1700"/>
              <a:t>One thing this tool will never tell you:</a:t>
            </a:r>
          </a:p>
          <a:p>
            <a:r>
              <a:rPr b="0" sz="1700"/>
              <a:t>  ワン シング ディス ツール ウィル ネバー </a:t>
            </a:r>
            <a:r>
              <a:rPr b="1" sz="1700"/>
              <a:t>テル ユー</a:t>
            </a:r>
            <a:r>
              <a:rPr b="0" sz="1700"/>
              <a:t>:</a:t>
            </a:r>
          </a:p>
          <a:p>
            <a:r>
              <a:rPr b="0" sz="1700"/>
              <a:t>whether your cover story is believable.</a:t>
            </a:r>
          </a:p>
          <a:p>
            <a:r>
              <a:rPr b="0" sz="1700"/>
              <a:t>  ウェザー ユア </a:t>
            </a:r>
            <a:r>
              <a:rPr b="1" sz="1700"/>
              <a:t>カバー ストーリー</a:t>
            </a:r>
            <a:r>
              <a:rPr b="0" sz="1700"/>
              <a:t> イズ </a:t>
            </a:r>
            <a:r>
              <a:rPr b="1" sz="1700"/>
              <a:t>ビリーバブル</a:t>
            </a:r>
            <a:r>
              <a:rPr b="0" sz="1700"/>
              <a:t>。</a:t>
            </a:r>
          </a:p>
          <a:p>
            <a:r>
              <a:rPr b="0" sz="1700"/>
              <a:t>That is your job. It does not pretend otherwise.</a:t>
            </a:r>
          </a:p>
          <a:p>
            <a:r>
              <a:rPr b="0" sz="1700"/>
              <a:t>  ザッツ </a:t>
            </a:r>
            <a:r>
              <a:rPr b="1" sz="1700"/>
              <a:t>ユア ジョブ</a:t>
            </a:r>
            <a:r>
              <a:rPr b="0" sz="1700"/>
              <a:t>。 イット ダズ ナット </a:t>
            </a:r>
            <a:r>
              <a:rPr b="1" sz="1700"/>
              <a:t>プリテンド</a:t>
            </a:r>
            <a:r>
              <a:rPr b="0" sz="1700"/>
              <a:t> アザーワイズ。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11 · Wrap（0:10）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One file. Two objects. Two passwords.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。 </a:t>
            </a:r>
            <a:r>
              <a:rPr b="1" sz="1700"/>
              <a:t>ツー オブジェクツ</a:t>
            </a:r>
            <a:r>
              <a:rPr b="0" sz="1700"/>
              <a:t>。 </a:t>
            </a:r>
            <a:r>
              <a:rPr b="1" sz="1700"/>
              <a:t>ツー パスワーズ</a:t>
            </a:r>
            <a:r>
              <a:rPr b="0" sz="1700"/>
              <a:t>。</a:t>
            </a:r>
          </a:p>
          <a:p>
            <a:r>
              <a:rPr b="0" sz="1700"/>
              <a:t>And a password that ends one, instead of opening it.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オブ </a:t>
            </a:r>
            <a:r>
              <a:rPr b="1" sz="1700"/>
              <a:t>オープニング</a:t>
            </a:r>
            <a:r>
              <a:rPr b="0" sz="1700"/>
              <a:t> イット。</a:t>
            </a:r>
          </a:p>
          <a:p>
            <a:r>
              <a:rPr b="0" sz="1700"/>
              <a:t>On real hardware. Come and try it at the table.</a:t>
            </a:r>
          </a:p>
          <a:p>
            <a:r>
              <a:rPr b="0" sz="1700"/>
              <a:t>  オン </a:t>
            </a:r>
            <a:r>
              <a:rPr b="1" sz="1700"/>
              <a:t>リアル ハードウェア</a:t>
            </a:r>
            <a:r>
              <a:rPr b="0" sz="1700"/>
              <a:t>。 カム アンド </a:t>
            </a:r>
            <a:r>
              <a:rPr b="1" sz="1700"/>
              <a:t>トライ イット</a:t>
            </a:r>
            <a:r>
              <a:rPr b="0" sz="1700"/>
              <a:t> アット ザ テイブル。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スライド（Slide 25）へ戻す。</a:t>
            </a:r>
          </a:p>
          <a:p>
            <a:r>
              <a:rPr b="0" sz="1700"/>
              <a:t/>
            </a:r>
          </a:p>
          <a:p>
            <a:r>
              <a:rPr b="0" sz="1200"/>
              <a:t>JA: 26:00 到達で SCENE 5 と SCENE 8 を落とす。SCENE 1・6・7・9・10 は何があっても実機で見せる。録画に切り替えたときは「1つの容器・2つの物体・2つのパスワード・そして開くのではなく終わらせるパスワード」を口頭で辿る。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[26:50 / 0:30] QUICK START — 発話 0:20</a:t>
            </a:r>
          </a:p>
          <a:p>
            <a:r>
              <a:rPr b="0" sz="1700"/>
              <a:t/>
            </a:r>
          </a:p>
          <a:p>
            <a:r>
              <a:rPr b="0" sz="1700"/>
              <a:t>“Want to try it?</a:t>
            </a:r>
          </a:p>
          <a:p>
            <a:r>
              <a:rPr b="0" sz="1700"/>
              <a:t>  </a:t>
            </a:r>
            <a:r>
              <a:rPr b="1" sz="1700"/>
              <a:t>ワナ トライ イット</a:t>
            </a:r>
            <a:r>
              <a:rPr b="0" sz="1700"/>
              <a:t>?</a:t>
            </a:r>
          </a:p>
          <a:p>
            <a:r>
              <a:rPr b="0" sz="1700"/>
              <a:t>Clone the repo. Change into it. Run ./phasmid</a:t>
            </a:r>
          </a:p>
          <a:p>
            <a:r>
              <a:rPr b="0" sz="1700"/>
              <a:t>  </a:t>
            </a:r>
            <a:r>
              <a:rPr b="1" sz="1700"/>
              <a:t>クロウン</a:t>
            </a:r>
            <a:r>
              <a:rPr b="0" sz="1700"/>
              <a:t> ザ リーポウ。 </a:t>
            </a:r>
            <a:r>
              <a:rPr b="1" sz="1700"/>
              <a:t>チェインジ</a:t>
            </a:r>
            <a:r>
              <a:rPr b="0" sz="1700"/>
              <a:t> イントゥ イット。 </a:t>
            </a:r>
            <a:r>
              <a:rPr b="1" sz="1700"/>
              <a:t>ラン</a:t>
            </a:r>
            <a:r>
              <a:rPr b="0" sz="1700"/>
              <a:t> ドット スラッシュ ファズミッド。</a:t>
            </a:r>
          </a:p>
          <a:p>
            <a:r>
              <a:rPr b="0" sz="1700"/>
              <a:t>The first run sets things up and opens the console.</a:t>
            </a:r>
          </a:p>
          <a:p>
            <a:r>
              <a:rPr b="0" sz="1700"/>
              <a:t>  ザ ファースト ラン </a:t>
            </a:r>
            <a:r>
              <a:rPr b="1" sz="1700"/>
              <a:t>セッツ シングズ アップ</a:t>
            </a:r>
            <a:r>
              <a:rPr b="0" sz="1700"/>
              <a:t> アンド オープンズ ザ </a:t>
            </a:r>
            <a:r>
              <a:rPr b="1" sz="1700"/>
              <a:t>コンソール</a:t>
            </a:r>
            <a:r>
              <a:rPr b="0" sz="1700"/>
              <a:t>。</a:t>
            </a:r>
          </a:p>
          <a:p>
            <a:r>
              <a:rPr b="0" sz="1700"/>
              <a:t>Research software. Apache 2.0.</a:t>
            </a:r>
          </a:p>
          <a:p>
            <a:r>
              <a:rPr b="0" sz="1700"/>
              <a:t>  </a:t>
            </a:r>
            <a:r>
              <a:rPr b="1" sz="1700"/>
              <a:t>リサーチ ソフトウェア</a:t>
            </a:r>
            <a:r>
              <a:rPr b="0" sz="1700"/>
              <a:t>。 </a:t>
            </a:r>
            <a:r>
              <a:rPr b="1" sz="1700"/>
              <a:t>アパッチ トゥー ポイント ゼロ</a:t>
            </a:r>
            <a:r>
              <a:rPr b="0" sz="1700"/>
              <a:t>。</a:t>
            </a:r>
          </a:p>
          <a:p>
            <a:r>
              <a:rPr b="0" sz="1700"/>
              <a:t>Evaluate it locally, in field-test conditions.</a:t>
            </a:r>
          </a:p>
          <a:p>
            <a:r>
              <a:rPr b="0" sz="1700"/>
              <a:t>  イバリュエイト イット </a:t>
            </a:r>
            <a:r>
              <a:rPr b="1" sz="1700"/>
              <a:t>ローカリー</a:t>
            </a:r>
            <a:r>
              <a:rPr b="0" sz="1700"/>
              <a:t>、 イン </a:t>
            </a:r>
            <a:r>
              <a:rPr b="1" sz="1700"/>
              <a:t>フィールドテスト コンディションズ</a:t>
            </a:r>
            <a:r>
              <a:rPr b="0" sz="1700"/>
              <a:t>。</a:t>
            </a:r>
          </a:p>
          <a:p>
            <a:r>
              <a:rPr b="0" sz="1700"/>
              <a:t>Not as production protection.”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アズ プロダクション プロテクション。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[27:20 / 0:40] CLOSING → Q&amp;A — 発話 0:25</a:t>
            </a:r>
          </a:p>
          <a:p>
            <a:r>
              <a:rPr b="0" sz="1700"/>
              <a:t/>
            </a:r>
          </a:p>
          <a:p>
            <a:r>
              <a:rPr b="0" sz="1700"/>
              <a:t>“That’s Phasmid.</a:t>
            </a:r>
          </a:p>
          <a:p>
            <a:r>
              <a:rPr b="0" sz="1700"/>
              <a:t>  ザッツ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Local-only. Coercion-aware. Honest limits included.</a:t>
            </a:r>
          </a:p>
          <a:p>
            <a:r>
              <a:rPr b="0" sz="1700"/>
              <a:t>  </a:t>
            </a:r>
            <a:r>
              <a:rPr b="1" sz="1700"/>
              <a:t>ローカル オンリー</a:t>
            </a:r>
            <a:r>
              <a:rPr b="0" sz="1700"/>
              <a:t>。 </a:t>
            </a:r>
            <a:r>
              <a:rPr b="1" sz="1700"/>
              <a:t>コアージョン アウェア</a:t>
            </a:r>
            <a:r>
              <a:rPr b="0" sz="1700"/>
              <a:t>。 </a:t>
            </a:r>
            <a:r>
              <a:rPr b="1" sz="1700"/>
              <a:t>オネスト リミッツ</a:t>
            </a:r>
            <a:r>
              <a:rPr b="0" sz="1700"/>
              <a:t> インクルーディッド。</a:t>
            </a:r>
          </a:p>
          <a:p>
            <a:r>
              <a:rPr b="0" sz="1700"/>
              <a:t>The code, the threat model, and the architecture are all on GitHub, at 01rabbit.</a:t>
            </a:r>
          </a:p>
          <a:p>
            <a:r>
              <a:rPr b="0" sz="1700"/>
              <a:t>  ザ コード、 ザ スレット モデル、 アンド ジ アーキテクチャー アー オール オン ギットハブ、 アット ゼロワン ラビット。</a:t>
            </a:r>
          </a:p>
          <a:p>
            <a:r>
              <a:rPr b="0" sz="1700"/>
              <a:t>The device is right here on the table.</a:t>
            </a:r>
          </a:p>
          <a:p>
            <a:r>
              <a:rPr b="0" sz="1700"/>
              <a:t>  ザ デバイス イズ </a:t>
            </a:r>
            <a:r>
              <a:rPr b="1" sz="1700"/>
              <a:t>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try it. And please — come and break it.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。 アンド プリーズ — </a:t>
            </a:r>
            <a:r>
              <a:rPr b="1" sz="1700"/>
              <a:t>カム アンド ブレイク イット</a:t>
            </a:r>
            <a:r>
              <a:rPr b="0" sz="1700"/>
              <a:t>。</a:t>
            </a:r>
          </a:p>
          <a:p>
            <a:r>
              <a:rPr b="0" sz="1700"/>
              <a:t>I’ve got time for questions.”</a:t>
            </a:r>
          </a:p>
          <a:p>
            <a:r>
              <a:rPr b="0" sz="1700"/>
              <a:t>  アイブ ゴット </a:t>
            </a:r>
            <a:r>
              <a:rPr b="1" sz="1700"/>
              <a:t>タイム</a:t>
            </a:r>
            <a:r>
              <a:rPr b="0" sz="1700"/>
              <a:t> フォー クエスチョンズ。</a:t>
            </a:r>
          </a:p>
          <a:p>
            <a:r>
              <a:rPr b="0" sz="1700"/>
              <a:t/>
            </a:r>
          </a:p>
          <a:p>
            <a:r>
              <a:rPr b="0" sz="120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Engineer, SOC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penetration tester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Python 3.10+    Interfaces CLI · TUI · local WebUI    License Apache-2.0    Ver v0.6.0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file → Two objects, two passwords, two files → Refused, both ways → Compelled → Gone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object +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object +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same tab, same password → refused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